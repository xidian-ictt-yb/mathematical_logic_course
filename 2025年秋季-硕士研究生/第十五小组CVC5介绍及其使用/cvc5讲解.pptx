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18"/>
  </p:notesMasterIdLst>
  <p:handoutMasterIdLst>
    <p:handoutMasterId r:id="rId19"/>
  </p:handoutMasterIdLst>
  <p:sldIdLst>
    <p:sldId id="301" r:id="rId4"/>
    <p:sldId id="313" r:id="rId5"/>
    <p:sldId id="323" r:id="rId6"/>
    <p:sldId id="314" r:id="rId7"/>
    <p:sldId id="316" r:id="rId8"/>
    <p:sldId id="325" r:id="rId9"/>
    <p:sldId id="315" r:id="rId10"/>
    <p:sldId id="322" r:id="rId11"/>
    <p:sldId id="324" r:id="rId12"/>
    <p:sldId id="319" r:id="rId13"/>
    <p:sldId id="320" r:id="rId14"/>
    <p:sldId id="318" r:id="rId15"/>
    <p:sldId id="321" r:id="rId16"/>
    <p:sldId id="304" r:id="rId17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2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朱 晨卓" initials="朱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1717B7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3325" autoAdjust="0"/>
  </p:normalViewPr>
  <p:slideViewPr>
    <p:cSldViewPr snapToGrid="0">
      <p:cViewPr varScale="1">
        <p:scale>
          <a:sx n="117" d="100"/>
          <a:sy n="117" d="100"/>
        </p:scale>
        <p:origin x="754" y="77"/>
      </p:cViewPr>
      <p:guideLst>
        <p:guide orient="horz" pos="2312"/>
        <p:guide pos="403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commentAuthors" Target="comment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2025/12/5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04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578D04-AD81-45DE-A217-9BC9DFD7A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FD6E2-D6D6-7026-B819-5B57F4C76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6B374364-01DD-74FD-9B16-FCF01DF055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C14D63E8-5496-0E58-9C74-E7189342DE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52AD3379-DA82-F2C1-9C7A-27D309359B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578D04-AD81-45DE-A217-9BC9DFD7A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190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6CC9F-6A34-0113-AF6C-5CA0D887F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83343A6A-9549-AEFB-B9D6-6BB0F2E728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B118CF0C-4C58-A55A-75BB-4D98DE996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2CA223B8-77DC-EB0E-C2AE-C66B0E8E6E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578D04-AD81-45DE-A217-9BC9DFD7A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9941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9289C-E38A-A5B0-E070-D074822D6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DAEB6A60-DBA8-F8F9-092B-74D1B47094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033555C9-7E48-455F-5F0D-C245EF9421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3CC3AFD6-5433-45E4-1EAD-AEF095F226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578D04-AD81-45DE-A217-9BC9DFD7A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8899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5B0FA-D6DB-8A63-E95E-15335577D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2C21E089-AD4F-043A-BABE-22A4A60E9A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32ADD1C0-11F2-8F66-7A3E-FDF9063D4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B8B11757-B644-C28A-B2E8-0922E7C43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578D04-AD81-45DE-A217-9BC9DFD7A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8235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CDA9E-800A-A397-552A-E69EF0A59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E3191690-47FB-EB0B-CC1C-73FBFB7F3B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89FDDB81-EDF9-D30C-1231-89A914B8DA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83A71A76-829F-56D2-7A71-1FC7E87ECB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578D04-AD81-45DE-A217-9BC9DFD7A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607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C5752-0331-7FD7-E95F-69EB25584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3FFCAC3F-8F28-B046-93A3-3C5E6FCD72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925D84B9-85C5-D19C-0475-98AE0F11A7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186E128B-C265-836C-D86F-F935126ACC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578D04-AD81-45DE-A217-9BC9DFD7A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881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55D2-1FD3-062B-1F72-16B28FBF9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9C00990B-656A-719C-0760-A988C3F361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AB8B1E0A-CCCC-4EF5-9136-7093474219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043FC782-3557-8673-906D-E206A9EA3F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578D04-AD81-45DE-A217-9BC9DFD7A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722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04BA-0563-2258-31DE-74677DC84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319FE731-9B77-39E8-399F-C75FD5916E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34C195A2-91C8-D7A7-49E2-264C2E1ED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54D00518-40C4-1541-66D3-1565139DA3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578D04-AD81-45DE-A217-9BC9DFD7A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893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D08B0-31AB-8AA6-AAD6-10D49FDD5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8BDBEA4D-9AA9-F36D-17EA-D9A2D2D65D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2EA27E06-87EB-D60D-1C4E-E20BA727E8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ABC12B2A-A9D5-39AA-AF91-8FB7AA55F2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578D04-AD81-45DE-A217-9BC9DFD7A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9593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C29B9-3FBC-046D-0ED0-E9E4F751A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897BDD38-1FE0-BF7C-1F9B-C6226FC316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D2377D82-FEF8-71F0-5A11-A37B5F8C7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AF84D84A-56BA-B300-9D39-885D2D9E70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578D04-AD81-45DE-A217-9BC9DFD7A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27447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DC1F-C1A2-2D60-D764-E731C9C07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0244856D-6373-E5A7-C4CF-F405542165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6174EA8F-6F62-76CD-F7EF-157BCA9582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E3B3DE65-06F5-C24F-BFDF-7374420404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578D04-AD81-45DE-A217-9BC9DFD7A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83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7BC39-D675-5C7C-BC40-B5A550D73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35CE490F-7C9C-4D08-5463-D8ECF93D09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FB0B493C-88FC-CD80-11B2-1E8B519DC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0AF72DDA-BC35-D50C-BF9B-5B24BF8588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578D04-AD81-45DE-A217-9BC9DFD7A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2811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04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578D04-AD81-45DE-A217-9BC9DFD7A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2025/12/5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4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dirty="0"/>
              <a:t>单击此处编辑母版副标题样式</a:t>
            </a:r>
            <a:endParaRPr lang="en-US" altLang="zh-CN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6ECEB56-7557-40A5-BDC9-26C6E502112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8301" y="1104670"/>
            <a:ext cx="11436351" cy="5689600"/>
          </a:xfr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6ECEB56-7557-40A5-BDC9-26C6E5021120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55" y="44533"/>
            <a:ext cx="3105567" cy="903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6ECEB56-7557-40A5-BDC9-26C6E5021120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55" y="44533"/>
            <a:ext cx="3105567" cy="903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1150" y="28575"/>
            <a:ext cx="6104467" cy="7112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6ECEB56-7557-40A5-BDC9-26C6E5021120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55" y="44533"/>
            <a:ext cx="3105567" cy="903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6ECEB56-7557-40A5-BDC9-26C6E5021120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55" y="44533"/>
            <a:ext cx="3105567" cy="903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6ECEB56-7557-40A5-BDC9-26C6E502112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6ECEB56-7557-40A5-BDC9-26C6E502112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6ECEB56-7557-40A5-BDC9-26C6E502112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6ECEB56-7557-40A5-BDC9-26C6E502112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6ECEB56-7557-40A5-BDC9-26C6E502112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6ECEB56-7557-40A5-BDC9-26C6E502112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4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dirty="0"/>
              <a:t>单击此处编辑母版副标题样式</a:t>
            </a:r>
            <a:endParaRPr lang="en-US" altLang="zh-CN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6ECEB56-7557-40A5-BDC9-26C6E5021120}" type="slidenum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8301" y="1104670"/>
            <a:ext cx="11436351" cy="5689600"/>
          </a:xfr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6ECEB56-7557-40A5-BDC9-26C6E5021120}" type="slidenum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55" y="44533"/>
            <a:ext cx="3105567" cy="903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6ECEB56-7557-40A5-BDC9-26C6E5021120}" type="slidenum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55" y="44533"/>
            <a:ext cx="3105567" cy="903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1150" y="28575"/>
            <a:ext cx="6104467" cy="7112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6ECEB56-7557-40A5-BDC9-26C6E5021120}" type="slidenum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55" y="44533"/>
            <a:ext cx="3105567" cy="903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6ECEB56-7557-40A5-BDC9-26C6E5021120}" type="slidenum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55" y="44533"/>
            <a:ext cx="3105567" cy="903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6ECEB56-7557-40A5-BDC9-26C6E5021120}" type="slidenum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6ECEB56-7557-40A5-BDC9-26C6E5021120}" type="slidenum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6ECEB56-7557-40A5-BDC9-26C6E5021120}" type="slidenum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6ECEB56-7557-40A5-BDC9-26C6E5021120}" type="slidenum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6ECEB56-7557-40A5-BDC9-26C6E5021120}" type="slidenum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22840" y="6477000"/>
            <a:ext cx="669160" cy="38362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6ECEB56-7557-40A5-BDC9-26C6E5021120}" type="slidenum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8300" y="28575"/>
            <a:ext cx="11127317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8301" y="1016000"/>
            <a:ext cx="11436351" cy="568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68300" y="985344"/>
            <a:ext cx="11455400" cy="55563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CC0000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CC0000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CC0000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CC0000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CC0000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rgbClr val="CC0000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rgbClr val="CC0000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rgbClr val="CC0000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rgbClr val="CC0000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200">
          <a:solidFill>
            <a:srgbClr val="1717B7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25514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8300" y="28575"/>
            <a:ext cx="11127317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8301" y="1016000"/>
            <a:ext cx="11436351" cy="568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68300" y="985344"/>
            <a:ext cx="11455400" cy="55563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CC0000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CC0000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CC0000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CC0000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CC0000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rgbClr val="CC0000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rgbClr val="CC0000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rgbClr val="CC0000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rgbClr val="CC0000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200">
          <a:solidFill>
            <a:srgbClr val="1717B7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25514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88842"/>
            <a:ext cx="12192000" cy="2365673"/>
          </a:xfrm>
          <a:prstGeom prst="rect">
            <a:avLst/>
          </a:prstGeom>
          <a:solidFill>
            <a:srgbClr val="A53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459" name="TextBox 3"/>
          <p:cNvSpPr txBox="1">
            <a:spLocks noChangeArrowheads="1"/>
          </p:cNvSpPr>
          <p:nvPr/>
        </p:nvSpPr>
        <p:spPr bwMode="auto">
          <a:xfrm>
            <a:off x="2471688" y="2756388"/>
            <a:ext cx="72480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：新一代</a:t>
            </a: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SMT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求解器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82" y="520141"/>
            <a:ext cx="3732729" cy="10855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FC1FD76-3C15-A8B4-D273-0EE6529FB46F}"/>
              </a:ext>
            </a:extLst>
          </p:cNvPr>
          <p:cNvSpPr txBox="1"/>
          <p:nvPr/>
        </p:nvSpPr>
        <p:spPr>
          <a:xfrm>
            <a:off x="4186646" y="5421085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汇报人：张鹏飞、刘晓伟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8BB0-0341-75EF-44C1-6649A6A54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Box 3">
            <a:extLst>
              <a:ext uri="{FF2B5EF4-FFF2-40B4-BE49-F238E27FC236}">
                <a16:creationId xmlns:a16="http://schemas.microsoft.com/office/drawing/2014/main" id="{5C1FBFC4-3D76-95C3-75BF-21FC426A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688" y="2756388"/>
            <a:ext cx="72480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：新一代</a:t>
            </a: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SMT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求解器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D76FC92-BC42-4469-5B60-092233D262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246" y="0"/>
            <a:ext cx="3019094" cy="877971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32644CE-0478-D7BD-3892-A3D468AE069D}"/>
              </a:ext>
            </a:extLst>
          </p:cNvPr>
          <p:cNvCxnSpPr/>
          <p:nvPr/>
        </p:nvCxnSpPr>
        <p:spPr>
          <a:xfrm>
            <a:off x="45720" y="901337"/>
            <a:ext cx="120896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017E665E-5542-EFB5-7A66-8D926A0D9AC5}"/>
              </a:ext>
            </a:extLst>
          </p:cNvPr>
          <p:cNvSpPr txBox="1"/>
          <p:nvPr/>
        </p:nvSpPr>
        <p:spPr bwMode="auto">
          <a:xfrm>
            <a:off x="399047" y="0"/>
            <a:ext cx="2072641" cy="80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3700" kern="0" dirty="0">
                <a:latin typeface="微软雅黑" panose="020B0503020204020204" charset="-122"/>
                <a:ea typeface="微软雅黑" panose="020B0503020204020204" charset="-122"/>
              </a:rPr>
              <a:t>汇报提纲</a:t>
            </a:r>
            <a:endParaRPr lang="zh-CN" altLang="en-US" sz="3700" kern="0" dirty="0">
              <a:solidFill>
                <a:srgbClr val="1717B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AB39714-57A0-994D-D439-9E80438C3251}"/>
              </a:ext>
            </a:extLst>
          </p:cNvPr>
          <p:cNvSpPr/>
          <p:nvPr/>
        </p:nvSpPr>
        <p:spPr>
          <a:xfrm>
            <a:off x="3032578" y="1890212"/>
            <a:ext cx="6777627" cy="4157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p"/>
            </a:pPr>
            <a:r>
              <a:rPr lang="en-US" altLang="zh-CN" sz="4000" b="1" spc="200" dirty="0">
                <a:solidFill>
                  <a:srgbClr val="0033CC"/>
                </a:solidFill>
                <a:latin typeface="+mj-ea"/>
                <a:ea typeface="+mj-ea"/>
              </a:rPr>
              <a:t> STM</a:t>
            </a:r>
            <a:r>
              <a:rPr lang="zh-CN" altLang="en-US" sz="4000" b="1" spc="200" dirty="0">
                <a:solidFill>
                  <a:srgbClr val="0033CC"/>
                </a:solidFill>
                <a:latin typeface="+mj-ea"/>
                <a:ea typeface="+mj-ea"/>
              </a:rPr>
              <a:t>与</a:t>
            </a:r>
            <a:r>
              <a:rPr lang="en-US" altLang="zh-CN" sz="4000" b="1" spc="200" dirty="0">
                <a:solidFill>
                  <a:srgbClr val="0033CC"/>
                </a:solidFill>
                <a:latin typeface="+mj-ea"/>
                <a:ea typeface="+mj-ea"/>
              </a:rPr>
              <a:t>cvc5</a:t>
            </a:r>
            <a:r>
              <a:rPr lang="zh-CN" altLang="en-US" sz="4000" b="1" spc="200" dirty="0">
                <a:solidFill>
                  <a:srgbClr val="0033CC"/>
                </a:solidFill>
                <a:latin typeface="+mj-ea"/>
                <a:ea typeface="+mj-ea"/>
              </a:rPr>
              <a:t>背景介绍</a:t>
            </a:r>
            <a:endParaRPr lang="en-US" altLang="zh-CN" sz="4000" b="1" spc="200" dirty="0">
              <a:solidFill>
                <a:srgbClr val="0033CC"/>
              </a:solidFill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p"/>
            </a:pPr>
            <a:r>
              <a:rPr lang="en-US" altLang="zh-CN" sz="4000" b="1" spc="200" dirty="0">
                <a:solidFill>
                  <a:srgbClr val="0033CC"/>
                </a:solidFill>
                <a:latin typeface="+mj-ea"/>
                <a:ea typeface="+mj-ea"/>
              </a:rPr>
              <a:t> cvc5</a:t>
            </a:r>
            <a:r>
              <a:rPr lang="zh-CN" altLang="en-US" sz="4000" b="1" spc="200" dirty="0">
                <a:solidFill>
                  <a:srgbClr val="0033CC"/>
                </a:solidFill>
                <a:latin typeface="+mj-ea"/>
                <a:ea typeface="+mj-ea"/>
              </a:rPr>
              <a:t>核心原理</a:t>
            </a:r>
            <a:endParaRPr lang="en-US" altLang="zh-CN" sz="4000" b="1" spc="200" dirty="0">
              <a:solidFill>
                <a:srgbClr val="0033CC"/>
              </a:solidFill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p"/>
            </a:pPr>
            <a:r>
              <a:rPr lang="en-US" altLang="zh-CN" sz="4000" b="1" spc="200" dirty="0">
                <a:solidFill>
                  <a:srgbClr val="0033CC"/>
                </a:solidFill>
                <a:latin typeface="+mj-ea"/>
                <a:ea typeface="+mj-ea"/>
              </a:rPr>
              <a:t> Python API</a:t>
            </a:r>
            <a:r>
              <a:rPr lang="zh-CN" altLang="en-US" sz="4000" b="1" spc="200" dirty="0">
                <a:solidFill>
                  <a:srgbClr val="0033CC"/>
                </a:solidFill>
                <a:latin typeface="+mj-ea"/>
                <a:ea typeface="+mj-ea"/>
              </a:rPr>
              <a:t>安装与配置</a:t>
            </a:r>
            <a:endParaRPr lang="en-US" altLang="zh-CN" sz="4000" b="1" dirty="0">
              <a:solidFill>
                <a:srgbClr val="CC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1717B7"/>
              </a:buClr>
            </a:pPr>
            <a:br>
              <a:rPr lang="en-US" altLang="zh-CN" sz="4000" b="1" dirty="0">
                <a:solidFill>
                  <a:srgbClr val="CC0000"/>
                </a:solidFill>
                <a:latin typeface="+mj-ea"/>
                <a:ea typeface="+mj-ea"/>
              </a:rPr>
            </a:br>
            <a:endParaRPr lang="en-US" altLang="zh-CN" sz="4000" b="1" dirty="0">
              <a:solidFill>
                <a:srgbClr val="CC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93812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AC0DF-E037-E448-8493-919C3D6B1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Box 3">
            <a:extLst>
              <a:ext uri="{FF2B5EF4-FFF2-40B4-BE49-F238E27FC236}">
                <a16:creationId xmlns:a16="http://schemas.microsoft.com/office/drawing/2014/main" id="{A4452D18-35C4-5EF6-942B-A42AF7FBA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688" y="2756388"/>
            <a:ext cx="72480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：新一代</a:t>
            </a: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SMT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求解器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126D7EF-3AD8-B4C4-65FE-E2C9365817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246" y="0"/>
            <a:ext cx="3019094" cy="877971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0666F7E-30F1-FF61-3664-707F9ABDACD9}"/>
              </a:ext>
            </a:extLst>
          </p:cNvPr>
          <p:cNvCxnSpPr/>
          <p:nvPr/>
        </p:nvCxnSpPr>
        <p:spPr>
          <a:xfrm>
            <a:off x="45720" y="901337"/>
            <a:ext cx="120896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B5EFEE6E-3130-D04D-5737-2DC265D31362}"/>
              </a:ext>
            </a:extLst>
          </p:cNvPr>
          <p:cNvSpPr txBox="1"/>
          <p:nvPr/>
        </p:nvSpPr>
        <p:spPr bwMode="auto">
          <a:xfrm>
            <a:off x="399047" y="0"/>
            <a:ext cx="2072641" cy="80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3700" kern="0" dirty="0">
                <a:latin typeface="微软雅黑" panose="020B0503020204020204" charset="-122"/>
                <a:ea typeface="微软雅黑" panose="020B0503020204020204" charset="-122"/>
              </a:rPr>
              <a:t>汇报提纲</a:t>
            </a:r>
            <a:endParaRPr lang="zh-CN" altLang="en-US" sz="3700" kern="0" dirty="0">
              <a:solidFill>
                <a:srgbClr val="1717B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55A797-6C36-8CC2-820E-906785FFBF4A}"/>
              </a:ext>
            </a:extLst>
          </p:cNvPr>
          <p:cNvSpPr/>
          <p:nvPr/>
        </p:nvSpPr>
        <p:spPr>
          <a:xfrm>
            <a:off x="3032578" y="1890212"/>
            <a:ext cx="6777627" cy="4157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p"/>
            </a:pPr>
            <a:r>
              <a:rPr lang="en-US" altLang="zh-CN" sz="4000" b="1" spc="200" dirty="0">
                <a:solidFill>
                  <a:srgbClr val="0033CC"/>
                </a:solidFill>
                <a:latin typeface="+mj-ea"/>
                <a:ea typeface="+mj-ea"/>
              </a:rPr>
              <a:t> </a:t>
            </a:r>
            <a:r>
              <a:rPr lang="en-US" altLang="zh-CN" sz="4000" b="1" spc="200" dirty="0">
                <a:solidFill>
                  <a:srgbClr val="C00000"/>
                </a:solidFill>
                <a:latin typeface="+mj-ea"/>
                <a:ea typeface="+mj-ea"/>
              </a:rPr>
              <a:t>STM</a:t>
            </a:r>
            <a:r>
              <a:rPr lang="zh-CN" altLang="en-US" sz="4000" b="1" spc="200" dirty="0">
                <a:solidFill>
                  <a:srgbClr val="C00000"/>
                </a:solidFill>
                <a:latin typeface="+mj-ea"/>
                <a:ea typeface="+mj-ea"/>
              </a:rPr>
              <a:t>与</a:t>
            </a:r>
            <a:r>
              <a:rPr lang="en-US" altLang="zh-CN" sz="4000" b="1" spc="200" dirty="0">
                <a:solidFill>
                  <a:srgbClr val="C00000"/>
                </a:solidFill>
                <a:latin typeface="+mj-ea"/>
                <a:ea typeface="+mj-ea"/>
              </a:rPr>
              <a:t>cvc5</a:t>
            </a:r>
            <a:r>
              <a:rPr lang="zh-CN" altLang="en-US" sz="4000" b="1" spc="200" dirty="0">
                <a:solidFill>
                  <a:srgbClr val="C00000"/>
                </a:solidFill>
                <a:latin typeface="+mj-ea"/>
                <a:ea typeface="+mj-ea"/>
              </a:rPr>
              <a:t>背景介绍</a:t>
            </a:r>
            <a:endParaRPr lang="en-US" altLang="zh-CN" sz="4000" b="1" spc="200" dirty="0">
              <a:solidFill>
                <a:srgbClr val="C00000"/>
              </a:solidFill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p"/>
            </a:pPr>
            <a:r>
              <a:rPr lang="en-US" altLang="zh-CN" sz="4000" b="1" spc="200" dirty="0">
                <a:solidFill>
                  <a:srgbClr val="0033CC"/>
                </a:solidFill>
                <a:latin typeface="+mj-ea"/>
                <a:ea typeface="+mj-ea"/>
              </a:rPr>
              <a:t> cvc5</a:t>
            </a:r>
            <a:r>
              <a:rPr lang="zh-CN" altLang="en-US" sz="4000" b="1" spc="200" dirty="0">
                <a:solidFill>
                  <a:srgbClr val="0033CC"/>
                </a:solidFill>
                <a:latin typeface="+mj-ea"/>
                <a:ea typeface="+mj-ea"/>
              </a:rPr>
              <a:t>核心原理</a:t>
            </a:r>
            <a:endParaRPr lang="en-US" altLang="zh-CN" sz="4000" b="1" spc="200" dirty="0">
              <a:solidFill>
                <a:srgbClr val="0033CC"/>
              </a:solidFill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p"/>
            </a:pPr>
            <a:r>
              <a:rPr lang="en-US" altLang="zh-CN" sz="4000" b="1" spc="200" dirty="0">
                <a:solidFill>
                  <a:srgbClr val="0033CC"/>
                </a:solidFill>
                <a:latin typeface="+mj-ea"/>
                <a:ea typeface="+mj-ea"/>
              </a:rPr>
              <a:t> Python API</a:t>
            </a:r>
            <a:r>
              <a:rPr lang="zh-CN" altLang="en-US" sz="4000" b="1" spc="200" dirty="0">
                <a:solidFill>
                  <a:srgbClr val="0033CC"/>
                </a:solidFill>
                <a:latin typeface="+mj-ea"/>
                <a:ea typeface="+mj-ea"/>
              </a:rPr>
              <a:t>安装与配置</a:t>
            </a:r>
            <a:endParaRPr lang="en-US" altLang="zh-CN" sz="4000" b="1" dirty="0">
              <a:solidFill>
                <a:srgbClr val="CC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1717B7"/>
              </a:buClr>
            </a:pPr>
            <a:br>
              <a:rPr lang="en-US" altLang="zh-CN" sz="4000" b="1" dirty="0">
                <a:solidFill>
                  <a:srgbClr val="CC0000"/>
                </a:solidFill>
                <a:latin typeface="+mj-ea"/>
                <a:ea typeface="+mj-ea"/>
              </a:rPr>
            </a:br>
            <a:endParaRPr lang="en-US" altLang="zh-CN" sz="4000" b="1" dirty="0">
              <a:solidFill>
                <a:srgbClr val="CC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94238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E50B0-34C5-6FB7-C8E3-2A138999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Box 3">
            <a:extLst>
              <a:ext uri="{FF2B5EF4-FFF2-40B4-BE49-F238E27FC236}">
                <a16:creationId xmlns:a16="http://schemas.microsoft.com/office/drawing/2014/main" id="{C0A4C1B6-562A-7039-AB4A-6597DD613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71" y="2377571"/>
            <a:ext cx="72480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：新一代</a:t>
            </a: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SMT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求解器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E45F808-18AE-3049-5F9D-84EBF37E68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246" y="0"/>
            <a:ext cx="3019094" cy="877971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BDC84B1-912D-0FF3-BEBC-223880946DF5}"/>
              </a:ext>
            </a:extLst>
          </p:cNvPr>
          <p:cNvCxnSpPr/>
          <p:nvPr/>
        </p:nvCxnSpPr>
        <p:spPr>
          <a:xfrm>
            <a:off x="45720" y="901337"/>
            <a:ext cx="120896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91DC1B44-815F-AC49-C050-2D22111A6E68}"/>
              </a:ext>
            </a:extLst>
          </p:cNvPr>
          <p:cNvSpPr txBox="1"/>
          <p:nvPr/>
        </p:nvSpPr>
        <p:spPr bwMode="auto">
          <a:xfrm>
            <a:off x="399046" y="0"/>
            <a:ext cx="5270233" cy="80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700" kern="0" dirty="0">
                <a:latin typeface="微软雅黑" panose="020B0503020204020204" charset="-122"/>
                <a:ea typeface="微软雅黑" panose="020B0503020204020204" charset="-122"/>
              </a:rPr>
              <a:t>SMT</a:t>
            </a:r>
            <a:r>
              <a:rPr lang="zh-CN" altLang="en-US" sz="3700" kern="0" dirty="0"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sz="3700" kern="0" dirty="0"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3700" kern="0" dirty="0">
                <a:latin typeface="微软雅黑" panose="020B0503020204020204" charset="-122"/>
                <a:ea typeface="微软雅黑" panose="020B0503020204020204" charset="-122"/>
              </a:rPr>
              <a:t>背景介绍</a:t>
            </a:r>
            <a:endParaRPr lang="zh-CN" altLang="en-US" sz="3700" kern="0" dirty="0">
              <a:solidFill>
                <a:srgbClr val="1717B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953A1A-CB08-FD07-DA3C-8A50258CD195}"/>
              </a:ext>
            </a:extLst>
          </p:cNvPr>
          <p:cNvSpPr/>
          <p:nvPr/>
        </p:nvSpPr>
        <p:spPr>
          <a:xfrm>
            <a:off x="469588" y="1386462"/>
            <a:ext cx="4980707" cy="38386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88900">
              <a:schemeClr val="bg1">
                <a:alpha val="40000"/>
              </a:schemeClr>
            </a:glow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11C186-10A0-C52A-B8BA-CFD3E9350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306" y="1732225"/>
            <a:ext cx="5920951" cy="340148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915F959-E972-A5F9-82C5-C46AC1571970}"/>
              </a:ext>
            </a:extLst>
          </p:cNvPr>
          <p:cNvSpPr/>
          <p:nvPr/>
        </p:nvSpPr>
        <p:spPr>
          <a:xfrm>
            <a:off x="592900" y="2377571"/>
            <a:ext cx="4734082" cy="2666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Satisfiability Modulo Theories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SMT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）是自动推理领域的重要分支，专注于一阶逻辑公式在组合理论下的可满足性。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SMT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将命题逻辑与背景理论推理相结合，为程序验证、安全协议分析、编译器优化等场景提供自动推理底座。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4B47F3-C700-F96D-0C04-634D53D4F7B0}"/>
              </a:ext>
            </a:extLst>
          </p:cNvPr>
          <p:cNvSpPr/>
          <p:nvPr/>
        </p:nvSpPr>
        <p:spPr>
          <a:xfrm>
            <a:off x="592900" y="1638873"/>
            <a:ext cx="4489458" cy="486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SMT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问题定义与价值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1469C8-495A-525A-154D-A2818D9CA323}"/>
              </a:ext>
            </a:extLst>
          </p:cNvPr>
          <p:cNvSpPr/>
          <p:nvPr/>
        </p:nvSpPr>
        <p:spPr>
          <a:xfrm>
            <a:off x="522514" y="5642590"/>
            <a:ext cx="11168743" cy="863293"/>
          </a:xfrm>
          <a:prstGeom prst="rect">
            <a:avLst/>
          </a:prstGeom>
          <a:noFill/>
          <a:ln w="254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5013BE-327D-8109-3ABB-43F9AE35C6AC}"/>
              </a:ext>
            </a:extLst>
          </p:cNvPr>
          <p:cNvSpPr/>
          <p:nvPr/>
        </p:nvSpPr>
        <p:spPr>
          <a:xfrm>
            <a:off x="592901" y="5583579"/>
            <a:ext cx="10967728" cy="922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defRPr/>
            </a:pP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SMT(Satisfiability Modulo Theories)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问题是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在特定理论下判定一阶逻辑公式可满足性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它在很多领域，尤其是形式验证、程序分析、软件测试等领域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都有重要的应用。</a:t>
            </a:r>
          </a:p>
        </p:txBody>
      </p:sp>
    </p:spTree>
    <p:extLst>
      <p:ext uri="{BB962C8B-B14F-4D97-AF65-F5344CB8AC3E}">
        <p14:creationId xmlns:p14="http://schemas.microsoft.com/office/powerpoint/2010/main" val="1790205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D4282-4508-D2F7-4C58-1F09E0881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Box 3">
            <a:extLst>
              <a:ext uri="{FF2B5EF4-FFF2-40B4-BE49-F238E27FC236}">
                <a16:creationId xmlns:a16="http://schemas.microsoft.com/office/drawing/2014/main" id="{57FAB155-E497-4E7E-2F0F-BD92C0D77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688" y="3527095"/>
            <a:ext cx="72480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：新一代</a:t>
            </a: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SMT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求解器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EEEF32-C1AE-855B-79E7-89736AD23F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246" y="0"/>
            <a:ext cx="3019094" cy="877971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DAA24E6-F772-9370-803F-94665DA80753}"/>
              </a:ext>
            </a:extLst>
          </p:cNvPr>
          <p:cNvCxnSpPr/>
          <p:nvPr/>
        </p:nvCxnSpPr>
        <p:spPr>
          <a:xfrm>
            <a:off x="45720" y="901337"/>
            <a:ext cx="120896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BBB5FCF4-4D08-F8E3-B8EE-87C688585D64}"/>
              </a:ext>
            </a:extLst>
          </p:cNvPr>
          <p:cNvSpPr txBox="1"/>
          <p:nvPr/>
        </p:nvSpPr>
        <p:spPr bwMode="auto">
          <a:xfrm>
            <a:off x="399046" y="0"/>
            <a:ext cx="5246625" cy="80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700" kern="0" dirty="0"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3700" kern="0" dirty="0">
                <a:latin typeface="微软雅黑" panose="020B0503020204020204" charset="-122"/>
                <a:ea typeface="微软雅黑" panose="020B0503020204020204" charset="-122"/>
              </a:rPr>
              <a:t>的诞生背景与定位</a:t>
            </a:r>
            <a:endParaRPr lang="zh-CN" altLang="en-US" sz="3700" kern="0" dirty="0">
              <a:solidFill>
                <a:srgbClr val="1717B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9EBEC5-F927-C250-F847-48FD52D6A0B1}"/>
              </a:ext>
            </a:extLst>
          </p:cNvPr>
          <p:cNvSpPr/>
          <p:nvPr/>
        </p:nvSpPr>
        <p:spPr>
          <a:xfrm>
            <a:off x="6496892" y="2771123"/>
            <a:ext cx="4980707" cy="38386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88900">
              <a:schemeClr val="bg1">
                <a:alpha val="40000"/>
              </a:schemeClr>
            </a:glow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63BAF2-72B6-85A1-52C8-EDEFE4421A50}"/>
              </a:ext>
            </a:extLst>
          </p:cNvPr>
          <p:cNvSpPr/>
          <p:nvPr/>
        </p:nvSpPr>
        <p:spPr>
          <a:xfrm>
            <a:off x="6620204" y="3762232"/>
            <a:ext cx="4734082" cy="2230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斯坦福大学与爱荷华大学联合重启项目，以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BSD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条款发布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cvc5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cvc5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作为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CVC4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的继任者，保持理论丰富度，引入灵活插件架构，面向云规模优化，并首次内置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SyGuS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引擎。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E54A4B-502E-C64E-C329-8557B15A66EB}"/>
              </a:ext>
            </a:extLst>
          </p:cNvPr>
          <p:cNvSpPr/>
          <p:nvPr/>
        </p:nvSpPr>
        <p:spPr>
          <a:xfrm>
            <a:off x="6620204" y="3023534"/>
            <a:ext cx="4489458" cy="486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cvc5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的定位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3A4DE7-6322-7E46-9369-F2BC0ABE5ADE}"/>
              </a:ext>
            </a:extLst>
          </p:cNvPr>
          <p:cNvSpPr/>
          <p:nvPr/>
        </p:nvSpPr>
        <p:spPr>
          <a:xfrm>
            <a:off x="664965" y="2771123"/>
            <a:ext cx="4980707" cy="38386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88900">
              <a:schemeClr val="bg1">
                <a:alpha val="40000"/>
              </a:schemeClr>
            </a:glow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20B6B5-55DF-D55A-260B-C87B75CF6FD1}"/>
              </a:ext>
            </a:extLst>
          </p:cNvPr>
          <p:cNvSpPr/>
          <p:nvPr/>
        </p:nvSpPr>
        <p:spPr>
          <a:xfrm>
            <a:off x="769249" y="3762232"/>
            <a:ext cx="4734082" cy="2230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CVC4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在开源社区与工业界大规模使用中暴露了可扩展性、性能与许可证痛点。这些问题限制了其在大规模场景下的应用，促使了新一代求解器的研发。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913D02-CF47-6733-B52F-120E5F37A2A6}"/>
              </a:ext>
            </a:extLst>
          </p:cNvPr>
          <p:cNvSpPr/>
          <p:nvPr/>
        </p:nvSpPr>
        <p:spPr>
          <a:xfrm>
            <a:off x="769249" y="3023534"/>
            <a:ext cx="4489458" cy="486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cvc4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的痛点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02D3F1-D17D-E17E-FBCB-E355BB08A5AC}"/>
              </a:ext>
            </a:extLst>
          </p:cNvPr>
          <p:cNvSpPr/>
          <p:nvPr/>
        </p:nvSpPr>
        <p:spPr>
          <a:xfrm>
            <a:off x="670256" y="1234066"/>
            <a:ext cx="11168743" cy="1358321"/>
          </a:xfrm>
          <a:prstGeom prst="rect">
            <a:avLst/>
          </a:prstGeom>
          <a:noFill/>
          <a:ln w="254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6A72E1-9BDF-031F-6E92-88A70D2DCF8A}"/>
              </a:ext>
            </a:extLst>
          </p:cNvPr>
          <p:cNvSpPr/>
          <p:nvPr/>
        </p:nvSpPr>
        <p:spPr>
          <a:xfrm>
            <a:off x="740643" y="1175055"/>
            <a:ext cx="10967728" cy="1358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defRPr/>
            </a:pP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CVC5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是一个高性能的</a:t>
            </a: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SMT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求解器，由</a:t>
            </a: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Berkeley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大学和三星研究院开发，支持多种理论和编程接口。 它在形式化验证、编译器验证、安全分析和机器学习模型验证中发挥作用，因其高效性能、易用性和活跃社区而备受关注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C5A68B5-1521-D30A-A177-4DC1A458C1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8917"/>
          <a:stretch>
            <a:fillRect/>
          </a:stretch>
        </p:blipFill>
        <p:spPr>
          <a:xfrm>
            <a:off x="9269959" y="2866105"/>
            <a:ext cx="2145983" cy="83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006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BD26F-3E5E-5B79-961F-E169ADAB1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Box 3">
            <a:extLst>
              <a:ext uri="{FF2B5EF4-FFF2-40B4-BE49-F238E27FC236}">
                <a16:creationId xmlns:a16="http://schemas.microsoft.com/office/drawing/2014/main" id="{6562A0A8-D84D-DF00-6565-F42B533EA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688" y="2756388"/>
            <a:ext cx="72480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：新一代</a:t>
            </a: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SMT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求解器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EFA8551-9749-E6EC-C331-3F7EC19107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246" y="0"/>
            <a:ext cx="3019094" cy="877971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F56C58-FE3D-4DDD-F9E2-1EDA6852B8B4}"/>
              </a:ext>
            </a:extLst>
          </p:cNvPr>
          <p:cNvCxnSpPr/>
          <p:nvPr/>
        </p:nvCxnSpPr>
        <p:spPr>
          <a:xfrm>
            <a:off x="45720" y="901337"/>
            <a:ext cx="120896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2E6E9A87-1131-7005-7561-A4C3BF8C0304}"/>
              </a:ext>
            </a:extLst>
          </p:cNvPr>
          <p:cNvSpPr txBox="1"/>
          <p:nvPr/>
        </p:nvSpPr>
        <p:spPr bwMode="auto">
          <a:xfrm>
            <a:off x="399047" y="0"/>
            <a:ext cx="2072641" cy="80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3700" kern="0" dirty="0">
                <a:latin typeface="微软雅黑" panose="020B0503020204020204" charset="-122"/>
                <a:ea typeface="微软雅黑" panose="020B0503020204020204" charset="-122"/>
              </a:rPr>
              <a:t>汇报提纲</a:t>
            </a:r>
            <a:endParaRPr lang="zh-CN" altLang="en-US" sz="3700" kern="0" dirty="0">
              <a:solidFill>
                <a:srgbClr val="1717B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853630-660D-5A28-B1CA-EB86D9B5D6B2}"/>
              </a:ext>
            </a:extLst>
          </p:cNvPr>
          <p:cNvSpPr/>
          <p:nvPr/>
        </p:nvSpPr>
        <p:spPr>
          <a:xfrm>
            <a:off x="3032578" y="1890212"/>
            <a:ext cx="6777627" cy="4157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p"/>
            </a:pPr>
            <a:r>
              <a:rPr lang="en-US" altLang="zh-CN" sz="4000" b="1" spc="200" dirty="0">
                <a:solidFill>
                  <a:srgbClr val="0033CC"/>
                </a:solidFill>
                <a:latin typeface="+mj-ea"/>
                <a:ea typeface="+mj-ea"/>
              </a:rPr>
              <a:t> STM</a:t>
            </a:r>
            <a:r>
              <a:rPr lang="zh-CN" altLang="en-US" sz="4000" b="1" spc="200" dirty="0">
                <a:solidFill>
                  <a:srgbClr val="0033CC"/>
                </a:solidFill>
                <a:latin typeface="+mj-ea"/>
                <a:ea typeface="+mj-ea"/>
              </a:rPr>
              <a:t>与</a:t>
            </a:r>
            <a:r>
              <a:rPr lang="en-US" altLang="zh-CN" sz="4000" b="1" spc="200" dirty="0">
                <a:solidFill>
                  <a:srgbClr val="0033CC"/>
                </a:solidFill>
                <a:latin typeface="+mj-ea"/>
                <a:ea typeface="+mj-ea"/>
              </a:rPr>
              <a:t>cvc5</a:t>
            </a:r>
            <a:r>
              <a:rPr lang="zh-CN" altLang="en-US" sz="4000" b="1" spc="200" dirty="0">
                <a:solidFill>
                  <a:srgbClr val="0033CC"/>
                </a:solidFill>
                <a:latin typeface="+mj-ea"/>
                <a:ea typeface="+mj-ea"/>
              </a:rPr>
              <a:t>背景介绍</a:t>
            </a:r>
            <a:endParaRPr lang="en-US" altLang="zh-CN" sz="4000" b="1" spc="200" dirty="0">
              <a:solidFill>
                <a:srgbClr val="0033CC"/>
              </a:solidFill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p"/>
            </a:pPr>
            <a:r>
              <a:rPr lang="en-US" altLang="zh-CN" sz="4000" b="1" spc="200" dirty="0">
                <a:solidFill>
                  <a:srgbClr val="0033CC"/>
                </a:solidFill>
                <a:latin typeface="+mj-ea"/>
                <a:ea typeface="+mj-ea"/>
              </a:rPr>
              <a:t> </a:t>
            </a:r>
            <a:r>
              <a:rPr lang="en-US" altLang="zh-CN" sz="4000" b="1" spc="200" dirty="0">
                <a:solidFill>
                  <a:srgbClr val="C00000"/>
                </a:solidFill>
                <a:latin typeface="+mj-ea"/>
                <a:ea typeface="+mj-ea"/>
              </a:rPr>
              <a:t>cvc5</a:t>
            </a:r>
            <a:r>
              <a:rPr lang="zh-CN" altLang="en-US" sz="4000" b="1" spc="200" dirty="0">
                <a:solidFill>
                  <a:srgbClr val="C00000"/>
                </a:solidFill>
                <a:latin typeface="+mj-ea"/>
                <a:ea typeface="+mj-ea"/>
              </a:rPr>
              <a:t>核心原理</a:t>
            </a:r>
            <a:endParaRPr lang="en-US" altLang="zh-CN" sz="4000" b="1" spc="200" dirty="0">
              <a:solidFill>
                <a:srgbClr val="C00000"/>
              </a:solidFill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p"/>
            </a:pPr>
            <a:r>
              <a:rPr lang="en-US" altLang="zh-CN" sz="4000" b="1" spc="200" dirty="0">
                <a:solidFill>
                  <a:srgbClr val="0033CC"/>
                </a:solidFill>
                <a:latin typeface="+mj-ea"/>
                <a:ea typeface="+mj-ea"/>
              </a:rPr>
              <a:t> Python API</a:t>
            </a:r>
            <a:r>
              <a:rPr lang="zh-CN" altLang="en-US" sz="4000" b="1" spc="200" dirty="0">
                <a:solidFill>
                  <a:srgbClr val="0033CC"/>
                </a:solidFill>
                <a:latin typeface="+mj-ea"/>
                <a:ea typeface="+mj-ea"/>
              </a:rPr>
              <a:t>安装与配置</a:t>
            </a:r>
            <a:endParaRPr lang="en-US" altLang="zh-CN" sz="4000" b="1" dirty="0">
              <a:solidFill>
                <a:srgbClr val="CC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1717B7"/>
              </a:buClr>
            </a:pPr>
            <a:br>
              <a:rPr lang="en-US" altLang="zh-CN" sz="4000" b="1" dirty="0">
                <a:solidFill>
                  <a:srgbClr val="CC0000"/>
                </a:solidFill>
                <a:latin typeface="+mj-ea"/>
                <a:ea typeface="+mj-ea"/>
              </a:rPr>
            </a:br>
            <a:endParaRPr lang="en-US" altLang="zh-CN" sz="4000" b="1" dirty="0">
              <a:solidFill>
                <a:srgbClr val="CC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84217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26C70-C924-174D-BD59-715C4B867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Box 3">
            <a:extLst>
              <a:ext uri="{FF2B5EF4-FFF2-40B4-BE49-F238E27FC236}">
                <a16:creationId xmlns:a16="http://schemas.microsoft.com/office/drawing/2014/main" id="{274735A1-56A9-61B5-B814-646C46392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8886" y="2188159"/>
            <a:ext cx="72480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：新一代</a:t>
            </a: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SMT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求解器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95CADCB-5C94-06D0-706C-A2AE06BB0B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246" y="0"/>
            <a:ext cx="3019094" cy="877971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0321BCD-10AD-049A-00E8-C5C239C965B6}"/>
              </a:ext>
            </a:extLst>
          </p:cNvPr>
          <p:cNvCxnSpPr/>
          <p:nvPr/>
        </p:nvCxnSpPr>
        <p:spPr>
          <a:xfrm>
            <a:off x="45720" y="901337"/>
            <a:ext cx="120896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0C1B8B37-4252-8614-D70F-63A01F364191}"/>
              </a:ext>
            </a:extLst>
          </p:cNvPr>
          <p:cNvSpPr txBox="1"/>
          <p:nvPr/>
        </p:nvSpPr>
        <p:spPr bwMode="auto">
          <a:xfrm>
            <a:off x="399047" y="0"/>
            <a:ext cx="4845690" cy="80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700" kern="0" dirty="0"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3700" kern="0" dirty="0">
                <a:latin typeface="微软雅黑" panose="020B0503020204020204" charset="-122"/>
                <a:ea typeface="微软雅黑" panose="020B0503020204020204" charset="-122"/>
              </a:rPr>
              <a:t>核心原理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72BA55-AB07-3265-C4D4-4057408D9B81}"/>
              </a:ext>
            </a:extLst>
          </p:cNvPr>
          <p:cNvSpPr/>
          <p:nvPr/>
        </p:nvSpPr>
        <p:spPr>
          <a:xfrm>
            <a:off x="82102" y="1197050"/>
            <a:ext cx="3899936" cy="43270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88900">
              <a:schemeClr val="bg1">
                <a:alpha val="40000"/>
              </a:schemeClr>
            </a:glow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7F6841-AF8D-C74A-08AA-51359710DE98}"/>
              </a:ext>
            </a:extLst>
          </p:cNvPr>
          <p:cNvSpPr/>
          <p:nvPr/>
        </p:nvSpPr>
        <p:spPr>
          <a:xfrm>
            <a:off x="306922" y="2188159"/>
            <a:ext cx="3423928" cy="2666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cvc5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以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SAT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求解器为骨架，通过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DPLL(T)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迭代调用各理论求解器，实现布尔与理论推理交错推进。这种框架使得求解器能够高效地处理复杂的逻辑公式。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6EF7795-D8B1-D972-59D1-D01B4B221A26}"/>
              </a:ext>
            </a:extLst>
          </p:cNvPr>
          <p:cNvSpPr/>
          <p:nvPr/>
        </p:nvSpPr>
        <p:spPr>
          <a:xfrm>
            <a:off x="316447" y="1449461"/>
            <a:ext cx="3032042" cy="486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DPLL(T)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框架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1A3FF4-1A74-C4AF-8E6C-76883082DA4C}"/>
              </a:ext>
            </a:extLst>
          </p:cNvPr>
          <p:cNvSpPr/>
          <p:nvPr/>
        </p:nvSpPr>
        <p:spPr>
          <a:xfrm>
            <a:off x="4127233" y="1197050"/>
            <a:ext cx="3899936" cy="43270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88900">
              <a:schemeClr val="bg1">
                <a:alpha val="40000"/>
              </a:schemeClr>
            </a:glow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7ACEC6-1D96-D67F-B1A4-1BFFEAFA53D0}"/>
              </a:ext>
            </a:extLst>
          </p:cNvPr>
          <p:cNvSpPr/>
          <p:nvPr/>
        </p:nvSpPr>
        <p:spPr>
          <a:xfrm>
            <a:off x="4352053" y="2188159"/>
            <a:ext cx="3423928" cy="2666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SAT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层负责命题结构，理论层负责一致性与赋值解释。两者通过冲突子句、理论推导、赋值回传形成闭环，实现了高效的协同工作。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DF186F-B9D0-7F5F-2A1F-957935FF8755}"/>
              </a:ext>
            </a:extLst>
          </p:cNvPr>
          <p:cNvSpPr/>
          <p:nvPr/>
        </p:nvSpPr>
        <p:spPr>
          <a:xfrm>
            <a:off x="4361578" y="1449461"/>
            <a:ext cx="3032042" cy="486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理论协同机制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580A3C-3624-F2CB-F916-D908B615E785}"/>
              </a:ext>
            </a:extLst>
          </p:cNvPr>
          <p:cNvSpPr/>
          <p:nvPr/>
        </p:nvSpPr>
        <p:spPr>
          <a:xfrm>
            <a:off x="8172364" y="1197050"/>
            <a:ext cx="3899936" cy="43270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88900">
              <a:schemeClr val="bg1">
                <a:alpha val="40000"/>
              </a:schemeClr>
            </a:glow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6CD0E6-7B3B-BD8D-FBDF-89450AB5818E}"/>
              </a:ext>
            </a:extLst>
          </p:cNvPr>
          <p:cNvSpPr/>
          <p:nvPr/>
        </p:nvSpPr>
        <p:spPr>
          <a:xfrm>
            <a:off x="8397184" y="2188159"/>
            <a:ext cx="3423928" cy="310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量词实例化策略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</a:p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针对含全称量词公式，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cvc5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采用枚举实例化、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E-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匹配、基于模型的实例化三大策略。这三种策略相互补充，能够有效地处理复杂的量词问题。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87287D-2787-3067-0E79-A1FBFA6ADE33}"/>
              </a:ext>
            </a:extLst>
          </p:cNvPr>
          <p:cNvSpPr/>
          <p:nvPr/>
        </p:nvSpPr>
        <p:spPr>
          <a:xfrm>
            <a:off x="8406709" y="1449461"/>
            <a:ext cx="3032042" cy="486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量词实例化三部曲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ECB6C9-AFF8-3476-9F25-334990F95428}"/>
              </a:ext>
            </a:extLst>
          </p:cNvPr>
          <p:cNvSpPr/>
          <p:nvPr/>
        </p:nvSpPr>
        <p:spPr>
          <a:xfrm>
            <a:off x="399047" y="5766980"/>
            <a:ext cx="11168743" cy="863293"/>
          </a:xfrm>
          <a:prstGeom prst="rect">
            <a:avLst/>
          </a:prstGeom>
          <a:noFill/>
          <a:ln w="254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0A2B967-F0F3-E158-D2FF-513B966EB7DA}"/>
              </a:ext>
            </a:extLst>
          </p:cNvPr>
          <p:cNvSpPr/>
          <p:nvPr/>
        </p:nvSpPr>
        <p:spPr>
          <a:xfrm>
            <a:off x="469434" y="5707969"/>
            <a:ext cx="10967728" cy="922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defRPr/>
            </a:pPr>
            <a:r>
              <a:rPr lang="en-US" altLang="zh-CN" sz="2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cvc5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核心求解机制</a:t>
            </a: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 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基于</a:t>
            </a: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SAT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求解器</a:t>
            </a: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DPLL(T)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框架，协同理论求解器工作，量词实例化策略多样（枚举、</a:t>
            </a: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E-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匹配、基于模型），运用插值、溯因、优化求解等技术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40842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C7458-69E4-DED9-4F32-A6B0791E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B04D882D-8ACF-BDBD-14D9-855F1F36AC28}"/>
              </a:ext>
            </a:extLst>
          </p:cNvPr>
          <p:cNvSpPr/>
          <p:nvPr/>
        </p:nvSpPr>
        <p:spPr>
          <a:xfrm>
            <a:off x="2873828" y="4824407"/>
            <a:ext cx="8712926" cy="14424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88900">
              <a:schemeClr val="bg1">
                <a:alpha val="40000"/>
              </a:schemeClr>
            </a:glow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9C95A6F-0FFE-CAE6-1042-71CBB79F64F5}"/>
              </a:ext>
            </a:extLst>
          </p:cNvPr>
          <p:cNvSpPr/>
          <p:nvPr/>
        </p:nvSpPr>
        <p:spPr>
          <a:xfrm>
            <a:off x="2873828" y="3105054"/>
            <a:ext cx="8712926" cy="14424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88900">
              <a:schemeClr val="bg1">
                <a:alpha val="40000"/>
              </a:schemeClr>
            </a:glow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9428D9B-20D1-3E49-2070-24FCAF351BC8}"/>
              </a:ext>
            </a:extLst>
          </p:cNvPr>
          <p:cNvSpPr/>
          <p:nvPr/>
        </p:nvSpPr>
        <p:spPr>
          <a:xfrm>
            <a:off x="2873828" y="1379170"/>
            <a:ext cx="8712926" cy="14424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88900">
              <a:schemeClr val="bg1">
                <a:alpha val="40000"/>
              </a:schemeClr>
            </a:glow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459" name="TextBox 3">
            <a:extLst>
              <a:ext uri="{FF2B5EF4-FFF2-40B4-BE49-F238E27FC236}">
                <a16:creationId xmlns:a16="http://schemas.microsoft.com/office/drawing/2014/main" id="{06432B58-3C66-CA2E-8317-8894AE424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7263" y="1752698"/>
            <a:ext cx="72480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：新一代</a:t>
            </a: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SMT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求解器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ABB370D-9311-C512-6677-BFA454FAD5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246" y="0"/>
            <a:ext cx="3019094" cy="877971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20283B1-C211-E39A-E6C0-C5A3F0C9CE35}"/>
              </a:ext>
            </a:extLst>
          </p:cNvPr>
          <p:cNvCxnSpPr/>
          <p:nvPr/>
        </p:nvCxnSpPr>
        <p:spPr>
          <a:xfrm>
            <a:off x="45720" y="901337"/>
            <a:ext cx="120896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D02D8355-B3FC-4A1A-2FD1-3795600EC6CA}"/>
              </a:ext>
            </a:extLst>
          </p:cNvPr>
          <p:cNvSpPr txBox="1"/>
          <p:nvPr/>
        </p:nvSpPr>
        <p:spPr bwMode="auto">
          <a:xfrm>
            <a:off x="399047" y="0"/>
            <a:ext cx="4845690" cy="80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700" kern="0" dirty="0"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3700" kern="0" dirty="0">
                <a:latin typeface="微软雅黑" panose="020B0503020204020204" charset="-122"/>
                <a:ea typeface="微软雅黑" panose="020B0503020204020204" charset="-122"/>
              </a:rPr>
              <a:t>覆盖的核心理论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C9C9F9-7DEF-EFEF-6D60-946E024D06F8}"/>
              </a:ext>
            </a:extLst>
          </p:cNvPr>
          <p:cNvSpPr/>
          <p:nvPr/>
        </p:nvSpPr>
        <p:spPr>
          <a:xfrm>
            <a:off x="613996" y="1752698"/>
            <a:ext cx="2119776" cy="486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理论种类丰富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21DAF27-461B-A006-5227-915C9868804A}"/>
              </a:ext>
            </a:extLst>
          </p:cNvPr>
          <p:cNvSpPr/>
          <p:nvPr/>
        </p:nvSpPr>
        <p:spPr>
          <a:xfrm>
            <a:off x="2952205" y="1420301"/>
            <a:ext cx="8494493" cy="1358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defRPr/>
            </a:pP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cvc5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支持</a:t>
            </a: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EUF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、线性到非线性算术、浮点、位向量、字符串与正则、数组、代数数据类型、有限集合与关系等理论，覆盖了形式化验证中的常见需求。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D0F25977-34A9-7FCD-DF33-7542E0428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8886" y="3443416"/>
            <a:ext cx="72480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：新一代</a:t>
            </a: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SMT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求解器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016970A-BAB9-ABBC-4297-3360E19BCAC6}"/>
              </a:ext>
            </a:extLst>
          </p:cNvPr>
          <p:cNvSpPr/>
          <p:nvPr/>
        </p:nvSpPr>
        <p:spPr>
          <a:xfrm>
            <a:off x="548640" y="3443416"/>
            <a:ext cx="2246811" cy="486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理论的可组合性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6C810B4-6CCE-C13B-A630-CC3991F93EE3}"/>
              </a:ext>
            </a:extLst>
          </p:cNvPr>
          <p:cNvSpPr/>
          <p:nvPr/>
        </p:nvSpPr>
        <p:spPr>
          <a:xfrm>
            <a:off x="2952205" y="3131306"/>
            <a:ext cx="8494493" cy="1358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defRPr/>
            </a:pP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cvc5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强调理论的可组合特性，允许在同一断言中无缝混用多种理论。这种灵活性使得</a:t>
            </a: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cvc5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能够处理复杂的验证问题，为开发者提供了强大的工具。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675BFED3-075F-59D6-7C2D-C279AC661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8886" y="5134134"/>
            <a:ext cx="72480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：新一代</a:t>
            </a: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SMT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求解器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673AFD-ECE9-2680-8010-E0C14B405844}"/>
              </a:ext>
            </a:extLst>
          </p:cNvPr>
          <p:cNvSpPr/>
          <p:nvPr/>
        </p:nvSpPr>
        <p:spPr>
          <a:xfrm>
            <a:off x="587829" y="5134565"/>
            <a:ext cx="2246811" cy="486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理论对应痛点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674D2F0-3E48-9C73-68C6-B8F80A7B7BBC}"/>
              </a:ext>
            </a:extLst>
          </p:cNvPr>
          <p:cNvSpPr/>
          <p:nvPr/>
        </p:nvSpPr>
        <p:spPr>
          <a:xfrm>
            <a:off x="2952204" y="4824407"/>
            <a:ext cx="8494493" cy="1358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defRPr/>
            </a:pP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cvc5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强调理论的可组合特性，允许在同一断言中无缝混用多种理论。这种灵活性使得</a:t>
            </a: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cvc5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能够处理复杂的验证问题，为开发者提供了强大的工具。</a:t>
            </a:r>
          </a:p>
        </p:txBody>
      </p:sp>
    </p:spTree>
    <p:extLst>
      <p:ext uri="{BB962C8B-B14F-4D97-AF65-F5344CB8AC3E}">
        <p14:creationId xmlns:p14="http://schemas.microsoft.com/office/powerpoint/2010/main" val="1665831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E6182-0661-00DF-8A79-2BA0C6967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Box 3">
            <a:extLst>
              <a:ext uri="{FF2B5EF4-FFF2-40B4-BE49-F238E27FC236}">
                <a16:creationId xmlns:a16="http://schemas.microsoft.com/office/drawing/2014/main" id="{BE2963D6-FF06-C6A3-7783-1AEE3726F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688" y="2756388"/>
            <a:ext cx="72480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：新一代</a:t>
            </a: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SMT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求解器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2747BC6-6C40-7ED3-268E-45AA25102D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246" y="0"/>
            <a:ext cx="3019094" cy="877971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0CEEE06-8DC9-0884-A05D-442085019242}"/>
              </a:ext>
            </a:extLst>
          </p:cNvPr>
          <p:cNvCxnSpPr/>
          <p:nvPr/>
        </p:nvCxnSpPr>
        <p:spPr>
          <a:xfrm>
            <a:off x="45720" y="901337"/>
            <a:ext cx="120896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15801F51-72DB-A4ED-9741-5DA51E7B4B62}"/>
              </a:ext>
            </a:extLst>
          </p:cNvPr>
          <p:cNvSpPr txBox="1"/>
          <p:nvPr/>
        </p:nvSpPr>
        <p:spPr bwMode="auto">
          <a:xfrm>
            <a:off x="399047" y="0"/>
            <a:ext cx="2072641" cy="80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3700" kern="0" dirty="0">
                <a:latin typeface="微软雅黑" panose="020B0503020204020204" charset="-122"/>
                <a:ea typeface="微软雅黑" panose="020B0503020204020204" charset="-122"/>
              </a:rPr>
              <a:t>汇报提纲</a:t>
            </a:r>
            <a:endParaRPr lang="zh-CN" altLang="en-US" sz="3700" kern="0" dirty="0">
              <a:solidFill>
                <a:srgbClr val="1717B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507C61-812B-FAFC-3882-A44F4079C34C}"/>
              </a:ext>
            </a:extLst>
          </p:cNvPr>
          <p:cNvSpPr/>
          <p:nvPr/>
        </p:nvSpPr>
        <p:spPr>
          <a:xfrm>
            <a:off x="3032578" y="1890212"/>
            <a:ext cx="6777627" cy="4157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p"/>
            </a:pPr>
            <a:r>
              <a:rPr lang="en-US" altLang="zh-CN" sz="4000" b="1" spc="200" dirty="0">
                <a:solidFill>
                  <a:srgbClr val="0033CC"/>
                </a:solidFill>
                <a:latin typeface="+mj-ea"/>
                <a:ea typeface="+mj-ea"/>
              </a:rPr>
              <a:t> STM</a:t>
            </a:r>
            <a:r>
              <a:rPr lang="zh-CN" altLang="en-US" sz="4000" b="1" spc="200" dirty="0">
                <a:solidFill>
                  <a:srgbClr val="0033CC"/>
                </a:solidFill>
                <a:latin typeface="+mj-ea"/>
                <a:ea typeface="+mj-ea"/>
              </a:rPr>
              <a:t>与</a:t>
            </a:r>
            <a:r>
              <a:rPr lang="en-US" altLang="zh-CN" sz="4000" b="1" spc="200" dirty="0">
                <a:solidFill>
                  <a:srgbClr val="0033CC"/>
                </a:solidFill>
                <a:latin typeface="+mj-ea"/>
                <a:ea typeface="+mj-ea"/>
              </a:rPr>
              <a:t>cvc5</a:t>
            </a:r>
            <a:r>
              <a:rPr lang="zh-CN" altLang="en-US" sz="4000" b="1" spc="200" dirty="0">
                <a:solidFill>
                  <a:srgbClr val="0033CC"/>
                </a:solidFill>
                <a:latin typeface="+mj-ea"/>
                <a:ea typeface="+mj-ea"/>
              </a:rPr>
              <a:t>背景介绍</a:t>
            </a:r>
            <a:endParaRPr lang="en-US" altLang="zh-CN" sz="4000" b="1" spc="200" dirty="0">
              <a:solidFill>
                <a:srgbClr val="0033CC"/>
              </a:solidFill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p"/>
            </a:pPr>
            <a:r>
              <a:rPr lang="en-US" altLang="zh-CN" sz="4000" b="1" spc="200" dirty="0">
                <a:solidFill>
                  <a:srgbClr val="0033CC"/>
                </a:solidFill>
                <a:latin typeface="+mj-ea"/>
                <a:ea typeface="+mj-ea"/>
              </a:rPr>
              <a:t> cvc5</a:t>
            </a:r>
            <a:r>
              <a:rPr lang="zh-CN" altLang="en-US" sz="4000" b="1" spc="200" dirty="0">
                <a:solidFill>
                  <a:srgbClr val="0033CC"/>
                </a:solidFill>
                <a:latin typeface="+mj-ea"/>
                <a:ea typeface="+mj-ea"/>
              </a:rPr>
              <a:t>核心原理</a:t>
            </a:r>
            <a:endParaRPr lang="en-US" altLang="zh-CN" sz="4000" b="1" spc="200" dirty="0">
              <a:solidFill>
                <a:srgbClr val="0033CC"/>
              </a:solidFill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p"/>
            </a:pPr>
            <a:r>
              <a:rPr lang="en-US" altLang="zh-CN" sz="4000" b="1" spc="200" dirty="0">
                <a:solidFill>
                  <a:srgbClr val="0033CC"/>
                </a:solidFill>
                <a:latin typeface="+mj-ea"/>
                <a:ea typeface="+mj-ea"/>
              </a:rPr>
              <a:t> </a:t>
            </a:r>
            <a:r>
              <a:rPr lang="en-US" altLang="zh-CN" sz="4000" b="1" spc="200" dirty="0">
                <a:solidFill>
                  <a:srgbClr val="C00000"/>
                </a:solidFill>
                <a:latin typeface="+mj-ea"/>
                <a:ea typeface="+mj-ea"/>
              </a:rPr>
              <a:t>Python API</a:t>
            </a:r>
            <a:r>
              <a:rPr lang="zh-CN" altLang="en-US" sz="4000" b="1" spc="200" dirty="0">
                <a:solidFill>
                  <a:srgbClr val="C00000"/>
                </a:solidFill>
                <a:latin typeface="+mj-ea"/>
                <a:ea typeface="+mj-ea"/>
              </a:rPr>
              <a:t>安装与配置</a:t>
            </a:r>
            <a:endParaRPr lang="en-US" altLang="zh-CN" sz="40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1717B7"/>
              </a:buClr>
            </a:pPr>
            <a:br>
              <a:rPr lang="en-US" altLang="zh-CN" sz="4000" b="1" dirty="0">
                <a:solidFill>
                  <a:srgbClr val="CC0000"/>
                </a:solidFill>
                <a:latin typeface="+mj-ea"/>
                <a:ea typeface="+mj-ea"/>
              </a:rPr>
            </a:br>
            <a:endParaRPr lang="en-US" altLang="zh-CN" sz="4000" b="1" dirty="0">
              <a:solidFill>
                <a:srgbClr val="CC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69646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5F40A-E480-2895-E412-5FE3B7493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Box 3">
            <a:extLst>
              <a:ext uri="{FF2B5EF4-FFF2-40B4-BE49-F238E27FC236}">
                <a16:creationId xmlns:a16="http://schemas.microsoft.com/office/drawing/2014/main" id="{FB8ACC3D-1174-4475-55CD-7AB960EB2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688" y="2756388"/>
            <a:ext cx="72480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：新一代</a:t>
            </a: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SMT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求解器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757239B-9DDC-F4B2-314C-4C423C9782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246" y="0"/>
            <a:ext cx="3019094" cy="877971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7C5F6EE-0F14-2DA3-11F3-131D2C379FB5}"/>
              </a:ext>
            </a:extLst>
          </p:cNvPr>
          <p:cNvCxnSpPr/>
          <p:nvPr/>
        </p:nvCxnSpPr>
        <p:spPr>
          <a:xfrm>
            <a:off x="45720" y="901337"/>
            <a:ext cx="120896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857B9BA0-0C84-B61C-CE1B-32DF6199ED19}"/>
              </a:ext>
            </a:extLst>
          </p:cNvPr>
          <p:cNvSpPr txBox="1"/>
          <p:nvPr/>
        </p:nvSpPr>
        <p:spPr bwMode="auto">
          <a:xfrm>
            <a:off x="399046" y="0"/>
            <a:ext cx="5270233" cy="80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700" kern="0" dirty="0">
                <a:latin typeface="微软雅黑" panose="020B0503020204020204" charset="-122"/>
                <a:ea typeface="微软雅黑" panose="020B0503020204020204" charset="-122"/>
              </a:rPr>
              <a:t>Python API</a:t>
            </a:r>
            <a:r>
              <a:rPr lang="zh-CN" altLang="en-US" sz="3700" kern="0" dirty="0">
                <a:latin typeface="微软雅黑" panose="020B0503020204020204" charset="-122"/>
                <a:ea typeface="微软雅黑" panose="020B0503020204020204" charset="-122"/>
              </a:rPr>
              <a:t>安装与配置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411EBC-BCA8-AEC0-34D7-07A49D7461F8}"/>
              </a:ext>
            </a:extLst>
          </p:cNvPr>
          <p:cNvSpPr/>
          <p:nvPr/>
        </p:nvSpPr>
        <p:spPr>
          <a:xfrm>
            <a:off x="894132" y="1765279"/>
            <a:ext cx="4533486" cy="43270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88900">
              <a:schemeClr val="bg1">
                <a:alpha val="40000"/>
              </a:schemeClr>
            </a:glow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5BDD0C-C985-85F1-C091-DB08D787A9D5}"/>
              </a:ext>
            </a:extLst>
          </p:cNvPr>
          <p:cNvSpPr/>
          <p:nvPr/>
        </p:nvSpPr>
        <p:spPr>
          <a:xfrm>
            <a:off x="1200868" y="2808645"/>
            <a:ext cx="3919772" cy="2666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cvc5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提供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Base Python API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与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Pythonic API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Base Python API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映射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C++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类与函数，面向需精细控制的高级用户；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Pythonic API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封装成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Z3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风格，降低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开发者负担。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EEDE6A-EC71-47B2-6A56-4E76F50C2A64}"/>
              </a:ext>
            </a:extLst>
          </p:cNvPr>
          <p:cNvSpPr/>
          <p:nvPr/>
        </p:nvSpPr>
        <p:spPr>
          <a:xfrm>
            <a:off x="1210393" y="2069947"/>
            <a:ext cx="3032042" cy="486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双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API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设计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E0608E-151D-DE39-4C00-B1D85856F9DA}"/>
              </a:ext>
            </a:extLst>
          </p:cNvPr>
          <p:cNvSpPr/>
          <p:nvPr/>
        </p:nvSpPr>
        <p:spPr>
          <a:xfrm>
            <a:off x="6537729" y="1562737"/>
            <a:ext cx="4899034" cy="485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Github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 https://github.com/cvc5/cvc5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BFF659A-F778-A5AD-4053-78235D60A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071" y="2069947"/>
            <a:ext cx="5510244" cy="452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659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2AA24-F3A0-F689-05F4-6D4F13003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Box 3">
            <a:extLst>
              <a:ext uri="{FF2B5EF4-FFF2-40B4-BE49-F238E27FC236}">
                <a16:creationId xmlns:a16="http://schemas.microsoft.com/office/drawing/2014/main" id="{7ADC95FF-4BE9-2560-48E0-20F38FD80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688" y="2756388"/>
            <a:ext cx="72480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：新一代</a:t>
            </a: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SMT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求解器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B2D3A27-CD45-B2DB-EBAA-33A3076B90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246" y="0"/>
            <a:ext cx="3019094" cy="877971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4FCE027-E572-794C-246F-5CDAAFA746AB}"/>
              </a:ext>
            </a:extLst>
          </p:cNvPr>
          <p:cNvCxnSpPr/>
          <p:nvPr/>
        </p:nvCxnSpPr>
        <p:spPr>
          <a:xfrm>
            <a:off x="45720" y="901337"/>
            <a:ext cx="120896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011F5DF8-BF4D-D4F1-0BE2-EC883BB21B5D}"/>
              </a:ext>
            </a:extLst>
          </p:cNvPr>
          <p:cNvSpPr txBox="1"/>
          <p:nvPr/>
        </p:nvSpPr>
        <p:spPr bwMode="auto">
          <a:xfrm>
            <a:off x="399046" y="0"/>
            <a:ext cx="5270233" cy="80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700" kern="0" dirty="0">
                <a:latin typeface="微软雅黑" panose="020B0503020204020204" charset="-122"/>
                <a:ea typeface="微软雅黑" panose="020B0503020204020204" charset="-122"/>
              </a:rPr>
              <a:t>Python API</a:t>
            </a:r>
            <a:r>
              <a:rPr lang="zh-CN" altLang="en-US" sz="3700" kern="0" dirty="0">
                <a:latin typeface="微软雅黑" panose="020B0503020204020204" charset="-122"/>
                <a:ea typeface="微软雅黑" panose="020B0503020204020204" charset="-122"/>
              </a:rPr>
              <a:t>安装与配置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173315-77F9-1DF8-1978-5DF0BDB0AA70}"/>
              </a:ext>
            </a:extLst>
          </p:cNvPr>
          <p:cNvSpPr/>
          <p:nvPr/>
        </p:nvSpPr>
        <p:spPr>
          <a:xfrm>
            <a:off x="1014109" y="1658510"/>
            <a:ext cx="4533486" cy="43270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88900">
              <a:schemeClr val="bg1">
                <a:alpha val="40000"/>
              </a:schemeClr>
            </a:glow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674D36-00DF-0D42-57AA-CBA7948380C8}"/>
              </a:ext>
            </a:extLst>
          </p:cNvPr>
          <p:cNvSpPr/>
          <p:nvPr/>
        </p:nvSpPr>
        <p:spPr>
          <a:xfrm>
            <a:off x="1320844" y="2701876"/>
            <a:ext cx="3998149" cy="3022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配置依赖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pip install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tomli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pip install 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pyparsing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./configure.sh --auto-download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# </a:t>
            </a:r>
            <a:r>
              <a:rPr lang="zh-CN" altLang="en-US" sz="1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安装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cd build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make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make install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# </a:t>
            </a:r>
            <a:r>
              <a:rPr lang="zh-CN" altLang="en-US" sz="1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测试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./build/bin/cvc5 test.smt2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F00A49-AA71-BDAF-9529-3B6047E4B150}"/>
              </a:ext>
            </a:extLst>
          </p:cNvPr>
          <p:cNvSpPr/>
          <p:nvPr/>
        </p:nvSpPr>
        <p:spPr>
          <a:xfrm>
            <a:off x="1330370" y="1963178"/>
            <a:ext cx="3032042" cy="486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配置和安装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B82BDE-AE57-D637-919F-F1BCD6787FF7}"/>
              </a:ext>
            </a:extLst>
          </p:cNvPr>
          <p:cNvSpPr/>
          <p:nvPr/>
        </p:nvSpPr>
        <p:spPr>
          <a:xfrm>
            <a:off x="6469837" y="1417396"/>
            <a:ext cx="4533486" cy="24997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88900">
              <a:schemeClr val="bg1">
                <a:alpha val="40000"/>
              </a:schemeClr>
            </a:glow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37232C-7963-0B2F-38E9-7BBFA70B433F}"/>
              </a:ext>
            </a:extLst>
          </p:cNvPr>
          <p:cNvSpPr/>
          <p:nvPr/>
        </p:nvSpPr>
        <p:spPr>
          <a:xfrm>
            <a:off x="6759438" y="2274552"/>
            <a:ext cx="4226751" cy="1547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Trace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模式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./configure.sh --auto-download --tracing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cd build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make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make install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F9E69A-0FAF-C742-76B7-A1CB0DBD6DAF}"/>
              </a:ext>
            </a:extLst>
          </p:cNvPr>
          <p:cNvSpPr/>
          <p:nvPr/>
        </p:nvSpPr>
        <p:spPr>
          <a:xfrm>
            <a:off x="6759438" y="1602830"/>
            <a:ext cx="3032042" cy="486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开启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Trace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模式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CE5768-DEA8-3284-424C-7DF4489474EA}"/>
              </a:ext>
            </a:extLst>
          </p:cNvPr>
          <p:cNvSpPr/>
          <p:nvPr/>
        </p:nvSpPr>
        <p:spPr>
          <a:xfrm>
            <a:off x="6469837" y="4102574"/>
            <a:ext cx="4533486" cy="210077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88900">
              <a:schemeClr val="bg1">
                <a:alpha val="40000"/>
              </a:schemeClr>
            </a:glow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0DAA95-748B-BD04-D12E-AB49FC1DF0F9}"/>
              </a:ext>
            </a:extLst>
          </p:cNvPr>
          <p:cNvSpPr/>
          <p:nvPr/>
        </p:nvSpPr>
        <p:spPr>
          <a:xfrm>
            <a:off x="6759438" y="4959730"/>
            <a:ext cx="4226751" cy="949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# Debug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# </a:t>
            </a:r>
            <a:r>
              <a:rPr lang="zh-CN" altLang="en-US" sz="1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修改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configure.sh</a:t>
            </a:r>
            <a:r>
              <a:rPr lang="zh-CN" altLang="en-US" sz="1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b="1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buildtype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=Debug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# </a:t>
            </a:r>
            <a:r>
              <a:rPr lang="zh-CN" altLang="en-US" sz="1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之后正常编译即可。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FBB8B2-C218-4A4F-B8C9-A0FB3B8F8374}"/>
              </a:ext>
            </a:extLst>
          </p:cNvPr>
          <p:cNvSpPr/>
          <p:nvPr/>
        </p:nvSpPr>
        <p:spPr>
          <a:xfrm>
            <a:off x="6759438" y="4288008"/>
            <a:ext cx="3032042" cy="486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开启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Debug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模式</a:t>
            </a:r>
          </a:p>
        </p:txBody>
      </p:sp>
    </p:spTree>
    <p:extLst>
      <p:ext uri="{BB962C8B-B14F-4D97-AF65-F5344CB8AC3E}">
        <p14:creationId xmlns:p14="http://schemas.microsoft.com/office/powerpoint/2010/main" val="243441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85673-C266-146C-7712-8E0D3F1DC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Box 3">
            <a:extLst>
              <a:ext uri="{FF2B5EF4-FFF2-40B4-BE49-F238E27FC236}">
                <a16:creationId xmlns:a16="http://schemas.microsoft.com/office/drawing/2014/main" id="{B4508468-5FB1-4150-4EBC-28A57F64C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688" y="2756388"/>
            <a:ext cx="72480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：新一代</a:t>
            </a: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SMT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求解器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87BA59C-5845-127E-430C-CB7139C8EE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246" y="0"/>
            <a:ext cx="3019094" cy="877971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AE7DD5F-9910-7772-BA04-B16B61F9ADED}"/>
              </a:ext>
            </a:extLst>
          </p:cNvPr>
          <p:cNvCxnSpPr/>
          <p:nvPr/>
        </p:nvCxnSpPr>
        <p:spPr>
          <a:xfrm>
            <a:off x="45720" y="901337"/>
            <a:ext cx="120896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E109E91D-0789-2616-3439-7C3B536107A2}"/>
              </a:ext>
            </a:extLst>
          </p:cNvPr>
          <p:cNvSpPr txBox="1"/>
          <p:nvPr/>
        </p:nvSpPr>
        <p:spPr bwMode="auto">
          <a:xfrm>
            <a:off x="399047" y="0"/>
            <a:ext cx="5148548" cy="80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700" kern="0" dirty="0">
                <a:latin typeface="微软雅黑" panose="020B0503020204020204" charset="-122"/>
                <a:ea typeface="微软雅黑" panose="020B0503020204020204" charset="-122"/>
              </a:rPr>
              <a:t>SMT-LIB v2 </a:t>
            </a:r>
            <a:r>
              <a:rPr lang="zh-CN" altLang="en-US" sz="3700" kern="0" dirty="0">
                <a:latin typeface="微软雅黑" panose="020B0503020204020204" charset="-122"/>
                <a:ea typeface="微软雅黑" panose="020B0503020204020204" charset="-122"/>
              </a:rPr>
              <a:t>使用示例</a:t>
            </a:r>
            <a:endParaRPr lang="zh-CN" altLang="en-US" sz="3700" kern="0" dirty="0">
              <a:solidFill>
                <a:srgbClr val="1717B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949CFD-8E5B-E7CF-7D5B-F6A43DC19C8A}"/>
              </a:ext>
            </a:extLst>
          </p:cNvPr>
          <p:cNvSpPr/>
          <p:nvPr/>
        </p:nvSpPr>
        <p:spPr>
          <a:xfrm>
            <a:off x="1014109" y="1286691"/>
            <a:ext cx="4533486" cy="46988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88900">
              <a:schemeClr val="bg1">
                <a:alpha val="40000"/>
              </a:schemeClr>
            </a:glow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BFFD0F-F221-6874-64A2-B89FFBF91F0E}"/>
              </a:ext>
            </a:extLst>
          </p:cNvPr>
          <p:cNvSpPr/>
          <p:nvPr/>
        </p:nvSpPr>
        <p:spPr>
          <a:xfrm>
            <a:off x="1320844" y="1937387"/>
            <a:ext cx="3998149" cy="3895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 </a:t>
            </a: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设置逻辑为量词无关的线性整数算术 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(Quantifier-Free Linear Integer Arithmetic)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(set-logic QF_LIA)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endParaRPr lang="en-US" altLang="zh-CN" sz="1400" b="1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 </a:t>
            </a: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启用模型生成选项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(set-option :produce-models true)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endParaRPr lang="en-US" altLang="zh-CN" sz="1400" b="1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 </a:t>
            </a: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声明两个整数常量 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 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y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(declare-const x Int)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(declare-const y Int)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endParaRPr lang="en-US" altLang="zh-CN" sz="1400" b="1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 </a:t>
            </a: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添加约束条件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: x + y = 5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(assert (= (+ x y) 5))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2922DE-5280-4301-FCC3-23B9A697751D}"/>
              </a:ext>
            </a:extLst>
          </p:cNvPr>
          <p:cNvSpPr/>
          <p:nvPr/>
        </p:nvSpPr>
        <p:spPr>
          <a:xfrm>
            <a:off x="1320844" y="1370987"/>
            <a:ext cx="3032042" cy="486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smt2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F012B4-F1C8-6930-99D6-D1E62D4C919C}"/>
              </a:ext>
            </a:extLst>
          </p:cNvPr>
          <p:cNvSpPr/>
          <p:nvPr/>
        </p:nvSpPr>
        <p:spPr>
          <a:xfrm>
            <a:off x="6274087" y="1286691"/>
            <a:ext cx="4533486" cy="31683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88900">
              <a:schemeClr val="bg1">
                <a:alpha val="40000"/>
              </a:schemeClr>
            </a:glow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42A7FC-C185-0454-F52A-6AC7A4CBE42F}"/>
              </a:ext>
            </a:extLst>
          </p:cNvPr>
          <p:cNvSpPr/>
          <p:nvPr/>
        </p:nvSpPr>
        <p:spPr>
          <a:xfrm>
            <a:off x="6463306" y="1444799"/>
            <a:ext cx="3998149" cy="3010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 </a:t>
            </a: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添加另一个约束条件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: x &gt; 0 </a:t>
            </a: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且 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y &gt; 0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(assert (&gt; x 0))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(assert (&gt; y 0))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endParaRPr lang="en-US" altLang="zh-CN" sz="1400" b="1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 </a:t>
            </a: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检查当前断言的可满足性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(check-sat)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endParaRPr lang="en-US" altLang="zh-CN" sz="1400" b="1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 </a:t>
            </a: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如果可满足，获取模型（即变量的具体值）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(get-model)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endParaRPr lang="en-US" altLang="zh-CN" sz="1400" b="1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919886-DE28-C8D5-95F3-A20359D5B20C}"/>
              </a:ext>
            </a:extLst>
          </p:cNvPr>
          <p:cNvSpPr/>
          <p:nvPr/>
        </p:nvSpPr>
        <p:spPr>
          <a:xfrm>
            <a:off x="6274087" y="4603740"/>
            <a:ext cx="4533486" cy="210077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88900">
              <a:schemeClr val="bg1">
                <a:alpha val="40000"/>
              </a:schemeClr>
            </a:glow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56F4AB-59DC-F369-FB12-7C27778C5AC0}"/>
              </a:ext>
            </a:extLst>
          </p:cNvPr>
          <p:cNvSpPr/>
          <p:nvPr/>
        </p:nvSpPr>
        <p:spPr>
          <a:xfrm>
            <a:off x="6563688" y="5187189"/>
            <a:ext cx="4226751" cy="1538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sat</a:t>
            </a:r>
          </a:p>
          <a:p>
            <a:pPr algn="just" fontAlgn="base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</a:p>
          <a:p>
            <a:pPr algn="just" fontAlgn="base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(define-fun x () Int 1)</a:t>
            </a:r>
          </a:p>
          <a:p>
            <a:pPr algn="just" fontAlgn="base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(define-fun y () Int 4)</a:t>
            </a:r>
          </a:p>
          <a:p>
            <a:pPr algn="just" fontAlgn="base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1400" b="1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BB8C40-ACAD-69A4-A492-AF20686731F1}"/>
              </a:ext>
            </a:extLst>
          </p:cNvPr>
          <p:cNvSpPr/>
          <p:nvPr/>
        </p:nvSpPr>
        <p:spPr>
          <a:xfrm>
            <a:off x="6563688" y="4645734"/>
            <a:ext cx="3032042" cy="486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运行后输出</a:t>
            </a:r>
          </a:p>
        </p:txBody>
      </p:sp>
    </p:spTree>
    <p:extLst>
      <p:ext uri="{BB962C8B-B14F-4D97-AF65-F5344CB8AC3E}">
        <p14:creationId xmlns:p14="http://schemas.microsoft.com/office/powerpoint/2010/main" val="6778399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33281-891E-D6B3-A183-942C593A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Box 3">
            <a:extLst>
              <a:ext uri="{FF2B5EF4-FFF2-40B4-BE49-F238E27FC236}">
                <a16:creationId xmlns:a16="http://schemas.microsoft.com/office/drawing/2014/main" id="{E967822A-CA44-4DD4-04FD-AE6D2EA58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688" y="2756388"/>
            <a:ext cx="72480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cvc5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：新一代</a:t>
            </a:r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SMT</a:t>
            </a: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求解器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764B50D-354F-0168-6981-EB32F77D88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246" y="0"/>
            <a:ext cx="3019094" cy="877971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8C32160-5072-72A4-C280-F6463F65EC4E}"/>
              </a:ext>
            </a:extLst>
          </p:cNvPr>
          <p:cNvCxnSpPr/>
          <p:nvPr/>
        </p:nvCxnSpPr>
        <p:spPr>
          <a:xfrm>
            <a:off x="45720" y="901337"/>
            <a:ext cx="120896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FEF808F6-6EE1-72E8-5D62-0F89CCBDEA8B}"/>
              </a:ext>
            </a:extLst>
          </p:cNvPr>
          <p:cNvSpPr txBox="1"/>
          <p:nvPr/>
        </p:nvSpPr>
        <p:spPr bwMode="auto">
          <a:xfrm>
            <a:off x="399047" y="0"/>
            <a:ext cx="5148548" cy="80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700" kern="0" dirty="0">
                <a:latin typeface="微软雅黑" panose="020B0503020204020204" charset="-122"/>
                <a:ea typeface="微软雅黑" panose="020B0503020204020204" charset="-122"/>
              </a:rPr>
              <a:t>Python API </a:t>
            </a:r>
            <a:r>
              <a:rPr lang="zh-CN" altLang="en-US" sz="3700" kern="0" dirty="0">
                <a:latin typeface="微软雅黑" panose="020B0503020204020204" charset="-122"/>
                <a:ea typeface="微软雅黑" panose="020B0503020204020204" charset="-122"/>
              </a:rPr>
              <a:t>使用示例</a:t>
            </a:r>
            <a:endParaRPr lang="zh-CN" altLang="en-US" sz="3700" kern="0" dirty="0">
              <a:solidFill>
                <a:srgbClr val="1717B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AA98B7-84C4-0CC8-FD78-9B6007059E8E}"/>
              </a:ext>
            </a:extLst>
          </p:cNvPr>
          <p:cNvSpPr/>
          <p:nvPr/>
        </p:nvSpPr>
        <p:spPr>
          <a:xfrm>
            <a:off x="1210051" y="1024182"/>
            <a:ext cx="4533486" cy="55635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88900">
              <a:schemeClr val="bg1">
                <a:alpha val="40000"/>
              </a:schemeClr>
            </a:glow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1815C4-609B-2D47-519B-A2688669D96A}"/>
              </a:ext>
            </a:extLst>
          </p:cNvPr>
          <p:cNvSpPr/>
          <p:nvPr/>
        </p:nvSpPr>
        <p:spPr>
          <a:xfrm>
            <a:off x="1477719" y="1430484"/>
            <a:ext cx="3998149" cy="5072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if __name__ == "__main__":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solver = Solver()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# </a:t>
            </a: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声明整数变量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x, y = </a:t>
            </a:r>
            <a:r>
              <a:rPr lang="en-US" altLang="zh-CN" sz="1400" b="1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Ints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('x y')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# </a:t>
            </a: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添加约束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400" b="1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solver.add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(x + y == 5)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400" b="1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solver.add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(x &gt; 0)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400" b="1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solver.add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(y &gt; 0)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# </a:t>
            </a: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检查可满足性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if </a:t>
            </a:r>
            <a:r>
              <a:rPr lang="en-US" altLang="zh-CN" sz="1400" b="1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solver.check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() == sat: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print("</a:t>
            </a: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可满足 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(sat)")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# </a:t>
            </a: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获取模型值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model = </a:t>
            </a:r>
            <a:r>
              <a:rPr lang="en-US" altLang="zh-CN" sz="1400" b="1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solver.model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()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print(</a:t>
            </a:r>
            <a:r>
              <a:rPr lang="en-US" altLang="zh-CN" sz="1400" b="1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f"x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: {model[x]}")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print(</a:t>
            </a:r>
            <a:r>
              <a:rPr lang="en-US" altLang="zh-CN" sz="1400" b="1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f"y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: {model[y]}")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else:</a:t>
            </a:r>
          </a:p>
          <a:p>
            <a:pPr marR="0" lvl="0" algn="just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print("</a:t>
            </a:r>
            <a:r>
              <a:rPr lang="zh-CN" altLang="en-US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不可满足 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400" b="1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unsat</a:t>
            </a:r>
            <a:r>
              <a:rPr lang="en-US" altLang="zh-CN" sz="14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)")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AFEFF9D-6A9E-D296-B3D7-E1E0D083819A}"/>
              </a:ext>
            </a:extLst>
          </p:cNvPr>
          <p:cNvSpPr/>
          <p:nvPr/>
        </p:nvSpPr>
        <p:spPr>
          <a:xfrm>
            <a:off x="1210050" y="924704"/>
            <a:ext cx="3032042" cy="486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代码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8C4943-0680-594C-A4CE-1D6CAF4DC6F1}"/>
              </a:ext>
            </a:extLst>
          </p:cNvPr>
          <p:cNvSpPr/>
          <p:nvPr/>
        </p:nvSpPr>
        <p:spPr>
          <a:xfrm>
            <a:off x="6448465" y="1802678"/>
            <a:ext cx="5227759" cy="38992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88900">
              <a:schemeClr val="bg1">
                <a:alpha val="40000"/>
              </a:schemeClr>
            </a:glow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7D1F3C-9959-8B47-A1A3-74732752B801}"/>
              </a:ext>
            </a:extLst>
          </p:cNvPr>
          <p:cNvSpPr/>
          <p:nvPr/>
        </p:nvSpPr>
        <p:spPr>
          <a:xfrm>
            <a:off x="6675958" y="2668581"/>
            <a:ext cx="4817387" cy="2971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defRPr/>
            </a:pPr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这段代码定义了一个数学问题：</a:t>
            </a:r>
            <a:endParaRPr lang="en-US" altLang="zh-CN" b="1" dirty="0">
              <a:latin typeface="+mn-ea"/>
              <a:cs typeface="Times New Roman" panose="02020603050405020304" pitchFamily="18" charset="0"/>
            </a:endParaRPr>
          </a:p>
          <a:p>
            <a:pPr algn="just" fontAlgn="base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defRPr/>
            </a:pPr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找到两个正整数 </a:t>
            </a:r>
            <a:r>
              <a:rPr lang="en-US" altLang="zh-CN" b="1" dirty="0">
                <a:latin typeface="+mn-ea"/>
                <a:cs typeface="Times New Roman" panose="02020603050405020304" pitchFamily="18" charset="0"/>
              </a:rPr>
              <a:t>x </a:t>
            </a:r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和 </a:t>
            </a:r>
            <a:r>
              <a:rPr lang="en-US" altLang="zh-CN" b="1" dirty="0">
                <a:latin typeface="+mn-ea"/>
                <a:cs typeface="Times New Roman" panose="02020603050405020304" pitchFamily="18" charset="0"/>
              </a:rPr>
              <a:t>y</a:t>
            </a:r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，使得它们的和为 </a:t>
            </a:r>
            <a:r>
              <a:rPr lang="en-US" altLang="zh-CN" b="1" dirty="0">
                <a:latin typeface="+mn-ea"/>
                <a:cs typeface="Times New Roman" panose="02020603050405020304" pitchFamily="18" charset="0"/>
              </a:rPr>
              <a:t>5</a:t>
            </a:r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。</a:t>
            </a:r>
          </a:p>
          <a:p>
            <a:pPr algn="just" fontAlgn="base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defRPr/>
            </a:pPr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它使用 </a:t>
            </a:r>
            <a:r>
              <a:rPr lang="en-US" altLang="zh-CN" b="1" dirty="0">
                <a:latin typeface="+mn-ea"/>
                <a:cs typeface="Times New Roman" panose="02020603050405020304" pitchFamily="18" charset="0"/>
              </a:rPr>
              <a:t>cvc5 </a:t>
            </a:r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求解器来：</a:t>
            </a:r>
          </a:p>
          <a:p>
            <a:pPr marL="285750" indent="-285750" algn="just" fontAlgn="base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定义变量和约束。</a:t>
            </a:r>
          </a:p>
          <a:p>
            <a:pPr marL="285750" indent="-285750" algn="just" fontAlgn="base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求解这个问题。</a:t>
            </a:r>
          </a:p>
          <a:p>
            <a:pPr marL="285750" indent="-285750" algn="just" fontAlgn="base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如果存在解，则打印出其中一个具体的解。</a:t>
            </a:r>
          </a:p>
          <a:p>
            <a:pPr algn="just" fontAlgn="base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defRPr/>
            </a:pPr>
            <a:endParaRPr lang="zh-CN" altLang="en-US" sz="1400" b="1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22CF3-E096-5111-56F0-F701FB2D6A5B}"/>
              </a:ext>
            </a:extLst>
          </p:cNvPr>
          <p:cNvSpPr/>
          <p:nvPr/>
        </p:nvSpPr>
        <p:spPr>
          <a:xfrm>
            <a:off x="6738067" y="1956493"/>
            <a:ext cx="3032042" cy="486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程序解释</a:t>
            </a:r>
          </a:p>
        </p:txBody>
      </p:sp>
    </p:spTree>
    <p:extLst>
      <p:ext uri="{BB962C8B-B14F-4D97-AF65-F5344CB8AC3E}">
        <p14:creationId xmlns:p14="http://schemas.microsoft.com/office/powerpoint/2010/main" val="2870172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88842"/>
            <a:ext cx="12192000" cy="2365673"/>
          </a:xfrm>
          <a:prstGeom prst="rect">
            <a:avLst/>
          </a:prstGeom>
          <a:solidFill>
            <a:srgbClr val="A53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459" name="TextBox 3"/>
          <p:cNvSpPr txBox="1">
            <a:spLocks noChangeArrowheads="1"/>
          </p:cNvSpPr>
          <p:nvPr/>
        </p:nvSpPr>
        <p:spPr bwMode="auto">
          <a:xfrm>
            <a:off x="2925901" y="1988842"/>
            <a:ext cx="6340197" cy="217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感谢聆听</a:t>
            </a:r>
            <a:endParaRPr lang="en-US" altLang="zh-CN" sz="48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恳请各位老师批评指正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82" y="520141"/>
            <a:ext cx="3732729" cy="1085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b8c94bbf-c3ea-4720-9695-4c61a7c52ea2"/>
  <p:tag name="COMMONDATA" val="eyJoZGlkIjoiNzFjOTY5NjkyYjVjMmZhZDJjMDlmZTQyYjA3NDE3Mm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ofile">
  <a:themeElements>
    <a:clrScheme name="自定义 7">
      <a:dk1>
        <a:srgbClr val="000000"/>
      </a:dk1>
      <a:lt1>
        <a:srgbClr val="FFFFFF"/>
      </a:lt1>
      <a:dk2>
        <a:srgbClr val="FFC000"/>
      </a:dk2>
      <a:lt2>
        <a:srgbClr val="DDDDDD"/>
      </a:lt2>
      <a:accent1>
        <a:srgbClr val="FFC000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0070C0"/>
      </a:accent6>
      <a:hlink>
        <a:srgbClr val="336699"/>
      </a:hlink>
      <a:folHlink>
        <a:srgbClr val="003366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16200000" scaled="0"/>
        </a:gradFill>
      </a:spPr>
      <a:bodyPr rtlCol="0" anchor="ctr"/>
      <a:lstStyle>
        <a:defPPr algn="ctr">
          <a:defRPr>
            <a:solidFill>
              <a:schemeClr val="bg1"/>
            </a:solidFill>
            <a:latin typeface="宋体" panose="02010600030101010101" pitchFamily="2" charset="-122"/>
            <a:ea typeface="宋体" panose="02010600030101010101" pitchFamily="2" charset="-122"/>
          </a:defRPr>
        </a:defPPr>
      </a:lstStyle>
      <a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a:style>
    </a:spDef>
    <a:txDef>
      <a:spPr>
        <a:noFill/>
      </a:spPr>
      <a:bodyPr wrap="square" lIns="46800" rIns="46800" rtlCol="0">
        <a:spAutoFit/>
      </a:bodyPr>
      <a:lstStyle>
        <a:defPPr marL="471170" indent="0">
          <a:buNone/>
          <a:defRPr sz="2400" dirty="0" smtClean="0"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rofile">
  <a:themeElements>
    <a:clrScheme name="自定义 7">
      <a:dk1>
        <a:srgbClr val="000000"/>
      </a:dk1>
      <a:lt1>
        <a:srgbClr val="FFFFFF"/>
      </a:lt1>
      <a:dk2>
        <a:srgbClr val="FFC000"/>
      </a:dk2>
      <a:lt2>
        <a:srgbClr val="DDDDDD"/>
      </a:lt2>
      <a:accent1>
        <a:srgbClr val="FFC000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0070C0"/>
      </a:accent6>
      <a:hlink>
        <a:srgbClr val="336699"/>
      </a:hlink>
      <a:folHlink>
        <a:srgbClr val="003366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16200000" scaled="0"/>
        </a:gradFill>
      </a:spPr>
      <a:bodyPr rtlCol="0" anchor="ctr"/>
      <a:lstStyle>
        <a:defPPr algn="ctr">
          <a:defRPr>
            <a:solidFill>
              <a:schemeClr val="bg1"/>
            </a:solidFill>
            <a:latin typeface="宋体" panose="02010600030101010101" pitchFamily="2" charset="-122"/>
            <a:ea typeface="宋体" panose="02010600030101010101" pitchFamily="2" charset="-122"/>
          </a:defRPr>
        </a:defPPr>
      </a:lstStyle>
      <a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a:style>
    </a:spDef>
    <a:txDef>
      <a:spPr>
        <a:noFill/>
      </a:spPr>
      <a:bodyPr wrap="square" lIns="46800" rIns="46800" rtlCol="0">
        <a:spAutoFit/>
      </a:bodyPr>
      <a:lstStyle>
        <a:defPPr marL="471170" indent="0">
          <a:buNone/>
          <a:defRPr sz="2400" dirty="0" smtClean="0"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1241</Words>
  <Application>Microsoft Office PowerPoint</Application>
  <PresentationFormat>宽屏</PresentationFormat>
  <Paragraphs>159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仿宋</vt:lpstr>
      <vt:lpstr>黑体</vt:lpstr>
      <vt:lpstr>微软雅黑</vt:lpstr>
      <vt:lpstr>Arial</vt:lpstr>
      <vt:lpstr>Calibri</vt:lpstr>
      <vt:lpstr>Times New Roman</vt:lpstr>
      <vt:lpstr>Verdana</vt:lpstr>
      <vt:lpstr>Wingdings</vt:lpstr>
      <vt:lpstr>Office 主题​​</vt:lpstr>
      <vt:lpstr>Profile</vt:lpstr>
      <vt:lpstr>1_Profile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zpf 1900</cp:lastModifiedBy>
  <cp:revision>321</cp:revision>
  <dcterms:created xsi:type="dcterms:W3CDTF">2019-12-10T09:10:00Z</dcterms:created>
  <dcterms:modified xsi:type="dcterms:W3CDTF">2025-12-05T08:59:18Z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2052-11.1.0.12165</vt:lpwstr>
  </property>
  <property fmtid="{D5CDD505-2E9C-101B-9397-08002B2CF9AE}" pid="3" name="ICV">
    <vt:lpwstr>B3DFB4039F644805BE10D53A13624347</vt:lpwstr>
  </property>
</Properties>
</file>