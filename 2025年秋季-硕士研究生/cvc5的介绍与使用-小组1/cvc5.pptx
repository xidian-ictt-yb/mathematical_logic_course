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72" r:id="rId12"/>
    <p:sldId id="268" r:id="rId13"/>
    <p:sldId id="273" r:id="rId14"/>
    <p:sldId id="267" r:id="rId15"/>
    <p:sldId id="274" r:id="rId16"/>
    <p:sldId id="270" r:id="rId17"/>
    <p:sldId id="275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883" autoAdjust="0"/>
    <p:restoredTop sz="94623" autoAdjust="0"/>
  </p:normalViewPr>
  <p:slideViewPr>
    <p:cSldViewPr snapToGrid="0">
      <p:cViewPr varScale="1">
        <p:scale>
          <a:sx n="96" d="100"/>
          <a:sy n="96" d="100"/>
        </p:scale>
        <p:origin x="45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BDD181-BD7B-E0DE-715D-42CFC9931B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3B4A2AB-9D03-0CE2-8D0A-8DD00FABC1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E93C6B-472C-4F8A-5D31-91E489B2B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30140-1F0F-4812-A7AA-48832BCB7DF8}" type="datetimeFigureOut">
              <a:rPr lang="zh-CN" altLang="en-US" smtClean="0"/>
              <a:t>2025/12/13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CBCFDD-A4F0-810B-DFBB-96F6BAB35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5887B66-6015-DD20-0AAE-A4919A28D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3F32F-6D8F-46A3-BE2C-A4E8086430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7265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C0D82E-25FB-0650-D17F-1FCC6CBEF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A464B7-85CF-7DD4-73E1-D5BDAAEE6B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B47A6B-5311-1A46-8631-BAA6A9F98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30140-1F0F-4812-A7AA-48832BCB7DF8}" type="datetimeFigureOut">
              <a:rPr lang="zh-CN" altLang="en-US" smtClean="0"/>
              <a:t>2025/12/13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7DAE57-C744-7F58-8BA9-D63CAC7F0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EA6D0E-F173-938F-0795-EC556E8CE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3F32F-6D8F-46A3-BE2C-A4E8086430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1027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CB11EA-29A4-E85B-AE18-878172166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2FFAF2F-A5A6-14C5-3D0D-0F670F70F3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E09992-C5D7-2F0F-4946-701B777C9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30140-1F0F-4812-A7AA-48832BCB7DF8}" type="datetimeFigureOut">
              <a:rPr lang="zh-CN" altLang="en-US" smtClean="0"/>
              <a:t>2025/12/13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E3F84D-1F4F-830D-E332-062D04982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D88A982-51AD-D5A0-7598-6DBD32FBC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3F32F-6D8F-46A3-BE2C-A4E8086430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9413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CB7C72-B3C8-2E63-83C5-6A48DEC8E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00A27E-8CC5-E335-CADD-DDDE7429F9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95EDB51-AECE-1667-8092-2AE9C10500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0417203-D61C-67EC-B0D9-F72C95960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30140-1F0F-4812-A7AA-48832BCB7DF8}" type="datetimeFigureOut">
              <a:rPr lang="zh-CN" altLang="en-US" smtClean="0"/>
              <a:t>2025/12/13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E4697C-1EFB-DAF4-C1A1-0FD181C2C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E346641-0531-4E4A-87BF-CB07BF093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3F32F-6D8F-46A3-BE2C-A4E8086430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9275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48F242-6B2C-D2D8-8D2B-C0EA07947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C640AC7-1A15-E6BB-D836-3E6FE56873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2D3A1E3-F215-A37A-212D-D3C7D6EDA1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1216168-C10B-E807-1292-D8C3F73A45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085E543-7159-FEF5-A5A1-A40B394B8C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DC96671-28CD-0173-A456-8D6974445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30140-1F0F-4812-A7AA-48832BCB7DF8}" type="datetimeFigureOut">
              <a:rPr lang="zh-CN" altLang="en-US" smtClean="0"/>
              <a:t>2025/12/13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5B763A2-112F-AD88-DD70-A64DB7809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A855E85-C14C-BF28-A327-09DDE1E78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3F32F-6D8F-46A3-BE2C-A4E8086430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8851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F8BE4E-C7CC-4B89-E10E-2C71762A2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051628A-815E-505D-7E27-108820081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30140-1F0F-4812-A7AA-48832BCB7DF8}" type="datetimeFigureOut">
              <a:rPr lang="zh-CN" altLang="en-US" smtClean="0"/>
              <a:t>2025/12/13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95C1C59-E981-4776-3A20-AC69B076F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5161624-0388-C599-5CDC-04B1BC538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3F32F-6D8F-46A3-BE2C-A4E8086430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6995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6A252D1-847F-3A30-832E-A5EE86742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30140-1F0F-4812-A7AA-48832BCB7DF8}" type="datetimeFigureOut">
              <a:rPr lang="zh-CN" altLang="en-US" smtClean="0"/>
              <a:t>2025/12/13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85ABD2E-1834-FAA5-5CD1-AAB9D2024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9512EAE-CF36-CBCE-E215-A0390AE55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3F32F-6D8F-46A3-BE2C-A4E8086430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7215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F960A9-E509-D0C6-FD18-9E5A8F767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98BF97-1862-E917-DB5E-10C6F49F81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CE22D1E-D6F3-7A06-BD9F-27AFE13E66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91EBBE7-694A-F2BD-DFC5-2FF1DC754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30140-1F0F-4812-A7AA-48832BCB7DF8}" type="datetimeFigureOut">
              <a:rPr lang="zh-CN" altLang="en-US" smtClean="0"/>
              <a:t>2025/12/13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DE3433D-9098-79B9-E8C3-3CB7B7F11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D1F3E0F-60C3-69F4-C2E8-21E6D45D0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3F32F-6D8F-46A3-BE2C-A4E8086430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2514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C31D53-5224-A4A6-3EEF-93A7CEA91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4AFED6F-C904-5942-AA0F-1480C7346E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C7DD3E7-BAC9-08D4-4BAD-6F00CF5EF0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BDD614A-7DB7-E29A-46A2-3C56E0F40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30140-1F0F-4812-A7AA-48832BCB7DF8}" type="datetimeFigureOut">
              <a:rPr lang="zh-CN" altLang="en-US" smtClean="0"/>
              <a:t>2025/12/13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50E2B5E-B20A-DA2A-E7D8-B927BBE27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C87FE1D-08E2-3969-1052-2A1853C92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3F32F-6D8F-46A3-BE2C-A4E8086430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3560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8FD8DC-4B81-8DB9-AC6C-D5BA05D23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0D92F3A-C2C2-A409-D1CE-78F832DB35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77AD38-192C-2CCA-A93B-A56720EB3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30140-1F0F-4812-A7AA-48832BCB7DF8}" type="datetimeFigureOut">
              <a:rPr lang="zh-CN" altLang="en-US" smtClean="0"/>
              <a:t>2025/12/13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8C618A-E1E4-3D12-5770-6D62009F5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E0EE91-4664-8A69-F8D5-99B199A42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3F32F-6D8F-46A3-BE2C-A4E8086430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1204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B941E18-47A8-7988-7225-8BBDDC3B42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75E2A98-0ECF-7FE4-E06A-EFE7795F5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86D2F4-558E-DA7D-173D-022A1A12A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30140-1F0F-4812-A7AA-48832BCB7DF8}" type="datetimeFigureOut">
              <a:rPr lang="zh-CN" altLang="en-US" smtClean="0"/>
              <a:t>2025/12/13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011122-357C-B638-D56A-56EFD02C6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15926A-210E-E759-0B65-8EFC983C5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3F32F-6D8F-46A3-BE2C-A4E8086430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4301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166ED1E-521C-8407-5841-EE43457C9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318D730-18F9-B59D-6A1A-F9A7D743A6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24CD5D-BCE0-705D-C6F4-3607E83A07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E30140-1F0F-4812-A7AA-48832BCB7DF8}" type="datetimeFigureOut">
              <a:rPr lang="zh-CN" altLang="en-US" smtClean="0"/>
              <a:t>2025/12/13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5C5BCD-B887-BC2C-1210-F02FE5BCEE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ECD078-C503-BBED-BDE7-04AACDDC52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E3F32F-6D8F-46A3-BE2C-A4E8086430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5712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sv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7" Type="http://schemas.openxmlformats.org/officeDocument/2006/relationships/image" Target="../media/image27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5" Type="http://schemas.openxmlformats.org/officeDocument/2006/relationships/image" Target="../media/image25.sv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7" Type="http://schemas.openxmlformats.org/officeDocument/2006/relationships/image" Target="../media/image34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3.png"/><Relationship Id="rId5" Type="http://schemas.openxmlformats.org/officeDocument/2006/relationships/image" Target="../media/image32.svg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7" Type="http://schemas.openxmlformats.org/officeDocument/2006/relationships/image" Target="../media/image40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9.png"/><Relationship Id="rId5" Type="http://schemas.openxmlformats.org/officeDocument/2006/relationships/image" Target="../media/image38.svg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0F466A-886D-B9E1-F4EF-845F67F7C4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54563" y="2469931"/>
            <a:ext cx="6482874" cy="959068"/>
          </a:xfrm>
        </p:spPr>
        <p:txBody>
          <a:bodyPr>
            <a:normAutofit fontScale="90000"/>
          </a:bodyPr>
          <a:lstStyle/>
          <a:p>
            <a:br>
              <a:rPr lang="en-US" altLang="zh-CN" sz="3200" dirty="0"/>
            </a:br>
            <a:r>
              <a:rPr lang="zh-CN" altLang="en-US" sz="3200" dirty="0"/>
              <a:t>高效的开源自动定理证明器</a:t>
            </a:r>
            <a:br>
              <a:rPr lang="en-US" altLang="zh-CN" sz="3200" dirty="0"/>
            </a:br>
            <a:r>
              <a:rPr lang="en-US" altLang="zh-CN" sz="3200" dirty="0"/>
              <a:t>Efficient Open-Source SMT Solver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A750EBE-B4DC-C296-ED3E-72956DE281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03972" y="4632927"/>
            <a:ext cx="4584056" cy="521779"/>
          </a:xfrm>
        </p:spPr>
        <p:txBody>
          <a:bodyPr>
            <a:normAutofit/>
          </a:bodyPr>
          <a:lstStyle/>
          <a:p>
            <a:r>
              <a:rPr lang="zh-CN" altLang="en-US" dirty="0"/>
              <a:t>展示：薛梵煜，胡志强，张树田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1DD5334-298C-25F9-EDBB-8EDF93815FEA}"/>
              </a:ext>
            </a:extLst>
          </p:cNvPr>
          <p:cNvSpPr txBox="1"/>
          <p:nvPr/>
        </p:nvSpPr>
        <p:spPr>
          <a:xfrm>
            <a:off x="5441731" y="1823600"/>
            <a:ext cx="13085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dirty="0"/>
              <a:t>CVC5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8787093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99270D-DC04-3EC9-9CED-D18A3AFDC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2353"/>
            <a:ext cx="10515600" cy="744072"/>
          </a:xfrm>
        </p:spPr>
        <p:txBody>
          <a:bodyPr>
            <a:normAutofit/>
          </a:bodyPr>
          <a:lstStyle/>
          <a:p>
            <a:pPr algn="ctr"/>
            <a:r>
              <a:rPr lang="zh-CN" altLang="en-US" sz="4000" dirty="0"/>
              <a:t>概述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FC3BA3F-5219-5B6A-343F-90F7C24B808E}"/>
              </a:ext>
            </a:extLst>
          </p:cNvPr>
          <p:cNvSpPr txBox="1"/>
          <p:nvPr/>
        </p:nvSpPr>
        <p:spPr>
          <a:xfrm>
            <a:off x="5717164" y="47527"/>
            <a:ext cx="757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CVC5</a:t>
            </a:r>
            <a:endParaRPr lang="zh-CN" alt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99FB6B9A-9F66-A5D8-C9CC-D7F90126E784}"/>
              </a:ext>
            </a:extLst>
          </p:cNvPr>
          <p:cNvCxnSpPr/>
          <p:nvPr/>
        </p:nvCxnSpPr>
        <p:spPr>
          <a:xfrm>
            <a:off x="0" y="502023"/>
            <a:ext cx="12192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69479879-DEDA-3871-2586-BD1E09FA9E63}"/>
              </a:ext>
            </a:extLst>
          </p:cNvPr>
          <p:cNvSpPr txBox="1"/>
          <p:nvPr/>
        </p:nvSpPr>
        <p:spPr>
          <a:xfrm>
            <a:off x="479612" y="2493655"/>
            <a:ext cx="778152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ea"/>
              </a:rPr>
              <a:t>目前最先进的 </a:t>
            </a:r>
            <a:r>
              <a:rPr lang="en-US" altLang="zh-CN" sz="2400" dirty="0">
                <a:latin typeface="+mn-ea"/>
              </a:rPr>
              <a:t>SMT </a:t>
            </a:r>
            <a:r>
              <a:rPr lang="zh-CN" altLang="en-US" sz="2400" dirty="0">
                <a:latin typeface="+mn-ea"/>
              </a:rPr>
              <a:t>问题求解器之一</a:t>
            </a:r>
            <a:endParaRPr lang="en-US" altLang="zh-CN" sz="2400" dirty="0"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ea"/>
              </a:rPr>
              <a:t>继承自</a:t>
            </a:r>
            <a:r>
              <a:rPr lang="en-US" altLang="zh-CN" sz="2400" dirty="0">
                <a:latin typeface="+mn-ea"/>
              </a:rPr>
              <a:t> CVC4 </a:t>
            </a:r>
            <a:r>
              <a:rPr lang="zh-CN" altLang="en-US" sz="2400" dirty="0">
                <a:latin typeface="+mn-ea"/>
              </a:rPr>
              <a:t>求解器</a:t>
            </a:r>
            <a:endParaRPr lang="en-US" altLang="zh-CN" sz="2400" dirty="0"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ea"/>
              </a:rPr>
              <a:t>相比于 </a:t>
            </a:r>
            <a:r>
              <a:rPr lang="en-US" altLang="zh-CN" sz="2400" dirty="0">
                <a:latin typeface="+mn-ea"/>
              </a:rPr>
              <a:t>CVC4 </a:t>
            </a:r>
            <a:r>
              <a:rPr lang="zh-CN" altLang="en-US" sz="2400" dirty="0">
                <a:latin typeface="+mn-ea"/>
              </a:rPr>
              <a:t>提供了全新 </a:t>
            </a:r>
            <a:r>
              <a:rPr lang="en-US" altLang="zh-CN" sz="2400" dirty="0">
                <a:latin typeface="+mn-ea"/>
              </a:rPr>
              <a:t>API </a:t>
            </a:r>
            <a:r>
              <a:rPr lang="zh-CN" altLang="en-US" sz="2400" dirty="0">
                <a:latin typeface="+mn-ea"/>
              </a:rPr>
              <a:t>设计并增强证明生成模块</a:t>
            </a:r>
            <a:endParaRPr lang="en-US" altLang="zh-CN" sz="2400" dirty="0"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ea"/>
              </a:rPr>
              <a:t>采用</a:t>
            </a:r>
            <a:r>
              <a:rPr lang="en-US" altLang="zh-CN" sz="2400" dirty="0">
                <a:latin typeface="+mn-ea"/>
              </a:rPr>
              <a:t>BSD 3-Clause </a:t>
            </a:r>
            <a:r>
              <a:rPr lang="zh-CN" altLang="en-US" sz="2400" dirty="0">
                <a:latin typeface="+mn-ea"/>
              </a:rPr>
              <a:t>许可证 商业与研究无限制</a:t>
            </a:r>
            <a:endParaRPr lang="en-US" altLang="zh-CN" sz="2400" dirty="0"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ea"/>
              </a:rPr>
              <a:t>提供</a:t>
            </a:r>
            <a:r>
              <a:rPr lang="en-US" altLang="zh-CN" sz="2400" dirty="0">
                <a:latin typeface="+mn-ea"/>
              </a:rPr>
              <a:t>C++, Python, Java API </a:t>
            </a:r>
            <a:r>
              <a:rPr lang="zh-CN" altLang="en-US" sz="2400" dirty="0">
                <a:latin typeface="+mn-ea"/>
              </a:rPr>
              <a:t>独立工具或库集成</a:t>
            </a:r>
          </a:p>
        </p:txBody>
      </p:sp>
      <p:pic>
        <p:nvPicPr>
          <p:cNvPr id="3" name="Image 5" descr="preencoded.png">
            <a:extLst>
              <a:ext uri="{FF2B5EF4-FFF2-40B4-BE49-F238E27FC236}">
                <a16:creationId xmlns:a16="http://schemas.microsoft.com/office/drawing/2014/main" id="{A745D12F-5944-77E3-252C-7E9E9C83DA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1399" y="2676473"/>
            <a:ext cx="3010628" cy="1254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650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6CF15-4A45-8BC5-2D4B-5A190782E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9980F8-8BDA-4ACB-D8B1-B0CE1ACAC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2353"/>
            <a:ext cx="10515600" cy="744072"/>
          </a:xfrm>
        </p:spPr>
        <p:txBody>
          <a:bodyPr>
            <a:normAutofit/>
          </a:bodyPr>
          <a:lstStyle/>
          <a:p>
            <a:pPr algn="ctr"/>
            <a:r>
              <a:rPr lang="en-US" altLang="zh-CN" sz="4000" dirty="0"/>
              <a:t>SMT </a:t>
            </a:r>
            <a:r>
              <a:rPr lang="zh-CN" altLang="en-US" sz="4000" dirty="0"/>
              <a:t>问题及应用领域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1F69272-45EF-EB3E-1EBE-29783004D760}"/>
              </a:ext>
            </a:extLst>
          </p:cNvPr>
          <p:cNvSpPr txBox="1"/>
          <p:nvPr/>
        </p:nvSpPr>
        <p:spPr>
          <a:xfrm>
            <a:off x="5717164" y="47527"/>
            <a:ext cx="757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概述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EDFBC43D-A459-29A2-4C0A-20CE3977D8D8}"/>
              </a:ext>
            </a:extLst>
          </p:cNvPr>
          <p:cNvCxnSpPr/>
          <p:nvPr/>
        </p:nvCxnSpPr>
        <p:spPr>
          <a:xfrm>
            <a:off x="0" y="502023"/>
            <a:ext cx="12192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FCD096C5-A824-3823-FEA5-D0C65F52AB27}"/>
              </a:ext>
            </a:extLst>
          </p:cNvPr>
          <p:cNvSpPr txBox="1"/>
          <p:nvPr/>
        </p:nvSpPr>
        <p:spPr>
          <a:xfrm>
            <a:off x="363997" y="1799972"/>
            <a:ext cx="113129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ea"/>
              </a:rPr>
              <a:t>可满足性模理论 </a:t>
            </a:r>
            <a:r>
              <a:rPr lang="en-US" altLang="zh-CN" sz="2400" dirty="0">
                <a:latin typeface="+mn-ea"/>
              </a:rPr>
              <a:t>(SMT) </a:t>
            </a:r>
            <a:r>
              <a:rPr lang="zh-CN" altLang="en-US" sz="2400" dirty="0">
                <a:latin typeface="+mn-ea"/>
              </a:rPr>
              <a:t>将布尔可满足性 </a:t>
            </a:r>
            <a:r>
              <a:rPr lang="en-US" altLang="zh-CN" sz="2400" dirty="0">
                <a:latin typeface="+mn-ea"/>
              </a:rPr>
              <a:t>(SAT) </a:t>
            </a:r>
            <a:r>
              <a:rPr lang="zh-CN" altLang="en-US" sz="2400" dirty="0">
                <a:latin typeface="+mn-ea"/>
              </a:rPr>
              <a:t>问题扩展到包含特定理论语义的约束世界，是计算机科学和数学逻辑中的核心问题。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946601A5-2CFB-D9B4-3AA3-9F3BC98CF97B}"/>
              </a:ext>
            </a:extLst>
          </p:cNvPr>
          <p:cNvSpPr/>
          <p:nvPr/>
        </p:nvSpPr>
        <p:spPr>
          <a:xfrm>
            <a:off x="663824" y="3278881"/>
            <a:ext cx="3104135" cy="1190852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7B39DD7F-743B-C43C-F146-62AA4E9A2D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967" y="3461719"/>
            <a:ext cx="160268" cy="160268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80BCD620-72A5-D49B-81F5-726750072741}"/>
              </a:ext>
            </a:extLst>
          </p:cNvPr>
          <p:cNvSpPr/>
          <p:nvPr/>
        </p:nvSpPr>
        <p:spPr>
          <a:xfrm>
            <a:off x="1109946" y="3471909"/>
            <a:ext cx="1073036" cy="189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600" b="1" dirty="0">
                <a:solidFill>
                  <a:srgbClr val="1A1A1A"/>
                </a:solidFill>
              </a:rPr>
              <a:t>软件验证</a:t>
            </a:r>
            <a:endParaRPr lang="en-US" sz="1600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CD3F2CE5-D203-0010-05E6-4F8E56EAE3F4}"/>
              </a:ext>
            </a:extLst>
          </p:cNvPr>
          <p:cNvSpPr txBox="1"/>
          <p:nvPr/>
        </p:nvSpPr>
        <p:spPr>
          <a:xfrm>
            <a:off x="779363" y="3704053"/>
            <a:ext cx="28662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验证程序是否满足规范要求，确保代码逻辑正确。</a:t>
            </a:r>
            <a:endParaRPr lang="zh-CN" altLang="en-US" sz="2400" dirty="0">
              <a:latin typeface="+mn-ea"/>
            </a:endParaRPr>
          </a:p>
        </p:txBody>
      </p:sp>
      <p:sp>
        <p:nvSpPr>
          <p:cNvPr id="56" name="Shape 4">
            <a:extLst>
              <a:ext uri="{FF2B5EF4-FFF2-40B4-BE49-F238E27FC236}">
                <a16:creationId xmlns:a16="http://schemas.microsoft.com/office/drawing/2014/main" id="{9945940C-7F25-475B-1E1C-4DD7EF449232}"/>
              </a:ext>
            </a:extLst>
          </p:cNvPr>
          <p:cNvSpPr/>
          <p:nvPr/>
        </p:nvSpPr>
        <p:spPr>
          <a:xfrm>
            <a:off x="4521120" y="3276253"/>
            <a:ext cx="3104135" cy="1190852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">
            <a:extLst>
              <a:ext uri="{FF2B5EF4-FFF2-40B4-BE49-F238E27FC236}">
                <a16:creationId xmlns:a16="http://schemas.microsoft.com/office/drawing/2014/main" id="{A17FB2CE-5E12-EBFE-451A-8C78703981D1}"/>
              </a:ext>
            </a:extLst>
          </p:cNvPr>
          <p:cNvSpPr/>
          <p:nvPr/>
        </p:nvSpPr>
        <p:spPr>
          <a:xfrm>
            <a:off x="4967242" y="3469281"/>
            <a:ext cx="1073036" cy="189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600" b="1" dirty="0" err="1">
                <a:solidFill>
                  <a:srgbClr val="1A1A1A"/>
                </a:solidFill>
              </a:rPr>
              <a:t>硬件验证</a:t>
            </a:r>
            <a:endParaRPr lang="en-US" altLang="zh-CN" sz="1600" dirty="0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DC86C62A-DEED-0AD8-3663-B0242ABAFF33}"/>
              </a:ext>
            </a:extLst>
          </p:cNvPr>
          <p:cNvSpPr txBox="1"/>
          <p:nvPr/>
        </p:nvSpPr>
        <p:spPr>
          <a:xfrm>
            <a:off x="4636659" y="3701425"/>
            <a:ext cx="28662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检查电路设计的正确性，防止硬件层面的逻辑错误。</a:t>
            </a:r>
          </a:p>
        </p:txBody>
      </p:sp>
      <p:sp>
        <p:nvSpPr>
          <p:cNvPr id="60" name="Shape 4">
            <a:extLst>
              <a:ext uri="{FF2B5EF4-FFF2-40B4-BE49-F238E27FC236}">
                <a16:creationId xmlns:a16="http://schemas.microsoft.com/office/drawing/2014/main" id="{313EB3EC-70A7-5A8D-68F4-39281A79C2F4}"/>
              </a:ext>
            </a:extLst>
          </p:cNvPr>
          <p:cNvSpPr/>
          <p:nvPr/>
        </p:nvSpPr>
        <p:spPr>
          <a:xfrm>
            <a:off x="8378417" y="3276253"/>
            <a:ext cx="3104135" cy="1190852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61" name="Image 1">
            <a:extLst>
              <a:ext uri="{FF2B5EF4-FFF2-40B4-BE49-F238E27FC236}">
                <a16:creationId xmlns:a16="http://schemas.microsoft.com/office/drawing/2014/main" id="{46448E2B-5154-3E32-5F3A-B33AD0A3CD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501560" y="3468804"/>
            <a:ext cx="160268" cy="140841"/>
          </a:xfrm>
          <a:prstGeom prst="rect">
            <a:avLst/>
          </a:prstGeom>
        </p:spPr>
      </p:pic>
      <p:sp>
        <p:nvSpPr>
          <p:cNvPr id="62" name="Text 5">
            <a:extLst>
              <a:ext uri="{FF2B5EF4-FFF2-40B4-BE49-F238E27FC236}">
                <a16:creationId xmlns:a16="http://schemas.microsoft.com/office/drawing/2014/main" id="{1A6A7FE0-0BEE-A557-D94E-A0C2EC37E4A1}"/>
              </a:ext>
            </a:extLst>
          </p:cNvPr>
          <p:cNvSpPr/>
          <p:nvPr/>
        </p:nvSpPr>
        <p:spPr>
          <a:xfrm>
            <a:off x="8824539" y="3469281"/>
            <a:ext cx="1073036" cy="189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zh-CN" altLang="en-US" sz="1600" b="1" dirty="0">
                <a:solidFill>
                  <a:srgbClr val="1A1A1A"/>
                </a:solidFill>
              </a:rPr>
              <a:t>模型检查</a:t>
            </a:r>
            <a:endParaRPr lang="en-US" sz="1600" dirty="0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F859C7D9-229F-46E1-6562-EC7930141203}"/>
              </a:ext>
            </a:extLst>
          </p:cNvPr>
          <p:cNvSpPr txBox="1"/>
          <p:nvPr/>
        </p:nvSpPr>
        <p:spPr>
          <a:xfrm>
            <a:off x="8493956" y="3701425"/>
            <a:ext cx="28662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验证系统模型的属性，确保系统行为符合预期。</a:t>
            </a:r>
          </a:p>
        </p:txBody>
      </p:sp>
      <p:sp>
        <p:nvSpPr>
          <p:cNvPr id="64" name="Shape 4">
            <a:extLst>
              <a:ext uri="{FF2B5EF4-FFF2-40B4-BE49-F238E27FC236}">
                <a16:creationId xmlns:a16="http://schemas.microsoft.com/office/drawing/2014/main" id="{1F560FA7-F060-2C97-0D19-D347466E70C0}"/>
              </a:ext>
            </a:extLst>
          </p:cNvPr>
          <p:cNvSpPr/>
          <p:nvPr/>
        </p:nvSpPr>
        <p:spPr>
          <a:xfrm>
            <a:off x="663824" y="4894905"/>
            <a:ext cx="3104135" cy="1190852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65" name="Image 1" descr="preencoded.png">
            <a:extLst>
              <a:ext uri="{FF2B5EF4-FFF2-40B4-BE49-F238E27FC236}">
                <a16:creationId xmlns:a16="http://schemas.microsoft.com/office/drawing/2014/main" id="{5030AD6A-3F25-CD02-F9E9-C46129BA4B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967" y="5077743"/>
            <a:ext cx="160268" cy="160268"/>
          </a:xfrm>
          <a:prstGeom prst="rect">
            <a:avLst/>
          </a:prstGeom>
        </p:spPr>
      </p:pic>
      <p:sp>
        <p:nvSpPr>
          <p:cNvPr id="66" name="Text 5">
            <a:extLst>
              <a:ext uri="{FF2B5EF4-FFF2-40B4-BE49-F238E27FC236}">
                <a16:creationId xmlns:a16="http://schemas.microsoft.com/office/drawing/2014/main" id="{03EFCA8E-51F0-0FA1-2BA2-5F92A1046080}"/>
              </a:ext>
            </a:extLst>
          </p:cNvPr>
          <p:cNvSpPr/>
          <p:nvPr/>
        </p:nvSpPr>
        <p:spPr>
          <a:xfrm>
            <a:off x="1109946" y="5087933"/>
            <a:ext cx="1073036" cy="189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zh-CN" altLang="en-US" sz="1600" b="1" dirty="0">
                <a:solidFill>
                  <a:srgbClr val="1A1A1A"/>
                </a:solidFill>
              </a:rPr>
              <a:t>静态分析</a:t>
            </a:r>
            <a:endParaRPr lang="en-US" sz="1600" dirty="0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69A86B5A-3D95-88F5-C07E-CA78F2C546BF}"/>
              </a:ext>
            </a:extLst>
          </p:cNvPr>
          <p:cNvSpPr txBox="1"/>
          <p:nvPr/>
        </p:nvSpPr>
        <p:spPr>
          <a:xfrm>
            <a:off x="779363" y="5320077"/>
            <a:ext cx="28662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在不运行程序的情况下分析代码的安全性和可靠性。</a:t>
            </a:r>
          </a:p>
        </p:txBody>
      </p:sp>
      <p:sp>
        <p:nvSpPr>
          <p:cNvPr id="68" name="Shape 4">
            <a:extLst>
              <a:ext uri="{FF2B5EF4-FFF2-40B4-BE49-F238E27FC236}">
                <a16:creationId xmlns:a16="http://schemas.microsoft.com/office/drawing/2014/main" id="{C4DF5BD1-5756-4AE3-45E4-15F73F31BB73}"/>
              </a:ext>
            </a:extLst>
          </p:cNvPr>
          <p:cNvSpPr/>
          <p:nvPr/>
        </p:nvSpPr>
        <p:spPr>
          <a:xfrm>
            <a:off x="4521120" y="4892277"/>
            <a:ext cx="3104135" cy="1190852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69" name="Image 1">
            <a:extLst>
              <a:ext uri="{FF2B5EF4-FFF2-40B4-BE49-F238E27FC236}">
                <a16:creationId xmlns:a16="http://schemas.microsoft.com/office/drawing/2014/main" id="{BAD8B5C2-1DD4-88B5-2C07-D5FCB41AD1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44263" y="5075115"/>
            <a:ext cx="160268" cy="160268"/>
          </a:xfrm>
          <a:prstGeom prst="rect">
            <a:avLst/>
          </a:prstGeom>
        </p:spPr>
      </p:pic>
      <p:sp>
        <p:nvSpPr>
          <p:cNvPr id="70" name="Text 5">
            <a:extLst>
              <a:ext uri="{FF2B5EF4-FFF2-40B4-BE49-F238E27FC236}">
                <a16:creationId xmlns:a16="http://schemas.microsoft.com/office/drawing/2014/main" id="{79112126-4C42-AB02-7623-7FBE66B9CB89}"/>
              </a:ext>
            </a:extLst>
          </p:cNvPr>
          <p:cNvSpPr/>
          <p:nvPr/>
        </p:nvSpPr>
        <p:spPr>
          <a:xfrm>
            <a:off x="4967242" y="5085305"/>
            <a:ext cx="1073036" cy="189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zh-CN" altLang="en-US" sz="1600" b="1" dirty="0">
                <a:solidFill>
                  <a:srgbClr val="1A1A1A"/>
                </a:solidFill>
              </a:rPr>
              <a:t>测试生成</a:t>
            </a:r>
            <a:endParaRPr lang="en-US" sz="1600" dirty="0"/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42444220-8218-C572-9716-6076D61FF232}"/>
              </a:ext>
            </a:extLst>
          </p:cNvPr>
          <p:cNvSpPr txBox="1"/>
          <p:nvPr/>
        </p:nvSpPr>
        <p:spPr>
          <a:xfrm>
            <a:off x="4636659" y="5317449"/>
            <a:ext cx="28662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生成满足特定条件的测试输入，提高测试覆盖率。</a:t>
            </a:r>
          </a:p>
        </p:txBody>
      </p:sp>
      <p:sp>
        <p:nvSpPr>
          <p:cNvPr id="72" name="Shape 4">
            <a:extLst>
              <a:ext uri="{FF2B5EF4-FFF2-40B4-BE49-F238E27FC236}">
                <a16:creationId xmlns:a16="http://schemas.microsoft.com/office/drawing/2014/main" id="{794E490F-5D42-148B-4058-3E43CD3842E3}"/>
              </a:ext>
            </a:extLst>
          </p:cNvPr>
          <p:cNvSpPr/>
          <p:nvPr/>
        </p:nvSpPr>
        <p:spPr>
          <a:xfrm>
            <a:off x="8378417" y="4892277"/>
            <a:ext cx="3104135" cy="1190852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73" name="Image 1">
            <a:extLst>
              <a:ext uri="{FF2B5EF4-FFF2-40B4-BE49-F238E27FC236}">
                <a16:creationId xmlns:a16="http://schemas.microsoft.com/office/drawing/2014/main" id="{C65121C6-497A-DCDA-5359-D748E746C9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501560" y="5075115"/>
            <a:ext cx="160268" cy="160268"/>
          </a:xfrm>
          <a:prstGeom prst="rect">
            <a:avLst/>
          </a:prstGeom>
        </p:spPr>
      </p:pic>
      <p:sp>
        <p:nvSpPr>
          <p:cNvPr id="74" name="Text 5">
            <a:extLst>
              <a:ext uri="{FF2B5EF4-FFF2-40B4-BE49-F238E27FC236}">
                <a16:creationId xmlns:a16="http://schemas.microsoft.com/office/drawing/2014/main" id="{D5474018-EF1F-F220-CE2F-64FE332607B0}"/>
              </a:ext>
            </a:extLst>
          </p:cNvPr>
          <p:cNvSpPr/>
          <p:nvPr/>
        </p:nvSpPr>
        <p:spPr>
          <a:xfrm>
            <a:off x="8824539" y="5085305"/>
            <a:ext cx="1073036" cy="189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zh-CN" altLang="en-US" sz="1600" b="1" dirty="0">
                <a:solidFill>
                  <a:srgbClr val="1A1A1A"/>
                </a:solidFill>
              </a:rPr>
              <a:t>程序合成</a:t>
            </a:r>
            <a:endParaRPr lang="en-US" sz="1600" dirty="0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565BC080-E352-E3F1-C2B8-6598148856A8}"/>
              </a:ext>
            </a:extLst>
          </p:cNvPr>
          <p:cNvSpPr txBox="1"/>
          <p:nvPr/>
        </p:nvSpPr>
        <p:spPr>
          <a:xfrm>
            <a:off x="8493956" y="5317449"/>
            <a:ext cx="28662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通过 </a:t>
            </a:r>
            <a:r>
              <a:rPr lang="en-US" altLang="zh-CN" dirty="0" err="1"/>
              <a:t>SyGuS</a:t>
            </a:r>
            <a:r>
              <a:rPr lang="en-US" altLang="zh-CN" dirty="0"/>
              <a:t> </a:t>
            </a:r>
            <a:r>
              <a:rPr lang="zh-CN" altLang="en-US" dirty="0"/>
              <a:t>技术自动合成满足规范的程序代码。</a:t>
            </a:r>
          </a:p>
        </p:txBody>
      </p:sp>
      <p:pic>
        <p:nvPicPr>
          <p:cNvPr id="76" name="Image 2" descr="preencoded.png">
            <a:extLst>
              <a:ext uri="{FF2B5EF4-FFF2-40B4-BE49-F238E27FC236}">
                <a16:creationId xmlns:a16="http://schemas.microsoft.com/office/drawing/2014/main" id="{12EF5D98-0F4E-C1EA-C79F-59FE9987A6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58959" y="3432462"/>
            <a:ext cx="170445" cy="170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464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06E56-9A45-A99E-8B83-3F6859865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5C055B-216A-5C76-8B58-A07310186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672353"/>
            <a:ext cx="10515600" cy="744072"/>
          </a:xfrm>
        </p:spPr>
        <p:txBody>
          <a:bodyPr>
            <a:normAutofit/>
          </a:bodyPr>
          <a:lstStyle/>
          <a:p>
            <a:pPr algn="ctr"/>
            <a:r>
              <a:rPr lang="en-US" altLang="zh-CN" sz="4000" dirty="0"/>
              <a:t>SMT</a:t>
            </a:r>
            <a:r>
              <a:rPr lang="zh-CN" altLang="en-US" sz="4000" dirty="0"/>
              <a:t>：可满足性模理论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2244DD0-7499-DD15-7977-7862227CDEE1}"/>
              </a:ext>
            </a:extLst>
          </p:cNvPr>
          <p:cNvSpPr txBox="1"/>
          <p:nvPr/>
        </p:nvSpPr>
        <p:spPr>
          <a:xfrm>
            <a:off x="5717164" y="47527"/>
            <a:ext cx="757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概述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CF740429-D311-F556-7C8C-CA10719897EE}"/>
              </a:ext>
            </a:extLst>
          </p:cNvPr>
          <p:cNvCxnSpPr/>
          <p:nvPr/>
        </p:nvCxnSpPr>
        <p:spPr>
          <a:xfrm>
            <a:off x="0" y="502023"/>
            <a:ext cx="12192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D7891B18-B092-3A8D-6ACD-35FB9A4D82EA}"/>
              </a:ext>
            </a:extLst>
          </p:cNvPr>
          <p:cNvSpPr txBox="1"/>
          <p:nvPr/>
        </p:nvSpPr>
        <p:spPr>
          <a:xfrm>
            <a:off x="243128" y="1586754"/>
            <a:ext cx="96103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ea"/>
              </a:rPr>
              <a:t>用于确定一个一阶逻辑公式在一组特定背景理论 </a:t>
            </a:r>
            <a:r>
              <a:rPr lang="en-US" altLang="zh-CN" sz="2400" dirty="0">
                <a:latin typeface="+mn-ea"/>
              </a:rPr>
              <a:t>T </a:t>
            </a:r>
            <a:r>
              <a:rPr lang="zh-CN" altLang="en-US" sz="2400" dirty="0">
                <a:latin typeface="+mn-ea"/>
              </a:rPr>
              <a:t>下是否可满足。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ea"/>
              </a:rPr>
              <a:t>理论 </a:t>
            </a:r>
            <a:r>
              <a:rPr lang="en-US" altLang="zh-CN" sz="2400" dirty="0">
                <a:latin typeface="+mn-ea"/>
              </a:rPr>
              <a:t>T </a:t>
            </a:r>
            <a:r>
              <a:rPr lang="zh-CN" altLang="en-US" sz="2400" dirty="0">
                <a:latin typeface="+mn-ea"/>
              </a:rPr>
              <a:t>可以是整数算术 </a:t>
            </a:r>
            <a:r>
              <a:rPr lang="en-US" altLang="zh-CN" sz="2400" dirty="0">
                <a:latin typeface="+mn-ea"/>
              </a:rPr>
              <a:t>Z</a:t>
            </a:r>
            <a:r>
              <a:rPr lang="zh-CN" altLang="en-US" sz="2400" dirty="0">
                <a:latin typeface="+mn-ea"/>
              </a:rPr>
              <a:t>、实数算术</a:t>
            </a:r>
            <a:r>
              <a:rPr lang="en-US" altLang="zh-CN" sz="2400" dirty="0">
                <a:latin typeface="+mn-ea"/>
              </a:rPr>
              <a:t>R</a:t>
            </a:r>
            <a:r>
              <a:rPr lang="zh-CN" altLang="en-US" sz="2400" dirty="0">
                <a:latin typeface="+mn-ea"/>
              </a:rPr>
              <a:t>、数组 、位向量等。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表格 10">
                <a:extLst>
                  <a:ext uri="{FF2B5EF4-FFF2-40B4-BE49-F238E27FC236}">
                    <a16:creationId xmlns:a16="http://schemas.microsoft.com/office/drawing/2014/main" id="{9674C813-4644-193A-AC2A-A5FD2AC52BA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68872818"/>
                  </p:ext>
                </p:extLst>
              </p:nvPr>
            </p:nvGraphicFramePr>
            <p:xfrm>
              <a:off x="1441131" y="2851162"/>
              <a:ext cx="9309735" cy="317817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44040">
                      <a:extLst>
                        <a:ext uri="{9D8B030D-6E8A-4147-A177-3AD203B41FA5}">
                          <a16:colId xmlns:a16="http://schemas.microsoft.com/office/drawing/2014/main" val="1924422450"/>
                        </a:ext>
                      </a:extLst>
                    </a:gridCol>
                    <a:gridCol w="3687445">
                      <a:extLst>
                        <a:ext uri="{9D8B030D-6E8A-4147-A177-3AD203B41FA5}">
                          <a16:colId xmlns:a16="http://schemas.microsoft.com/office/drawing/2014/main" val="3198020797"/>
                        </a:ext>
                      </a:extLst>
                    </a:gridCol>
                    <a:gridCol w="3778250">
                      <a:extLst>
                        <a:ext uri="{9D8B030D-6E8A-4147-A177-3AD203B41FA5}">
                          <a16:colId xmlns:a16="http://schemas.microsoft.com/office/drawing/2014/main" val="3363367153"/>
                        </a:ext>
                      </a:extLst>
                    </a:gridCol>
                  </a:tblGrid>
                  <a:tr h="615315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2000" b="0" dirty="0">
                              <a:solidFill>
                                <a:schemeClr val="tx1"/>
                              </a:solidFill>
                              <a:latin typeface="+mn-ea"/>
                              <a:ea typeface="+mn-ea"/>
                            </a:rPr>
                            <a:t>SAT </a:t>
                          </a:r>
                          <a:r>
                            <a:rPr lang="zh-CN" altLang="en-US" sz="2000" b="0" dirty="0">
                              <a:solidFill>
                                <a:schemeClr val="tx1"/>
                              </a:solidFill>
                              <a:latin typeface="+mn-ea"/>
                              <a:ea typeface="+mn-ea"/>
                            </a:rPr>
                            <a:t>求解器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2000" b="0" dirty="0">
                              <a:solidFill>
                                <a:schemeClr val="tx1"/>
                              </a:solidFill>
                              <a:latin typeface="+mn-ea"/>
                              <a:ea typeface="+mn-ea"/>
                            </a:rPr>
                            <a:t>SMT </a:t>
                          </a:r>
                          <a:r>
                            <a:rPr lang="zh-CN" altLang="en-US" sz="2000" b="0" dirty="0">
                              <a:solidFill>
                                <a:schemeClr val="tx1"/>
                              </a:solidFill>
                              <a:latin typeface="+mn-ea"/>
                              <a:ea typeface="+mn-ea"/>
                            </a:rPr>
                            <a:t>求解器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36080835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CN" altLang="en-US"/>
                            <a:t>处理对象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CN" altLang="en-US" dirty="0"/>
                            <a:t>仅布尔变量</a:t>
                          </a:r>
                          <a:r>
                            <a:rPr lang="en-US" altLang="zh-CN" dirty="0"/>
                            <a:t> (True/False)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CN" altLang="en-US" dirty="0"/>
                            <a:t>布尔逻辑</a:t>
                          </a:r>
                          <a:r>
                            <a:rPr lang="en-US" altLang="zh-CN" dirty="0"/>
                            <a:t> + </a:t>
                          </a:r>
                          <a:r>
                            <a:rPr lang="zh-CN" altLang="en-US" dirty="0"/>
                            <a:t>数学公式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87070813"/>
                      </a:ext>
                    </a:extLst>
                  </a:tr>
                  <a:tr h="64135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CN" altLang="en-US"/>
                            <a:t>问题示例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(</m:t>
                                </m:r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𝐴</m:t>
                                </m:r>
                                <m:r>
                                  <a:rPr lang="en-US" altLang="zh-CN" i="1">
                                    <a:latin typeface="Cambria Math" panose="02040503050406030204" charset="0"/>
                                    <a:ea typeface="MS Mincho" charset="0"/>
                                    <a:cs typeface="Cambria Math" panose="02040503050406030204" charset="0"/>
                                  </a:rPr>
                                  <m:t>∪</m:t>
                                </m:r>
                                <m:r>
                                  <a:rPr lang="en-US" altLang="zh-CN" i="1">
                                    <a:latin typeface="Cambria Math" panose="02040503050406030204" charset="0"/>
                                    <a:ea typeface="MS Mincho" charset="0"/>
                                    <a:cs typeface="Cambria Math" panose="02040503050406030204" charset="0"/>
                                  </a:rPr>
                                  <m:t>𝐵</m:t>
                                </m:r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)∩(¬</m:t>
                                </m:r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𝐴</m:t>
                                </m:r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𝑥</m:t>
                                </m:r>
                                <m:r>
                                  <a:rPr lang="en-US" altLang="zh-CN" i="1">
                                    <a:latin typeface="Cambria Math" panose="02040503050406030204" charset="0"/>
                                    <a:ea typeface="MS Mincho" charset="0"/>
                                    <a:cs typeface="Cambria Math" panose="02040503050406030204" charset="0"/>
                                  </a:rPr>
                                  <m:t>+</m:t>
                                </m:r>
                                <m:r>
                                  <a:rPr lang="en-US" altLang="zh-CN" i="1">
                                    <a:latin typeface="Cambria Math" panose="02040503050406030204" charset="0"/>
                                    <a:ea typeface="MS Mincho" charset="0"/>
                                    <a:cs typeface="Cambria Math" panose="02040503050406030204" charset="0"/>
                                  </a:rPr>
                                  <m:t>𝑦</m:t>
                                </m:r>
                                <m:r>
                                  <a:rPr lang="en-US" altLang="zh-CN" i="1">
                                    <a:latin typeface="Cambria Math" panose="02040503050406030204" charset="0"/>
                                    <a:ea typeface="MS Mincho" charset="0"/>
                                    <a:cs typeface="Cambria Math" panose="02040503050406030204" charset="0"/>
                                  </a:rPr>
                                  <m:t>&gt;5∩</m:t>
                                </m:r>
                                <m:r>
                                  <a:rPr lang="en-US" altLang="zh-CN" i="1">
                                    <a:latin typeface="Cambria Math" panose="02040503050406030204" charset="0"/>
                                    <a:ea typeface="MS Mincho" charset="0"/>
                                    <a:cs typeface="Cambria Math" panose="02040503050406030204" charset="0"/>
                                  </a:rPr>
                                  <m:t>𝑥</m:t>
                                </m:r>
                                <m:r>
                                  <a:rPr lang="en-US" altLang="zh-CN" i="1">
                                    <a:latin typeface="Cambria Math" panose="02040503050406030204" charset="0"/>
                                    <a:ea typeface="MS Mincho" charset="0"/>
                                    <a:cs typeface="Cambria Math" panose="02040503050406030204" charset="0"/>
                                  </a:rPr>
                                  <m:t>&lt;3</m:t>
                                </m:r>
                              </m:oMath>
                            </m:oMathPara>
                          </a14:m>
                          <a:endParaRPr lang="en-US" altLang="zh-CN" i="1" dirty="0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93374105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CN" altLang="en-US"/>
                            <a:t>能力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CN" altLang="en-US"/>
                            <a:t>纯逻辑检查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CN" altLang="en-US" dirty="0"/>
                            <a:t>逻辑</a:t>
                          </a:r>
                          <a:r>
                            <a:rPr lang="en-US" altLang="zh-CN" dirty="0"/>
                            <a:t> + </a:t>
                          </a:r>
                          <a:r>
                            <a:rPr lang="zh-CN" altLang="en-US" dirty="0"/>
                            <a:t>数学计算</a:t>
                          </a:r>
                          <a:r>
                            <a:rPr lang="en-US" altLang="zh-CN" dirty="0"/>
                            <a:t>/</a:t>
                          </a:r>
                          <a:r>
                            <a:rPr lang="zh-CN" altLang="en-US" dirty="0"/>
                            <a:t>约束求解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2262390"/>
                      </a:ext>
                    </a:extLst>
                  </a:tr>
                  <a:tr h="64135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CN" altLang="en-US"/>
                            <a:t>关系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CN" altLang="en-US" dirty="0"/>
                            <a:t>是</a:t>
                          </a:r>
                          <a:r>
                            <a:rPr lang="en-US" altLang="zh-CN" dirty="0"/>
                            <a:t> SMT </a:t>
                          </a:r>
                          <a:r>
                            <a:rPr lang="zh-CN" altLang="en-US" dirty="0"/>
                            <a:t>的一部分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dirty="0"/>
                            <a:t>SMT </a:t>
                          </a:r>
                          <a:r>
                            <a:rPr lang="zh-CN" altLang="en-US" dirty="0"/>
                            <a:t>是</a:t>
                          </a:r>
                          <a:r>
                            <a:rPr lang="en-US" altLang="zh-CN" dirty="0"/>
                            <a:t> SAT </a:t>
                          </a:r>
                          <a:r>
                            <a:rPr lang="zh-CN" altLang="en-US" dirty="0"/>
                            <a:t>的超集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761640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表格 10">
                <a:extLst>
                  <a:ext uri="{FF2B5EF4-FFF2-40B4-BE49-F238E27FC236}">
                    <a16:creationId xmlns:a16="http://schemas.microsoft.com/office/drawing/2014/main" id="{9674C813-4644-193A-AC2A-A5FD2AC52BA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68872818"/>
                  </p:ext>
                </p:extLst>
              </p:nvPr>
            </p:nvGraphicFramePr>
            <p:xfrm>
              <a:off x="1441131" y="2851162"/>
              <a:ext cx="9309735" cy="317817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44040">
                      <a:extLst>
                        <a:ext uri="{9D8B030D-6E8A-4147-A177-3AD203B41FA5}">
                          <a16:colId xmlns:a16="http://schemas.microsoft.com/office/drawing/2014/main" val="1924422450"/>
                        </a:ext>
                      </a:extLst>
                    </a:gridCol>
                    <a:gridCol w="3687445">
                      <a:extLst>
                        <a:ext uri="{9D8B030D-6E8A-4147-A177-3AD203B41FA5}">
                          <a16:colId xmlns:a16="http://schemas.microsoft.com/office/drawing/2014/main" val="3198020797"/>
                        </a:ext>
                      </a:extLst>
                    </a:gridCol>
                    <a:gridCol w="3778250">
                      <a:extLst>
                        <a:ext uri="{9D8B030D-6E8A-4147-A177-3AD203B41FA5}">
                          <a16:colId xmlns:a16="http://schemas.microsoft.com/office/drawing/2014/main" val="3363367153"/>
                        </a:ext>
                      </a:extLst>
                    </a:gridCol>
                  </a:tblGrid>
                  <a:tr h="615315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2000" b="0" dirty="0">
                              <a:solidFill>
                                <a:schemeClr val="tx1"/>
                              </a:solidFill>
                              <a:latin typeface="+mn-ea"/>
                              <a:ea typeface="+mn-ea"/>
                            </a:rPr>
                            <a:t>SAT </a:t>
                          </a:r>
                          <a:r>
                            <a:rPr lang="zh-CN" altLang="en-US" sz="2000" b="0" dirty="0">
                              <a:solidFill>
                                <a:schemeClr val="tx1"/>
                              </a:solidFill>
                              <a:latin typeface="+mn-ea"/>
                              <a:ea typeface="+mn-ea"/>
                            </a:rPr>
                            <a:t>求解器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2000" b="0" dirty="0">
                              <a:solidFill>
                                <a:schemeClr val="tx1"/>
                              </a:solidFill>
                              <a:latin typeface="+mn-ea"/>
                              <a:ea typeface="+mn-ea"/>
                            </a:rPr>
                            <a:t>SMT </a:t>
                          </a:r>
                          <a:r>
                            <a:rPr lang="zh-CN" altLang="en-US" sz="2000" b="0" dirty="0">
                              <a:solidFill>
                                <a:schemeClr val="tx1"/>
                              </a:solidFill>
                              <a:latin typeface="+mn-ea"/>
                              <a:ea typeface="+mn-ea"/>
                            </a:rPr>
                            <a:t>求解器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36080835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CN" altLang="en-US"/>
                            <a:t>处理对象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CN" altLang="en-US" dirty="0"/>
                            <a:t>仅布尔变量</a:t>
                          </a:r>
                          <a:r>
                            <a:rPr lang="en-US" altLang="zh-CN" dirty="0"/>
                            <a:t> (True/False)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CN" altLang="en-US" dirty="0"/>
                            <a:t>布尔逻辑</a:t>
                          </a:r>
                          <a:r>
                            <a:rPr lang="en-US" altLang="zh-CN" dirty="0"/>
                            <a:t> + </a:t>
                          </a:r>
                          <a:r>
                            <a:rPr lang="zh-CN" altLang="en-US" dirty="0"/>
                            <a:t>数学公式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87070813"/>
                      </a:ext>
                    </a:extLst>
                  </a:tr>
                  <a:tr h="64135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CN" altLang="en-US"/>
                            <a:t>问题示例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248" t="-198095" r="-103140" b="-20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6613" t="-198095" r="-645" b="-2028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93374105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CN" altLang="en-US"/>
                            <a:t>能力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CN" altLang="en-US"/>
                            <a:t>纯逻辑检查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CN" altLang="en-US" dirty="0"/>
                            <a:t>逻辑</a:t>
                          </a:r>
                          <a:r>
                            <a:rPr lang="en-US" altLang="zh-CN" dirty="0"/>
                            <a:t> + </a:t>
                          </a:r>
                          <a:r>
                            <a:rPr lang="zh-CN" altLang="en-US" dirty="0"/>
                            <a:t>数学计算</a:t>
                          </a:r>
                          <a:r>
                            <a:rPr lang="en-US" altLang="zh-CN" dirty="0"/>
                            <a:t>/</a:t>
                          </a:r>
                          <a:r>
                            <a:rPr lang="zh-CN" altLang="en-US" dirty="0"/>
                            <a:t>约束求解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2262390"/>
                      </a:ext>
                    </a:extLst>
                  </a:tr>
                  <a:tr h="64135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CN" altLang="en-US"/>
                            <a:t>关系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CN" altLang="en-US" dirty="0"/>
                            <a:t>是</a:t>
                          </a:r>
                          <a:r>
                            <a:rPr lang="en-US" altLang="zh-CN" dirty="0"/>
                            <a:t> SMT </a:t>
                          </a:r>
                          <a:r>
                            <a:rPr lang="zh-CN" altLang="en-US" dirty="0"/>
                            <a:t>的一部分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dirty="0"/>
                            <a:t>SMT </a:t>
                          </a:r>
                          <a:r>
                            <a:rPr lang="zh-CN" altLang="en-US" dirty="0"/>
                            <a:t>是</a:t>
                          </a:r>
                          <a:r>
                            <a:rPr lang="en-US" altLang="zh-CN" dirty="0"/>
                            <a:t> SAT </a:t>
                          </a:r>
                          <a:r>
                            <a:rPr lang="zh-CN" altLang="en-US" dirty="0"/>
                            <a:t>的超集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7616404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172018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24D17-E905-6DDF-FDD1-AF06F16F1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3E90C-957E-568E-B46B-39670F1F4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72353"/>
            <a:ext cx="10515600" cy="744072"/>
          </a:xfrm>
        </p:spPr>
        <p:txBody>
          <a:bodyPr>
            <a:normAutofit/>
          </a:bodyPr>
          <a:lstStyle/>
          <a:p>
            <a:pPr algn="ctr"/>
            <a:r>
              <a:rPr lang="en-US" altLang="zh-CN" sz="4000" dirty="0"/>
              <a:t>CVC5 </a:t>
            </a:r>
            <a:r>
              <a:rPr lang="zh-CN" altLang="en-US" sz="4000" dirty="0"/>
              <a:t>系统架构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4EEEE5E-B3A0-18FA-504A-9037CD6094F8}"/>
              </a:ext>
            </a:extLst>
          </p:cNvPr>
          <p:cNvSpPr txBox="1"/>
          <p:nvPr/>
        </p:nvSpPr>
        <p:spPr>
          <a:xfrm>
            <a:off x="5717164" y="47527"/>
            <a:ext cx="757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CVC5</a:t>
            </a:r>
            <a:endParaRPr lang="zh-CN" alt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40148EFE-CBE6-97EF-02CA-D211B99A87D3}"/>
              </a:ext>
            </a:extLst>
          </p:cNvPr>
          <p:cNvCxnSpPr/>
          <p:nvPr/>
        </p:nvCxnSpPr>
        <p:spPr>
          <a:xfrm>
            <a:off x="0" y="502023"/>
            <a:ext cx="12192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A125BC27-3113-180B-0BE1-72F279B34BEE}"/>
              </a:ext>
            </a:extLst>
          </p:cNvPr>
          <p:cNvSpPr txBox="1"/>
          <p:nvPr/>
        </p:nvSpPr>
        <p:spPr>
          <a:xfrm>
            <a:off x="305811" y="2041275"/>
            <a:ext cx="5359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+mn-ea"/>
              </a:rPr>
              <a:t>API </a:t>
            </a:r>
            <a:r>
              <a:rPr lang="zh-CN" altLang="en-US" sz="2400" dirty="0">
                <a:latin typeface="+mn-ea"/>
              </a:rPr>
              <a:t>层：提供多种语言接口及</a:t>
            </a:r>
            <a:r>
              <a:rPr lang="en-US" altLang="zh-CN" sz="2400" dirty="0">
                <a:latin typeface="+mn-ea"/>
              </a:rPr>
              <a:t>CLI</a:t>
            </a:r>
            <a:r>
              <a:rPr lang="zh-CN" altLang="en-US" sz="2400" dirty="0">
                <a:latin typeface="+mn-ea"/>
              </a:rPr>
              <a:t>接口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6F0C4BE-24AB-165F-E890-64C8C25D56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7164" y="1771014"/>
            <a:ext cx="6169025" cy="346837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D5FF0C1-8890-7A67-35DD-08CF7A4667DD}"/>
              </a:ext>
            </a:extLst>
          </p:cNvPr>
          <p:cNvSpPr txBox="1"/>
          <p:nvPr/>
        </p:nvSpPr>
        <p:spPr>
          <a:xfrm>
            <a:off x="6418815" y="5354650"/>
            <a:ext cx="47657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latin typeface="+mn-ea"/>
              </a:rPr>
              <a:t>采用分层架构，确保系统的高可扩展性，便于集成新的理论和功能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72E0FA6-6ACE-85CD-B5FB-B6AD112F3979}"/>
              </a:ext>
            </a:extLst>
          </p:cNvPr>
          <p:cNvSpPr txBox="1"/>
          <p:nvPr/>
        </p:nvSpPr>
        <p:spPr>
          <a:xfrm>
            <a:off x="305811" y="2598003"/>
            <a:ext cx="5359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ea"/>
              </a:rPr>
              <a:t>核心层：集成集成溯因、插值、</a:t>
            </a:r>
            <a:r>
              <a:rPr lang="en-US" altLang="zh-CN" sz="2400" dirty="0" err="1">
                <a:latin typeface="+mn-ea"/>
              </a:rPr>
              <a:t>SyGuS</a:t>
            </a:r>
            <a:r>
              <a:rPr lang="en-US" altLang="zh-CN" sz="2400" dirty="0">
                <a:latin typeface="+mn-ea"/>
              </a:rPr>
              <a:t> </a:t>
            </a:r>
            <a:r>
              <a:rPr lang="zh-CN" altLang="en-US" sz="2400" dirty="0">
                <a:latin typeface="+mn-ea"/>
              </a:rPr>
              <a:t>及量词消除求解器。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6837584-4681-975C-99AC-74F10703CBF9}"/>
              </a:ext>
            </a:extLst>
          </p:cNvPr>
          <p:cNvSpPr txBox="1"/>
          <p:nvPr/>
        </p:nvSpPr>
        <p:spPr>
          <a:xfrm>
            <a:off x="305811" y="3524063"/>
            <a:ext cx="5359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+mn-ea"/>
              </a:rPr>
              <a:t>SMT Slover</a:t>
            </a:r>
            <a:r>
              <a:rPr lang="zh-CN" altLang="en-US" sz="2400" dirty="0">
                <a:latin typeface="+mn-ea"/>
              </a:rPr>
              <a:t>：包含预处理器、命题引擎 </a:t>
            </a:r>
            <a:r>
              <a:rPr lang="en-US" altLang="zh-CN" sz="2400" dirty="0">
                <a:latin typeface="+mn-ea"/>
              </a:rPr>
              <a:t>(</a:t>
            </a:r>
            <a:r>
              <a:rPr lang="en-US" altLang="zh-CN" sz="2400" dirty="0" err="1">
                <a:latin typeface="+mn-ea"/>
              </a:rPr>
              <a:t>MiniSat</a:t>
            </a:r>
            <a:r>
              <a:rPr lang="en-US" altLang="zh-CN" sz="2400" dirty="0">
                <a:latin typeface="+mn-ea"/>
              </a:rPr>
              <a:t>) </a:t>
            </a:r>
            <a:r>
              <a:rPr lang="zh-CN" altLang="en-US" sz="2400" dirty="0">
                <a:latin typeface="+mn-ea"/>
              </a:rPr>
              <a:t>和理论引擎。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A80FF32-42A4-9490-BB02-941B4BA9EC68}"/>
              </a:ext>
            </a:extLst>
          </p:cNvPr>
          <p:cNvSpPr txBox="1"/>
          <p:nvPr/>
        </p:nvSpPr>
        <p:spPr>
          <a:xfrm>
            <a:off x="305811" y="4450123"/>
            <a:ext cx="5359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ea"/>
              </a:rPr>
              <a:t>基础设施层：节点管理器、证明模块及上下文相关数据结构</a:t>
            </a:r>
          </a:p>
        </p:txBody>
      </p:sp>
    </p:spTree>
    <p:extLst>
      <p:ext uri="{BB962C8B-B14F-4D97-AF65-F5344CB8AC3E}">
        <p14:creationId xmlns:p14="http://schemas.microsoft.com/office/powerpoint/2010/main" val="3518421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01040-0FA8-4079-60D2-F35662DE9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CF9657-0136-3220-859E-303F30E28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7" y="750116"/>
            <a:ext cx="10515600" cy="744072"/>
          </a:xfrm>
        </p:spPr>
        <p:txBody>
          <a:bodyPr>
            <a:normAutofit/>
          </a:bodyPr>
          <a:lstStyle/>
          <a:p>
            <a:pPr algn="ctr"/>
            <a:r>
              <a:rPr lang="en-US" altLang="zh-CN" sz="4000" dirty="0"/>
              <a:t>SMT Solver</a:t>
            </a:r>
            <a:endParaRPr lang="zh-CN" altLang="en-US" sz="40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9340A72-63CB-756D-EEEE-5BE8CA16A836}"/>
              </a:ext>
            </a:extLst>
          </p:cNvPr>
          <p:cNvSpPr txBox="1"/>
          <p:nvPr/>
        </p:nvSpPr>
        <p:spPr>
          <a:xfrm>
            <a:off x="5140345" y="56988"/>
            <a:ext cx="1911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CVC5 </a:t>
            </a:r>
            <a:r>
              <a:rPr lang="zh-CN" altLang="en-US" dirty="0"/>
              <a:t>系统架构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1F489734-5775-BC8A-11E3-1001C86FE7B8}"/>
              </a:ext>
            </a:extLst>
          </p:cNvPr>
          <p:cNvCxnSpPr/>
          <p:nvPr/>
        </p:nvCxnSpPr>
        <p:spPr>
          <a:xfrm>
            <a:off x="0" y="502023"/>
            <a:ext cx="12192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F23E67CF-4289-4B70-DF1E-6B7D28945DD5}"/>
              </a:ext>
            </a:extLst>
          </p:cNvPr>
          <p:cNvSpPr txBox="1"/>
          <p:nvPr/>
        </p:nvSpPr>
        <p:spPr>
          <a:xfrm>
            <a:off x="305810" y="2041275"/>
            <a:ext cx="57901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ea"/>
              </a:rPr>
              <a:t>预处理器：正式求解前对公式进行简化</a:t>
            </a:r>
            <a:endParaRPr lang="en-US" altLang="zh-CN" sz="2400" dirty="0"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ea"/>
              </a:rPr>
              <a:t>重写器：负责基于规则的等价置换</a:t>
            </a:r>
            <a:endParaRPr lang="en-US" altLang="zh-CN" sz="2400" dirty="0">
              <a:latin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B5218FB-F7A0-2861-C58B-3B7E935DE347}"/>
              </a:ext>
            </a:extLst>
          </p:cNvPr>
          <p:cNvSpPr txBox="1"/>
          <p:nvPr/>
        </p:nvSpPr>
        <p:spPr>
          <a:xfrm>
            <a:off x="6418815" y="5354650"/>
            <a:ext cx="47657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latin typeface="+mn-ea"/>
              </a:rPr>
              <a:t>负责处理标准的 </a:t>
            </a:r>
            <a:r>
              <a:rPr lang="en-US" altLang="zh-CN" sz="2400" dirty="0">
                <a:latin typeface="+mn-ea"/>
              </a:rPr>
              <a:t>SMT </a:t>
            </a:r>
            <a:r>
              <a:rPr lang="zh-CN" altLang="en-US" sz="2400" dirty="0">
                <a:latin typeface="+mn-ea"/>
              </a:rPr>
              <a:t>问题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AEF72536-39D3-345B-7116-D8668AB6FC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0" y="1853451"/>
            <a:ext cx="5772314" cy="3151096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B8381427-78E6-EA6D-E2D9-1DB2ADE351A5}"/>
              </a:ext>
            </a:extLst>
          </p:cNvPr>
          <p:cNvSpPr txBox="1"/>
          <p:nvPr/>
        </p:nvSpPr>
        <p:spPr>
          <a:xfrm>
            <a:off x="305809" y="3255937"/>
            <a:ext cx="57901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ea"/>
              </a:rPr>
              <a:t>命题引擎：</a:t>
            </a:r>
            <a:r>
              <a:rPr lang="zh-CN" altLang="en-US" sz="2400" dirty="0"/>
              <a:t>负责处理公式的布尔值</a:t>
            </a:r>
            <a:endParaRPr lang="en-US" altLang="zh-CN" sz="2400" dirty="0">
              <a:latin typeface="+mn-ea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ADF3802-DB2F-6CDD-D058-84CAD6ED49BD}"/>
              </a:ext>
            </a:extLst>
          </p:cNvPr>
          <p:cNvSpPr txBox="1"/>
          <p:nvPr/>
        </p:nvSpPr>
        <p:spPr>
          <a:xfrm>
            <a:off x="305808" y="4101267"/>
            <a:ext cx="57901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ea"/>
              </a:rPr>
              <a:t>理论引擎：</a:t>
            </a:r>
            <a:r>
              <a:rPr lang="zh-CN" altLang="en-US" sz="2400" dirty="0"/>
              <a:t>负责检查 </a:t>
            </a:r>
            <a:r>
              <a:rPr lang="en-US" altLang="zh-CN" sz="2400" dirty="0"/>
              <a:t>SAT Solver </a:t>
            </a:r>
            <a:r>
              <a:rPr lang="zh-CN" altLang="en-US" sz="2400" dirty="0"/>
              <a:t>给出的赋值在数学上是否成立。并反馈冲突子句</a:t>
            </a:r>
            <a:endParaRPr lang="en-US" altLang="zh-CN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740628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4F304-7D6D-8856-B11B-820E5C3D8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3287AC-4058-E51F-EDA0-EDF9D18E7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8000"/>
            <a:ext cx="10515600" cy="744072"/>
          </a:xfrm>
        </p:spPr>
        <p:txBody>
          <a:bodyPr>
            <a:normAutofit/>
          </a:bodyPr>
          <a:lstStyle/>
          <a:p>
            <a:pPr algn="ctr"/>
            <a:r>
              <a:rPr lang="zh-CN" altLang="en-US" sz="4000" dirty="0"/>
              <a:t>核心扩展层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F81EB8B-8F0B-4311-1D8D-99397ABAFBA8}"/>
              </a:ext>
            </a:extLst>
          </p:cNvPr>
          <p:cNvSpPr txBox="1"/>
          <p:nvPr/>
        </p:nvSpPr>
        <p:spPr>
          <a:xfrm>
            <a:off x="5140348" y="68566"/>
            <a:ext cx="1911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CVC5 </a:t>
            </a:r>
            <a:r>
              <a:rPr lang="zh-CN" altLang="en-US" dirty="0"/>
              <a:t>系统架构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4F6D552C-B0EB-D353-3EC1-CA828C69A0CF}"/>
              </a:ext>
            </a:extLst>
          </p:cNvPr>
          <p:cNvCxnSpPr/>
          <p:nvPr/>
        </p:nvCxnSpPr>
        <p:spPr>
          <a:xfrm>
            <a:off x="0" y="502023"/>
            <a:ext cx="12192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A6F2F7FA-5FE0-85D3-B7DD-38173A60BCEB}"/>
              </a:ext>
            </a:extLst>
          </p:cNvPr>
          <p:cNvSpPr txBox="1"/>
          <p:nvPr/>
        </p:nvSpPr>
        <p:spPr>
          <a:xfrm>
            <a:off x="305811" y="2041275"/>
            <a:ext cx="5359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 err="1"/>
              <a:t>SyGuS</a:t>
            </a:r>
            <a:r>
              <a:rPr lang="en-US" altLang="zh-CN" sz="2400" dirty="0"/>
              <a:t> Solver</a:t>
            </a:r>
            <a:r>
              <a:rPr lang="zh-CN" altLang="en-US" sz="2400" dirty="0"/>
              <a:t>：程序合成</a:t>
            </a:r>
            <a:endParaRPr lang="zh-CN" altLang="en-US" sz="2400" dirty="0">
              <a:latin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0A6345F-7B27-32AB-1453-A2763FED5414}"/>
              </a:ext>
            </a:extLst>
          </p:cNvPr>
          <p:cNvSpPr txBox="1"/>
          <p:nvPr/>
        </p:nvSpPr>
        <p:spPr>
          <a:xfrm>
            <a:off x="6418815" y="5354650"/>
            <a:ext cx="47657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latin typeface="+mn-ea"/>
              </a:rPr>
              <a:t>特殊问题求解器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160EB11-FAD0-05A4-9504-45096D35A6EE}"/>
              </a:ext>
            </a:extLst>
          </p:cNvPr>
          <p:cNvSpPr txBox="1"/>
          <p:nvPr/>
        </p:nvSpPr>
        <p:spPr>
          <a:xfrm>
            <a:off x="323686" y="2860886"/>
            <a:ext cx="5359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/>
              <a:t>Abduction Solver</a:t>
            </a:r>
            <a:r>
              <a:rPr lang="zh-CN" altLang="en-US" sz="2400" dirty="0"/>
              <a:t>：溯因求解器</a:t>
            </a:r>
            <a:endParaRPr lang="zh-CN" altLang="en-US" sz="2400" dirty="0">
              <a:latin typeface="+mn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FB8D556-EA33-CA68-8AC3-FF0DF3D8B48E}"/>
              </a:ext>
            </a:extLst>
          </p:cNvPr>
          <p:cNvSpPr txBox="1"/>
          <p:nvPr/>
        </p:nvSpPr>
        <p:spPr>
          <a:xfrm>
            <a:off x="357763" y="3680497"/>
            <a:ext cx="5359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ea"/>
              </a:rPr>
              <a:t>插值求解器：用于模型检测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522AC5A-D6B2-299E-D354-C85151E5CEB4}"/>
              </a:ext>
            </a:extLst>
          </p:cNvPr>
          <p:cNvSpPr txBox="1"/>
          <p:nvPr/>
        </p:nvSpPr>
        <p:spPr>
          <a:xfrm>
            <a:off x="305811" y="4500108"/>
            <a:ext cx="5359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/>
              <a:t>量词消除求解器：尝试将带有量词的公式转化为不带量词的等价公式</a:t>
            </a:r>
            <a:endParaRPr lang="zh-CN" altLang="en-US" sz="2400" dirty="0">
              <a:latin typeface="+mn-ea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E94E8093-73C2-AD55-874F-34DA8B6C58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853451"/>
            <a:ext cx="5772314" cy="3151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4321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D70C2-A50C-4D01-391B-5232DD294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BA9410-D2B9-B415-14E2-01A3EE227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9276"/>
            <a:ext cx="10515600" cy="744072"/>
          </a:xfrm>
        </p:spPr>
        <p:txBody>
          <a:bodyPr>
            <a:normAutofit/>
          </a:bodyPr>
          <a:lstStyle/>
          <a:p>
            <a:pPr algn="ctr"/>
            <a:r>
              <a:rPr lang="zh-CN" altLang="en-US" sz="4000" dirty="0"/>
              <a:t>基础服务层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A1D4C4D-74C3-0B74-A5E9-B1D7181A6291}"/>
              </a:ext>
            </a:extLst>
          </p:cNvPr>
          <p:cNvSpPr txBox="1"/>
          <p:nvPr/>
        </p:nvSpPr>
        <p:spPr>
          <a:xfrm>
            <a:off x="5140348" y="76652"/>
            <a:ext cx="1911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CVC5 </a:t>
            </a:r>
            <a:r>
              <a:rPr lang="zh-CN" altLang="en-US" dirty="0"/>
              <a:t>系统架构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9B5478D-7CAB-898B-7FC8-E7943A588592}"/>
              </a:ext>
            </a:extLst>
          </p:cNvPr>
          <p:cNvCxnSpPr/>
          <p:nvPr/>
        </p:nvCxnSpPr>
        <p:spPr>
          <a:xfrm>
            <a:off x="0" y="502023"/>
            <a:ext cx="12192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727D21DD-3918-0FC4-1229-E052C1498DFD}"/>
              </a:ext>
            </a:extLst>
          </p:cNvPr>
          <p:cNvSpPr txBox="1"/>
          <p:nvPr/>
        </p:nvSpPr>
        <p:spPr>
          <a:xfrm>
            <a:off x="305811" y="2041275"/>
            <a:ext cx="5359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+mn-ea"/>
              </a:rPr>
              <a:t>Node Manager</a:t>
            </a:r>
            <a:r>
              <a:rPr lang="zh-CN" altLang="en-US" sz="2400" dirty="0">
                <a:latin typeface="+mn-ea"/>
              </a:rPr>
              <a:t>：存储</a:t>
            </a:r>
            <a:r>
              <a:rPr lang="en-US" altLang="zh-CN" sz="2400" dirty="0"/>
              <a:t>CVC5 </a:t>
            </a:r>
            <a:r>
              <a:rPr lang="zh-CN" altLang="en-US" sz="2400" dirty="0"/>
              <a:t>中的所有表达式（项、公式），在内存中只保存一份</a:t>
            </a:r>
            <a:endParaRPr lang="zh-CN" altLang="en-US" sz="2400" dirty="0">
              <a:latin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8E35B8A-EC2F-7162-8895-57D606BE8683}"/>
              </a:ext>
            </a:extLst>
          </p:cNvPr>
          <p:cNvSpPr txBox="1"/>
          <p:nvPr/>
        </p:nvSpPr>
        <p:spPr>
          <a:xfrm>
            <a:off x="6418815" y="5354650"/>
            <a:ext cx="47657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/>
              <a:t>提供基础设施与数据管理服务</a:t>
            </a:r>
            <a:endParaRPr lang="zh-CN" altLang="en-US" sz="2400" dirty="0">
              <a:latin typeface="+mn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1D609E5-5FFD-141A-AD94-62BE426C0D7F}"/>
              </a:ext>
            </a:extLst>
          </p:cNvPr>
          <p:cNvSpPr txBox="1"/>
          <p:nvPr/>
        </p:nvSpPr>
        <p:spPr>
          <a:xfrm>
            <a:off x="305811" y="3386852"/>
            <a:ext cx="5359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ea"/>
              </a:rPr>
              <a:t>上下文数据结构：存储上下文，用于 </a:t>
            </a:r>
            <a:r>
              <a:rPr lang="en-US" altLang="zh-CN" sz="2400" dirty="0">
                <a:latin typeface="+mn-ea"/>
              </a:rPr>
              <a:t>SAT </a:t>
            </a:r>
            <a:r>
              <a:rPr lang="zh-CN" altLang="en-US" sz="2400" dirty="0">
                <a:latin typeface="+mn-ea"/>
              </a:rPr>
              <a:t>求解器的回退操作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E8A1CF9-39A9-030C-CD06-09B1913C1199}"/>
              </a:ext>
            </a:extLst>
          </p:cNvPr>
          <p:cNvSpPr txBox="1"/>
          <p:nvPr/>
        </p:nvSpPr>
        <p:spPr>
          <a:xfrm>
            <a:off x="305811" y="4365356"/>
            <a:ext cx="5359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ea"/>
              </a:rPr>
              <a:t>证明模块：用于记录求解推理步骤以及导出证明为其它格式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BCCC79F4-B37B-A6B9-58A3-AA78FFD128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0" y="1853451"/>
            <a:ext cx="5772314" cy="3151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6013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40FFB-964D-CE30-3C10-BD3843AC9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F20CDC-14E6-E1EA-CE71-72E4A16D9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0116"/>
            <a:ext cx="10515600" cy="744072"/>
          </a:xfrm>
        </p:spPr>
        <p:txBody>
          <a:bodyPr>
            <a:normAutofit/>
          </a:bodyPr>
          <a:lstStyle/>
          <a:p>
            <a:pPr algn="ctr"/>
            <a:r>
              <a:rPr lang="zh-CN" altLang="en-US" sz="4000" dirty="0"/>
              <a:t>基本算数问题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4BEE9FB-FA7D-13C8-A800-47EAA1B7A7C6}"/>
              </a:ext>
            </a:extLst>
          </p:cNvPr>
          <p:cNvSpPr txBox="1"/>
          <p:nvPr/>
        </p:nvSpPr>
        <p:spPr>
          <a:xfrm>
            <a:off x="4895356" y="70638"/>
            <a:ext cx="2401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CVC5 </a:t>
            </a:r>
            <a:r>
              <a:rPr lang="zh-CN" altLang="en-US" dirty="0"/>
              <a:t>求解问题示例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15169C76-DFE6-FA9C-56DC-E647818AD7E6}"/>
              </a:ext>
            </a:extLst>
          </p:cNvPr>
          <p:cNvCxnSpPr/>
          <p:nvPr/>
        </p:nvCxnSpPr>
        <p:spPr>
          <a:xfrm>
            <a:off x="0" y="502023"/>
            <a:ext cx="12192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B26A78E5-C637-BDEC-D8E2-0969E289728A}"/>
                  </a:ext>
                </a:extLst>
              </p:cNvPr>
              <p:cNvSpPr txBox="1"/>
              <p:nvPr/>
            </p:nvSpPr>
            <p:spPr>
              <a:xfrm>
                <a:off x="280952" y="1774188"/>
                <a:ext cx="7559652" cy="16548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400" dirty="0"/>
                  <a:t>是否存在两个正整数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i="1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和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i="1" dirty="0">
                        <a:latin typeface="Cambria Math" panose="02040503050406030204" pitchFamily="18" charset="0"/>
                      </a:rPr>
                      <m:t>y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2400" dirty="0"/>
                  <a:t>满足如下条件：</a:t>
                </a:r>
                <a:endParaRPr lang="en-US" altLang="zh-CN" sz="2400" dirty="0"/>
              </a:p>
              <a:p>
                <a:pPr algn="ctr"/>
                <a:endParaRPr lang="en-US" altLang="zh-CN" sz="24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y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=20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=2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sz="2400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B26A78E5-C637-BDEC-D8E2-0969E28972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952" y="1774188"/>
                <a:ext cx="7559652" cy="1654812"/>
              </a:xfrm>
              <a:prstGeom prst="rect">
                <a:avLst/>
              </a:prstGeom>
              <a:blipFill>
                <a:blip r:embed="rId2"/>
                <a:stretch>
                  <a:fillRect t="-25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>
            <a:extLst>
              <a:ext uri="{FF2B5EF4-FFF2-40B4-BE49-F238E27FC236}">
                <a16:creationId xmlns:a16="http://schemas.microsoft.com/office/drawing/2014/main" id="{CE1C5C74-D833-5654-4F5A-2E7D36036C69}"/>
              </a:ext>
            </a:extLst>
          </p:cNvPr>
          <p:cNvSpPr txBox="1"/>
          <p:nvPr/>
        </p:nvSpPr>
        <p:spPr>
          <a:xfrm>
            <a:off x="769002" y="3916334"/>
            <a:ext cx="5359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ea"/>
              </a:rPr>
              <a:t>求解器的应用以及约束添加</a:t>
            </a:r>
            <a:endParaRPr lang="en-US" altLang="zh-CN" sz="2400" dirty="0"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ea"/>
              </a:rPr>
              <a:t>整数符号和常量的创建</a:t>
            </a:r>
            <a:endParaRPr lang="en-US" altLang="zh-CN" sz="2400" dirty="0"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ea"/>
              </a:rPr>
              <a:t>基础的整数运算符</a:t>
            </a:r>
            <a:endParaRPr lang="en-US" altLang="zh-CN" sz="2400" dirty="0"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ea"/>
              </a:rPr>
              <a:t>求解是否成功以及结果的获取</a:t>
            </a:r>
          </a:p>
        </p:txBody>
      </p:sp>
      <p:pic>
        <p:nvPicPr>
          <p:cNvPr id="10" name="图形 9">
            <a:extLst>
              <a:ext uri="{FF2B5EF4-FFF2-40B4-BE49-F238E27FC236}">
                <a16:creationId xmlns:a16="http://schemas.microsoft.com/office/drawing/2014/main" id="{EC3F1FE4-2EDF-0E4C-105E-92BF7DF0F1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43299" y="933634"/>
            <a:ext cx="2449634" cy="5875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9132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E0857-F783-0C15-5969-059B2DEB6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B268BC-D877-0D8B-12A4-2DE607EDB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0116"/>
            <a:ext cx="10515600" cy="744072"/>
          </a:xfrm>
        </p:spPr>
        <p:txBody>
          <a:bodyPr>
            <a:normAutofit/>
          </a:bodyPr>
          <a:lstStyle/>
          <a:p>
            <a:pPr algn="ctr"/>
            <a:r>
              <a:rPr lang="zh-CN" altLang="en-US" sz="4000" dirty="0"/>
              <a:t>基本逻辑问题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D1A7B85-0671-8212-86DC-A311BB45AB92}"/>
              </a:ext>
            </a:extLst>
          </p:cNvPr>
          <p:cNvSpPr txBox="1"/>
          <p:nvPr/>
        </p:nvSpPr>
        <p:spPr>
          <a:xfrm>
            <a:off x="4895356" y="70638"/>
            <a:ext cx="2401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CVC5 </a:t>
            </a:r>
            <a:r>
              <a:rPr lang="zh-CN" altLang="en-US" dirty="0"/>
              <a:t>求解问题示例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7E7D789F-3EE1-C85C-1B21-16C4DB848024}"/>
              </a:ext>
            </a:extLst>
          </p:cNvPr>
          <p:cNvCxnSpPr/>
          <p:nvPr/>
        </p:nvCxnSpPr>
        <p:spPr>
          <a:xfrm>
            <a:off x="0" y="502023"/>
            <a:ext cx="12192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FF597A56-5516-7EBD-F299-A24A6D3F9ED0}"/>
              </a:ext>
            </a:extLst>
          </p:cNvPr>
          <p:cNvSpPr txBox="1"/>
          <p:nvPr/>
        </p:nvSpPr>
        <p:spPr>
          <a:xfrm>
            <a:off x="1800360" y="2090172"/>
            <a:ext cx="859128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400" dirty="0">
                <a:latin typeface="+mn-ea"/>
              </a:rPr>
              <a:t>Alice</a:t>
            </a:r>
            <a:r>
              <a:rPr lang="zh-CN" altLang="en-US" sz="2400" dirty="0">
                <a:latin typeface="+mn-ea"/>
              </a:rPr>
              <a:t>、</a:t>
            </a:r>
            <a:r>
              <a:rPr lang="en-US" altLang="zh-CN" sz="2400" dirty="0">
                <a:latin typeface="+mn-ea"/>
              </a:rPr>
              <a:t>Bob </a:t>
            </a:r>
            <a:r>
              <a:rPr lang="zh-CN" altLang="en-US" sz="2400" dirty="0">
                <a:latin typeface="+mn-ea"/>
              </a:rPr>
              <a:t>和 </a:t>
            </a:r>
            <a:r>
              <a:rPr lang="en-US" altLang="zh-CN" sz="2400" dirty="0">
                <a:latin typeface="+mn-ea"/>
              </a:rPr>
              <a:t>Charlie </a:t>
            </a:r>
            <a:r>
              <a:rPr lang="zh-CN" altLang="en-US" sz="2400" dirty="0">
                <a:latin typeface="+mn-ea"/>
              </a:rPr>
              <a:t>中有人做了一件事，他们的陈述如下：</a:t>
            </a:r>
            <a:endParaRPr lang="en-US" altLang="zh-CN" sz="2400" dirty="0">
              <a:latin typeface="+mn-ea"/>
            </a:endParaRPr>
          </a:p>
          <a:p>
            <a:pPr algn="just"/>
            <a:endParaRPr lang="en-US" altLang="zh-CN" sz="2400" dirty="0">
              <a:latin typeface="+mn-ea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+mn-ea"/>
              </a:rPr>
              <a:t>Alice</a:t>
            </a:r>
            <a:r>
              <a:rPr lang="zh-CN" altLang="en-US" sz="2400" dirty="0">
                <a:latin typeface="+mn-ea"/>
              </a:rPr>
              <a:t>：不是我做的</a:t>
            </a:r>
            <a:endParaRPr lang="en-US" altLang="zh-CN" sz="2400" dirty="0">
              <a:latin typeface="+mn-ea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+mn-ea"/>
              </a:rPr>
              <a:t>Bob</a:t>
            </a:r>
            <a:r>
              <a:rPr lang="zh-CN" altLang="en-US" sz="2400" dirty="0">
                <a:latin typeface="+mn-ea"/>
              </a:rPr>
              <a:t>：是 </a:t>
            </a:r>
            <a:r>
              <a:rPr lang="en-US" altLang="zh-CN" sz="2400" dirty="0">
                <a:latin typeface="+mn-ea"/>
              </a:rPr>
              <a:t>Alice </a:t>
            </a:r>
            <a:r>
              <a:rPr lang="zh-CN" altLang="en-US" sz="2400" dirty="0">
                <a:latin typeface="+mn-ea"/>
              </a:rPr>
              <a:t>做的</a:t>
            </a:r>
            <a:endParaRPr lang="en-US" altLang="zh-CN" sz="2400" dirty="0">
              <a:latin typeface="+mn-ea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+mn-ea"/>
              </a:rPr>
              <a:t>Charlie</a:t>
            </a:r>
            <a:r>
              <a:rPr lang="zh-CN" altLang="en-US" sz="2400" dirty="0">
                <a:latin typeface="+mn-ea"/>
              </a:rPr>
              <a:t>：不是我做的</a:t>
            </a:r>
            <a:endParaRPr lang="en-US" altLang="zh-CN" sz="2400" dirty="0">
              <a:latin typeface="+mn-ea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zh-CN" sz="2400" dirty="0">
              <a:latin typeface="+mn-ea"/>
            </a:endParaRPr>
          </a:p>
          <a:p>
            <a:pPr algn="just"/>
            <a:r>
              <a:rPr lang="zh-CN" altLang="en-US" sz="2400" dirty="0">
                <a:latin typeface="+mn-ea"/>
              </a:rPr>
              <a:t>已知其中有一个人说谎，那么是谁做了这件事。</a:t>
            </a:r>
            <a:endParaRPr lang="en-US" altLang="zh-CN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555752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C611A-59AE-8E0F-3933-176CE10F2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311DD8-DB65-5E8C-70F6-2ECF8F47E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0116"/>
            <a:ext cx="10515600" cy="744072"/>
          </a:xfrm>
        </p:spPr>
        <p:txBody>
          <a:bodyPr>
            <a:normAutofit/>
          </a:bodyPr>
          <a:lstStyle/>
          <a:p>
            <a:pPr algn="ctr"/>
            <a:r>
              <a:rPr lang="zh-CN" altLang="en-US" sz="4000" dirty="0"/>
              <a:t>基本逻辑问题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DEB16FE-99AC-DD4F-EF52-3FEE0873E3DA}"/>
              </a:ext>
            </a:extLst>
          </p:cNvPr>
          <p:cNvSpPr txBox="1"/>
          <p:nvPr/>
        </p:nvSpPr>
        <p:spPr>
          <a:xfrm>
            <a:off x="4895356" y="70638"/>
            <a:ext cx="2401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CVC5 </a:t>
            </a:r>
            <a:r>
              <a:rPr lang="zh-CN" altLang="en-US" dirty="0"/>
              <a:t>求解问题示例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BCEAF47-5F8E-67A9-E47E-F142A651C976}"/>
              </a:ext>
            </a:extLst>
          </p:cNvPr>
          <p:cNvCxnSpPr/>
          <p:nvPr/>
        </p:nvCxnSpPr>
        <p:spPr>
          <a:xfrm>
            <a:off x="0" y="502023"/>
            <a:ext cx="12192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1" name="图形 10">
            <a:extLst>
              <a:ext uri="{FF2B5EF4-FFF2-40B4-BE49-F238E27FC236}">
                <a16:creationId xmlns:a16="http://schemas.microsoft.com/office/drawing/2014/main" id="{6F10B62F-7E4C-9837-D72D-EB732586C3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0225" y="2023690"/>
            <a:ext cx="2144184" cy="2810620"/>
          </a:xfrm>
          <a:prstGeom prst="rect">
            <a:avLst/>
          </a:prstGeom>
        </p:spPr>
      </p:pic>
      <p:pic>
        <p:nvPicPr>
          <p:cNvPr id="13" name="图形 12">
            <a:extLst>
              <a:ext uri="{FF2B5EF4-FFF2-40B4-BE49-F238E27FC236}">
                <a16:creationId xmlns:a16="http://schemas.microsoft.com/office/drawing/2014/main" id="{A37DF465-6F1A-E9C7-5C52-E663C6ED2D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45996" y="1742280"/>
            <a:ext cx="2653242" cy="4674169"/>
          </a:xfrm>
          <a:prstGeom prst="rect">
            <a:avLst/>
          </a:prstGeom>
        </p:spPr>
      </p:pic>
      <p:pic>
        <p:nvPicPr>
          <p:cNvPr id="15" name="图形 14">
            <a:extLst>
              <a:ext uri="{FF2B5EF4-FFF2-40B4-BE49-F238E27FC236}">
                <a16:creationId xmlns:a16="http://schemas.microsoft.com/office/drawing/2014/main" id="{42D07787-EB59-61C8-7D31-B981E2EFB5E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70825" y="1686606"/>
            <a:ext cx="4172442" cy="4780486"/>
          </a:xfrm>
          <a:prstGeom prst="rect">
            <a:avLst/>
          </a:prstGeom>
        </p:spPr>
      </p:pic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8E6BEF07-6F41-A328-AD83-44748E79C1F2}"/>
              </a:ext>
            </a:extLst>
          </p:cNvPr>
          <p:cNvCxnSpPr>
            <a:cxnSpLocks/>
          </p:cNvCxnSpPr>
          <p:nvPr/>
        </p:nvCxnSpPr>
        <p:spPr>
          <a:xfrm>
            <a:off x="2878667" y="3657600"/>
            <a:ext cx="1168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10C8C5E1-67F5-20A6-1ABB-E393EA5F4790}"/>
              </a:ext>
            </a:extLst>
          </p:cNvPr>
          <p:cNvCxnSpPr>
            <a:cxnSpLocks/>
          </p:cNvCxnSpPr>
          <p:nvPr/>
        </p:nvCxnSpPr>
        <p:spPr>
          <a:xfrm>
            <a:off x="6481234" y="3623734"/>
            <a:ext cx="12149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32908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E6D2A-A1B5-6E27-0E0A-84C645840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CAFDFD-2289-D5D7-9ECD-2DAB91A73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0116"/>
            <a:ext cx="10515600" cy="744072"/>
          </a:xfrm>
        </p:spPr>
        <p:txBody>
          <a:bodyPr>
            <a:normAutofit/>
          </a:bodyPr>
          <a:lstStyle/>
          <a:p>
            <a:pPr algn="ctr"/>
            <a:r>
              <a:rPr lang="zh-CN" altLang="en-US" sz="4000" dirty="0"/>
              <a:t>位向量溢出问题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D76BD44-A832-EA5D-20BB-C2315511A1FB}"/>
              </a:ext>
            </a:extLst>
          </p:cNvPr>
          <p:cNvSpPr txBox="1"/>
          <p:nvPr/>
        </p:nvSpPr>
        <p:spPr>
          <a:xfrm>
            <a:off x="4895356" y="70638"/>
            <a:ext cx="2401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CVC5 </a:t>
            </a:r>
            <a:r>
              <a:rPr lang="zh-CN" altLang="en-US" dirty="0"/>
              <a:t>求解问题示例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625ADE1-A94F-8042-B3E2-E2A2F8C0C58C}"/>
              </a:ext>
            </a:extLst>
          </p:cNvPr>
          <p:cNvCxnSpPr/>
          <p:nvPr/>
        </p:nvCxnSpPr>
        <p:spPr>
          <a:xfrm>
            <a:off x="0" y="502023"/>
            <a:ext cx="12192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602BE69E-A657-6468-0D9D-586EFF8C9A6A}"/>
                  </a:ext>
                </a:extLst>
              </p:cNvPr>
              <p:cNvSpPr txBox="1"/>
              <p:nvPr/>
            </p:nvSpPr>
            <p:spPr>
              <a:xfrm>
                <a:off x="2055553" y="1742280"/>
                <a:ext cx="8080893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zh-CN" altLang="en-US" sz="2400" dirty="0">
                    <a:latin typeface="+mn-ea"/>
                  </a:rPr>
                  <a:t>是否存在一个 </a:t>
                </a:r>
                <a:r>
                  <a:rPr lang="en-US" altLang="zh-CN" sz="2400" dirty="0">
                    <a:latin typeface="+mn-ea"/>
                  </a:rPr>
                  <a:t>8 </a:t>
                </a:r>
                <a:r>
                  <a:rPr lang="zh-CN" altLang="en-US" sz="2400" dirty="0">
                    <a:latin typeface="+mn-ea"/>
                  </a:rPr>
                  <a:t>位的位向量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i="1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zh-CN" altLang="en-US" sz="2400" dirty="0">
                    <a:latin typeface="+mn-ea"/>
                  </a:rPr>
                  <a:t>，其加一后产生溢出。即满足：</a:t>
                </a:r>
                <a:endParaRPr lang="en-US" altLang="zh-CN" sz="2400" dirty="0">
                  <a:latin typeface="+mn-ea"/>
                </a:endParaRPr>
              </a:p>
              <a:p>
                <a:pPr algn="just"/>
                <a:endParaRPr lang="en-US" altLang="zh-CN" sz="2400" dirty="0">
                  <a:latin typeface="+mn-ea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u</m:t>
                          </m:r>
                        </m:sub>
                      </m:sSub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US" altLang="zh-CN" sz="2400" dirty="0">
                  <a:latin typeface="+mn-ea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602BE69E-A657-6468-0D9D-586EFF8C9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5553" y="1742280"/>
                <a:ext cx="8080893" cy="1200329"/>
              </a:xfrm>
              <a:prstGeom prst="rect">
                <a:avLst/>
              </a:prstGeom>
              <a:blipFill>
                <a:blip r:embed="rId2"/>
                <a:stretch>
                  <a:fillRect l="-1131" t="-3553" r="-49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>
            <a:extLst>
              <a:ext uri="{FF2B5EF4-FFF2-40B4-BE49-F238E27FC236}">
                <a16:creationId xmlns:a16="http://schemas.microsoft.com/office/drawing/2014/main" id="{31393BC5-2D32-EFBC-C44B-CFCC9D4602EC}"/>
              </a:ext>
            </a:extLst>
          </p:cNvPr>
          <p:cNvSpPr txBox="1"/>
          <p:nvPr/>
        </p:nvSpPr>
        <p:spPr>
          <a:xfrm>
            <a:off x="1507066" y="3583971"/>
            <a:ext cx="636693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ea"/>
              </a:rPr>
              <a:t>求解器的创建及约束添加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ea"/>
              </a:rPr>
              <a:t>位向量符号和常量的创建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ea"/>
              </a:rPr>
              <a:t>基础的位向量运算符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ea"/>
              </a:rPr>
              <a:t>求解是否成功及结果的获取和转换</a:t>
            </a:r>
            <a:endParaRPr lang="en-US" altLang="zh-CN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383302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31447-06A4-14C9-E277-378DBCF13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F85A6F-6CC4-3A37-D3EB-B6C17DE4D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0116"/>
            <a:ext cx="10515600" cy="744072"/>
          </a:xfrm>
        </p:spPr>
        <p:txBody>
          <a:bodyPr>
            <a:normAutofit/>
          </a:bodyPr>
          <a:lstStyle/>
          <a:p>
            <a:pPr algn="ctr"/>
            <a:r>
              <a:rPr lang="zh-CN" altLang="en-US" sz="4000" dirty="0"/>
              <a:t>位向量溢出问题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D73BEC7-B617-A8A9-4D09-14075E4B5DE7}"/>
              </a:ext>
            </a:extLst>
          </p:cNvPr>
          <p:cNvSpPr txBox="1"/>
          <p:nvPr/>
        </p:nvSpPr>
        <p:spPr>
          <a:xfrm>
            <a:off x="4895356" y="70638"/>
            <a:ext cx="2401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CVC5 </a:t>
            </a:r>
            <a:r>
              <a:rPr lang="zh-CN" altLang="en-US" dirty="0"/>
              <a:t>求解问题示例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0DA5CFB-5BD3-7F89-8398-CE8861E373FA}"/>
              </a:ext>
            </a:extLst>
          </p:cNvPr>
          <p:cNvCxnSpPr/>
          <p:nvPr/>
        </p:nvCxnSpPr>
        <p:spPr>
          <a:xfrm>
            <a:off x="0" y="502023"/>
            <a:ext cx="12192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4" name="图形 3">
            <a:extLst>
              <a:ext uri="{FF2B5EF4-FFF2-40B4-BE49-F238E27FC236}">
                <a16:creationId xmlns:a16="http://schemas.microsoft.com/office/drawing/2014/main" id="{163CBE56-668C-8F5D-AD28-76AC9D7E77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1000" y="1742280"/>
            <a:ext cx="2192867" cy="3956050"/>
          </a:xfrm>
          <a:prstGeom prst="rect">
            <a:avLst/>
          </a:prstGeom>
        </p:spPr>
      </p:pic>
      <p:pic>
        <p:nvPicPr>
          <p:cNvPr id="9" name="图形 8">
            <a:extLst>
              <a:ext uri="{FF2B5EF4-FFF2-40B4-BE49-F238E27FC236}">
                <a16:creationId xmlns:a16="http://schemas.microsoft.com/office/drawing/2014/main" id="{DC031C66-CFA2-050B-EEC5-7E2CE67508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70465" y="2209801"/>
            <a:ext cx="5489260" cy="3194463"/>
          </a:xfrm>
          <a:prstGeom prst="rect">
            <a:avLst/>
          </a:prstGeom>
        </p:spPr>
      </p:pic>
      <p:pic>
        <p:nvPicPr>
          <p:cNvPr id="12" name="图形 11">
            <a:extLst>
              <a:ext uri="{FF2B5EF4-FFF2-40B4-BE49-F238E27FC236}">
                <a16:creationId xmlns:a16="http://schemas.microsoft.com/office/drawing/2014/main" id="{E87B8C65-B32D-3C6B-7828-1E455D46643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56323" y="2209801"/>
            <a:ext cx="2981325" cy="3590925"/>
          </a:xfrm>
          <a:prstGeom prst="rect">
            <a:avLst/>
          </a:prstGeom>
        </p:spPr>
      </p:pic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020FEEE4-6D54-DB78-8D3B-33596B69F3A3}"/>
              </a:ext>
            </a:extLst>
          </p:cNvPr>
          <p:cNvCxnSpPr>
            <a:cxnSpLocks/>
          </p:cNvCxnSpPr>
          <p:nvPr/>
        </p:nvCxnSpPr>
        <p:spPr>
          <a:xfrm>
            <a:off x="2455333" y="3720305"/>
            <a:ext cx="482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9EF6AD4D-8A74-12DB-6385-B60A109EFFAC}"/>
              </a:ext>
            </a:extLst>
          </p:cNvPr>
          <p:cNvCxnSpPr>
            <a:cxnSpLocks/>
          </p:cNvCxnSpPr>
          <p:nvPr/>
        </p:nvCxnSpPr>
        <p:spPr>
          <a:xfrm>
            <a:off x="8246533" y="3807032"/>
            <a:ext cx="482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00764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937B7-B0DC-A0C5-1423-C162EACB9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045BBF-8488-0745-C633-B2B187340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0116"/>
            <a:ext cx="10515600" cy="744072"/>
          </a:xfrm>
        </p:spPr>
        <p:txBody>
          <a:bodyPr>
            <a:normAutofit/>
          </a:bodyPr>
          <a:lstStyle/>
          <a:p>
            <a:pPr algn="ctr"/>
            <a:r>
              <a:rPr lang="zh-CN" altLang="en-US" sz="4000" dirty="0"/>
              <a:t>定理证明问题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7938BC1-3727-8C5A-E5AF-21D5C4651EEE}"/>
              </a:ext>
            </a:extLst>
          </p:cNvPr>
          <p:cNvSpPr txBox="1"/>
          <p:nvPr/>
        </p:nvSpPr>
        <p:spPr>
          <a:xfrm>
            <a:off x="4895356" y="70638"/>
            <a:ext cx="2401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CVC5 </a:t>
            </a:r>
            <a:r>
              <a:rPr lang="zh-CN" altLang="en-US" dirty="0"/>
              <a:t>求解问题示例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C9D9E1E9-01ED-DA3E-F93E-C8582D2EECAD}"/>
              </a:ext>
            </a:extLst>
          </p:cNvPr>
          <p:cNvCxnSpPr/>
          <p:nvPr/>
        </p:nvCxnSpPr>
        <p:spPr>
          <a:xfrm>
            <a:off x="0" y="502023"/>
            <a:ext cx="12192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1BD61B6-A6D9-7D41-205A-35A7A3256382}"/>
                  </a:ext>
                </a:extLst>
              </p:cNvPr>
              <p:cNvSpPr txBox="1"/>
              <p:nvPr/>
            </p:nvSpPr>
            <p:spPr>
              <a:xfrm>
                <a:off x="3017284" y="1674547"/>
                <a:ext cx="6033582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zh-CN" altLang="en-US" sz="2400" dirty="0">
                    <a:latin typeface="+mn-ea"/>
                  </a:rPr>
                  <a:t>已知整数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1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&gt;5</m:t>
                    </m:r>
                    <m:r>
                      <a:rPr lang="zh-CN" alt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2400" dirty="0">
                    <a:latin typeface="+mn-ea"/>
                  </a:rPr>
                  <a:t>求证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altLang="zh-CN" sz="2400" i="1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&gt;10</m:t>
                    </m:r>
                    <m:r>
                      <a:rPr lang="zh-CN" alt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。</m:t>
                    </m:r>
                  </m:oMath>
                </a14:m>
                <a:r>
                  <a:rPr lang="zh-CN" altLang="en-US" sz="2400" dirty="0">
                    <a:latin typeface="+mn-ea"/>
                  </a:rPr>
                  <a:t>即证明</a:t>
                </a:r>
                <a:endParaRPr lang="en-US" altLang="zh-CN" sz="2400" dirty="0">
                  <a:latin typeface="+mn-ea"/>
                </a:endParaRPr>
              </a:p>
              <a:p>
                <a:pPr algn="just"/>
                <a:endParaRPr lang="en-US" altLang="zh-CN" sz="2400" dirty="0">
                  <a:latin typeface="+mn-ea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2400" i="1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&gt;5</m:t>
                          </m:r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∧¬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x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&gt;10</m:t>
                          </m:r>
                        </m:e>
                      </m:d>
                    </m:oMath>
                  </m:oMathPara>
                </a14:m>
                <a:endParaRPr lang="en-US" altLang="zh-CN" sz="2400" dirty="0">
                  <a:latin typeface="+mn-ea"/>
                </a:endParaRPr>
              </a:p>
              <a:p>
                <a:pPr algn="just"/>
                <a:endParaRPr lang="en-US" altLang="zh-CN" sz="2400" dirty="0">
                  <a:latin typeface="+mn-ea"/>
                </a:endParaRPr>
              </a:p>
              <a:p>
                <a:pPr algn="just"/>
                <a:r>
                  <a:rPr lang="zh-CN" altLang="en-US" sz="2400" dirty="0">
                    <a:latin typeface="+mn-ea"/>
                  </a:rPr>
                  <a:t>无解。</a:t>
                </a:r>
                <a:endParaRPr lang="en-US" altLang="zh-CN" sz="2400" dirty="0">
                  <a:latin typeface="+mn-ea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1BD61B6-A6D9-7D41-205A-35A7A32563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7284" y="1674547"/>
                <a:ext cx="6033582" cy="1938992"/>
              </a:xfrm>
              <a:prstGeom prst="rect">
                <a:avLst/>
              </a:prstGeom>
              <a:blipFill>
                <a:blip r:embed="rId2"/>
                <a:stretch>
                  <a:fillRect l="-1616" t="-2201" b="-66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>
            <a:extLst>
              <a:ext uri="{FF2B5EF4-FFF2-40B4-BE49-F238E27FC236}">
                <a16:creationId xmlns:a16="http://schemas.microsoft.com/office/drawing/2014/main" id="{F0A06DDD-6A35-2175-2D15-AF56F4870668}"/>
              </a:ext>
            </a:extLst>
          </p:cNvPr>
          <p:cNvSpPr txBox="1"/>
          <p:nvPr/>
        </p:nvSpPr>
        <p:spPr>
          <a:xfrm>
            <a:off x="941327" y="4156237"/>
            <a:ext cx="63669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ea"/>
              </a:rPr>
              <a:t>定理证明问题的建模方案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ea"/>
              </a:rPr>
              <a:t>采用反证法进行定理证明</a:t>
            </a:r>
          </a:p>
        </p:txBody>
      </p:sp>
    </p:spTree>
    <p:extLst>
      <p:ext uri="{BB962C8B-B14F-4D97-AF65-F5344CB8AC3E}">
        <p14:creationId xmlns:p14="http://schemas.microsoft.com/office/powerpoint/2010/main" val="29849550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FCFE6-3054-2C16-E0BB-51FEA5836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9651C2-B60E-C546-CCE4-CB638B39E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0116"/>
            <a:ext cx="10515600" cy="744072"/>
          </a:xfrm>
        </p:spPr>
        <p:txBody>
          <a:bodyPr>
            <a:normAutofit/>
          </a:bodyPr>
          <a:lstStyle/>
          <a:p>
            <a:pPr algn="ctr"/>
            <a:r>
              <a:rPr lang="zh-CN" altLang="en-US" sz="4000" dirty="0"/>
              <a:t>定理证明问题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6891684-FA8A-7CC1-BE67-E75B494B49B6}"/>
              </a:ext>
            </a:extLst>
          </p:cNvPr>
          <p:cNvSpPr txBox="1"/>
          <p:nvPr/>
        </p:nvSpPr>
        <p:spPr>
          <a:xfrm>
            <a:off x="4895356" y="70638"/>
            <a:ext cx="2401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CVC5 </a:t>
            </a:r>
            <a:r>
              <a:rPr lang="zh-CN" altLang="en-US" dirty="0"/>
              <a:t>求解问题示例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7043622-C037-C151-C245-10348CA6CA8D}"/>
              </a:ext>
            </a:extLst>
          </p:cNvPr>
          <p:cNvCxnSpPr/>
          <p:nvPr/>
        </p:nvCxnSpPr>
        <p:spPr>
          <a:xfrm>
            <a:off x="0" y="502023"/>
            <a:ext cx="12192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75AFD25A-8B0B-C714-FE7C-FF3720AA8289}"/>
              </a:ext>
            </a:extLst>
          </p:cNvPr>
          <p:cNvCxnSpPr>
            <a:cxnSpLocks/>
          </p:cNvCxnSpPr>
          <p:nvPr/>
        </p:nvCxnSpPr>
        <p:spPr>
          <a:xfrm>
            <a:off x="2126914" y="3710246"/>
            <a:ext cx="482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48E33157-A3B5-C1D1-2412-E97A5E90BAF6}"/>
              </a:ext>
            </a:extLst>
          </p:cNvPr>
          <p:cNvCxnSpPr>
            <a:cxnSpLocks/>
          </p:cNvCxnSpPr>
          <p:nvPr/>
        </p:nvCxnSpPr>
        <p:spPr>
          <a:xfrm>
            <a:off x="6871651" y="3832432"/>
            <a:ext cx="4249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图形 5">
            <a:extLst>
              <a:ext uri="{FF2B5EF4-FFF2-40B4-BE49-F238E27FC236}">
                <a16:creationId xmlns:a16="http://schemas.microsoft.com/office/drawing/2014/main" id="{D96E9C7B-C5A2-879E-531C-E8167F3EC9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6902" y="1742280"/>
            <a:ext cx="1752727" cy="3552826"/>
          </a:xfrm>
          <a:prstGeom prst="rect">
            <a:avLst/>
          </a:prstGeom>
        </p:spPr>
      </p:pic>
      <p:pic>
        <p:nvPicPr>
          <p:cNvPr id="10" name="图形 9">
            <a:extLst>
              <a:ext uri="{FF2B5EF4-FFF2-40B4-BE49-F238E27FC236}">
                <a16:creationId xmlns:a16="http://schemas.microsoft.com/office/drawing/2014/main" id="{2520E1DC-262E-D3DB-9E21-DF535AB820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92444" y="2214285"/>
            <a:ext cx="4489274" cy="3070442"/>
          </a:xfrm>
          <a:prstGeom prst="rect">
            <a:avLst/>
          </a:prstGeom>
        </p:spPr>
      </p:pic>
      <p:pic>
        <p:nvPicPr>
          <p:cNvPr id="13" name="图形 12">
            <a:extLst>
              <a:ext uri="{FF2B5EF4-FFF2-40B4-BE49-F238E27FC236}">
                <a16:creationId xmlns:a16="http://schemas.microsoft.com/office/drawing/2014/main" id="{879C6595-2CA5-EAB1-2A87-49913C0F4AC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94848" y="2214285"/>
            <a:ext cx="4838700" cy="3552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597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8E0C1-70DD-82F2-56C7-4F5696558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B01846-AA31-4F7D-2C03-0A7D46657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0116"/>
            <a:ext cx="10515600" cy="744072"/>
          </a:xfrm>
        </p:spPr>
        <p:txBody>
          <a:bodyPr>
            <a:normAutofit/>
          </a:bodyPr>
          <a:lstStyle/>
          <a:p>
            <a:pPr algn="ctr"/>
            <a:r>
              <a:rPr lang="zh-CN" altLang="en-US" sz="4000" dirty="0"/>
              <a:t>更复杂的逻辑问题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9D0DC8F-9EE5-47AD-6B5B-21A9BC777D02}"/>
              </a:ext>
            </a:extLst>
          </p:cNvPr>
          <p:cNvSpPr txBox="1"/>
          <p:nvPr/>
        </p:nvSpPr>
        <p:spPr>
          <a:xfrm>
            <a:off x="4895356" y="70638"/>
            <a:ext cx="2401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CVC5 </a:t>
            </a:r>
            <a:r>
              <a:rPr lang="zh-CN" altLang="en-US" dirty="0"/>
              <a:t>求解问题示例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9222A763-2942-DCDB-AF6D-008A2C042C18}"/>
              </a:ext>
            </a:extLst>
          </p:cNvPr>
          <p:cNvCxnSpPr/>
          <p:nvPr/>
        </p:nvCxnSpPr>
        <p:spPr>
          <a:xfrm>
            <a:off x="0" y="502023"/>
            <a:ext cx="12192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8FDC6A54-088F-6B34-32C7-766077EF27CB}"/>
              </a:ext>
            </a:extLst>
          </p:cNvPr>
          <p:cNvSpPr txBox="1"/>
          <p:nvPr/>
        </p:nvSpPr>
        <p:spPr>
          <a:xfrm>
            <a:off x="1236133" y="1538879"/>
            <a:ext cx="92286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+mn-ea"/>
              </a:rPr>
              <a:t>有五间房子，排成一排，每间房子颜色不同，住着不同国籍的人，每个人喝不同的饮料，抽不同牌子的烟，养不同的宠物，已知：</a:t>
            </a:r>
            <a:endParaRPr lang="en-US" altLang="zh-CN" sz="2400" dirty="0">
              <a:latin typeface="+mn-ea"/>
            </a:endParaRPr>
          </a:p>
          <a:p>
            <a:endParaRPr lang="en-US" altLang="zh-CN" sz="2400" dirty="0">
              <a:latin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B23E5C3-0D75-03A7-EA94-89662FF0907B}"/>
              </a:ext>
            </a:extLst>
          </p:cNvPr>
          <p:cNvSpPr txBox="1"/>
          <p:nvPr/>
        </p:nvSpPr>
        <p:spPr>
          <a:xfrm>
            <a:off x="1236133" y="2595299"/>
            <a:ext cx="433493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AutoNum type="arabicPeriod"/>
            </a:pPr>
            <a:r>
              <a:rPr lang="zh-CN" altLang="en-US" sz="2400" dirty="0">
                <a:latin typeface="+mn-ea"/>
              </a:rPr>
              <a:t>英国人住红色房子</a:t>
            </a:r>
            <a:endParaRPr lang="en-US" altLang="zh-CN" sz="2400" dirty="0">
              <a:latin typeface="+mn-ea"/>
            </a:endParaRPr>
          </a:p>
          <a:p>
            <a:pPr marL="342900" indent="-342900" algn="just">
              <a:buAutoNum type="arabicPeriod"/>
            </a:pPr>
            <a:r>
              <a:rPr lang="zh-CN" altLang="en-US" sz="2400" dirty="0">
                <a:latin typeface="+mn-ea"/>
              </a:rPr>
              <a:t>瑞典人养狗</a:t>
            </a:r>
            <a:endParaRPr lang="en-US" altLang="zh-CN" sz="2400" dirty="0">
              <a:latin typeface="+mn-ea"/>
            </a:endParaRPr>
          </a:p>
          <a:p>
            <a:pPr marL="342900" indent="-342900" algn="just">
              <a:buAutoNum type="arabicPeriod"/>
            </a:pPr>
            <a:r>
              <a:rPr lang="zh-CN" altLang="en-US" sz="2400" dirty="0">
                <a:latin typeface="+mn-ea"/>
              </a:rPr>
              <a:t>丹麦人喝茶</a:t>
            </a:r>
            <a:endParaRPr lang="en-US" altLang="zh-CN" sz="2400" dirty="0">
              <a:latin typeface="+mn-ea"/>
            </a:endParaRPr>
          </a:p>
          <a:p>
            <a:pPr marL="342900" indent="-342900" algn="just">
              <a:buAutoNum type="arabicPeriod"/>
            </a:pPr>
            <a:r>
              <a:rPr lang="zh-CN" altLang="en-US" sz="2400" dirty="0">
                <a:latin typeface="+mn-ea"/>
              </a:rPr>
              <a:t>绿色房子在白色房子左边</a:t>
            </a:r>
            <a:endParaRPr lang="en-US" altLang="zh-CN" sz="2400" dirty="0">
              <a:latin typeface="+mn-ea"/>
            </a:endParaRPr>
          </a:p>
          <a:p>
            <a:pPr marL="342900" indent="-342900" algn="just">
              <a:buAutoNum type="arabicPeriod"/>
            </a:pPr>
            <a:r>
              <a:rPr lang="zh-CN" altLang="en-US" sz="2400" dirty="0">
                <a:latin typeface="+mn-ea"/>
              </a:rPr>
              <a:t>绿色房子主人喝咖啡</a:t>
            </a:r>
            <a:endParaRPr lang="en-US" altLang="zh-CN" sz="2400" dirty="0">
              <a:latin typeface="+mn-ea"/>
            </a:endParaRPr>
          </a:p>
          <a:p>
            <a:pPr marL="342900" indent="-342900" algn="just">
              <a:buAutoNum type="arabicPeriod"/>
            </a:pPr>
            <a:r>
              <a:rPr lang="zh-CN" altLang="en-US" sz="2400" dirty="0">
                <a:latin typeface="+mn-ea"/>
              </a:rPr>
              <a:t>抽 </a:t>
            </a:r>
            <a:r>
              <a:rPr lang="en-US" altLang="zh-CN" sz="2400" dirty="0">
                <a:latin typeface="+mn-ea"/>
              </a:rPr>
              <a:t>Pall Mall </a:t>
            </a:r>
            <a:r>
              <a:rPr lang="zh-CN" altLang="en-US" sz="2400" dirty="0">
                <a:latin typeface="+mn-ea"/>
              </a:rPr>
              <a:t>烟的人养鸟</a:t>
            </a:r>
            <a:endParaRPr lang="en-US" altLang="zh-CN" sz="2400" dirty="0">
              <a:latin typeface="+mn-ea"/>
            </a:endParaRPr>
          </a:p>
          <a:p>
            <a:pPr marL="342900" indent="-342900" algn="just">
              <a:buAutoNum type="arabicPeriod"/>
            </a:pPr>
            <a:r>
              <a:rPr lang="zh-CN" altLang="en-US" sz="2400" dirty="0">
                <a:latin typeface="+mn-ea"/>
              </a:rPr>
              <a:t>黄色房子主任抽 </a:t>
            </a:r>
            <a:r>
              <a:rPr lang="en-US" altLang="zh-CN" sz="2400" dirty="0">
                <a:latin typeface="+mn-ea"/>
              </a:rPr>
              <a:t>Dunhill </a:t>
            </a:r>
            <a:r>
              <a:rPr lang="zh-CN" altLang="en-US" sz="2400" dirty="0">
                <a:latin typeface="+mn-ea"/>
              </a:rPr>
              <a:t>烟</a:t>
            </a:r>
            <a:endParaRPr lang="en-US" altLang="zh-CN" sz="2400" dirty="0">
              <a:latin typeface="+mn-ea"/>
            </a:endParaRPr>
          </a:p>
          <a:p>
            <a:pPr marL="342900" indent="-342900" algn="just">
              <a:buAutoNum type="arabicPeriod"/>
            </a:pPr>
            <a:r>
              <a:rPr lang="zh-CN" altLang="en-US" sz="2400" dirty="0">
                <a:latin typeface="+mn-ea"/>
              </a:rPr>
              <a:t>住在中间房子的人喝牛奶</a:t>
            </a:r>
            <a:endParaRPr lang="en-US" altLang="zh-CN" sz="2400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2CC830F-E11B-2597-893E-2A13235E009F}"/>
              </a:ext>
            </a:extLst>
          </p:cNvPr>
          <p:cNvSpPr txBox="1"/>
          <p:nvPr/>
        </p:nvSpPr>
        <p:spPr>
          <a:xfrm>
            <a:off x="6002866" y="2603606"/>
            <a:ext cx="535093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+mj-lt"/>
              <a:buAutoNum type="arabicPeriod" startAt="9"/>
            </a:pPr>
            <a:r>
              <a:rPr lang="zh-CN" altLang="en-US" sz="2400" dirty="0">
                <a:latin typeface="+mn-ea"/>
              </a:rPr>
              <a:t>挪威人住第一间房</a:t>
            </a:r>
            <a:endParaRPr lang="en-US" altLang="zh-CN" sz="2400" dirty="0">
              <a:latin typeface="+mn-ea"/>
            </a:endParaRPr>
          </a:p>
          <a:p>
            <a:pPr marL="342900" indent="-342900" algn="just">
              <a:buFont typeface="+mj-lt"/>
              <a:buAutoNum type="arabicPeriod" startAt="9"/>
            </a:pPr>
            <a:r>
              <a:rPr lang="zh-CN" altLang="en-US" sz="2400" dirty="0">
                <a:latin typeface="+mn-ea"/>
              </a:rPr>
              <a:t>抽 </a:t>
            </a:r>
            <a:r>
              <a:rPr lang="en-US" altLang="zh-CN" sz="2400" dirty="0">
                <a:latin typeface="+mn-ea"/>
              </a:rPr>
              <a:t>Blends </a:t>
            </a:r>
            <a:r>
              <a:rPr lang="zh-CN" altLang="en-US" sz="2400" dirty="0">
                <a:latin typeface="+mn-ea"/>
              </a:rPr>
              <a:t>烟的人住在养猫的人隔壁</a:t>
            </a:r>
            <a:endParaRPr lang="en-US" altLang="zh-CN" sz="2400" dirty="0">
              <a:latin typeface="+mn-ea"/>
            </a:endParaRPr>
          </a:p>
          <a:p>
            <a:pPr marL="342900" indent="-342900" algn="just">
              <a:buAutoNum type="arabicPeriod" startAt="9"/>
            </a:pPr>
            <a:r>
              <a:rPr lang="zh-CN" altLang="en-US" sz="2400" dirty="0">
                <a:latin typeface="+mn-ea"/>
              </a:rPr>
              <a:t>养马的人住在抽 </a:t>
            </a:r>
            <a:r>
              <a:rPr lang="en-US" altLang="zh-CN" sz="2400" dirty="0">
                <a:latin typeface="+mn-ea"/>
              </a:rPr>
              <a:t>Dunhill </a:t>
            </a:r>
            <a:r>
              <a:rPr lang="zh-CN" altLang="en-US" sz="2400" dirty="0">
                <a:latin typeface="+mn-ea"/>
              </a:rPr>
              <a:t>烟的人隔壁</a:t>
            </a:r>
            <a:endParaRPr lang="en-US" altLang="zh-CN" sz="2400" dirty="0">
              <a:latin typeface="+mn-ea"/>
            </a:endParaRPr>
          </a:p>
          <a:p>
            <a:pPr marL="342900" indent="-342900" algn="just">
              <a:buAutoNum type="arabicPeriod" startAt="9"/>
            </a:pPr>
            <a:r>
              <a:rPr lang="zh-CN" altLang="en-US" sz="2400" dirty="0">
                <a:latin typeface="+mn-ea"/>
              </a:rPr>
              <a:t>抽 </a:t>
            </a:r>
            <a:r>
              <a:rPr lang="en-US" altLang="zh-CN" sz="2400" dirty="0">
                <a:latin typeface="+mn-ea"/>
              </a:rPr>
              <a:t>Blue Master </a:t>
            </a:r>
            <a:r>
              <a:rPr lang="zh-CN" altLang="en-US" sz="2400" dirty="0">
                <a:latin typeface="+mn-ea"/>
              </a:rPr>
              <a:t>烟的人喝啤酒</a:t>
            </a:r>
            <a:endParaRPr lang="en-US" altLang="zh-CN" sz="2400" dirty="0">
              <a:latin typeface="+mn-ea"/>
            </a:endParaRPr>
          </a:p>
          <a:p>
            <a:pPr marL="342900" indent="-342900" algn="just">
              <a:buAutoNum type="arabicPeriod" startAt="9"/>
            </a:pPr>
            <a:r>
              <a:rPr lang="zh-CN" altLang="en-US" sz="2400" dirty="0">
                <a:latin typeface="+mn-ea"/>
              </a:rPr>
              <a:t>德国人抽 </a:t>
            </a:r>
            <a:r>
              <a:rPr lang="en-US" altLang="zh-CN" sz="2400" dirty="0">
                <a:latin typeface="+mn-ea"/>
              </a:rPr>
              <a:t>Prince </a:t>
            </a:r>
            <a:r>
              <a:rPr lang="zh-CN" altLang="en-US" sz="2400" dirty="0">
                <a:latin typeface="+mn-ea"/>
              </a:rPr>
              <a:t>烟</a:t>
            </a:r>
            <a:endParaRPr lang="en-US" altLang="zh-CN" sz="2400" dirty="0">
              <a:latin typeface="+mn-ea"/>
            </a:endParaRPr>
          </a:p>
          <a:p>
            <a:pPr marL="342900" indent="-342900" algn="just">
              <a:buAutoNum type="arabicPeriod" startAt="9"/>
            </a:pPr>
            <a:r>
              <a:rPr lang="zh-CN" altLang="en-US" sz="2400" dirty="0">
                <a:latin typeface="+mn-ea"/>
              </a:rPr>
              <a:t>挪威人住在蓝色房子隔壁</a:t>
            </a:r>
            <a:endParaRPr lang="en-US" altLang="zh-CN" sz="2400" dirty="0">
              <a:latin typeface="+mn-ea"/>
            </a:endParaRPr>
          </a:p>
          <a:p>
            <a:pPr marL="342900" indent="-342900" algn="just">
              <a:buAutoNum type="arabicPeriod" startAt="9"/>
            </a:pPr>
            <a:r>
              <a:rPr lang="zh-CN" altLang="en-US" sz="2400" dirty="0">
                <a:latin typeface="+mn-ea"/>
              </a:rPr>
              <a:t>抽 </a:t>
            </a:r>
            <a:r>
              <a:rPr lang="en-US" altLang="zh-CN" sz="2400" dirty="0">
                <a:latin typeface="+mn-ea"/>
              </a:rPr>
              <a:t>Blends </a:t>
            </a:r>
            <a:r>
              <a:rPr lang="zh-CN" altLang="en-US" sz="2400" dirty="0">
                <a:latin typeface="+mn-ea"/>
              </a:rPr>
              <a:t>烟的人有一个喝水的邻居</a:t>
            </a:r>
            <a:endParaRPr lang="en-US" altLang="zh-CN" sz="2400" dirty="0">
              <a:latin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A3878E7-A1A4-65B5-5462-7B855DCF531F}"/>
              </a:ext>
            </a:extLst>
          </p:cNvPr>
          <p:cNvSpPr txBox="1"/>
          <p:nvPr/>
        </p:nvSpPr>
        <p:spPr>
          <a:xfrm>
            <a:off x="1236133" y="5764279"/>
            <a:ext cx="92286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+mn-ea"/>
              </a:rPr>
              <a:t>求解：谁养斑马</a:t>
            </a:r>
            <a:endParaRPr lang="en-US" altLang="zh-CN" sz="2400" dirty="0">
              <a:latin typeface="+mn-ea"/>
            </a:endParaRPr>
          </a:p>
          <a:p>
            <a:endParaRPr lang="en-US" altLang="zh-CN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33671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7889D-AE12-4921-5F2F-514FD1222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93D300-11D2-A200-9096-205283C2B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0116"/>
            <a:ext cx="10515600" cy="744072"/>
          </a:xfrm>
        </p:spPr>
        <p:txBody>
          <a:bodyPr>
            <a:normAutofit/>
          </a:bodyPr>
          <a:lstStyle/>
          <a:p>
            <a:pPr algn="ctr"/>
            <a:r>
              <a:rPr lang="zh-CN" altLang="en-US" sz="4000" dirty="0"/>
              <a:t>斑马谜题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DC1E1E-7A8D-6251-1BC2-0CEE24E29770}"/>
              </a:ext>
            </a:extLst>
          </p:cNvPr>
          <p:cNvSpPr txBox="1"/>
          <p:nvPr/>
        </p:nvSpPr>
        <p:spPr>
          <a:xfrm>
            <a:off x="4895356" y="70638"/>
            <a:ext cx="2401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CVC5 </a:t>
            </a:r>
            <a:r>
              <a:rPr lang="zh-CN" altLang="en-US" dirty="0"/>
              <a:t>求解问题示例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C337CC40-46A4-0BF5-2188-D66F97F83600}"/>
              </a:ext>
            </a:extLst>
          </p:cNvPr>
          <p:cNvCxnSpPr/>
          <p:nvPr/>
        </p:nvCxnSpPr>
        <p:spPr>
          <a:xfrm>
            <a:off x="0" y="502023"/>
            <a:ext cx="12192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6" name="图形 5">
            <a:extLst>
              <a:ext uri="{FF2B5EF4-FFF2-40B4-BE49-F238E27FC236}">
                <a16:creationId xmlns:a16="http://schemas.microsoft.com/office/drawing/2014/main" id="{51A8ACDC-90A0-DCBC-6803-8F4421A0F9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335" y="2330980"/>
            <a:ext cx="4476750" cy="2876550"/>
          </a:xfrm>
          <a:prstGeom prst="rect">
            <a:avLst/>
          </a:prstGeom>
        </p:spPr>
      </p:pic>
      <p:pic>
        <p:nvPicPr>
          <p:cNvPr id="10" name="图形 9">
            <a:extLst>
              <a:ext uri="{FF2B5EF4-FFF2-40B4-BE49-F238E27FC236}">
                <a16:creationId xmlns:a16="http://schemas.microsoft.com/office/drawing/2014/main" id="{D7697173-0EA3-ADEB-C151-54ED28EFFB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91642" y="2280180"/>
            <a:ext cx="2181225" cy="3209925"/>
          </a:xfrm>
          <a:prstGeom prst="rect">
            <a:avLst/>
          </a:prstGeom>
        </p:spPr>
      </p:pic>
      <p:pic>
        <p:nvPicPr>
          <p:cNvPr id="13" name="图形 12">
            <a:extLst>
              <a:ext uri="{FF2B5EF4-FFF2-40B4-BE49-F238E27FC236}">
                <a16:creationId xmlns:a16="http://schemas.microsoft.com/office/drawing/2014/main" id="{61E5CD33-3A72-BCD8-ED0F-05688AE0623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59424" y="1863305"/>
            <a:ext cx="4304241" cy="4343639"/>
          </a:xfrm>
          <a:prstGeom prst="rect">
            <a:avLst/>
          </a:prstGeom>
        </p:spPr>
      </p:pic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8B7F3F1A-77AD-890E-BD78-47D39678F311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4705085" y="3769255"/>
            <a:ext cx="4934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2BAB547A-61B9-CA41-C01B-4A50E6D2F3E6}"/>
              </a:ext>
            </a:extLst>
          </p:cNvPr>
          <p:cNvCxnSpPr>
            <a:cxnSpLocks/>
          </p:cNvCxnSpPr>
          <p:nvPr/>
        </p:nvCxnSpPr>
        <p:spPr>
          <a:xfrm>
            <a:off x="7165976" y="3693055"/>
            <a:ext cx="4934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45953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4105</TotalTime>
  <Words>917</Words>
  <Application>Microsoft Office PowerPoint</Application>
  <PresentationFormat>宽屏</PresentationFormat>
  <Paragraphs>133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2" baseType="lpstr">
      <vt:lpstr>等线</vt:lpstr>
      <vt:lpstr>等线 Light</vt:lpstr>
      <vt:lpstr>Arial</vt:lpstr>
      <vt:lpstr>Cambria Math</vt:lpstr>
      <vt:lpstr>Office 主题​​</vt:lpstr>
      <vt:lpstr> 高效的开源自动定理证明器 Efficient Open-Source SMT Solver</vt:lpstr>
      <vt:lpstr>概述</vt:lpstr>
      <vt:lpstr>SMT 问题及应用领域</vt:lpstr>
      <vt:lpstr>SMT：可满足性模理论</vt:lpstr>
      <vt:lpstr>CVC5 系统架构</vt:lpstr>
      <vt:lpstr>SMT Solver</vt:lpstr>
      <vt:lpstr>核心扩展层</vt:lpstr>
      <vt:lpstr>基础服务层</vt:lpstr>
      <vt:lpstr>基本算数问题</vt:lpstr>
      <vt:lpstr>基本逻辑问题</vt:lpstr>
      <vt:lpstr>基本逻辑问题</vt:lpstr>
      <vt:lpstr>位向量溢出问题</vt:lpstr>
      <vt:lpstr>位向量溢出问题</vt:lpstr>
      <vt:lpstr>定理证明问题</vt:lpstr>
      <vt:lpstr>定理证明问题</vt:lpstr>
      <vt:lpstr>更复杂的逻辑问题</vt:lpstr>
      <vt:lpstr>斑马谜题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 Super Resolution via Iterative Refinement 利用迭代细化实现图像超分辨率</dc:title>
  <dc:creator>梵煜 薛</dc:creator>
  <cp:lastModifiedBy>志强 胡</cp:lastModifiedBy>
  <cp:revision>11</cp:revision>
  <dcterms:created xsi:type="dcterms:W3CDTF">2023-12-09T13:48:41Z</dcterms:created>
  <dcterms:modified xsi:type="dcterms:W3CDTF">2025-12-13T14:58:19Z</dcterms:modified>
</cp:coreProperties>
</file>