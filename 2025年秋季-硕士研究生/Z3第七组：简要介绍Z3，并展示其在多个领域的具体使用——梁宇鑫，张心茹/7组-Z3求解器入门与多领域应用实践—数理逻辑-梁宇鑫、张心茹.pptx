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7" r:id="rId4"/>
    <p:sldId id="262" r:id="rId5"/>
    <p:sldId id="261" r:id="rId6"/>
    <p:sldId id="268" r:id="rId7"/>
    <p:sldId id="267" r:id="rId8"/>
    <p:sldId id="270" r:id="rId9"/>
    <p:sldId id="271" r:id="rId10"/>
    <p:sldId id="266" r:id="rId11"/>
    <p:sldId id="273" r:id="rId12"/>
    <p:sldId id="274" r:id="rId13"/>
    <p:sldId id="275" r:id="rId14"/>
    <p:sldId id="276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79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4.xml"/><Relationship Id="rId18" Type="http://schemas.openxmlformats.org/officeDocument/2006/relationships/tags" Target="../tags/tag73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alphaModFix amt="14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78765-80AB-4232-8B24-10519C151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BEEDB-AC50-479F-9C8D-98D693D49331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2"/>
          <p:cNvSpPr txBox="1"/>
          <p:nvPr userDrawn="1">
            <p:custDataLst>
              <p:tags r:id="rId18"/>
            </p:custDataLst>
          </p:nvPr>
        </p:nvSpPr>
        <p:spPr>
          <a:xfrm>
            <a:off x="5339" y="6321366"/>
            <a:ext cx="3600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厚德、求真、砺学、笃行</a:t>
            </a:r>
            <a:endParaRPr lang="zh-CN" altLang="en-US" sz="2400" dirty="0">
              <a:solidFill>
                <a:srgbClr val="8C1515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400" y="115116"/>
            <a:ext cx="2351584" cy="6380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5" Type="http://schemas.openxmlformats.org/officeDocument/2006/relationships/slideLayout" Target="../slideLayouts/slideLayout7.xml"/><Relationship Id="rId14" Type="http://schemas.microsoft.com/office/2007/relationships/hdphoto" Target="../media/image4.wdp"/><Relationship Id="rId13" Type="http://schemas.openxmlformats.org/officeDocument/2006/relationships/image" Target="../media/image3.png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tags" Target="../tags/tag7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8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9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0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1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2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3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4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" Type="http://schemas.openxmlformats.org/officeDocument/2006/relationships/tags" Target="../tags/tag15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8.png"/><Relationship Id="rId10" Type="http://schemas.openxmlformats.org/officeDocument/2006/relationships/image" Target="../media/image7.png"/><Relationship Id="rId1" Type="http://schemas.openxmlformats.org/officeDocument/2006/relationships/tags" Target="../tags/tag15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tags" Target="../tags/tag16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tags" Target="../tags/tag17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94.xml"/><Relationship Id="rId8" Type="http://schemas.openxmlformats.org/officeDocument/2006/relationships/tags" Target="../tags/tag193.xml"/><Relationship Id="rId7" Type="http://schemas.openxmlformats.org/officeDocument/2006/relationships/tags" Target="../tags/tag192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-86360" y="0"/>
            <a:ext cx="12278360" cy="4903470"/>
          </a:xfrm>
          <a:prstGeom prst="rect">
            <a:avLst/>
          </a:prstGeom>
          <a:solidFill>
            <a:srgbClr val="961318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2388937" y="6230473"/>
            <a:ext cx="5189337" cy="337185"/>
            <a:chOff x="415917" y="6056049"/>
            <a:chExt cx="5189337" cy="337185"/>
          </a:xfrm>
        </p:grpSpPr>
        <p:sp>
          <p:nvSpPr>
            <p:cNvPr id="4" name="TextBox 14"/>
            <p:cNvSpPr txBox="1"/>
            <p:nvPr>
              <p:custDataLst>
                <p:tags r:id="rId3"/>
              </p:custDataLst>
            </p:nvPr>
          </p:nvSpPr>
          <p:spPr>
            <a:xfrm>
              <a:off x="415917" y="6056049"/>
              <a:ext cx="309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1600" b="1" dirty="0">
                <a:solidFill>
                  <a:srgbClr val="961318"/>
                </a:solidFill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5" name="TextBox 28"/>
            <p:cNvSpPr txBox="1"/>
            <p:nvPr>
              <p:custDataLst>
                <p:tags r:id="rId4"/>
              </p:custDataLst>
            </p:nvPr>
          </p:nvSpPr>
          <p:spPr>
            <a:xfrm>
              <a:off x="2741384" y="6056049"/>
              <a:ext cx="309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1600" b="1" dirty="0">
                <a:solidFill>
                  <a:srgbClr val="961318"/>
                </a:solidFill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6" name="TextBox 90"/>
            <p:cNvSpPr txBox="1"/>
            <p:nvPr>
              <p:custDataLst>
                <p:tags r:id="rId5"/>
              </p:custDataLst>
            </p:nvPr>
          </p:nvSpPr>
          <p:spPr>
            <a:xfrm>
              <a:off x="5295374" y="6056049"/>
              <a:ext cx="309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1600" b="1" dirty="0">
                <a:solidFill>
                  <a:srgbClr val="961318"/>
                </a:solidFill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</p:grpSp>
      <p:grpSp>
        <p:nvGrpSpPr>
          <p:cNvPr id="7" name="Group 15"/>
          <p:cNvGrpSpPr/>
          <p:nvPr>
            <p:custDataLst>
              <p:tags r:id="rId6"/>
            </p:custDataLst>
          </p:nvPr>
        </p:nvGrpSpPr>
        <p:grpSpPr>
          <a:xfrm>
            <a:off x="55246" y="1372235"/>
            <a:ext cx="12215445" cy="2908391"/>
            <a:chOff x="-1504285" y="2181295"/>
            <a:chExt cx="10824150" cy="2908391"/>
          </a:xfrm>
        </p:grpSpPr>
        <p:sp>
          <p:nvSpPr>
            <p:cNvPr id="8" name="Rectangle 9"/>
            <p:cNvSpPr/>
            <p:nvPr>
              <p:custDataLst>
                <p:tags r:id="rId7"/>
              </p:custDataLst>
            </p:nvPr>
          </p:nvSpPr>
          <p:spPr>
            <a:xfrm>
              <a:off x="-1049738" y="2181295"/>
              <a:ext cx="9915055" cy="177800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/>
              <a:r>
                <a:rPr lang="en-US" altLang="zh-CN" sz="54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Z3 </a:t>
              </a:r>
              <a:r>
                <a:rPr lang="zh-CN" altLang="en-US" sz="54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求解器入门与多领域应用实践</a:t>
              </a:r>
              <a:endParaRPr lang="zh-CN" altLang="en-US" sz="54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endParaRPr>
            </a:p>
            <a:p>
              <a:pPr algn="ctr"/>
              <a:r>
                <a:rPr lang="en-US" altLang="zh-CN" sz="54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———— </a:t>
              </a:r>
              <a:r>
                <a:rPr lang="zh-CN" altLang="en-US" sz="54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强大的</a:t>
              </a:r>
              <a:r>
                <a:rPr lang="en-US" altLang="zh-CN" sz="54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 SMT </a:t>
              </a:r>
              <a:r>
                <a:rPr lang="zh-CN" altLang="en-US" sz="54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求解利器</a:t>
              </a:r>
              <a:endParaRPr lang="zh-CN" altLang="en-US" sz="54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endParaRPr>
            </a:p>
            <a:p>
              <a:pPr algn="ctr"/>
              <a:endParaRPr lang="zh-CN" altLang="en-US" sz="36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endParaRPr>
            </a:p>
            <a:p>
              <a:pPr algn="ctr"/>
              <a:r>
                <a:rPr lang="zh-CN" altLang="en-US" sz="36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 </a:t>
              </a:r>
              <a:r>
                <a:rPr lang="en-US" altLang="zh-CN" sz="36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                                   </a:t>
              </a:r>
              <a:r>
                <a:rPr lang="zh-CN" altLang="en-US" sz="36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第</a:t>
              </a:r>
              <a:r>
                <a:rPr lang="zh-CN" altLang="en-US" sz="36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二小组成员：张心茹</a:t>
              </a:r>
              <a:r>
                <a:rPr lang="en-US" altLang="zh-CN" sz="36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 </a:t>
              </a:r>
              <a:r>
                <a:rPr lang="zh-CN" altLang="en-US" sz="36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梁宇鑫</a:t>
              </a:r>
              <a:endParaRPr lang="zh-CN" altLang="en-US" sz="54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endParaRPr>
            </a:p>
            <a:p>
              <a:pPr algn="ctr"/>
              <a:endParaRPr lang="zh-CN" altLang="en-US" sz="2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endParaRPr>
            </a:p>
            <a:p>
              <a:pPr algn="ctr"/>
              <a:endParaRPr lang="zh-CN" altLang="en-US" sz="44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9" name="Rectangle 10"/>
            <p:cNvSpPr/>
            <p:nvPr>
              <p:custDataLst>
                <p:tags r:id="rId8"/>
              </p:custDataLst>
            </p:nvPr>
          </p:nvSpPr>
          <p:spPr>
            <a:xfrm>
              <a:off x="-1504285" y="4690906"/>
              <a:ext cx="10824150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zh-CN" altLang="en-US" sz="2000" b="1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cxnSp>
        <p:nvCxnSpPr>
          <p:cNvPr id="10" name="直接连接符 9"/>
          <p:cNvCxnSpPr/>
          <p:nvPr>
            <p:custDataLst>
              <p:tags r:id="rId9"/>
            </p:custDataLst>
          </p:nvPr>
        </p:nvCxnSpPr>
        <p:spPr>
          <a:xfrm flipV="1">
            <a:off x="-541722" y="5529572"/>
            <a:ext cx="5256126" cy="1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>
            <p:custDataLst>
              <p:tags r:id="rId10"/>
            </p:custDataLst>
          </p:nvPr>
        </p:nvCxnSpPr>
        <p:spPr>
          <a:xfrm>
            <a:off x="7601791" y="5529572"/>
            <a:ext cx="5446002" cy="0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sp>
        <p:nvSpPr>
          <p:cNvPr id="13" name="文本框 8"/>
          <p:cNvSpPr txBox="1"/>
          <p:nvPr>
            <p:custDataLst>
              <p:tags r:id="rId11"/>
            </p:custDataLst>
          </p:nvPr>
        </p:nvSpPr>
        <p:spPr>
          <a:xfrm>
            <a:off x="4749829" y="5326025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厚德 求真 砺学 笃行</a:t>
            </a:r>
            <a:endParaRPr lang="zh-CN" altLang="en-US" dirty="0">
              <a:solidFill>
                <a:srgbClr val="8C1515"/>
              </a:solidFill>
              <a:latin typeface="华文行楷" panose="02010800040101010101" pitchFamily="2" charset="-122"/>
              <a:ea typeface="华文行楷" panose="02010800040101010101" pitchFamily="2" charset="-122"/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016" y="271780"/>
            <a:ext cx="3766068" cy="10217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55986" y="230933"/>
            <a:ext cx="11521279" cy="6589041"/>
            <a:chOff x="335361" y="116633"/>
            <a:chExt cx="11521279" cy="6589041"/>
          </a:xfrm>
        </p:grpSpPr>
        <p:grpSp>
          <p:nvGrpSpPr>
            <p:cNvPr id="3" name="组合 2"/>
            <p:cNvGrpSpPr/>
            <p:nvPr>
              <p:custDataLst>
                <p:tags r:id="rId2"/>
              </p:custDataLst>
            </p:nvPr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>
                <p:custDataLst>
                  <p:tags r:id="rId3"/>
                </p:custDataLst>
              </p:nvPr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>
                <p:custDataLst>
                  <p:tags r:id="rId4"/>
                </p:custDataLst>
              </p:nvPr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>
              <p:custDataLst>
                <p:tags r:id="rId5"/>
              </p:custDataLst>
            </p:nvPr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>
              <p:custDataLst>
                <p:tags r:id="rId6"/>
              </p:custDataLst>
            </p:nvPr>
          </p:nvSpPr>
          <p:spPr>
            <a:xfrm>
              <a:off x="1127448" y="193957"/>
              <a:ext cx="5574566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en-US" altLang="zh-CN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sym typeface="+mn-ea"/>
                </a:rPr>
                <a:t>z3</a:t>
              </a:r>
              <a:r>
                <a:rPr lang="zh-CN" altLang="en-US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sym typeface="+mn-ea"/>
                </a:rPr>
                <a:t>介绍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0805366" y="642867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1" name="圆角矩形 6"/>
          <p:cNvSpPr/>
          <p:nvPr>
            <p:custDataLst>
              <p:tags r:id="rId8"/>
            </p:custDataLst>
          </p:nvPr>
        </p:nvSpPr>
        <p:spPr>
          <a:xfrm>
            <a:off x="413878" y="1019284"/>
            <a:ext cx="3177540" cy="490220"/>
          </a:xfrm>
          <a:prstGeom prst="roundRect">
            <a:avLst>
              <a:gd name="adj" fmla="val 37046"/>
            </a:avLst>
          </a:prstGeom>
          <a:gradFill>
            <a:gsLst>
              <a:gs pos="53000">
                <a:srgbClr val="961318"/>
              </a:gs>
              <a:gs pos="95000">
                <a:srgbClr val="961318">
                  <a:alpha val="0"/>
                </a:srgbClr>
              </a:gs>
              <a:gs pos="0">
                <a:srgbClr val="961318"/>
              </a:gs>
            </a:gsLst>
            <a:lin ang="20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z3</a:t>
            </a: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能解决的</a:t>
            </a: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</a:t>
            </a:r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254635" y="1739900"/>
            <a:ext cx="11937365" cy="3780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b="1" dirty="0"/>
              <a:t>什么是</a:t>
            </a:r>
            <a:r>
              <a:rPr lang="en-US" altLang="zh-CN" sz="2800" b="1" dirty="0">
                <a:sym typeface="+mn-ea"/>
              </a:rPr>
              <a:t>z3</a:t>
            </a:r>
            <a:r>
              <a:rPr lang="zh-CN" altLang="en-US" sz="2800" b="1" dirty="0"/>
              <a:t>？它能解决什么问题？</a:t>
            </a:r>
            <a:endParaRPr lang="en-US" altLang="zh-CN" sz="2800" b="1" dirty="0"/>
          </a:p>
          <a:p>
            <a:endParaRPr lang="zh-CN" altLang="en-US" sz="2800" b="1" dirty="0"/>
          </a:p>
          <a:p>
            <a:r>
              <a:rPr lang="en-US" altLang="zh-CN" sz="2800" dirty="0"/>
              <a:t> </a:t>
            </a:r>
            <a:r>
              <a:rPr lang="zh-CN" altLang="en-US" sz="2800" b="1" dirty="0"/>
              <a:t>Z3 是什么？</a:t>
            </a:r>
            <a:endParaRPr lang="zh-CN" altLang="en-US" sz="2800" dirty="0"/>
          </a:p>
          <a:p>
            <a:r>
              <a:rPr lang="zh-CN" altLang="en-US" sz="2800" dirty="0"/>
              <a:t>微软研究院开发的一款强大的</a:t>
            </a:r>
            <a:r>
              <a:rPr lang="en-US" altLang="zh-CN" sz="2800" dirty="0"/>
              <a:t> SMT (Satisfiability Modulo Theories) </a:t>
            </a:r>
            <a:r>
              <a:rPr lang="zh-CN" altLang="en-US" sz="2800" dirty="0"/>
              <a:t>求解器。</a:t>
            </a:r>
            <a:endParaRPr lang="zh-CN" altLang="en-US" sz="2800" dirty="0"/>
          </a:p>
          <a:p>
            <a:r>
              <a:rPr lang="zh-CN" altLang="en-US" sz="2800" b="1" dirty="0"/>
              <a:t>核心能力：</a:t>
            </a:r>
            <a:endParaRPr lang="zh-CN" altLang="en-US" sz="2800" dirty="0"/>
          </a:p>
          <a:p>
            <a:r>
              <a:rPr lang="zh-CN" altLang="en-US" sz="2800" dirty="0"/>
              <a:t>能够高效判断包含布尔逻辑、整数</a:t>
            </a:r>
            <a:r>
              <a:rPr lang="en-US" altLang="zh-CN" sz="2800" dirty="0"/>
              <a:t>/</a:t>
            </a:r>
            <a:r>
              <a:rPr lang="zh-CN" altLang="en-US" sz="2800" dirty="0"/>
              <a:t>实数算术、数组、位向量等</a:t>
            </a:r>
            <a:r>
              <a:rPr lang="en-US" altLang="zh-CN" sz="2800" dirty="0"/>
              <a:t> </a:t>
            </a:r>
            <a:r>
              <a:rPr lang="zh-CN" altLang="en-US" sz="2800" dirty="0"/>
              <a:t>多种理论的复杂逻辑公式是否可满足。</a:t>
            </a:r>
            <a:endParaRPr lang="zh-CN" altLang="en-US" sz="2800" dirty="0"/>
          </a:p>
          <a:p>
            <a:r>
              <a:rPr lang="zh-CN" altLang="en-US" sz="2800" b="1" dirty="0"/>
              <a:t>典型应用领域</a:t>
            </a:r>
            <a:r>
              <a:rPr lang="zh-CN" altLang="en-US" sz="2800" dirty="0"/>
              <a:t>：</a:t>
            </a:r>
            <a:endParaRPr lang="zh-CN" altLang="en-US" sz="2800" dirty="0"/>
          </a:p>
          <a:p>
            <a:r>
              <a:rPr lang="zh-CN" altLang="en-US" sz="2800" dirty="0"/>
              <a:t>软件</a:t>
            </a:r>
            <a:r>
              <a:rPr lang="en-US" altLang="zh-CN" sz="2800" dirty="0"/>
              <a:t>/</a:t>
            </a:r>
            <a:r>
              <a:rPr lang="zh-CN" altLang="en-US" sz="2800" dirty="0"/>
              <a:t>硬件验证、安全分析、</a:t>
            </a:r>
            <a:r>
              <a:rPr lang="en-US" altLang="zh-CN" sz="2800" dirty="0"/>
              <a:t>AI </a:t>
            </a:r>
            <a:r>
              <a:rPr lang="zh-CN" altLang="en-US" sz="2800" dirty="0"/>
              <a:t>规划、约束满足问题</a:t>
            </a:r>
            <a:r>
              <a:rPr lang="en-US" altLang="zh-CN" sz="2800" dirty="0"/>
              <a:t> (CSP)</a:t>
            </a:r>
            <a:r>
              <a:rPr lang="zh-CN" altLang="en-US" sz="2800" dirty="0"/>
              <a:t>、形式化方法等</a:t>
            </a:r>
            <a:r>
              <a:rPr lang="zh-CN" altLang="en-US" sz="2400" dirty="0"/>
              <a:t>。</a:t>
            </a:r>
            <a:r>
              <a:rPr lang="en-US" altLang="zh-CN" dirty="0"/>
              <a:t>     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55986" y="230933"/>
            <a:ext cx="11521279" cy="6589041"/>
            <a:chOff x="335361" y="116633"/>
            <a:chExt cx="11521279" cy="6589041"/>
          </a:xfrm>
        </p:grpSpPr>
        <p:grpSp>
          <p:nvGrpSpPr>
            <p:cNvPr id="3" name="组合 2"/>
            <p:cNvGrpSpPr/>
            <p:nvPr>
              <p:custDataLst>
                <p:tags r:id="rId2"/>
              </p:custDataLst>
            </p:nvPr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>
                <p:custDataLst>
                  <p:tags r:id="rId3"/>
                </p:custDataLst>
              </p:nvPr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>
                <p:custDataLst>
                  <p:tags r:id="rId4"/>
                </p:custDataLst>
              </p:nvPr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>
              <p:custDataLst>
                <p:tags r:id="rId5"/>
              </p:custDataLst>
            </p:nvPr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>
              <p:custDataLst>
                <p:tags r:id="rId6"/>
              </p:custDataLst>
            </p:nvPr>
          </p:nvSpPr>
          <p:spPr>
            <a:xfrm>
              <a:off x="1127448" y="193957"/>
              <a:ext cx="5574566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项目目标与价值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0805366" y="642867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1" name="圆角矩形 6"/>
          <p:cNvSpPr/>
          <p:nvPr>
            <p:custDataLst>
              <p:tags r:id="rId8"/>
            </p:custDataLst>
          </p:nvPr>
        </p:nvSpPr>
        <p:spPr>
          <a:xfrm>
            <a:off x="413878" y="1019284"/>
            <a:ext cx="3177540" cy="490220"/>
          </a:xfrm>
          <a:prstGeom prst="roundRect">
            <a:avLst>
              <a:gd name="adj" fmla="val 37046"/>
            </a:avLst>
          </a:prstGeom>
          <a:gradFill>
            <a:gsLst>
              <a:gs pos="53000">
                <a:srgbClr val="961318"/>
              </a:gs>
              <a:gs pos="95000">
                <a:srgbClr val="961318">
                  <a:alpha val="0"/>
                </a:srgbClr>
              </a:gs>
              <a:gs pos="0">
                <a:srgbClr val="961318"/>
              </a:gs>
            </a:gsLst>
            <a:lin ang="20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学习目标和核心</a:t>
            </a: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价值</a:t>
            </a:r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312420" y="1906905"/>
            <a:ext cx="11557000" cy="3855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b="1" dirty="0"/>
              <a:t>学习目标</a:t>
            </a:r>
            <a:r>
              <a:rPr lang="zh-CN" altLang="en-US" dirty="0"/>
              <a:t>：</a:t>
            </a:r>
            <a:endParaRPr lang="zh-CN" altLang="en-US" dirty="0"/>
          </a:p>
          <a:p>
            <a:r>
              <a:rPr lang="zh-CN" altLang="en-US" sz="2800" dirty="0"/>
              <a:t>从零开始，系统掌握</a:t>
            </a:r>
            <a:r>
              <a:rPr lang="en-US" altLang="zh-CN" sz="2800" dirty="0"/>
              <a:t> Z3 </a:t>
            </a:r>
            <a:r>
              <a:rPr lang="zh-CN" altLang="en-US" sz="2800" dirty="0"/>
              <a:t>的核心概念、建模方法与实际应用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en-US" altLang="zh-CN" sz="2800" b="1" dirty="0"/>
              <a:t> </a:t>
            </a:r>
            <a:endParaRPr lang="en-US" altLang="zh-CN" sz="2800" b="1" dirty="0"/>
          </a:p>
          <a:p>
            <a:r>
              <a:rPr lang="zh-CN" altLang="en-US" sz="2800" b="1" dirty="0"/>
              <a:t>核心价值：</a:t>
            </a:r>
            <a:endParaRPr lang="zh-CN" altLang="en-US" dirty="0"/>
          </a:p>
          <a:p>
            <a:r>
              <a:rPr lang="zh-CN" altLang="en-US" sz="2800" dirty="0"/>
              <a:t>高度实践性：通过动手实践加深理解。</a:t>
            </a:r>
            <a:endParaRPr lang="zh-CN" altLang="en-US" sz="2800" dirty="0"/>
          </a:p>
          <a:p>
            <a:r>
              <a:rPr lang="zh-CN" altLang="en-US" sz="2800" dirty="0"/>
              <a:t>应用导向：聚焦于解决真实世界的逻辑与约束问题。</a:t>
            </a:r>
            <a:endParaRPr lang="zh-CN" altLang="en-US" sz="2800" dirty="0"/>
          </a:p>
          <a:p>
            <a:r>
              <a:rPr lang="zh-CN" altLang="en-US" sz="2800" dirty="0"/>
              <a:t>降低门槛：为开发者和研究人员提供清晰的学习路</a:t>
            </a:r>
            <a:r>
              <a:rPr lang="zh-CN" altLang="en-US" dirty="0"/>
              <a:t>径。</a:t>
            </a:r>
            <a:r>
              <a:rPr lang="en-US" altLang="zh-CN" dirty="0"/>
              <a:t>       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55986" y="230933"/>
            <a:ext cx="11521279" cy="6589041"/>
            <a:chOff x="335361" y="116633"/>
            <a:chExt cx="11521279" cy="6589041"/>
          </a:xfrm>
        </p:grpSpPr>
        <p:grpSp>
          <p:nvGrpSpPr>
            <p:cNvPr id="3" name="组合 2"/>
            <p:cNvGrpSpPr/>
            <p:nvPr>
              <p:custDataLst>
                <p:tags r:id="rId2"/>
              </p:custDataLst>
            </p:nvPr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>
                <p:custDataLst>
                  <p:tags r:id="rId3"/>
                </p:custDataLst>
              </p:nvPr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>
                <p:custDataLst>
                  <p:tags r:id="rId4"/>
                </p:custDataLst>
              </p:nvPr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>
              <p:custDataLst>
                <p:tags r:id="rId5"/>
              </p:custDataLst>
            </p:nvPr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>
              <p:custDataLst>
                <p:tags r:id="rId6"/>
              </p:custDataLst>
            </p:nvPr>
          </p:nvSpPr>
          <p:spPr>
            <a:xfrm>
              <a:off x="1127448" y="193957"/>
              <a:ext cx="5574566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核心技术栈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0805366" y="642867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1" name="圆角矩形 6"/>
          <p:cNvSpPr/>
          <p:nvPr>
            <p:custDataLst>
              <p:tags r:id="rId8"/>
            </p:custDataLst>
          </p:nvPr>
        </p:nvSpPr>
        <p:spPr>
          <a:xfrm>
            <a:off x="413878" y="1019284"/>
            <a:ext cx="3177540" cy="490220"/>
          </a:xfrm>
          <a:prstGeom prst="roundRect">
            <a:avLst>
              <a:gd name="adj" fmla="val 37046"/>
            </a:avLst>
          </a:prstGeom>
          <a:gradFill>
            <a:gsLst>
              <a:gs pos="53000">
                <a:srgbClr val="961318"/>
              </a:gs>
              <a:gs pos="95000">
                <a:srgbClr val="961318">
                  <a:alpha val="0"/>
                </a:srgbClr>
              </a:gs>
              <a:gs pos="0">
                <a:srgbClr val="961318"/>
              </a:gs>
            </a:gsLst>
            <a:lin ang="20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主要语言和</a:t>
            </a: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核心工具</a:t>
            </a:r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288925" y="1743710"/>
            <a:ext cx="9491980" cy="2858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b="1" dirty="0"/>
              <a:t>主要语言：</a:t>
            </a:r>
            <a:r>
              <a:rPr lang="en-US" altLang="zh-CN" sz="2800" b="1" dirty="0"/>
              <a:t>Python</a:t>
            </a:r>
            <a:endParaRPr lang="en-US" altLang="zh-CN" sz="2800" b="1" dirty="0"/>
          </a:p>
          <a:p>
            <a:r>
              <a:rPr lang="zh-CN" altLang="en-US" sz="2800" dirty="0"/>
              <a:t>因其简洁性和丰富的生态，是与</a:t>
            </a:r>
            <a:r>
              <a:rPr lang="en-US" altLang="zh-CN" sz="2800" dirty="0"/>
              <a:t> Z3 </a:t>
            </a:r>
            <a:r>
              <a:rPr lang="zh-CN" altLang="en-US" sz="2800" dirty="0"/>
              <a:t>交互的理想选择。</a:t>
            </a:r>
            <a:endParaRPr lang="zh-CN" altLang="en-US" sz="2800" dirty="0"/>
          </a:p>
          <a:p>
            <a:r>
              <a:rPr lang="zh-CN" altLang="en-US" sz="2800" b="1" dirty="0"/>
              <a:t>核心工具：</a:t>
            </a:r>
            <a:r>
              <a:rPr lang="en-US" altLang="zh-CN" sz="2800" b="1" dirty="0"/>
              <a:t>Z3-Python </a:t>
            </a:r>
            <a:r>
              <a:rPr lang="zh-CN" altLang="en-US" sz="2800" b="1" dirty="0"/>
              <a:t>绑定库</a:t>
            </a:r>
            <a:endParaRPr lang="zh-CN" altLang="en-US" sz="2800" b="1" dirty="0"/>
          </a:p>
          <a:p>
            <a:r>
              <a:rPr lang="zh-CN" altLang="en-US" sz="2800" dirty="0"/>
              <a:t>官方提供的</a:t>
            </a:r>
            <a:r>
              <a:rPr lang="en-US" altLang="zh-CN" sz="2800" dirty="0"/>
              <a:t> Python </a:t>
            </a:r>
            <a:r>
              <a:rPr lang="zh-CN" altLang="en-US" sz="2800" dirty="0"/>
              <a:t>接口，用于构建模型、添加约束并获取求解结果</a:t>
            </a:r>
            <a:endParaRPr lang="zh-CN" altLang="en-US" sz="2800" dirty="0"/>
          </a:p>
          <a:p>
            <a:r>
              <a:rPr lang="en-US" altLang="zh-CN" sz="2800" dirty="0"/>
              <a:t>       </a:t>
            </a:r>
            <a:endParaRPr lang="zh-CN" altLang="en-US" sz="2800" dirty="0"/>
          </a:p>
        </p:txBody>
      </p:sp>
    </p:spTree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55986" y="230933"/>
            <a:ext cx="11521279" cy="6589041"/>
            <a:chOff x="335361" y="116633"/>
            <a:chExt cx="11521279" cy="6589041"/>
          </a:xfrm>
        </p:grpSpPr>
        <p:grpSp>
          <p:nvGrpSpPr>
            <p:cNvPr id="3" name="组合 2"/>
            <p:cNvGrpSpPr/>
            <p:nvPr>
              <p:custDataLst>
                <p:tags r:id="rId2"/>
              </p:custDataLst>
            </p:nvPr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>
                <p:custDataLst>
                  <p:tags r:id="rId3"/>
                </p:custDataLst>
              </p:nvPr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>
                <p:custDataLst>
                  <p:tags r:id="rId4"/>
                </p:custDataLst>
              </p:nvPr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>
              <p:custDataLst>
                <p:tags r:id="rId5"/>
              </p:custDataLst>
            </p:nvPr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>
              <p:custDataLst>
                <p:tags r:id="rId6"/>
              </p:custDataLst>
            </p:nvPr>
          </p:nvSpPr>
          <p:spPr>
            <a:xfrm>
              <a:off x="1127448" y="193957"/>
              <a:ext cx="5574566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学习路径概览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0805366" y="642867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1" name="圆角矩形 6"/>
          <p:cNvSpPr/>
          <p:nvPr>
            <p:custDataLst>
              <p:tags r:id="rId8"/>
            </p:custDataLst>
          </p:nvPr>
        </p:nvSpPr>
        <p:spPr>
          <a:xfrm>
            <a:off x="413878" y="1019284"/>
            <a:ext cx="3177540" cy="490220"/>
          </a:xfrm>
          <a:prstGeom prst="roundRect">
            <a:avLst>
              <a:gd name="adj" fmla="val 37046"/>
            </a:avLst>
          </a:prstGeom>
          <a:gradFill>
            <a:gsLst>
              <a:gs pos="53000">
                <a:srgbClr val="961318"/>
              </a:gs>
              <a:gs pos="95000">
                <a:srgbClr val="961318">
                  <a:alpha val="0"/>
                </a:srgbClr>
              </a:gs>
              <a:gs pos="0">
                <a:srgbClr val="961318"/>
              </a:gs>
            </a:gsLst>
            <a:lin ang="20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掌握的核心</a:t>
            </a: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技能</a:t>
            </a:r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414020" y="1743710"/>
            <a:ext cx="936688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本项目将循序渐进地引导您掌握以下核心技能</a:t>
            </a:r>
            <a:r>
              <a:rPr lang="zh-CN" altLang="en-US" sz="2800" dirty="0"/>
              <a:t>：</a:t>
            </a:r>
            <a:endParaRPr lang="zh-CN" altLang="en-US" sz="2800" dirty="0"/>
          </a:p>
          <a:p>
            <a:endParaRPr lang="en-US" altLang="zh-CN" sz="2800" dirty="0"/>
          </a:p>
          <a:p>
            <a:r>
              <a:rPr lang="zh-CN" altLang="en-US" sz="2800" dirty="0"/>
              <a:t>理解</a:t>
            </a:r>
            <a:r>
              <a:rPr lang="en-US" altLang="zh-CN" sz="2800" dirty="0"/>
              <a:t> Z3 </a:t>
            </a:r>
            <a:r>
              <a:rPr lang="zh-CN" altLang="en-US" sz="2800" dirty="0"/>
              <a:t>的</a:t>
            </a:r>
            <a:r>
              <a:rPr lang="en-US" altLang="zh-CN" sz="2800" dirty="0"/>
              <a:t> SMT </a:t>
            </a:r>
            <a:r>
              <a:rPr lang="zh-CN" altLang="en-US" sz="2800" dirty="0"/>
              <a:t>求解原理</a:t>
            </a:r>
            <a:endParaRPr lang="zh-CN" altLang="en-US" sz="2800" dirty="0"/>
          </a:p>
          <a:p>
            <a:r>
              <a:rPr lang="zh-CN" altLang="en-US" sz="2800" dirty="0"/>
              <a:t>掌握</a:t>
            </a:r>
            <a:r>
              <a:rPr lang="en-US" altLang="zh-CN" sz="2800" dirty="0"/>
              <a:t> Z3 Python API </a:t>
            </a:r>
            <a:r>
              <a:rPr lang="zh-CN" altLang="en-US" sz="2800" dirty="0"/>
              <a:t>的基本操作</a:t>
            </a:r>
            <a:endParaRPr lang="zh-CN" altLang="en-US" sz="2800" dirty="0"/>
          </a:p>
          <a:p>
            <a:r>
              <a:rPr lang="zh-CN" altLang="en-US" sz="2800" dirty="0"/>
              <a:t>运用</a:t>
            </a:r>
            <a:r>
              <a:rPr lang="en-US" altLang="zh-CN" sz="2800" dirty="0"/>
              <a:t> Z3 </a:t>
            </a:r>
            <a:r>
              <a:rPr lang="zh-CN" altLang="en-US" sz="2800" dirty="0"/>
              <a:t>解决布尔逻辑问题</a:t>
            </a:r>
            <a:endParaRPr lang="zh-CN" altLang="en-US" sz="2800" dirty="0"/>
          </a:p>
          <a:p>
            <a:r>
              <a:rPr lang="zh-CN" altLang="en-US" sz="2800" dirty="0"/>
              <a:t>运用</a:t>
            </a:r>
            <a:r>
              <a:rPr lang="en-US" altLang="zh-CN" sz="2800" dirty="0"/>
              <a:t> Z3 </a:t>
            </a:r>
            <a:r>
              <a:rPr lang="zh-CN" altLang="en-US" sz="2800" dirty="0"/>
              <a:t>解决整数</a:t>
            </a:r>
            <a:r>
              <a:rPr lang="en-US" altLang="zh-CN" sz="2800" dirty="0"/>
              <a:t>/</a:t>
            </a:r>
            <a:r>
              <a:rPr lang="zh-CN" altLang="en-US" sz="2800" dirty="0"/>
              <a:t>实数算术约束问题</a:t>
            </a:r>
            <a:endParaRPr lang="zh-CN" altLang="en-US" sz="2800" dirty="0"/>
          </a:p>
          <a:p>
            <a:r>
              <a:rPr lang="zh-CN" altLang="en-US" sz="2800" dirty="0"/>
              <a:t>探索</a:t>
            </a:r>
            <a:r>
              <a:rPr lang="en-US" altLang="zh-CN" sz="2800" dirty="0"/>
              <a:t> Z3 </a:t>
            </a:r>
            <a:r>
              <a:rPr lang="zh-CN" altLang="en-US" sz="2800" dirty="0"/>
              <a:t>在数组和位向量理论中的应用</a:t>
            </a:r>
            <a:endParaRPr lang="zh-CN" altLang="en-US" sz="2800" dirty="0"/>
          </a:p>
          <a:p>
            <a:r>
              <a:rPr lang="zh-CN" altLang="en-US" sz="2800" dirty="0"/>
              <a:t>实现经典组合优化问题（如数独）的</a:t>
            </a:r>
            <a:r>
              <a:rPr lang="en-US" altLang="zh-CN" sz="2800" dirty="0"/>
              <a:t> Z3 </a:t>
            </a:r>
            <a:r>
              <a:rPr lang="zh-CN" altLang="en-US" sz="2800" dirty="0"/>
              <a:t>求解器</a:t>
            </a:r>
            <a:endParaRPr lang="zh-CN" altLang="en-US" sz="2800" dirty="0"/>
          </a:p>
          <a:p>
            <a:r>
              <a:rPr lang="zh-CN" altLang="en-US" sz="2800" dirty="0"/>
              <a:t>将实际调度</a:t>
            </a:r>
            <a:r>
              <a:rPr lang="en-US" altLang="zh-CN" sz="2800" dirty="0"/>
              <a:t>/</a:t>
            </a:r>
            <a:r>
              <a:rPr lang="zh-CN" altLang="en-US" sz="2800" dirty="0"/>
              <a:t>资源分配问题抽象为</a:t>
            </a:r>
            <a:r>
              <a:rPr lang="en-US" altLang="zh-CN" sz="2800" dirty="0"/>
              <a:t> Z3 </a:t>
            </a:r>
            <a:r>
              <a:rPr lang="zh-CN" altLang="en-US" sz="2800" dirty="0"/>
              <a:t>约束并求解</a:t>
            </a:r>
            <a:r>
              <a:rPr lang="en-US" altLang="zh-CN" sz="2800" dirty="0"/>
              <a:t>       </a:t>
            </a:r>
            <a:endParaRPr lang="zh-CN" altLang="en-US" sz="2800" dirty="0"/>
          </a:p>
        </p:txBody>
      </p:sp>
    </p:spTree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55986" y="230933"/>
            <a:ext cx="11521279" cy="6589041"/>
            <a:chOff x="335361" y="116633"/>
            <a:chExt cx="11521279" cy="6589041"/>
          </a:xfrm>
        </p:grpSpPr>
        <p:grpSp>
          <p:nvGrpSpPr>
            <p:cNvPr id="3" name="组合 2"/>
            <p:cNvGrpSpPr/>
            <p:nvPr>
              <p:custDataLst>
                <p:tags r:id="rId2"/>
              </p:custDataLst>
            </p:nvPr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>
                <p:custDataLst>
                  <p:tags r:id="rId3"/>
                </p:custDataLst>
              </p:nvPr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>
                <p:custDataLst>
                  <p:tags r:id="rId4"/>
                </p:custDataLst>
              </p:nvPr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>
              <p:custDataLst>
                <p:tags r:id="rId5"/>
              </p:custDataLst>
            </p:nvPr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>
              <p:custDataLst>
                <p:tags r:id="rId6"/>
              </p:custDataLst>
            </p:nvPr>
          </p:nvSpPr>
          <p:spPr>
            <a:xfrm>
              <a:off x="1127448" y="193957"/>
              <a:ext cx="5574566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Step 1 - 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核心概念初探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0805366" y="642867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1" name="圆角矩形 6"/>
          <p:cNvSpPr/>
          <p:nvPr>
            <p:custDataLst>
              <p:tags r:id="rId8"/>
            </p:custDataLst>
          </p:nvPr>
        </p:nvSpPr>
        <p:spPr>
          <a:xfrm>
            <a:off x="413878" y="1019284"/>
            <a:ext cx="3177540" cy="490220"/>
          </a:xfrm>
          <a:prstGeom prst="roundRect">
            <a:avLst>
              <a:gd name="adj" fmla="val 37046"/>
            </a:avLst>
          </a:prstGeom>
          <a:gradFill>
            <a:gsLst>
              <a:gs pos="53000">
                <a:srgbClr val="961318"/>
              </a:gs>
              <a:gs pos="95000">
                <a:srgbClr val="961318">
                  <a:alpha val="0"/>
                </a:srgbClr>
              </a:gs>
              <a:gs pos="0">
                <a:srgbClr val="961318"/>
              </a:gs>
            </a:gsLst>
            <a:lin ang="20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求解</a:t>
            </a: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器变量声明和工作</a:t>
            </a: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流程</a:t>
            </a:r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414020" y="1743710"/>
            <a:ext cx="936688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Solver</a:t>
            </a:r>
            <a:r>
              <a:rPr lang="zh-CN" altLang="en-US" sz="2800" b="1" dirty="0"/>
              <a:t>（求解器）</a:t>
            </a:r>
            <a:r>
              <a:rPr lang="zh-CN" altLang="en-US" sz="2800" dirty="0"/>
              <a:t>：</a:t>
            </a:r>
            <a:endParaRPr lang="zh-CN" altLang="en-US" sz="2800" dirty="0"/>
          </a:p>
          <a:p>
            <a:r>
              <a:rPr lang="zh-CN" altLang="en-US" sz="2800" dirty="0"/>
              <a:t>一个</a:t>
            </a:r>
            <a:r>
              <a:rPr lang="en-US" altLang="zh-CN" sz="2800" dirty="0"/>
              <a:t>“</a:t>
            </a:r>
            <a:r>
              <a:rPr lang="zh-CN" altLang="en-US" sz="2800" dirty="0"/>
              <a:t>逻辑推理板</a:t>
            </a:r>
            <a:r>
              <a:rPr lang="en-US" altLang="zh-CN" sz="2800" dirty="0"/>
              <a:t>”</a:t>
            </a:r>
            <a:r>
              <a:rPr lang="zh-CN" altLang="en-US" sz="2800" dirty="0"/>
              <a:t>，用于收集所有约束并尝试求解。</a:t>
            </a:r>
            <a:endParaRPr lang="zh-CN" altLang="en-US" sz="2800" dirty="0"/>
          </a:p>
          <a:p>
            <a:r>
              <a:rPr lang="zh-CN" altLang="en-US" sz="2800" b="1" dirty="0"/>
              <a:t>变量声明：</a:t>
            </a:r>
            <a:endParaRPr lang="zh-CN" altLang="en-US" sz="2800" dirty="0"/>
          </a:p>
          <a:p>
            <a:r>
              <a:rPr lang="zh-CN" altLang="en-US" sz="2800" dirty="0"/>
              <a:t>明确指定变量类型，如</a:t>
            </a:r>
            <a:r>
              <a:rPr lang="en-US" altLang="zh-CN" sz="2800" dirty="0"/>
              <a:t> Bool</a:t>
            </a:r>
            <a:r>
              <a:rPr lang="zh-CN" altLang="en-US" sz="2800" dirty="0"/>
              <a:t>（布尔）、</a:t>
            </a:r>
            <a:r>
              <a:rPr lang="en-US" altLang="zh-CN" sz="2800" dirty="0"/>
              <a:t>Int</a:t>
            </a:r>
            <a:r>
              <a:rPr lang="zh-CN" altLang="en-US" sz="2800" dirty="0"/>
              <a:t>（整数）等。</a:t>
            </a:r>
            <a:endParaRPr lang="zh-CN" altLang="en-US" sz="2800" dirty="0"/>
          </a:p>
          <a:p>
            <a:r>
              <a:rPr lang="zh-CN" altLang="en-US" sz="2800" b="1" dirty="0"/>
              <a:t>工作流程：</a:t>
            </a:r>
            <a:endParaRPr lang="zh-CN" altLang="en-US" sz="2800" dirty="0"/>
          </a:p>
          <a:p>
            <a:r>
              <a:rPr lang="zh-CN" altLang="en-US" sz="2800" dirty="0"/>
              <a:t>声明变量</a:t>
            </a:r>
            <a:endParaRPr lang="zh-CN" altLang="en-US" sz="2800" dirty="0"/>
          </a:p>
          <a:p>
            <a:r>
              <a:rPr lang="zh-CN" altLang="en-US" sz="2800" dirty="0"/>
              <a:t>添加约束</a:t>
            </a:r>
            <a:r>
              <a:rPr lang="en-US" altLang="zh-CN" sz="2800" dirty="0"/>
              <a:t> (add)</a:t>
            </a:r>
            <a:endParaRPr lang="en-US" altLang="zh-CN" sz="2800" dirty="0"/>
          </a:p>
          <a:p>
            <a:r>
              <a:rPr lang="zh-CN" altLang="en-US" sz="2800" dirty="0"/>
              <a:t>检查可满足性</a:t>
            </a:r>
            <a:r>
              <a:rPr lang="en-US" altLang="zh-CN" sz="2800" dirty="0"/>
              <a:t> (check)</a:t>
            </a:r>
            <a:endParaRPr lang="en-US" altLang="zh-CN" sz="2800" dirty="0"/>
          </a:p>
          <a:p>
            <a:r>
              <a:rPr lang="zh-CN" altLang="en-US" sz="2800" dirty="0"/>
              <a:t>获取解</a:t>
            </a:r>
            <a:r>
              <a:rPr lang="en-US" altLang="zh-CN" sz="2800" dirty="0"/>
              <a:t> (model)</a:t>
            </a:r>
            <a:endParaRPr lang="zh-CN" altLang="en-US" sz="2800" dirty="0"/>
          </a:p>
        </p:txBody>
      </p:sp>
    </p:spTree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55986" y="230933"/>
            <a:ext cx="11521279" cy="6589041"/>
            <a:chOff x="335361" y="116633"/>
            <a:chExt cx="11521279" cy="6589041"/>
          </a:xfrm>
        </p:grpSpPr>
        <p:grpSp>
          <p:nvGrpSpPr>
            <p:cNvPr id="3" name="组合 2"/>
            <p:cNvGrpSpPr/>
            <p:nvPr>
              <p:custDataLst>
                <p:tags r:id="rId2"/>
              </p:custDataLst>
            </p:nvPr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>
                <p:custDataLst>
                  <p:tags r:id="rId3"/>
                </p:custDataLst>
              </p:nvPr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>
                <p:custDataLst>
                  <p:tags r:id="rId4"/>
                </p:custDataLst>
              </p:nvPr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>
              <p:custDataLst>
                <p:tags r:id="rId5"/>
              </p:custDataLst>
            </p:nvPr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>
              <p:custDataLst>
                <p:tags r:id="rId6"/>
              </p:custDataLst>
            </p:nvPr>
          </p:nvSpPr>
          <p:spPr>
            <a:xfrm>
              <a:off x="1127448" y="193957"/>
              <a:ext cx="5574566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Step 2 - 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布尔逻辑与命题演算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0805366" y="642867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1" name="圆角矩形 6"/>
          <p:cNvSpPr/>
          <p:nvPr>
            <p:custDataLst>
              <p:tags r:id="rId8"/>
            </p:custDataLst>
          </p:nvPr>
        </p:nvSpPr>
        <p:spPr>
          <a:xfrm>
            <a:off x="413878" y="1019284"/>
            <a:ext cx="3177540" cy="490220"/>
          </a:xfrm>
          <a:prstGeom prst="roundRect">
            <a:avLst>
              <a:gd name="adj" fmla="val 37046"/>
            </a:avLst>
          </a:prstGeom>
          <a:gradFill>
            <a:gsLst>
              <a:gs pos="53000">
                <a:srgbClr val="961318"/>
              </a:gs>
              <a:gs pos="95000">
                <a:srgbClr val="961318">
                  <a:alpha val="0"/>
                </a:srgbClr>
              </a:gs>
              <a:gs pos="0">
                <a:srgbClr val="961318"/>
              </a:gs>
            </a:gsLst>
            <a:lin ang="20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布尔逻辑与命题演算</a:t>
            </a:r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414020" y="1608455"/>
            <a:ext cx="11304905" cy="5397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布尔变量：代表“真”或“假”的命题，是逻辑表达式的基础。</a:t>
            </a:r>
            <a:endParaRPr lang="zh-CN" altLang="en-US" sz="2800" dirty="0"/>
          </a:p>
          <a:p>
            <a:r>
              <a:rPr lang="zh-CN" altLang="en-US" sz="2800" dirty="0"/>
              <a:t>核心逻辑运算符：</a:t>
            </a:r>
            <a:endParaRPr lang="zh-CN" altLang="en-US" sz="2800" dirty="0"/>
          </a:p>
          <a:p>
            <a:r>
              <a:rPr lang="zh-CN" altLang="en-US" sz="2800" dirty="0"/>
              <a:t>Not (非): 取反</a:t>
            </a:r>
            <a:endParaRPr lang="zh-CN" altLang="en-US" sz="2800" dirty="0"/>
          </a:p>
          <a:p>
            <a:r>
              <a:rPr lang="zh-CN" altLang="en-US" sz="2800" dirty="0"/>
              <a:t>And (与): 全部为真</a:t>
            </a:r>
            <a:endParaRPr lang="zh-CN" altLang="en-US" sz="2800" dirty="0"/>
          </a:p>
          <a:p>
            <a:r>
              <a:rPr lang="zh-CN" altLang="en-US" sz="2800" dirty="0"/>
              <a:t>Or (或): 至少一个为真</a:t>
            </a:r>
            <a:endParaRPr lang="zh-CN" altLang="en-US" sz="2800" dirty="0"/>
          </a:p>
          <a:p>
            <a:r>
              <a:rPr lang="zh-CN" altLang="en-US" sz="2800" dirty="0"/>
              <a:t>Implies (蕴含): “如果...那么...”</a:t>
            </a:r>
            <a:endParaRPr lang="zh-CN" altLang="en-US" sz="2800" dirty="0"/>
          </a:p>
          <a:p>
            <a:r>
              <a:rPr lang="zh-CN" altLang="en-US" sz="2800" dirty="0"/>
              <a:t>Xor (异或): 有且仅有一个为真</a:t>
            </a:r>
            <a:endParaRPr lang="zh-CN" altLang="en-US" sz="2800" dirty="0"/>
          </a:p>
          <a:p>
            <a:r>
              <a:rPr lang="zh-CN" altLang="en-US" sz="2800" dirty="0"/>
              <a:t>实战应用：</a:t>
            </a:r>
            <a:endParaRPr lang="zh-CN" altLang="en-US" sz="2800" dirty="0"/>
          </a:p>
          <a:p>
            <a:r>
              <a:rPr lang="zh-CN" altLang="en-US" sz="2800" dirty="0"/>
              <a:t>将自然语言描述的逻辑谜题（如</a:t>
            </a:r>
            <a:r>
              <a:rPr lang="en-US" altLang="zh-CN" sz="2800" dirty="0"/>
              <a:t>“</a:t>
            </a:r>
            <a:r>
              <a:rPr lang="zh-CN" altLang="en-US" sz="2800" dirty="0"/>
              <a:t>数独问题</a:t>
            </a:r>
            <a:r>
              <a:rPr lang="en-US" altLang="zh-CN" sz="2800" dirty="0"/>
              <a:t>”</a:t>
            </a:r>
            <a:r>
              <a:rPr lang="zh-CN" altLang="en-US" sz="2800" dirty="0"/>
              <a:t>）严谨地转化为</a:t>
            </a:r>
            <a:r>
              <a:rPr lang="en-US" altLang="zh-CN" sz="2800" dirty="0"/>
              <a:t> Z3 </a:t>
            </a:r>
            <a:r>
              <a:rPr lang="zh-CN" altLang="en-US" sz="2800" dirty="0"/>
              <a:t>约束，并由求解器自动验证其是否有解</a:t>
            </a:r>
            <a:endParaRPr lang="zh-CN" altLang="en-US" sz="2800" dirty="0"/>
          </a:p>
          <a:p>
            <a:r>
              <a:rPr lang="en-US" altLang="zh-CN" sz="2800" dirty="0"/>
              <a:t>       </a:t>
            </a:r>
            <a:endParaRPr lang="zh-CN" altLang="en-US" sz="2800" dirty="0"/>
          </a:p>
        </p:txBody>
      </p:sp>
    </p:spTree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55986" y="230933"/>
            <a:ext cx="11521279" cy="6589041"/>
            <a:chOff x="335361" y="116633"/>
            <a:chExt cx="11521279" cy="6589041"/>
          </a:xfrm>
        </p:grpSpPr>
        <p:grpSp>
          <p:nvGrpSpPr>
            <p:cNvPr id="3" name="组合 2"/>
            <p:cNvGrpSpPr/>
            <p:nvPr>
              <p:custDataLst>
                <p:tags r:id="rId2"/>
              </p:custDataLst>
            </p:nvPr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>
                <p:custDataLst>
                  <p:tags r:id="rId3"/>
                </p:custDataLst>
              </p:nvPr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>
                <p:custDataLst>
                  <p:tags r:id="rId4"/>
                </p:custDataLst>
              </p:nvPr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>
              <p:custDataLst>
                <p:tags r:id="rId5"/>
              </p:custDataLst>
            </p:nvPr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>
              <p:custDataLst>
                <p:tags r:id="rId6"/>
              </p:custDataLst>
            </p:nvPr>
          </p:nvSpPr>
          <p:spPr>
            <a:xfrm>
              <a:off x="1127448" y="193957"/>
              <a:ext cx="5574566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后续探索方向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0805366" y="642867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1" name="圆角矩形 6"/>
          <p:cNvSpPr/>
          <p:nvPr>
            <p:custDataLst>
              <p:tags r:id="rId8"/>
            </p:custDataLst>
          </p:nvPr>
        </p:nvSpPr>
        <p:spPr>
          <a:xfrm>
            <a:off x="413878" y="1019284"/>
            <a:ext cx="3177540" cy="490220"/>
          </a:xfrm>
          <a:prstGeom prst="roundRect">
            <a:avLst>
              <a:gd name="adj" fmla="val 37046"/>
            </a:avLst>
          </a:prstGeom>
          <a:gradFill>
            <a:gsLst>
              <a:gs pos="53000">
                <a:srgbClr val="961318"/>
              </a:gs>
              <a:gs pos="95000">
                <a:srgbClr val="961318">
                  <a:alpha val="0"/>
                </a:srgbClr>
              </a:gs>
              <a:gs pos="0">
                <a:srgbClr val="961318"/>
              </a:gs>
            </a:gsLst>
            <a:lin ang="20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能力</a:t>
            </a: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边界</a:t>
            </a:r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414020" y="1743710"/>
            <a:ext cx="10607675" cy="3815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在掌握基础后，</a:t>
            </a:r>
            <a:r>
              <a:rPr lang="en-US" altLang="zh-CN" sz="2800" b="1" dirty="0"/>
              <a:t>Z3 </a:t>
            </a:r>
            <a:r>
              <a:rPr lang="zh-CN" altLang="en-US" sz="2800" b="1" dirty="0"/>
              <a:t>的能力边界远不止于此：</a:t>
            </a:r>
            <a:endParaRPr lang="zh-CN" altLang="en-US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整数与实数算术：</a:t>
            </a:r>
            <a:r>
              <a:rPr lang="zh-CN" altLang="en-US" sz="2800" dirty="0"/>
              <a:t>解决复杂的方程与不等式系统</a:t>
            </a:r>
            <a:r>
              <a:rPr lang="zh-CN" altLang="en-US" sz="2800" b="1" dirty="0"/>
              <a:t>。</a:t>
            </a:r>
            <a:endParaRPr lang="zh-CN" altLang="en-US" sz="2800" b="1" dirty="0"/>
          </a:p>
          <a:p>
            <a:r>
              <a:rPr lang="zh-CN" altLang="en-US" sz="2800" b="1" dirty="0"/>
              <a:t>高级理论：</a:t>
            </a:r>
            <a:endParaRPr lang="zh-CN" altLang="en-US" sz="2800" b="1" dirty="0"/>
          </a:p>
          <a:p>
            <a:r>
              <a:rPr lang="en-US" altLang="zh-CN" sz="2800" b="1" dirty="0"/>
              <a:t>    </a:t>
            </a:r>
            <a:r>
              <a:rPr lang="zh-CN" altLang="en-US" sz="2800" b="1" dirty="0"/>
              <a:t>数组理论：</a:t>
            </a:r>
            <a:r>
              <a:rPr lang="zh-CN" altLang="en-US" sz="2800" dirty="0"/>
              <a:t>模拟内存、映射关系</a:t>
            </a:r>
            <a:r>
              <a:rPr lang="zh-CN" altLang="en-US" sz="2800" b="1" dirty="0"/>
              <a:t>。</a:t>
            </a:r>
            <a:endParaRPr lang="zh-CN" altLang="en-US" sz="2800" b="1" dirty="0"/>
          </a:p>
          <a:p>
            <a:r>
              <a:rPr lang="en-US" altLang="zh-CN" sz="2800" b="1" dirty="0"/>
              <a:t>    </a:t>
            </a:r>
            <a:r>
              <a:rPr lang="zh-CN" altLang="en-US" sz="2800" b="1" dirty="0"/>
              <a:t>位向量理论：</a:t>
            </a:r>
            <a:r>
              <a:rPr lang="zh-CN" altLang="en-US" sz="2800" dirty="0"/>
              <a:t>进行硬件验证与密码学分析</a:t>
            </a:r>
            <a:r>
              <a:rPr lang="zh-CN" altLang="en-US" sz="2800" b="1" dirty="0"/>
              <a:t>。</a:t>
            </a:r>
            <a:endParaRPr lang="zh-CN" altLang="en-US" sz="2800" b="1" dirty="0"/>
          </a:p>
          <a:p>
            <a:r>
              <a:rPr lang="zh-CN" altLang="en-US" sz="2800" b="1" dirty="0"/>
              <a:t>经典案例：</a:t>
            </a:r>
            <a:r>
              <a:rPr lang="zh-CN" altLang="en-US" sz="2800" dirty="0"/>
              <a:t>构建高效的数独求解器。</a:t>
            </a:r>
            <a:endParaRPr lang="zh-CN" altLang="en-US" sz="2800" b="1" dirty="0"/>
          </a:p>
          <a:p>
            <a:r>
              <a:rPr lang="zh-CN" altLang="en-US" sz="2800" b="1" dirty="0"/>
              <a:t>现实挑战：</a:t>
            </a:r>
            <a:r>
              <a:rPr lang="zh-CN" altLang="en-US" sz="2800" dirty="0"/>
              <a:t>对资源分配、任务调度等实际问题进行抽象与求解。</a:t>
            </a:r>
            <a:endParaRPr lang="zh-CN" altLang="en-US" sz="2800" dirty="0"/>
          </a:p>
          <a:p>
            <a:r>
              <a:rPr lang="en-US" altLang="zh-CN" dirty="0"/>
              <a:t>       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55986" y="230933"/>
            <a:ext cx="11521279" cy="6589041"/>
            <a:chOff x="335361" y="116633"/>
            <a:chExt cx="11521279" cy="6589041"/>
          </a:xfrm>
        </p:grpSpPr>
        <p:grpSp>
          <p:nvGrpSpPr>
            <p:cNvPr id="3" name="组合 2"/>
            <p:cNvGrpSpPr/>
            <p:nvPr>
              <p:custDataLst>
                <p:tags r:id="rId2"/>
              </p:custDataLst>
            </p:nvPr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>
                <p:custDataLst>
                  <p:tags r:id="rId3"/>
                </p:custDataLst>
              </p:nvPr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>
                <p:custDataLst>
                  <p:tags r:id="rId4"/>
                </p:custDataLst>
              </p:nvPr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>
              <p:custDataLst>
                <p:tags r:id="rId5"/>
              </p:custDataLst>
            </p:nvPr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>
              <p:custDataLst>
                <p:tags r:id="rId6"/>
              </p:custDataLst>
            </p:nvPr>
          </p:nvSpPr>
          <p:spPr>
            <a:xfrm>
              <a:off x="1127448" y="193957"/>
              <a:ext cx="5574566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工具运行案例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0805366" y="642867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414020" y="5571490"/>
            <a:ext cx="106076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</a:t>
            </a:r>
            <a:r>
              <a:rPr lang="zh-CN" altLang="en-US" dirty="0"/>
              <a:t>把</a:t>
            </a:r>
            <a:r>
              <a:rPr lang="en-US" altLang="zh-CN" dirty="0"/>
              <a:t>“</a:t>
            </a:r>
            <a:r>
              <a:rPr lang="zh-CN" altLang="en-US" dirty="0"/>
              <a:t>锁的提示</a:t>
            </a:r>
            <a:r>
              <a:rPr lang="en-US" altLang="zh-CN" dirty="0"/>
              <a:t>”</a:t>
            </a:r>
            <a:r>
              <a:rPr lang="zh-CN" altLang="en-US" dirty="0"/>
              <a:t>翻译成约束：未知变量是每一位数字，提示变成等式</a:t>
            </a:r>
            <a:r>
              <a:rPr lang="en-US" altLang="zh-CN" dirty="0"/>
              <a:t>/</a:t>
            </a:r>
            <a:r>
              <a:rPr lang="zh-CN" altLang="en-US" dirty="0"/>
              <a:t>不等式</a:t>
            </a:r>
            <a:r>
              <a:rPr lang="en-US" altLang="zh-CN" dirty="0"/>
              <a:t>/</a:t>
            </a:r>
            <a:r>
              <a:rPr lang="zh-CN" altLang="en-US" dirty="0"/>
              <a:t>计数约束。</a:t>
            </a:r>
            <a:r>
              <a:rPr lang="en-US" altLang="zh-CN" dirty="0"/>
              <a:t>Z3 </a:t>
            </a:r>
            <a:r>
              <a:rPr lang="zh-CN" altLang="en-US" dirty="0"/>
              <a:t>的</a:t>
            </a:r>
            <a:r>
              <a:rPr lang="en-US" altLang="zh-CN" dirty="0"/>
              <a:t> model() </a:t>
            </a:r>
            <a:r>
              <a:rPr lang="zh-CN" altLang="en-US" dirty="0"/>
              <a:t>给一个解；用</a:t>
            </a:r>
            <a:r>
              <a:rPr lang="en-US" altLang="zh-CN" dirty="0"/>
              <a:t> blocking clause </a:t>
            </a:r>
            <a:r>
              <a:rPr lang="zh-CN" altLang="en-US" dirty="0"/>
              <a:t>可以枚举所有可能密码。最后可以得到所有可能的</a:t>
            </a:r>
            <a:r>
              <a:rPr lang="zh-CN" altLang="en-US" dirty="0"/>
              <a:t>密码组合。</a:t>
            </a:r>
            <a:endParaRPr lang="zh-CN" altLang="en-US" dirty="0"/>
          </a:p>
        </p:txBody>
      </p:sp>
      <p:sp>
        <p:nvSpPr>
          <p:cNvPr id="10" name="圆角矩形 6"/>
          <p:cNvSpPr/>
          <p:nvPr>
            <p:custDataLst>
              <p:tags r:id="rId9"/>
            </p:custDataLst>
          </p:nvPr>
        </p:nvSpPr>
        <p:spPr>
          <a:xfrm>
            <a:off x="413878" y="1019284"/>
            <a:ext cx="3177540" cy="490220"/>
          </a:xfrm>
          <a:prstGeom prst="roundRect">
            <a:avLst>
              <a:gd name="adj" fmla="val 37046"/>
            </a:avLst>
          </a:prstGeom>
          <a:gradFill>
            <a:gsLst>
              <a:gs pos="53000">
                <a:srgbClr val="961318"/>
              </a:gs>
              <a:gs pos="95000">
                <a:srgbClr val="961318">
                  <a:alpha val="0"/>
                </a:srgbClr>
              </a:gs>
              <a:gs pos="0">
                <a:srgbClr val="961318"/>
              </a:gs>
            </a:gsLst>
            <a:lin ang="20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密码锁</a:t>
            </a:r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0265" y="285750"/>
            <a:ext cx="4037965" cy="513334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4020" y="2113915"/>
            <a:ext cx="5114925" cy="147637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55986" y="230933"/>
            <a:ext cx="11521279" cy="6589041"/>
            <a:chOff x="335361" y="116633"/>
            <a:chExt cx="11521279" cy="6589041"/>
          </a:xfrm>
        </p:grpSpPr>
        <p:grpSp>
          <p:nvGrpSpPr>
            <p:cNvPr id="3" name="组合 2"/>
            <p:cNvGrpSpPr/>
            <p:nvPr>
              <p:custDataLst>
                <p:tags r:id="rId2"/>
              </p:custDataLst>
            </p:nvPr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>
                <p:custDataLst>
                  <p:tags r:id="rId3"/>
                </p:custDataLst>
              </p:nvPr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>
                <p:custDataLst>
                  <p:tags r:id="rId4"/>
                </p:custDataLst>
              </p:nvPr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>
              <p:custDataLst>
                <p:tags r:id="rId5"/>
              </p:custDataLst>
            </p:nvPr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>
              <p:custDataLst>
                <p:tags r:id="rId6"/>
              </p:custDataLst>
            </p:nvPr>
          </p:nvSpPr>
          <p:spPr>
            <a:xfrm>
              <a:off x="1127448" y="193957"/>
              <a:ext cx="5574566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工具运行案例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0805366" y="642867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414020" y="5571490"/>
            <a:ext cx="106076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</a:t>
            </a:r>
            <a:r>
              <a:rPr lang="zh-CN" altLang="en-US" dirty="0"/>
              <a:t>对所有输入，检查输出是否总相同。</a:t>
            </a:r>
            <a:r>
              <a:rPr lang="en-US" altLang="zh-CN" dirty="0"/>
              <a:t>Z3 </a:t>
            </a:r>
            <a:r>
              <a:rPr lang="zh-CN" altLang="en-US" dirty="0"/>
              <a:t>的用法是：找</a:t>
            </a:r>
            <a:r>
              <a:rPr lang="en-US" altLang="zh-CN" dirty="0"/>
              <a:t>“</a:t>
            </a:r>
            <a:r>
              <a:rPr lang="zh-CN" altLang="en-US" dirty="0"/>
              <a:t>反例输入</a:t>
            </a:r>
            <a:r>
              <a:rPr lang="en-US" altLang="zh-CN" dirty="0"/>
              <a:t>”</a:t>
            </a:r>
            <a:r>
              <a:rPr lang="zh-CN" altLang="en-US" dirty="0"/>
              <a:t>。若找不到（</a:t>
            </a:r>
            <a:r>
              <a:rPr lang="en-US" altLang="zh-CN" dirty="0"/>
              <a:t>unsat</a:t>
            </a:r>
            <a:r>
              <a:rPr lang="zh-CN" altLang="en-US" dirty="0"/>
              <a:t>），就证明等价。演示代码中</a:t>
            </a:r>
            <a:r>
              <a:rPr lang="zh-CN" altLang="en-US" dirty="0"/>
              <a:t>为验证两个</a:t>
            </a:r>
            <a:r>
              <a:rPr lang="en-US" altLang="zh-CN" dirty="0"/>
              <a:t> XOR </a:t>
            </a:r>
            <a:r>
              <a:rPr lang="zh-CN" altLang="en-US" dirty="0"/>
              <a:t>实现等价。</a:t>
            </a:r>
            <a:endParaRPr lang="zh-CN" altLang="en-US" dirty="0"/>
          </a:p>
        </p:txBody>
      </p:sp>
      <p:sp>
        <p:nvSpPr>
          <p:cNvPr id="10" name="圆角矩形 6"/>
          <p:cNvSpPr/>
          <p:nvPr>
            <p:custDataLst>
              <p:tags r:id="rId9"/>
            </p:custDataLst>
          </p:nvPr>
        </p:nvSpPr>
        <p:spPr>
          <a:xfrm>
            <a:off x="414020" y="1019175"/>
            <a:ext cx="4836795" cy="490220"/>
          </a:xfrm>
          <a:prstGeom prst="roundRect">
            <a:avLst>
              <a:gd name="adj" fmla="val 37046"/>
            </a:avLst>
          </a:prstGeom>
          <a:gradFill>
            <a:gsLst>
              <a:gs pos="53000">
                <a:srgbClr val="961318"/>
              </a:gs>
              <a:gs pos="95000">
                <a:srgbClr val="961318">
                  <a:alpha val="0"/>
                </a:srgbClr>
              </a:gs>
              <a:gs pos="0">
                <a:srgbClr val="961318"/>
              </a:gs>
            </a:gsLst>
            <a:lin ang="20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逻辑电路验证（形式化验证</a:t>
            </a:r>
            <a:r>
              <a:rPr lang="en-US" altLang="zh-CN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等价性检查）</a:t>
            </a:r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3780" y="1003935"/>
            <a:ext cx="5534025" cy="43148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620" y="1739900"/>
            <a:ext cx="5097780" cy="81534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55986" y="230933"/>
            <a:ext cx="11521279" cy="6589041"/>
            <a:chOff x="335361" y="116633"/>
            <a:chExt cx="11521279" cy="6589041"/>
          </a:xfrm>
        </p:grpSpPr>
        <p:grpSp>
          <p:nvGrpSpPr>
            <p:cNvPr id="3" name="组合 2"/>
            <p:cNvGrpSpPr/>
            <p:nvPr>
              <p:custDataLst>
                <p:tags r:id="rId2"/>
              </p:custDataLst>
            </p:nvPr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>
                <p:custDataLst>
                  <p:tags r:id="rId3"/>
                </p:custDataLst>
              </p:nvPr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>
                <p:custDataLst>
                  <p:tags r:id="rId4"/>
                </p:custDataLst>
              </p:nvPr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>
              <p:custDataLst>
                <p:tags r:id="rId5"/>
              </p:custDataLst>
            </p:nvPr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>
              <p:custDataLst>
                <p:tags r:id="rId6"/>
              </p:custDataLst>
            </p:nvPr>
          </p:nvSpPr>
          <p:spPr>
            <a:xfrm>
              <a:off x="1127448" y="193957"/>
              <a:ext cx="5574566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工具运行案例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0805366" y="642867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414020" y="5571490"/>
            <a:ext cx="106076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</a:t>
            </a:r>
            <a:r>
              <a:rPr lang="zh-CN" altLang="en-US" dirty="0"/>
              <a:t>一个</a:t>
            </a:r>
            <a:r>
              <a:rPr lang="en-US" altLang="zh-CN" dirty="0"/>
              <a:t>“</a:t>
            </a:r>
            <a:r>
              <a:rPr lang="zh-CN" altLang="en-US" dirty="0"/>
              <a:t>够复杂、又很像真实工程</a:t>
            </a:r>
            <a:r>
              <a:rPr lang="en-US" altLang="zh-CN" dirty="0"/>
              <a:t>”</a:t>
            </a:r>
            <a:r>
              <a:rPr lang="zh-CN" altLang="en-US" dirty="0"/>
              <a:t>的</a:t>
            </a:r>
            <a:r>
              <a:rPr lang="en-US" altLang="zh-CN" dirty="0"/>
              <a:t> Z3 </a:t>
            </a:r>
            <a:r>
              <a:rPr lang="zh-CN" altLang="en-US" dirty="0"/>
              <a:t>例子：一周排班（覆盖需求</a:t>
            </a:r>
            <a:r>
              <a:rPr lang="en-US" altLang="zh-CN" dirty="0"/>
              <a:t> + </a:t>
            </a:r>
            <a:r>
              <a:rPr lang="zh-CN" altLang="en-US" dirty="0"/>
              <a:t>劳动规则</a:t>
            </a:r>
            <a:r>
              <a:rPr lang="en-US" altLang="zh-CN" dirty="0"/>
              <a:t> + </a:t>
            </a:r>
            <a:r>
              <a:rPr lang="zh-CN" altLang="en-US" dirty="0"/>
              <a:t>技能限制</a:t>
            </a:r>
            <a:r>
              <a:rPr lang="en-US" altLang="zh-CN" dirty="0"/>
              <a:t> + </a:t>
            </a:r>
            <a:r>
              <a:rPr lang="zh-CN" altLang="en-US" dirty="0"/>
              <a:t>偏好（软约束</a:t>
            </a:r>
            <a:r>
              <a:rPr lang="en-US" altLang="zh-CN" dirty="0"/>
              <a:t>/MaxSMT</a:t>
            </a:r>
            <a:r>
              <a:rPr lang="zh-CN" altLang="en-US" dirty="0"/>
              <a:t>）</a:t>
            </a:r>
            <a:r>
              <a:rPr lang="en-US" altLang="zh-CN" dirty="0"/>
              <a:t>+ </a:t>
            </a:r>
            <a:r>
              <a:rPr lang="zh-CN" altLang="en-US" dirty="0"/>
              <a:t>还能定位为什么无解（</a:t>
            </a:r>
            <a:r>
              <a:rPr lang="en-US" altLang="zh-CN" dirty="0"/>
              <a:t>unsat core</a:t>
            </a:r>
            <a:r>
              <a:rPr lang="zh-CN" altLang="en-US" dirty="0"/>
              <a:t>）。基本印证了</a:t>
            </a:r>
            <a:r>
              <a:rPr lang="en-US" altLang="zh-CN" dirty="0"/>
              <a:t>Z3</a:t>
            </a:r>
            <a:r>
              <a:rPr lang="zh-CN" altLang="en-US" dirty="0"/>
              <a:t>的核心流程：建模</a:t>
            </a:r>
            <a:r>
              <a:rPr lang="en-US" altLang="zh-CN" dirty="0"/>
              <a:t>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求可行解</a:t>
            </a:r>
            <a:r>
              <a:rPr lang="en-US" altLang="zh-CN" dirty="0"/>
              <a:t>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求最优解</a:t>
            </a:r>
            <a:r>
              <a:rPr lang="en-US" altLang="zh-CN" dirty="0"/>
              <a:t>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解释矛盾。把看似复杂的要求全部变成约束，由</a:t>
            </a:r>
            <a:r>
              <a:rPr lang="en-US" altLang="zh-CN" dirty="0"/>
              <a:t>Z3</a:t>
            </a:r>
            <a:r>
              <a:rPr lang="zh-CN" altLang="en-US" dirty="0"/>
              <a:t>进行可行性分析。</a:t>
            </a:r>
            <a:endParaRPr lang="zh-CN" altLang="en-US" dirty="0"/>
          </a:p>
        </p:txBody>
      </p:sp>
      <p:sp>
        <p:nvSpPr>
          <p:cNvPr id="10" name="圆角矩形 6"/>
          <p:cNvSpPr/>
          <p:nvPr>
            <p:custDataLst>
              <p:tags r:id="rId9"/>
            </p:custDataLst>
          </p:nvPr>
        </p:nvSpPr>
        <p:spPr>
          <a:xfrm>
            <a:off x="413878" y="1019284"/>
            <a:ext cx="3177540" cy="490220"/>
          </a:xfrm>
          <a:prstGeom prst="roundRect">
            <a:avLst>
              <a:gd name="adj" fmla="val 37046"/>
            </a:avLst>
          </a:prstGeom>
          <a:gradFill>
            <a:gsLst>
              <a:gs pos="53000">
                <a:srgbClr val="961318"/>
              </a:gs>
              <a:gs pos="95000">
                <a:srgbClr val="961318">
                  <a:alpha val="0"/>
                </a:srgbClr>
              </a:gs>
              <a:gs pos="0">
                <a:srgbClr val="961318"/>
              </a:gs>
            </a:gsLst>
            <a:lin ang="20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排班问题</a:t>
            </a:r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9100" y="231140"/>
            <a:ext cx="5664200" cy="519811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3675" y="2107565"/>
            <a:ext cx="5234940" cy="199580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55986" y="230933"/>
            <a:ext cx="11521279" cy="6589041"/>
            <a:chOff x="335361" y="116633"/>
            <a:chExt cx="11521279" cy="6589041"/>
          </a:xfrm>
        </p:grpSpPr>
        <p:grpSp>
          <p:nvGrpSpPr>
            <p:cNvPr id="3" name="组合 2"/>
            <p:cNvGrpSpPr/>
            <p:nvPr>
              <p:custDataLst>
                <p:tags r:id="rId2"/>
              </p:custDataLst>
            </p:nvPr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>
                <p:custDataLst>
                  <p:tags r:id="rId3"/>
                </p:custDataLst>
              </p:nvPr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>
                <p:custDataLst>
                  <p:tags r:id="rId4"/>
                </p:custDataLst>
              </p:nvPr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>
              <p:custDataLst>
                <p:tags r:id="rId5"/>
              </p:custDataLst>
            </p:nvPr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>
              <p:custDataLst>
                <p:tags r:id="rId6"/>
              </p:custDataLst>
            </p:nvPr>
          </p:nvSpPr>
          <p:spPr>
            <a:xfrm>
              <a:off x="1127448" y="193957"/>
              <a:ext cx="5574566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工具运行案例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0805366" y="642867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414020" y="5571490"/>
            <a:ext cx="106076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</a:t>
            </a:r>
            <a:r>
              <a:rPr lang="zh-CN" altLang="en-US" dirty="0"/>
              <a:t>数独问题是经典问题。但在</a:t>
            </a:r>
            <a:r>
              <a:rPr lang="en-US" altLang="zh-CN" dirty="0"/>
              <a:t>Z3</a:t>
            </a:r>
            <a:r>
              <a:rPr lang="zh-CN" altLang="en-US" dirty="0"/>
              <a:t>里这不是搜索算法，而是把规则写出来：范围、</a:t>
            </a:r>
            <a:r>
              <a:rPr lang="en-US" altLang="zh-CN" dirty="0"/>
              <a:t>Distinct</a:t>
            </a:r>
            <a:r>
              <a:rPr lang="zh-CN" altLang="en-US" dirty="0"/>
              <a:t>、给定数字。</a:t>
            </a:r>
            <a:endParaRPr lang="en-US" altLang="zh-CN" dirty="0"/>
          </a:p>
          <a:p>
            <a:r>
              <a:rPr lang="en-US" altLang="zh-CN" dirty="0"/>
              <a:t>Z3 </a:t>
            </a:r>
            <a:r>
              <a:rPr lang="zh-CN" altLang="en-US" dirty="0"/>
              <a:t>自动完成求解；如果</a:t>
            </a:r>
            <a:r>
              <a:rPr lang="en-US" altLang="zh-CN" dirty="0"/>
              <a:t> givens </a:t>
            </a:r>
            <a:r>
              <a:rPr lang="zh-CN" altLang="en-US" dirty="0"/>
              <a:t>自相矛盾，</a:t>
            </a:r>
            <a:r>
              <a:rPr lang="en-US" altLang="zh-CN" dirty="0"/>
              <a:t>check() </a:t>
            </a:r>
            <a:r>
              <a:rPr lang="zh-CN" altLang="en-US" dirty="0"/>
              <a:t>会返回</a:t>
            </a:r>
            <a:r>
              <a:rPr lang="en-US" altLang="zh-CN" dirty="0"/>
              <a:t> unsat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10" name="圆角矩形 6"/>
          <p:cNvSpPr/>
          <p:nvPr>
            <p:custDataLst>
              <p:tags r:id="rId9"/>
            </p:custDataLst>
          </p:nvPr>
        </p:nvSpPr>
        <p:spPr>
          <a:xfrm>
            <a:off x="413878" y="1019284"/>
            <a:ext cx="3177540" cy="490220"/>
          </a:xfrm>
          <a:prstGeom prst="roundRect">
            <a:avLst>
              <a:gd name="adj" fmla="val 37046"/>
            </a:avLst>
          </a:prstGeom>
          <a:gradFill>
            <a:gsLst>
              <a:gs pos="53000">
                <a:srgbClr val="961318"/>
              </a:gs>
              <a:gs pos="95000">
                <a:srgbClr val="961318">
                  <a:alpha val="0"/>
                </a:srgbClr>
              </a:gs>
              <a:gs pos="0">
                <a:srgbClr val="961318"/>
              </a:gs>
            </a:gsLst>
            <a:lin ang="20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数独问题</a:t>
            </a:r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9170" y="199390"/>
            <a:ext cx="4666615" cy="52597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540" y="1991360"/>
            <a:ext cx="5692775" cy="252730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55986" y="230933"/>
            <a:ext cx="11521279" cy="6589041"/>
            <a:chOff x="335361" y="116633"/>
            <a:chExt cx="11521279" cy="6589041"/>
          </a:xfrm>
        </p:grpSpPr>
        <p:grpSp>
          <p:nvGrpSpPr>
            <p:cNvPr id="3" name="组合 2"/>
            <p:cNvGrpSpPr/>
            <p:nvPr>
              <p:custDataLst>
                <p:tags r:id="rId2"/>
              </p:custDataLst>
            </p:nvPr>
          </p:nvGrpSpPr>
          <p:grpSpPr>
            <a:xfrm>
              <a:off x="335361" y="116633"/>
              <a:ext cx="629872" cy="612768"/>
              <a:chOff x="3070727" y="196457"/>
              <a:chExt cx="692047" cy="673255"/>
            </a:xfrm>
          </p:grpSpPr>
          <p:sp>
            <p:nvSpPr>
              <p:cNvPr id="8" name="平行四边形 7"/>
              <p:cNvSpPr/>
              <p:nvPr>
                <p:custDataLst>
                  <p:tags r:id="rId3"/>
                </p:custDataLst>
              </p:nvPr>
            </p:nvSpPr>
            <p:spPr>
              <a:xfrm>
                <a:off x="3070727" y="196457"/>
                <a:ext cx="629587" cy="612775"/>
              </a:xfrm>
              <a:prstGeom prst="parallelogram">
                <a:avLst/>
              </a:prstGeom>
              <a:solidFill>
                <a:srgbClr val="961318"/>
              </a:solidFill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>
                <p:custDataLst>
                  <p:tags r:id="rId4"/>
                </p:custDataLst>
              </p:nvPr>
            </p:nvSpPr>
            <p:spPr>
              <a:xfrm>
                <a:off x="3133187" y="256937"/>
                <a:ext cx="629587" cy="612775"/>
              </a:xfrm>
              <a:prstGeom prst="parallelogram">
                <a:avLst/>
              </a:prstGeom>
              <a:noFill/>
              <a:ln w="25400" cap="flat" cmpd="sng" algn="ctr">
                <a:solidFill>
                  <a:srgbClr val="961318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>
              <p:custDataLst>
                <p:tags r:id="rId5"/>
              </p:custDataLst>
            </p:nvPr>
          </p:nvCxnSpPr>
          <p:spPr>
            <a:xfrm>
              <a:off x="367840" y="809674"/>
              <a:ext cx="11488800" cy="0"/>
            </a:xfrm>
            <a:prstGeom prst="line">
              <a:avLst/>
            </a:prstGeom>
            <a:noFill/>
            <a:ln w="9525" cap="flat" cmpd="sng" algn="ctr">
              <a:solidFill>
                <a:srgbClr val="961318"/>
              </a:solidFill>
              <a:prstDash val="solid"/>
            </a:ln>
            <a:effectLst/>
          </p:spPr>
        </p:cxnSp>
        <p:sp>
          <p:nvSpPr>
            <p:cNvPr id="5" name="文本占位符 5"/>
            <p:cNvSpPr txBox="1"/>
            <p:nvPr>
              <p:custDataLst>
                <p:tags r:id="rId6"/>
              </p:custDataLst>
            </p:nvPr>
          </p:nvSpPr>
          <p:spPr>
            <a:xfrm>
              <a:off x="1127448" y="193957"/>
              <a:ext cx="5574566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b="1" kern="1200">
                  <a:solidFill>
                    <a:srgbClr val="024282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总结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0805366" y="642867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1" name="圆角矩形 6"/>
          <p:cNvSpPr/>
          <p:nvPr>
            <p:custDataLst>
              <p:tags r:id="rId8"/>
            </p:custDataLst>
          </p:nvPr>
        </p:nvSpPr>
        <p:spPr>
          <a:xfrm>
            <a:off x="413878" y="1019284"/>
            <a:ext cx="3177540" cy="490220"/>
          </a:xfrm>
          <a:prstGeom prst="roundRect">
            <a:avLst>
              <a:gd name="adj" fmla="val 37046"/>
            </a:avLst>
          </a:prstGeom>
          <a:gradFill>
            <a:gsLst>
              <a:gs pos="53000">
                <a:srgbClr val="961318"/>
              </a:gs>
              <a:gs pos="95000">
                <a:srgbClr val="961318">
                  <a:alpha val="0"/>
                </a:srgbClr>
              </a:gs>
              <a:gs pos="0">
                <a:srgbClr val="961318"/>
              </a:gs>
            </a:gsLst>
            <a:lin ang="20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期望</a:t>
            </a:r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476885" y="1743710"/>
            <a:ext cx="11499215" cy="32289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Z3 是一个强大的自动化推理引擎，能将复杂的逻辑问题交给机器处理。</a:t>
            </a:r>
            <a:endParaRPr lang="zh-CN" altLang="en-US" sz="2800" dirty="0"/>
          </a:p>
          <a:p>
            <a:r>
              <a:rPr lang="zh-CN" altLang="en-US" sz="2800" dirty="0"/>
              <a:t>核心在于建模：将现实世界的规则和约束，精准地翻译成 Z3 能理解的数学语言。</a:t>
            </a:r>
            <a:endParaRPr lang="zh-CN" altLang="en-US" sz="2800" dirty="0"/>
          </a:p>
          <a:p>
            <a:r>
              <a:rPr lang="zh-CN" altLang="en-US" sz="2800" dirty="0"/>
              <a:t>赋能未来：掌握 Z3 不仅是学习一个工具，更是获得一种解决复杂系统问题的全新思维方式。   </a:t>
            </a:r>
            <a:endParaRPr lang="zh-CN" altLang="en-US" sz="2800" dirty="0"/>
          </a:p>
        </p:txBody>
      </p:sp>
    </p:spTree>
  </p:cSld>
  <p:clrMapOvr>
    <a:masterClrMapping/>
  </p:clrMapOvr>
  <p:transition spd="slow">
    <p:pull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MH_OLD_SHAPE_ID" val="2"/>
  <p:tag name="REFSHAPE" val="114"/>
</p:tagLst>
</file>

<file path=ppt/tags/tag64.xml><?xml version="1.0" encoding="utf-8"?>
<p:tagLst xmlns:p="http://schemas.openxmlformats.org/presentationml/2006/main">
  <p:tag name="MH_OLD_SHAPE_ID" val="3"/>
  <p:tag name="REFSHAPE" val="115"/>
</p:tagLst>
</file>

<file path=ppt/tags/tag65.xml><?xml version="1.0" encoding="utf-8"?>
<p:tagLst xmlns:p="http://schemas.openxmlformats.org/presentationml/2006/main">
  <p:tag name="MH_OLD_SHAPE_ID" val="4"/>
  <p:tag name="REFSHAPE" val="116"/>
</p:tagLst>
</file>

<file path=ppt/tags/tag66.xml><?xml version="1.0" encoding="utf-8"?>
<p:tagLst xmlns:p="http://schemas.openxmlformats.org/presentationml/2006/main">
  <p:tag name="MH_OLD_SHAPE_ID" val="5"/>
  <p:tag name="REFSHAPE" val="117"/>
</p:tagLst>
</file>

<file path=ppt/tags/tag67.xml><?xml version="1.0" encoding="utf-8"?>
<p:tagLst xmlns:p="http://schemas.openxmlformats.org/presentationml/2006/main">
  <p:tag name="MH_OLD_SHAPE_ID" val="6"/>
  <p:tag name="REFSHAPE" val="118"/>
</p:tagLst>
</file>

<file path=ppt/tags/tag68.xml><?xml version="1.0" encoding="utf-8"?>
<p:tagLst xmlns:p="http://schemas.openxmlformats.org/presentationml/2006/main">
  <p:tag name="MH_OLD_SHAPE_ID" val="2"/>
  <p:tag name="REFSHAPE" val="119"/>
</p:tagLst>
</file>

<file path=ppt/tags/tag69.xml><?xml version="1.0" encoding="utf-8"?>
<p:tagLst xmlns:p="http://schemas.openxmlformats.org/presentationml/2006/main">
  <p:tag name="MH_OLD_SHAPE_ID" val="3"/>
  <p:tag name="REFSHAPE" val="120"/>
</p:tagLst>
</file>

<file path=ppt/tags/tag70.xml><?xml version="1.0" encoding="utf-8"?>
<p:tagLst xmlns:p="http://schemas.openxmlformats.org/presentationml/2006/main">
  <p:tag name="MH_OLD_SHAPE_ID" val="4"/>
  <p:tag name="REFSHAPE" val="121"/>
</p:tagLst>
</file>

<file path=ppt/tags/tag71.xml><?xml version="1.0" encoding="utf-8"?>
<p:tagLst xmlns:p="http://schemas.openxmlformats.org/presentationml/2006/main">
  <p:tag name="MH_OLD_SHAPE_ID" val="5"/>
  <p:tag name="REFSHAPE" val="122"/>
</p:tagLst>
</file>

<file path=ppt/tags/tag72.xml><?xml version="1.0" encoding="utf-8"?>
<p:tagLst xmlns:p="http://schemas.openxmlformats.org/presentationml/2006/main">
  <p:tag name="MH_OLD_SHAPE_ID" val="6"/>
  <p:tag name="REFSHAPE" val="123"/>
</p:tagLst>
</file>

<file path=ppt/tags/tag73.xml><?xml version="1.0" encoding="utf-8"?>
<p:tagLst xmlns:p="http://schemas.openxmlformats.org/presentationml/2006/main">
  <p:tag name="MH_OLD_SHAPE_ID" val="7"/>
  <p:tag name="REFSHAPE" val="124"/>
</p:tagLst>
</file>

<file path=ppt/tags/tag74.xml><?xml version="1.0" encoding="utf-8"?>
<p:tagLst xmlns:p="http://schemas.openxmlformats.org/presentationml/2006/main">
  <p:tag name="MH_OLD_SHAPE_ID" val="9"/>
  <p:tag name="REFSHAPE" val="125"/>
</p:tagLst>
</file>

<file path=ppt/tags/tag75.xml><?xml version="1.0" encoding="utf-8"?>
<p:tagLst xmlns:p="http://schemas.openxmlformats.org/presentationml/2006/main">
  <p:tag name="MH_OLD_SHAPE_ID" val="2"/>
  <p:tag name="REFSHAPE" val="101"/>
</p:tagLst>
</file>

<file path=ppt/tags/tag76.xml><?xml version="1.0" encoding="utf-8"?>
<p:tagLst xmlns:p="http://schemas.openxmlformats.org/presentationml/2006/main">
  <p:tag name="MH_OLD_SHAPE_ID" val="3"/>
  <p:tag name="REFSHAPE" val="102"/>
</p:tagLst>
</file>

<file path=ppt/tags/tag77.xml><?xml version="1.0" encoding="utf-8"?>
<p:tagLst xmlns:p="http://schemas.openxmlformats.org/presentationml/2006/main">
  <p:tag name="MH_OLD_SHAPE_ID" val="4"/>
  <p:tag name="REFSHAPE" val="103"/>
</p:tagLst>
</file>

<file path=ppt/tags/tag78.xml><?xml version="1.0" encoding="utf-8"?>
<p:tagLst xmlns:p="http://schemas.openxmlformats.org/presentationml/2006/main">
  <p:tag name="MH_OLD_SHAPE_ID" val="5"/>
  <p:tag name="REFSHAPE" val="104"/>
</p:tagLst>
</file>

<file path=ppt/tags/tag79.xml><?xml version="1.0" encoding="utf-8"?>
<p:tagLst xmlns:p="http://schemas.openxmlformats.org/presentationml/2006/main">
  <p:tag name="MH_OLD_SHAPE_ID" val="6"/>
  <p:tag name="REFSHAPE" val="105"/>
</p:tagLst>
</file>

<file path=ppt/tags/tag80.xml><?xml version="1.0" encoding="utf-8"?>
<p:tagLst xmlns:p="http://schemas.openxmlformats.org/presentationml/2006/main">
  <p:tag name="MH_OLD_SHAPE_ID" val="7"/>
  <p:tag name="REFSHAPE" val="106"/>
</p:tagLst>
</file>

<file path=ppt/tags/tag81.xml><?xml version="1.0" encoding="utf-8"?>
<p:tagLst xmlns:p="http://schemas.openxmlformats.org/presentationml/2006/main">
  <p:tag name="MH_OLD_SHAPE_ID" val="8"/>
  <p:tag name="REFSHAPE" val="107"/>
</p:tagLst>
</file>

<file path=ppt/tags/tag82.xml><?xml version="1.0" encoding="utf-8"?>
<p:tagLst xmlns:p="http://schemas.openxmlformats.org/presentationml/2006/main">
  <p:tag name="MH_OLD_SHAPE_ID" val="9"/>
  <p:tag name="REFSHAPE" val="108"/>
</p:tagLst>
</file>

<file path=ppt/tags/tag83.xml><?xml version="1.0" encoding="utf-8"?>
<p:tagLst xmlns:p="http://schemas.openxmlformats.org/presentationml/2006/main">
  <p:tag name="MH_OLD_SHAPE_ID" val="10"/>
  <p:tag name="REFSHAPE" val="109"/>
</p:tagLst>
</file>

<file path=ppt/tags/tag84.xml><?xml version="1.0" encoding="utf-8"?>
<p:tagLst xmlns:p="http://schemas.openxmlformats.org/presentationml/2006/main">
  <p:tag name="MH_OLD_SHAPE_ID" val="11"/>
  <p:tag name="REFSHAPE" val="110"/>
</p:tagLst>
</file>

<file path=ppt/tags/tag85.xml><?xml version="1.0" encoding="utf-8"?>
<p:tagLst xmlns:p="http://schemas.openxmlformats.org/presentationml/2006/main">
  <p:tag name="MH_OLD_SHAPE_ID" val="13"/>
  <p:tag name="REFSHAPE" val="111"/>
</p:tagLst>
</file>

<file path=ppt/tags/tag86.xml><?xml version="1.0" encoding="utf-8"?>
<p:tagLst xmlns:p="http://schemas.openxmlformats.org/presentationml/2006/main">
  <p:tag name="MH_OLD_SHAPE_ID" val="14"/>
  <p:tag name="REFSHAPE" val="112"/>
</p:tagLst>
</file>

<file path=ppt/tags/tag87.xml><?xml version="1.0" encoding="utf-8"?>
<p:tagLst xmlns:p="http://schemas.openxmlformats.org/presentationml/2006/main">
  <p:tag name="MH_OLD_SHAPE_ID" val="2"/>
  <p:tag name="REFSHAPE" val="101"/>
</p:tagLst>
</file>

<file path=ppt/tags/tag88.xml><?xml version="1.0" encoding="utf-8"?>
<p:tagLst xmlns:p="http://schemas.openxmlformats.org/presentationml/2006/main">
  <p:tag name="MH_OLD_SHAPE_ID" val="3"/>
  <p:tag name="REFSHAPE" val="102"/>
</p:tagLst>
</file>

<file path=ppt/tags/tag89.xml><?xml version="1.0" encoding="utf-8"?>
<p:tagLst xmlns:p="http://schemas.openxmlformats.org/presentationml/2006/main">
  <p:tag name="MH_OLD_SHAPE_ID" val="8"/>
  <p:tag name="REFSHAPE" val="103"/>
</p:tagLst>
</file>

<file path=ppt/tags/tag90.xml><?xml version="1.0" encoding="utf-8"?>
<p:tagLst xmlns:p="http://schemas.openxmlformats.org/presentationml/2006/main">
  <p:tag name="MH_OLD_SHAPE_ID" val="9"/>
  <p:tag name="REFSHAPE" val="104"/>
</p:tagLst>
</file>

<file path=ppt/tags/tag91.xml><?xml version="1.0" encoding="utf-8"?>
<p:tagLst xmlns:p="http://schemas.openxmlformats.org/presentationml/2006/main">
  <p:tag name="MH_OLD_SHAPE_ID" val="4"/>
  <p:tag name="REFSHAPE" val="105"/>
</p:tagLst>
</file>

<file path=ppt/tags/tag92.xml><?xml version="1.0" encoding="utf-8"?>
<p:tagLst xmlns:p="http://schemas.openxmlformats.org/presentationml/2006/main">
  <p:tag name="MH_OLD_SHAPE_ID" val="5"/>
  <p:tag name="REFSHAPE" val="106"/>
</p:tagLst>
</file>

<file path=ppt/tags/tag93.xml><?xml version="1.0" encoding="utf-8"?>
<p:tagLst xmlns:p="http://schemas.openxmlformats.org/presentationml/2006/main">
  <p:tag name="MH_OLD_SHAPE_ID" val="6"/>
  <p:tag name="REFSHAPE" val="107"/>
</p:tagLst>
</file>

<file path=ppt/tags/tag94.xml><?xml version="1.0" encoding="utf-8"?>
<p:tagLst xmlns:p="http://schemas.openxmlformats.org/presentationml/2006/main">
  <p:tag name="MH_OLD_SHAPE_ID" val="11"/>
  <p:tag name="REFSHAPE" val="108"/>
</p:tagLst>
</file>

<file path=ppt/tags/tag95.xml><?xml version="1.0" encoding="utf-8"?>
<p:tagLst xmlns:p="http://schemas.openxmlformats.org/presentationml/2006/main">
  <p:tag name="MH_OLD_SHAPE_ID" val="7"/>
  <p:tag name="REFSHAPE" val="109"/>
</p:tagLst>
</file>

<file path=ppt/tags/tag96.xml><?xml version="1.0" encoding="utf-8"?>
<p:tagLst xmlns:p="http://schemas.openxmlformats.org/presentationml/2006/main">
  <p:tag name="MH_OLD_SHAPE_ID" val="2"/>
  <p:tag name="REFSHAPE" val="101"/>
</p:tagLst>
</file>

<file path=ppt/tags/tag97.xml><?xml version="1.0" encoding="utf-8"?>
<p:tagLst xmlns:p="http://schemas.openxmlformats.org/presentationml/2006/main">
  <p:tag name="MH_OLD_SHAPE_ID" val="3"/>
  <p:tag name="REFSHAPE" val="102"/>
</p:tagLst>
</file>

<file path=ppt/tags/tag98.xml><?xml version="1.0" encoding="utf-8"?>
<p:tagLst xmlns:p="http://schemas.openxmlformats.org/presentationml/2006/main">
  <p:tag name="MH_OLD_SHAPE_ID" val="8"/>
  <p:tag name="REFSHAPE" val="103"/>
</p:tagLst>
</file>

<file path=ppt/tags/tag99.xml><?xml version="1.0" encoding="utf-8"?>
<p:tagLst xmlns:p="http://schemas.openxmlformats.org/presentationml/2006/main">
  <p:tag name="MH_OLD_SHAPE_ID" val="9"/>
  <p:tag name="REFSHAPE" val="104"/>
</p:tagLst>
</file>

<file path=ppt/tags/tag100.xml><?xml version="1.0" encoding="utf-8"?>
<p:tagLst xmlns:p="http://schemas.openxmlformats.org/presentationml/2006/main">
  <p:tag name="MH_OLD_SHAPE_ID" val="4"/>
  <p:tag name="REFSHAPE" val="105"/>
</p:tagLst>
</file>

<file path=ppt/tags/tag101.xml><?xml version="1.0" encoding="utf-8"?>
<p:tagLst xmlns:p="http://schemas.openxmlformats.org/presentationml/2006/main">
  <p:tag name="MH_OLD_SHAPE_ID" val="5"/>
  <p:tag name="REFSHAPE" val="106"/>
</p:tagLst>
</file>

<file path=ppt/tags/tag102.xml><?xml version="1.0" encoding="utf-8"?>
<p:tagLst xmlns:p="http://schemas.openxmlformats.org/presentationml/2006/main">
  <p:tag name="MH_OLD_SHAPE_ID" val="6"/>
  <p:tag name="REFSHAPE" val="107"/>
</p:tagLst>
</file>

<file path=ppt/tags/tag103.xml><?xml version="1.0" encoding="utf-8"?>
<p:tagLst xmlns:p="http://schemas.openxmlformats.org/presentationml/2006/main">
  <p:tag name="MH_OLD_SHAPE_ID" val="11"/>
  <p:tag name="REFSHAPE" val="108"/>
</p:tagLst>
</file>

<file path=ppt/tags/tag104.xml><?xml version="1.0" encoding="utf-8"?>
<p:tagLst xmlns:p="http://schemas.openxmlformats.org/presentationml/2006/main">
  <p:tag name="MH_OLD_SHAPE_ID" val="7"/>
  <p:tag name="REFSHAPE" val="109"/>
</p:tagLst>
</file>

<file path=ppt/tags/tag105.xml><?xml version="1.0" encoding="utf-8"?>
<p:tagLst xmlns:p="http://schemas.openxmlformats.org/presentationml/2006/main">
  <p:tag name="MH_OLD_SHAPE_ID" val="2"/>
  <p:tag name="REFSHAPE" val="101"/>
</p:tagLst>
</file>

<file path=ppt/tags/tag106.xml><?xml version="1.0" encoding="utf-8"?>
<p:tagLst xmlns:p="http://schemas.openxmlformats.org/presentationml/2006/main">
  <p:tag name="MH_OLD_SHAPE_ID" val="3"/>
  <p:tag name="REFSHAPE" val="102"/>
</p:tagLst>
</file>

<file path=ppt/tags/tag107.xml><?xml version="1.0" encoding="utf-8"?>
<p:tagLst xmlns:p="http://schemas.openxmlformats.org/presentationml/2006/main">
  <p:tag name="MH_OLD_SHAPE_ID" val="8"/>
  <p:tag name="REFSHAPE" val="103"/>
</p:tagLst>
</file>

<file path=ppt/tags/tag108.xml><?xml version="1.0" encoding="utf-8"?>
<p:tagLst xmlns:p="http://schemas.openxmlformats.org/presentationml/2006/main">
  <p:tag name="MH_OLD_SHAPE_ID" val="9"/>
  <p:tag name="REFSHAPE" val="104"/>
</p:tagLst>
</file>

<file path=ppt/tags/tag109.xml><?xml version="1.0" encoding="utf-8"?>
<p:tagLst xmlns:p="http://schemas.openxmlformats.org/presentationml/2006/main">
  <p:tag name="MH_OLD_SHAPE_ID" val="4"/>
  <p:tag name="REFSHAPE" val="105"/>
</p:tagLst>
</file>

<file path=ppt/tags/tag110.xml><?xml version="1.0" encoding="utf-8"?>
<p:tagLst xmlns:p="http://schemas.openxmlformats.org/presentationml/2006/main">
  <p:tag name="MH_OLD_SHAPE_ID" val="5"/>
  <p:tag name="REFSHAPE" val="106"/>
</p:tagLst>
</file>

<file path=ppt/tags/tag111.xml><?xml version="1.0" encoding="utf-8"?>
<p:tagLst xmlns:p="http://schemas.openxmlformats.org/presentationml/2006/main">
  <p:tag name="MH_OLD_SHAPE_ID" val="6"/>
  <p:tag name="REFSHAPE" val="107"/>
</p:tagLst>
</file>

<file path=ppt/tags/tag112.xml><?xml version="1.0" encoding="utf-8"?>
<p:tagLst xmlns:p="http://schemas.openxmlformats.org/presentationml/2006/main">
  <p:tag name="MH_OLD_SHAPE_ID" val="11"/>
  <p:tag name="REFSHAPE" val="108"/>
</p:tagLst>
</file>

<file path=ppt/tags/tag113.xml><?xml version="1.0" encoding="utf-8"?>
<p:tagLst xmlns:p="http://schemas.openxmlformats.org/presentationml/2006/main">
  <p:tag name="MH_OLD_SHAPE_ID" val="7"/>
  <p:tag name="REFSHAPE" val="109"/>
</p:tagLst>
</file>

<file path=ppt/tags/tag114.xml><?xml version="1.0" encoding="utf-8"?>
<p:tagLst xmlns:p="http://schemas.openxmlformats.org/presentationml/2006/main">
  <p:tag name="MH_OLD_SHAPE_ID" val="2"/>
  <p:tag name="REFSHAPE" val="101"/>
</p:tagLst>
</file>

<file path=ppt/tags/tag115.xml><?xml version="1.0" encoding="utf-8"?>
<p:tagLst xmlns:p="http://schemas.openxmlformats.org/presentationml/2006/main">
  <p:tag name="MH_OLD_SHAPE_ID" val="3"/>
  <p:tag name="REFSHAPE" val="102"/>
</p:tagLst>
</file>

<file path=ppt/tags/tag116.xml><?xml version="1.0" encoding="utf-8"?>
<p:tagLst xmlns:p="http://schemas.openxmlformats.org/presentationml/2006/main">
  <p:tag name="MH_OLD_SHAPE_ID" val="8"/>
  <p:tag name="REFSHAPE" val="103"/>
</p:tagLst>
</file>

<file path=ppt/tags/tag117.xml><?xml version="1.0" encoding="utf-8"?>
<p:tagLst xmlns:p="http://schemas.openxmlformats.org/presentationml/2006/main">
  <p:tag name="MH_OLD_SHAPE_ID" val="9"/>
  <p:tag name="REFSHAPE" val="104"/>
</p:tagLst>
</file>

<file path=ppt/tags/tag118.xml><?xml version="1.0" encoding="utf-8"?>
<p:tagLst xmlns:p="http://schemas.openxmlformats.org/presentationml/2006/main">
  <p:tag name="MH_OLD_SHAPE_ID" val="4"/>
  <p:tag name="REFSHAPE" val="105"/>
</p:tagLst>
</file>

<file path=ppt/tags/tag119.xml><?xml version="1.0" encoding="utf-8"?>
<p:tagLst xmlns:p="http://schemas.openxmlformats.org/presentationml/2006/main">
  <p:tag name="MH_OLD_SHAPE_ID" val="5"/>
  <p:tag name="REFSHAPE" val="106"/>
</p:tagLst>
</file>

<file path=ppt/tags/tag120.xml><?xml version="1.0" encoding="utf-8"?>
<p:tagLst xmlns:p="http://schemas.openxmlformats.org/presentationml/2006/main">
  <p:tag name="MH_OLD_SHAPE_ID" val="6"/>
  <p:tag name="REFSHAPE" val="107"/>
</p:tagLst>
</file>

<file path=ppt/tags/tag121.xml><?xml version="1.0" encoding="utf-8"?>
<p:tagLst xmlns:p="http://schemas.openxmlformats.org/presentationml/2006/main">
  <p:tag name="MH_OLD_SHAPE_ID" val="11"/>
  <p:tag name="REFSHAPE" val="108"/>
</p:tagLst>
</file>

<file path=ppt/tags/tag122.xml><?xml version="1.0" encoding="utf-8"?>
<p:tagLst xmlns:p="http://schemas.openxmlformats.org/presentationml/2006/main">
  <p:tag name="MH_OLD_SHAPE_ID" val="7"/>
  <p:tag name="REFSHAPE" val="109"/>
</p:tagLst>
</file>

<file path=ppt/tags/tag123.xml><?xml version="1.0" encoding="utf-8"?>
<p:tagLst xmlns:p="http://schemas.openxmlformats.org/presentationml/2006/main">
  <p:tag name="MH_OLD_SHAPE_ID" val="2"/>
  <p:tag name="REFSHAPE" val="101"/>
</p:tagLst>
</file>

<file path=ppt/tags/tag124.xml><?xml version="1.0" encoding="utf-8"?>
<p:tagLst xmlns:p="http://schemas.openxmlformats.org/presentationml/2006/main">
  <p:tag name="MH_OLD_SHAPE_ID" val="3"/>
  <p:tag name="REFSHAPE" val="102"/>
</p:tagLst>
</file>

<file path=ppt/tags/tag125.xml><?xml version="1.0" encoding="utf-8"?>
<p:tagLst xmlns:p="http://schemas.openxmlformats.org/presentationml/2006/main">
  <p:tag name="MH_OLD_SHAPE_ID" val="8"/>
  <p:tag name="REFSHAPE" val="103"/>
</p:tagLst>
</file>

<file path=ppt/tags/tag126.xml><?xml version="1.0" encoding="utf-8"?>
<p:tagLst xmlns:p="http://schemas.openxmlformats.org/presentationml/2006/main">
  <p:tag name="MH_OLD_SHAPE_ID" val="9"/>
  <p:tag name="REFSHAPE" val="104"/>
</p:tagLst>
</file>

<file path=ppt/tags/tag127.xml><?xml version="1.0" encoding="utf-8"?>
<p:tagLst xmlns:p="http://schemas.openxmlformats.org/presentationml/2006/main">
  <p:tag name="MH_OLD_SHAPE_ID" val="4"/>
  <p:tag name="REFSHAPE" val="105"/>
</p:tagLst>
</file>

<file path=ppt/tags/tag128.xml><?xml version="1.0" encoding="utf-8"?>
<p:tagLst xmlns:p="http://schemas.openxmlformats.org/presentationml/2006/main">
  <p:tag name="MH_OLD_SHAPE_ID" val="5"/>
  <p:tag name="REFSHAPE" val="106"/>
</p:tagLst>
</file>

<file path=ppt/tags/tag129.xml><?xml version="1.0" encoding="utf-8"?>
<p:tagLst xmlns:p="http://schemas.openxmlformats.org/presentationml/2006/main">
  <p:tag name="MH_OLD_SHAPE_ID" val="6"/>
  <p:tag name="REFSHAPE" val="107"/>
</p:tagLst>
</file>

<file path=ppt/tags/tag130.xml><?xml version="1.0" encoding="utf-8"?>
<p:tagLst xmlns:p="http://schemas.openxmlformats.org/presentationml/2006/main">
  <p:tag name="MH_OLD_SHAPE_ID" val="11"/>
  <p:tag name="REFSHAPE" val="108"/>
</p:tagLst>
</file>

<file path=ppt/tags/tag131.xml><?xml version="1.0" encoding="utf-8"?>
<p:tagLst xmlns:p="http://schemas.openxmlformats.org/presentationml/2006/main">
  <p:tag name="MH_OLD_SHAPE_ID" val="7"/>
  <p:tag name="REFSHAPE" val="109"/>
</p:tagLst>
</file>

<file path=ppt/tags/tag132.xml><?xml version="1.0" encoding="utf-8"?>
<p:tagLst xmlns:p="http://schemas.openxmlformats.org/presentationml/2006/main">
  <p:tag name="MH_OLD_SHAPE_ID" val="2"/>
  <p:tag name="REFSHAPE" val="101"/>
</p:tagLst>
</file>

<file path=ppt/tags/tag133.xml><?xml version="1.0" encoding="utf-8"?>
<p:tagLst xmlns:p="http://schemas.openxmlformats.org/presentationml/2006/main">
  <p:tag name="MH_OLD_SHAPE_ID" val="3"/>
  <p:tag name="REFSHAPE" val="102"/>
</p:tagLst>
</file>

<file path=ppt/tags/tag134.xml><?xml version="1.0" encoding="utf-8"?>
<p:tagLst xmlns:p="http://schemas.openxmlformats.org/presentationml/2006/main">
  <p:tag name="MH_OLD_SHAPE_ID" val="8"/>
  <p:tag name="REFSHAPE" val="103"/>
</p:tagLst>
</file>

<file path=ppt/tags/tag135.xml><?xml version="1.0" encoding="utf-8"?>
<p:tagLst xmlns:p="http://schemas.openxmlformats.org/presentationml/2006/main">
  <p:tag name="MH_OLD_SHAPE_ID" val="9"/>
  <p:tag name="REFSHAPE" val="104"/>
</p:tagLst>
</file>

<file path=ppt/tags/tag136.xml><?xml version="1.0" encoding="utf-8"?>
<p:tagLst xmlns:p="http://schemas.openxmlformats.org/presentationml/2006/main">
  <p:tag name="MH_OLD_SHAPE_ID" val="4"/>
  <p:tag name="REFSHAPE" val="105"/>
</p:tagLst>
</file>

<file path=ppt/tags/tag137.xml><?xml version="1.0" encoding="utf-8"?>
<p:tagLst xmlns:p="http://schemas.openxmlformats.org/presentationml/2006/main">
  <p:tag name="MH_OLD_SHAPE_ID" val="5"/>
  <p:tag name="REFSHAPE" val="106"/>
</p:tagLst>
</file>

<file path=ppt/tags/tag138.xml><?xml version="1.0" encoding="utf-8"?>
<p:tagLst xmlns:p="http://schemas.openxmlformats.org/presentationml/2006/main">
  <p:tag name="MH_OLD_SHAPE_ID" val="6"/>
  <p:tag name="REFSHAPE" val="107"/>
</p:tagLst>
</file>

<file path=ppt/tags/tag139.xml><?xml version="1.0" encoding="utf-8"?>
<p:tagLst xmlns:p="http://schemas.openxmlformats.org/presentationml/2006/main">
  <p:tag name="MH_OLD_SHAPE_ID" val="11"/>
  <p:tag name="REFSHAPE" val="108"/>
</p:tagLst>
</file>

<file path=ppt/tags/tag140.xml><?xml version="1.0" encoding="utf-8"?>
<p:tagLst xmlns:p="http://schemas.openxmlformats.org/presentationml/2006/main">
  <p:tag name="MH_OLD_SHAPE_ID" val="7"/>
  <p:tag name="REFSHAPE" val="109"/>
</p:tagLst>
</file>

<file path=ppt/tags/tag141.xml><?xml version="1.0" encoding="utf-8"?>
<p:tagLst xmlns:p="http://schemas.openxmlformats.org/presentationml/2006/main">
  <p:tag name="MH_OLD_SHAPE_ID" val="2"/>
  <p:tag name="REFSHAPE" val="101"/>
</p:tagLst>
</file>

<file path=ppt/tags/tag142.xml><?xml version="1.0" encoding="utf-8"?>
<p:tagLst xmlns:p="http://schemas.openxmlformats.org/presentationml/2006/main">
  <p:tag name="MH_OLD_SHAPE_ID" val="3"/>
  <p:tag name="REFSHAPE" val="102"/>
</p:tagLst>
</file>

<file path=ppt/tags/tag143.xml><?xml version="1.0" encoding="utf-8"?>
<p:tagLst xmlns:p="http://schemas.openxmlformats.org/presentationml/2006/main">
  <p:tag name="MH_OLD_SHAPE_ID" val="8"/>
  <p:tag name="REFSHAPE" val="103"/>
</p:tagLst>
</file>

<file path=ppt/tags/tag144.xml><?xml version="1.0" encoding="utf-8"?>
<p:tagLst xmlns:p="http://schemas.openxmlformats.org/presentationml/2006/main">
  <p:tag name="MH_OLD_SHAPE_ID" val="9"/>
  <p:tag name="REFSHAPE" val="104"/>
</p:tagLst>
</file>

<file path=ppt/tags/tag145.xml><?xml version="1.0" encoding="utf-8"?>
<p:tagLst xmlns:p="http://schemas.openxmlformats.org/presentationml/2006/main">
  <p:tag name="MH_OLD_SHAPE_ID" val="4"/>
  <p:tag name="REFSHAPE" val="105"/>
</p:tagLst>
</file>

<file path=ppt/tags/tag146.xml><?xml version="1.0" encoding="utf-8"?>
<p:tagLst xmlns:p="http://schemas.openxmlformats.org/presentationml/2006/main">
  <p:tag name="MH_OLD_SHAPE_ID" val="5"/>
  <p:tag name="REFSHAPE" val="106"/>
</p:tagLst>
</file>

<file path=ppt/tags/tag147.xml><?xml version="1.0" encoding="utf-8"?>
<p:tagLst xmlns:p="http://schemas.openxmlformats.org/presentationml/2006/main">
  <p:tag name="MH_OLD_SHAPE_ID" val="6"/>
  <p:tag name="REFSHAPE" val="107"/>
</p:tagLst>
</file>

<file path=ppt/tags/tag148.xml><?xml version="1.0" encoding="utf-8"?>
<p:tagLst xmlns:p="http://schemas.openxmlformats.org/presentationml/2006/main">
  <p:tag name="MH_OLD_SHAPE_ID" val="11"/>
  <p:tag name="REFSHAPE" val="108"/>
</p:tagLst>
</file>

<file path=ppt/tags/tag149.xml><?xml version="1.0" encoding="utf-8"?>
<p:tagLst xmlns:p="http://schemas.openxmlformats.org/presentationml/2006/main">
  <p:tag name="MH_OLD_SHAPE_ID" val="7"/>
  <p:tag name="REFSHAPE" val="109"/>
</p:tagLst>
</file>

<file path=ppt/tags/tag150.xml><?xml version="1.0" encoding="utf-8"?>
<p:tagLst xmlns:p="http://schemas.openxmlformats.org/presentationml/2006/main">
  <p:tag name="MH_OLD_SHAPE_ID" val="2"/>
  <p:tag name="REFSHAPE" val="101"/>
</p:tagLst>
</file>

<file path=ppt/tags/tag151.xml><?xml version="1.0" encoding="utf-8"?>
<p:tagLst xmlns:p="http://schemas.openxmlformats.org/presentationml/2006/main">
  <p:tag name="MH_OLD_SHAPE_ID" val="3"/>
  <p:tag name="REFSHAPE" val="102"/>
</p:tagLst>
</file>

<file path=ppt/tags/tag152.xml><?xml version="1.0" encoding="utf-8"?>
<p:tagLst xmlns:p="http://schemas.openxmlformats.org/presentationml/2006/main">
  <p:tag name="MH_OLD_SHAPE_ID" val="8"/>
  <p:tag name="REFSHAPE" val="103"/>
</p:tagLst>
</file>

<file path=ppt/tags/tag153.xml><?xml version="1.0" encoding="utf-8"?>
<p:tagLst xmlns:p="http://schemas.openxmlformats.org/presentationml/2006/main">
  <p:tag name="MH_OLD_SHAPE_ID" val="9"/>
  <p:tag name="REFSHAPE" val="104"/>
</p:tagLst>
</file>

<file path=ppt/tags/tag154.xml><?xml version="1.0" encoding="utf-8"?>
<p:tagLst xmlns:p="http://schemas.openxmlformats.org/presentationml/2006/main">
  <p:tag name="MH_OLD_SHAPE_ID" val="4"/>
  <p:tag name="REFSHAPE" val="105"/>
</p:tagLst>
</file>

<file path=ppt/tags/tag155.xml><?xml version="1.0" encoding="utf-8"?>
<p:tagLst xmlns:p="http://schemas.openxmlformats.org/presentationml/2006/main">
  <p:tag name="MH_OLD_SHAPE_ID" val="5"/>
  <p:tag name="REFSHAPE" val="106"/>
</p:tagLst>
</file>

<file path=ppt/tags/tag156.xml><?xml version="1.0" encoding="utf-8"?>
<p:tagLst xmlns:p="http://schemas.openxmlformats.org/presentationml/2006/main">
  <p:tag name="MH_OLD_SHAPE_ID" val="6"/>
  <p:tag name="REFSHAPE" val="107"/>
</p:tagLst>
</file>

<file path=ppt/tags/tag157.xml><?xml version="1.0" encoding="utf-8"?>
<p:tagLst xmlns:p="http://schemas.openxmlformats.org/presentationml/2006/main">
  <p:tag name="MH_OLD_SHAPE_ID" val="7"/>
  <p:tag name="REFSHAPE" val="109"/>
</p:tagLst>
</file>

<file path=ppt/tags/tag158.xml><?xml version="1.0" encoding="utf-8"?>
<p:tagLst xmlns:p="http://schemas.openxmlformats.org/presentationml/2006/main">
  <p:tag name="MH_OLD_SHAPE_ID" val="11"/>
  <p:tag name="REFSHAPE" val="108"/>
</p:tagLst>
</file>

<file path=ppt/tags/tag159.xml><?xml version="1.0" encoding="utf-8"?>
<p:tagLst xmlns:p="http://schemas.openxmlformats.org/presentationml/2006/main">
  <p:tag name="MH_OLD_SHAPE_ID" val="2"/>
  <p:tag name="REFSHAPE" val="101"/>
</p:tagLst>
</file>

<file path=ppt/tags/tag160.xml><?xml version="1.0" encoding="utf-8"?>
<p:tagLst xmlns:p="http://schemas.openxmlformats.org/presentationml/2006/main">
  <p:tag name="MH_OLD_SHAPE_ID" val="3"/>
  <p:tag name="REFSHAPE" val="102"/>
</p:tagLst>
</file>

<file path=ppt/tags/tag161.xml><?xml version="1.0" encoding="utf-8"?>
<p:tagLst xmlns:p="http://schemas.openxmlformats.org/presentationml/2006/main">
  <p:tag name="MH_OLD_SHAPE_ID" val="8"/>
  <p:tag name="REFSHAPE" val="103"/>
</p:tagLst>
</file>

<file path=ppt/tags/tag162.xml><?xml version="1.0" encoding="utf-8"?>
<p:tagLst xmlns:p="http://schemas.openxmlformats.org/presentationml/2006/main">
  <p:tag name="MH_OLD_SHAPE_ID" val="9"/>
  <p:tag name="REFSHAPE" val="104"/>
</p:tagLst>
</file>

<file path=ppt/tags/tag163.xml><?xml version="1.0" encoding="utf-8"?>
<p:tagLst xmlns:p="http://schemas.openxmlformats.org/presentationml/2006/main">
  <p:tag name="MH_OLD_SHAPE_ID" val="4"/>
  <p:tag name="REFSHAPE" val="105"/>
</p:tagLst>
</file>

<file path=ppt/tags/tag164.xml><?xml version="1.0" encoding="utf-8"?>
<p:tagLst xmlns:p="http://schemas.openxmlformats.org/presentationml/2006/main">
  <p:tag name="MH_OLD_SHAPE_ID" val="5"/>
  <p:tag name="REFSHAPE" val="106"/>
</p:tagLst>
</file>

<file path=ppt/tags/tag165.xml><?xml version="1.0" encoding="utf-8"?>
<p:tagLst xmlns:p="http://schemas.openxmlformats.org/presentationml/2006/main">
  <p:tag name="MH_OLD_SHAPE_ID" val="6"/>
  <p:tag name="REFSHAPE" val="107"/>
</p:tagLst>
</file>

<file path=ppt/tags/tag166.xml><?xml version="1.0" encoding="utf-8"?>
<p:tagLst xmlns:p="http://schemas.openxmlformats.org/presentationml/2006/main">
  <p:tag name="MH_OLD_SHAPE_ID" val="7"/>
  <p:tag name="REFSHAPE" val="109"/>
</p:tagLst>
</file>

<file path=ppt/tags/tag167.xml><?xml version="1.0" encoding="utf-8"?>
<p:tagLst xmlns:p="http://schemas.openxmlformats.org/presentationml/2006/main">
  <p:tag name="MH_OLD_SHAPE_ID" val="11"/>
  <p:tag name="REFSHAPE" val="108"/>
</p:tagLst>
</file>

<file path=ppt/tags/tag168.xml><?xml version="1.0" encoding="utf-8"?>
<p:tagLst xmlns:p="http://schemas.openxmlformats.org/presentationml/2006/main">
  <p:tag name="MH_OLD_SHAPE_ID" val="2"/>
  <p:tag name="REFSHAPE" val="101"/>
</p:tagLst>
</file>

<file path=ppt/tags/tag169.xml><?xml version="1.0" encoding="utf-8"?>
<p:tagLst xmlns:p="http://schemas.openxmlformats.org/presentationml/2006/main">
  <p:tag name="MH_OLD_SHAPE_ID" val="3"/>
  <p:tag name="REFSHAPE" val="102"/>
</p:tagLst>
</file>

<file path=ppt/tags/tag170.xml><?xml version="1.0" encoding="utf-8"?>
<p:tagLst xmlns:p="http://schemas.openxmlformats.org/presentationml/2006/main">
  <p:tag name="MH_OLD_SHAPE_ID" val="8"/>
  <p:tag name="REFSHAPE" val="103"/>
</p:tagLst>
</file>

<file path=ppt/tags/tag171.xml><?xml version="1.0" encoding="utf-8"?>
<p:tagLst xmlns:p="http://schemas.openxmlformats.org/presentationml/2006/main">
  <p:tag name="MH_OLD_SHAPE_ID" val="9"/>
  <p:tag name="REFSHAPE" val="104"/>
</p:tagLst>
</file>

<file path=ppt/tags/tag172.xml><?xml version="1.0" encoding="utf-8"?>
<p:tagLst xmlns:p="http://schemas.openxmlformats.org/presentationml/2006/main">
  <p:tag name="MH_OLD_SHAPE_ID" val="4"/>
  <p:tag name="REFSHAPE" val="105"/>
</p:tagLst>
</file>

<file path=ppt/tags/tag173.xml><?xml version="1.0" encoding="utf-8"?>
<p:tagLst xmlns:p="http://schemas.openxmlformats.org/presentationml/2006/main">
  <p:tag name="MH_OLD_SHAPE_ID" val="5"/>
  <p:tag name="REFSHAPE" val="106"/>
</p:tagLst>
</file>

<file path=ppt/tags/tag174.xml><?xml version="1.0" encoding="utf-8"?>
<p:tagLst xmlns:p="http://schemas.openxmlformats.org/presentationml/2006/main">
  <p:tag name="MH_OLD_SHAPE_ID" val="6"/>
  <p:tag name="REFSHAPE" val="107"/>
</p:tagLst>
</file>

<file path=ppt/tags/tag175.xml><?xml version="1.0" encoding="utf-8"?>
<p:tagLst xmlns:p="http://schemas.openxmlformats.org/presentationml/2006/main">
  <p:tag name="MH_OLD_SHAPE_ID" val="7"/>
  <p:tag name="REFSHAPE" val="109"/>
</p:tagLst>
</file>

<file path=ppt/tags/tag176.xml><?xml version="1.0" encoding="utf-8"?>
<p:tagLst xmlns:p="http://schemas.openxmlformats.org/presentationml/2006/main">
  <p:tag name="MH_OLD_SHAPE_ID" val="11"/>
  <p:tag name="REFSHAPE" val="108"/>
</p:tagLst>
</file>

<file path=ppt/tags/tag177.xml><?xml version="1.0" encoding="utf-8"?>
<p:tagLst xmlns:p="http://schemas.openxmlformats.org/presentationml/2006/main">
  <p:tag name="MH_OLD_SHAPE_ID" val="2"/>
  <p:tag name="REFSHAPE" val="101"/>
</p:tagLst>
</file>

<file path=ppt/tags/tag178.xml><?xml version="1.0" encoding="utf-8"?>
<p:tagLst xmlns:p="http://schemas.openxmlformats.org/presentationml/2006/main">
  <p:tag name="MH_OLD_SHAPE_ID" val="3"/>
  <p:tag name="REFSHAPE" val="102"/>
</p:tagLst>
</file>

<file path=ppt/tags/tag179.xml><?xml version="1.0" encoding="utf-8"?>
<p:tagLst xmlns:p="http://schemas.openxmlformats.org/presentationml/2006/main">
  <p:tag name="MH_OLD_SHAPE_ID" val="8"/>
  <p:tag name="REFSHAPE" val="103"/>
</p:tagLst>
</file>

<file path=ppt/tags/tag180.xml><?xml version="1.0" encoding="utf-8"?>
<p:tagLst xmlns:p="http://schemas.openxmlformats.org/presentationml/2006/main">
  <p:tag name="MH_OLD_SHAPE_ID" val="9"/>
  <p:tag name="REFSHAPE" val="104"/>
</p:tagLst>
</file>

<file path=ppt/tags/tag181.xml><?xml version="1.0" encoding="utf-8"?>
<p:tagLst xmlns:p="http://schemas.openxmlformats.org/presentationml/2006/main">
  <p:tag name="MH_OLD_SHAPE_ID" val="4"/>
  <p:tag name="REFSHAPE" val="105"/>
</p:tagLst>
</file>

<file path=ppt/tags/tag182.xml><?xml version="1.0" encoding="utf-8"?>
<p:tagLst xmlns:p="http://schemas.openxmlformats.org/presentationml/2006/main">
  <p:tag name="MH_OLD_SHAPE_ID" val="5"/>
  <p:tag name="REFSHAPE" val="106"/>
</p:tagLst>
</file>

<file path=ppt/tags/tag183.xml><?xml version="1.0" encoding="utf-8"?>
<p:tagLst xmlns:p="http://schemas.openxmlformats.org/presentationml/2006/main">
  <p:tag name="MH_OLD_SHAPE_ID" val="6"/>
  <p:tag name="REFSHAPE" val="107"/>
</p:tagLst>
</file>

<file path=ppt/tags/tag184.xml><?xml version="1.0" encoding="utf-8"?>
<p:tagLst xmlns:p="http://schemas.openxmlformats.org/presentationml/2006/main">
  <p:tag name="MH_OLD_SHAPE_ID" val="7"/>
  <p:tag name="REFSHAPE" val="109"/>
</p:tagLst>
</file>

<file path=ppt/tags/tag185.xml><?xml version="1.0" encoding="utf-8"?>
<p:tagLst xmlns:p="http://schemas.openxmlformats.org/presentationml/2006/main">
  <p:tag name="MH_OLD_SHAPE_ID" val="11"/>
  <p:tag name="REFSHAPE" val="108"/>
</p:tagLst>
</file>

<file path=ppt/tags/tag186.xml><?xml version="1.0" encoding="utf-8"?>
<p:tagLst xmlns:p="http://schemas.openxmlformats.org/presentationml/2006/main">
  <p:tag name="MH_OLD_SHAPE_ID" val="2"/>
  <p:tag name="REFSHAPE" val="101"/>
</p:tagLst>
</file>

<file path=ppt/tags/tag187.xml><?xml version="1.0" encoding="utf-8"?>
<p:tagLst xmlns:p="http://schemas.openxmlformats.org/presentationml/2006/main">
  <p:tag name="MH_OLD_SHAPE_ID" val="3"/>
  <p:tag name="REFSHAPE" val="102"/>
</p:tagLst>
</file>

<file path=ppt/tags/tag188.xml><?xml version="1.0" encoding="utf-8"?>
<p:tagLst xmlns:p="http://schemas.openxmlformats.org/presentationml/2006/main">
  <p:tag name="MH_OLD_SHAPE_ID" val="8"/>
  <p:tag name="REFSHAPE" val="103"/>
</p:tagLst>
</file>

<file path=ppt/tags/tag189.xml><?xml version="1.0" encoding="utf-8"?>
<p:tagLst xmlns:p="http://schemas.openxmlformats.org/presentationml/2006/main">
  <p:tag name="MH_OLD_SHAPE_ID" val="9"/>
  <p:tag name="REFSHAPE" val="104"/>
</p:tagLst>
</file>

<file path=ppt/tags/tag190.xml><?xml version="1.0" encoding="utf-8"?>
<p:tagLst xmlns:p="http://schemas.openxmlformats.org/presentationml/2006/main">
  <p:tag name="MH_OLD_SHAPE_ID" val="4"/>
  <p:tag name="REFSHAPE" val="105"/>
</p:tagLst>
</file>

<file path=ppt/tags/tag191.xml><?xml version="1.0" encoding="utf-8"?>
<p:tagLst xmlns:p="http://schemas.openxmlformats.org/presentationml/2006/main">
  <p:tag name="MH_OLD_SHAPE_ID" val="5"/>
  <p:tag name="REFSHAPE" val="106"/>
</p:tagLst>
</file>

<file path=ppt/tags/tag192.xml><?xml version="1.0" encoding="utf-8"?>
<p:tagLst xmlns:p="http://schemas.openxmlformats.org/presentationml/2006/main">
  <p:tag name="MH_OLD_SHAPE_ID" val="6"/>
  <p:tag name="REFSHAPE" val="107"/>
</p:tagLst>
</file>

<file path=ppt/tags/tag193.xml><?xml version="1.0" encoding="utf-8"?>
<p:tagLst xmlns:p="http://schemas.openxmlformats.org/presentationml/2006/main">
  <p:tag name="MH_OLD_SHAPE_ID" val="11"/>
  <p:tag name="REFSHAPE" val="108"/>
</p:tagLst>
</file>

<file path=ppt/tags/tag194.xml><?xml version="1.0" encoding="utf-8"?>
<p:tagLst xmlns:p="http://schemas.openxmlformats.org/presentationml/2006/main">
  <p:tag name="MH_OLD_SHAPE_ID" val="7"/>
  <p:tag name="REFSHAPE" val="109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1818</Words>
  <Application>WPS 演示</Application>
  <PresentationFormat>宽屏</PresentationFormat>
  <Paragraphs>134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华文行楷</vt:lpstr>
      <vt:lpstr>微软雅黑</vt:lpstr>
      <vt:lpstr>Arial</vt:lpstr>
      <vt:lpstr>阿里巴巴普惠体 B</vt:lpstr>
      <vt:lpstr>微软雅黑 Light</vt:lpstr>
      <vt:lpstr>Calibri</vt:lpstr>
      <vt:lpstr>Arial Unicode MS</vt:lpstr>
      <vt:lpstr>等线</vt:lpstr>
      <vt:lpstr>等线 Light</vt:lpstr>
      <vt:lpstr>WPS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WPS_1602133173</cp:lastModifiedBy>
  <cp:revision>159</cp:revision>
  <dcterms:created xsi:type="dcterms:W3CDTF">2019-06-19T02:08:00Z</dcterms:created>
  <dcterms:modified xsi:type="dcterms:W3CDTF">2025-12-23T07:41:34Z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244D202943904E83B3830B7CE662EF2A_13</vt:lpwstr>
  </property>
</Properties>
</file>