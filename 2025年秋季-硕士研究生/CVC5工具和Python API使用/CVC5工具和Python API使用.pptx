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8" r:id="rId6"/>
    <p:sldId id="279" r:id="rId7"/>
    <p:sldId id="277" r:id="rId8"/>
    <p:sldId id="280" r:id="rId9"/>
    <p:sldId id="282" r:id="rId10"/>
    <p:sldId id="281" r:id="rId11"/>
    <p:sldId id="276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64382747" name="WPS_1487168573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D2B9"/>
    <a:srgbClr val="FF644E"/>
    <a:srgbClr val="FED981"/>
    <a:srgbClr val="FAE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906" y="562"/>
      </p:cViewPr>
      <p:guideLst>
        <p:guide orient="horz" pos="2160"/>
        <p:guide pos="37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ustomXml" Target="../customXml/item1.xml"/><Relationship Id="rId25" Type="http://schemas.openxmlformats.org/officeDocument/2006/relationships/customXmlProps" Target="../customXml/itemProps15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64382747" dt="2025-07-09T02:12:40.263" idx="1">
    <p:pos x="10" y="10"/>
    <p:text>该数据集明确标注了缺陷修复代码行和缺陷引入代码行，还有相关重构操作的信息
该分析对于判定我们改进的RA-SZZ实现（即RA-SZZ*）能否将无效缺陷修复行识别为重构操作至关重要
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F7DCA-1019-4268-A509-AF91E83E64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B10BE-096A-4B95-9CAF-518D2F5380D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B10BE-096A-4B95-9CAF-518D2F5380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EB10BE-096A-4B95-9CAF-518D2F5380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EB10BE-096A-4B95-9CAF-518D2F5380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EB10BE-096A-4B95-9CAF-518D2F5380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EB10BE-096A-4B95-9CAF-518D2F5380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EB10BE-096A-4B95-9CAF-518D2F5380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EB10BE-096A-4B95-9CAF-518D2F5380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EB10BE-096A-4B95-9CAF-518D2F5380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EB10BE-096A-4B95-9CAF-518D2F5380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EB10BE-096A-4B95-9CAF-518D2F5380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65101" y="177800"/>
            <a:ext cx="11836400" cy="6500813"/>
          </a:xfrm>
          <a:prstGeom prst="rect">
            <a:avLst/>
          </a:prstGeom>
          <a:noFill/>
          <a:ln w="381000">
            <a:solidFill>
              <a:srgbClr val="94D2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/>
          <p:cNvSpPr/>
          <p:nvPr/>
        </p:nvSpPr>
        <p:spPr>
          <a:xfrm rot="3592439">
            <a:off x="746988" y="613897"/>
            <a:ext cx="913384" cy="787400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/>
        </p:nvSpPr>
        <p:spPr>
          <a:xfrm rot="3774327">
            <a:off x="1062156" y="4074280"/>
            <a:ext cx="919988" cy="793093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等腰三角形 16"/>
          <p:cNvSpPr/>
          <p:nvPr/>
        </p:nvSpPr>
        <p:spPr>
          <a:xfrm rot="5060062">
            <a:off x="10207139" y="1593072"/>
            <a:ext cx="1221232" cy="1052786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/>
        </p:nvSpPr>
        <p:spPr>
          <a:xfrm rot="19749097">
            <a:off x="4354211" y="5078950"/>
            <a:ext cx="1125075" cy="969892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3173696">
            <a:off x="10903337" y="5452469"/>
            <a:ext cx="1125075" cy="969892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/>
          <p:cNvSpPr/>
          <p:nvPr/>
        </p:nvSpPr>
        <p:spPr>
          <a:xfrm rot="2840139">
            <a:off x="7311460" y="322464"/>
            <a:ext cx="1409700" cy="1215259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/>
        </p:nvSpPr>
        <p:spPr>
          <a:xfrm rot="2840139">
            <a:off x="3742762" y="627265"/>
            <a:ext cx="1409700" cy="1215259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/>
          <p:cNvSpPr/>
          <p:nvPr/>
        </p:nvSpPr>
        <p:spPr>
          <a:xfrm rot="2840139">
            <a:off x="9033996" y="4754539"/>
            <a:ext cx="598151" cy="515648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rot="2840139">
            <a:off x="2292932" y="2220946"/>
            <a:ext cx="511207" cy="440696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4100" y="2455545"/>
            <a:ext cx="10083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第三小组：</a:t>
            </a:r>
            <a:r>
              <a:rPr lang="en-US" altLang="zh-CN" sz="3600"/>
              <a:t>cvc5</a:t>
            </a:r>
            <a:r>
              <a:rPr lang="zh-CN" altLang="en-US" sz="3600"/>
              <a:t>的背景，原理及其</a:t>
            </a:r>
            <a:r>
              <a:rPr lang="en-US" altLang="zh-CN" sz="3600"/>
              <a:t>PythonAPI</a:t>
            </a:r>
            <a:r>
              <a:rPr lang="zh-CN" altLang="en-US" sz="3600"/>
              <a:t>调用</a:t>
            </a:r>
            <a:endParaRPr lang="zh-CN" altLang="en-US" sz="3600"/>
          </a:p>
        </p:txBody>
      </p:sp>
      <p:sp>
        <p:nvSpPr>
          <p:cNvPr id="6" name="文本框 5"/>
          <p:cNvSpPr txBox="1"/>
          <p:nvPr/>
        </p:nvSpPr>
        <p:spPr>
          <a:xfrm>
            <a:off x="8054975" y="4098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组员：</a:t>
            </a:r>
            <a:r>
              <a:rPr lang="zh-CN" altLang="en-US"/>
              <a:t>郑伊健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 flipH="1">
            <a:off x="10108565" y="4355465"/>
            <a:ext cx="2083435" cy="250253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直角三角形 3"/>
          <p:cNvSpPr/>
          <p:nvPr/>
        </p:nvSpPr>
        <p:spPr>
          <a:xfrm flipV="1">
            <a:off x="0" y="0"/>
            <a:ext cx="1765300" cy="225996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>
            <p:custDataLst>
              <p:tags r:id="rId1"/>
            </p:custDataLst>
          </p:nvPr>
        </p:nvSpPr>
        <p:spPr>
          <a:xfrm rot="1914488" flipV="1">
            <a:off x="2295758" y="411511"/>
            <a:ext cx="590088" cy="590088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 rot="5400000" flipV="1">
            <a:off x="444503" y="5715000"/>
            <a:ext cx="876300" cy="876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8682472" flipV="1">
            <a:off x="8497891" y="5476871"/>
            <a:ext cx="1003300" cy="1003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9547294" flipV="1">
            <a:off x="11072835" y="29930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直角三角形 16"/>
          <p:cNvSpPr/>
          <p:nvPr>
            <p:custDataLst>
              <p:tags r:id="rId2"/>
            </p:custDataLst>
          </p:nvPr>
        </p:nvSpPr>
        <p:spPr>
          <a:xfrm rot="601061" flipV="1">
            <a:off x="6012522" y="37804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endParaRPr lang="en-US" altLang="zh-CN" sz="3600"/>
          </a:p>
          <a:p>
            <a:pPr algn="l"/>
            <a:r>
              <a:rPr lang="zh-CN" altLang="en-US" sz="3600"/>
              <a:t>一</a:t>
            </a:r>
            <a:r>
              <a:rPr lang="en-US" altLang="zh-CN" sz="3600"/>
              <a:t>.cvc5</a:t>
            </a:r>
            <a:r>
              <a:rPr lang="zh-CN" altLang="en-US" sz="3600"/>
              <a:t>背景介绍</a:t>
            </a:r>
            <a:endParaRPr lang="zh-CN" altLang="en-US" sz="3600"/>
          </a:p>
          <a:p>
            <a:pPr algn="l"/>
            <a:endParaRPr lang="zh-CN" altLang="en-US" sz="3600"/>
          </a:p>
          <a:p>
            <a:pPr algn="l"/>
            <a:r>
              <a:rPr lang="zh-CN" altLang="en-US" sz="3600"/>
              <a:t>二</a:t>
            </a:r>
            <a:r>
              <a:rPr lang="en-US" altLang="zh-CN" sz="3600"/>
              <a:t>.cvc5</a:t>
            </a:r>
            <a:r>
              <a:rPr lang="zh-CN" altLang="en-US" sz="3600"/>
              <a:t>大致原理</a:t>
            </a:r>
            <a:endParaRPr lang="zh-CN" altLang="en-US" sz="3600"/>
          </a:p>
          <a:p>
            <a:pPr algn="l"/>
            <a:endParaRPr lang="zh-CN" altLang="en-US" sz="3600"/>
          </a:p>
          <a:p>
            <a:pPr algn="l"/>
            <a:r>
              <a:rPr lang="zh-CN" altLang="en-US" sz="3600"/>
              <a:t>三</a:t>
            </a:r>
            <a:r>
              <a:rPr lang="en-US" altLang="zh-CN" sz="3600"/>
              <a:t>.cvc5</a:t>
            </a:r>
            <a:r>
              <a:rPr lang="zh-CN" altLang="en-US" sz="3600"/>
              <a:t>的</a:t>
            </a:r>
            <a:r>
              <a:rPr lang="en-US" altLang="zh-CN" sz="3600"/>
              <a:t>Python API</a:t>
            </a:r>
            <a:r>
              <a:rPr lang="zh-CN" altLang="en-US" sz="3600"/>
              <a:t>调用和使用方法</a:t>
            </a:r>
            <a:endParaRPr lang="zh-CN" altLang="en-US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 flipH="1">
            <a:off x="10108565" y="4355465"/>
            <a:ext cx="2083435" cy="250253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直角三角形 3"/>
          <p:cNvSpPr/>
          <p:nvPr/>
        </p:nvSpPr>
        <p:spPr>
          <a:xfrm flipV="1">
            <a:off x="0" y="0"/>
            <a:ext cx="1765300" cy="225996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>
            <p:custDataLst>
              <p:tags r:id="rId1"/>
            </p:custDataLst>
          </p:nvPr>
        </p:nvSpPr>
        <p:spPr>
          <a:xfrm rot="1914488" flipV="1">
            <a:off x="2295758" y="411511"/>
            <a:ext cx="590088" cy="590088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 rot="5400000" flipV="1">
            <a:off x="444503" y="5715000"/>
            <a:ext cx="876300" cy="876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8682472" flipV="1">
            <a:off x="8497891" y="5476871"/>
            <a:ext cx="1003300" cy="1003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9547294" flipV="1">
            <a:off x="11072835" y="29930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直角三角形 16"/>
          <p:cNvSpPr/>
          <p:nvPr>
            <p:custDataLst>
              <p:tags r:id="rId2"/>
            </p:custDataLst>
          </p:nvPr>
        </p:nvSpPr>
        <p:spPr>
          <a:xfrm rot="601061" flipV="1">
            <a:off x="6012522" y="37804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ym typeface="+mn-ea"/>
              </a:rPr>
              <a:t>一</a:t>
            </a:r>
            <a:r>
              <a:rPr lang="en-US" altLang="zh-CN" sz="2800"/>
              <a:t>.cvc5</a:t>
            </a:r>
            <a:r>
              <a:rPr lang="zh-CN" altLang="en-US" sz="2800"/>
              <a:t>背景介绍</a:t>
            </a:r>
            <a:endParaRPr lang="zh-CN" altLang="en-US" sz="28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历史沿革</a:t>
            </a:r>
            <a:r>
              <a:rPr lang="zh-CN" altLang="en-US"/>
              <a:t>与发展</a:t>
            </a:r>
            <a:endParaRPr lang="zh-CN" altLang="en-US"/>
          </a:p>
          <a:p>
            <a:pPr indent="457200">
              <a:buFont typeface="+mj-lt"/>
              <a:buNone/>
            </a:pPr>
            <a:r>
              <a:rPr lang="en-US" altLang="zh-CN"/>
              <a:t>CVC5</a:t>
            </a:r>
            <a:r>
              <a:rPr lang="zh-CN" altLang="en-US"/>
              <a:t>是一款开源、高性能的自动定理证明器和</a:t>
            </a:r>
            <a:r>
              <a:rPr lang="en-US" altLang="zh-CN"/>
              <a:t>SMT</a:t>
            </a:r>
            <a:r>
              <a:rPr lang="zh-CN" altLang="en-US"/>
              <a:t>求解器，是</a:t>
            </a:r>
            <a:r>
              <a:rPr lang="en-US" altLang="zh-CN"/>
              <a:t>CVC</a:t>
            </a:r>
            <a:r>
              <a:rPr lang="zh-CN" altLang="en-US"/>
              <a:t>系列求解器的最新版本。要理解</a:t>
            </a:r>
            <a:r>
              <a:rPr lang="en-US" altLang="zh-CN"/>
              <a:t>CVC5</a:t>
            </a:r>
            <a:r>
              <a:rPr lang="zh-CN" altLang="en-US"/>
              <a:t>，需要先了解它的发展历程：</a:t>
            </a:r>
            <a:endParaRPr lang="zh-CN" altLang="en-US"/>
          </a:p>
          <a:p>
            <a:pPr indent="457200">
              <a:buFont typeface="+mj-lt"/>
              <a:buNone/>
            </a:pPr>
            <a:endParaRPr lang="zh-CN" altLang="en-US"/>
          </a:p>
          <a:p>
            <a:pPr indent="457200">
              <a:buFont typeface="+mj-lt"/>
              <a:buNone/>
            </a:pPr>
            <a:endParaRPr lang="zh-CN" altLang="en-US"/>
          </a:p>
          <a:p>
            <a:pPr indent="457200">
              <a:buFont typeface="+mj-lt"/>
              <a:buNone/>
            </a:pPr>
            <a:endParaRPr lang="zh-CN" altLang="en-US"/>
          </a:p>
          <a:p>
            <a:pPr indent="457200">
              <a:buFont typeface="+mj-lt"/>
              <a:buNone/>
            </a:pPr>
            <a:endParaRPr lang="zh-CN" altLang="en-US"/>
          </a:p>
          <a:p>
            <a:pPr indent="457200">
              <a:buFont typeface="+mj-lt"/>
              <a:buNone/>
            </a:pPr>
            <a:endParaRPr lang="zh-CN" altLang="en-US"/>
          </a:p>
          <a:p>
            <a:pPr indent="457200">
              <a:buFont typeface="+mj-lt"/>
              <a:buNone/>
            </a:pPr>
            <a:endParaRPr lang="zh-CN" altLang="en-US"/>
          </a:p>
          <a:p>
            <a:pPr indent="457200">
              <a:buFont typeface="+mj-lt"/>
              <a:buNone/>
            </a:pPr>
            <a:r>
              <a:rPr lang="en-US" altLang="zh-CN"/>
              <a:t>1999</a:t>
            </a:r>
            <a:r>
              <a:rPr lang="zh-CN" altLang="en-US"/>
              <a:t>年：</a:t>
            </a:r>
            <a:r>
              <a:rPr lang="en-US" altLang="zh-CN"/>
              <a:t>CVC</a:t>
            </a:r>
            <a:r>
              <a:rPr lang="zh-CN" altLang="en-US"/>
              <a:t>项目在斯坦福大学启动</a:t>
            </a:r>
            <a:endParaRPr lang="en-US" altLang="zh-CN"/>
          </a:p>
          <a:p>
            <a:pPr indent="457200">
              <a:buFont typeface="+mj-lt"/>
              <a:buNone/>
            </a:pPr>
            <a:r>
              <a:rPr lang="en-US" altLang="zh-CN"/>
              <a:t>2005</a:t>
            </a:r>
            <a:r>
              <a:rPr lang="zh-CN" altLang="en-US"/>
              <a:t>年：</a:t>
            </a:r>
            <a:r>
              <a:rPr lang="en-US" altLang="zh-CN"/>
              <a:t>CVC3</a:t>
            </a:r>
            <a:r>
              <a:rPr lang="zh-CN" altLang="en-US"/>
              <a:t>发布，成为工业界和学术界广泛使用的工具</a:t>
            </a:r>
            <a:endParaRPr lang="en-US" altLang="zh-CN"/>
          </a:p>
          <a:p>
            <a:pPr indent="457200">
              <a:buFont typeface="+mj-lt"/>
              <a:buNone/>
            </a:pPr>
            <a:r>
              <a:rPr lang="en-US" altLang="zh-CN"/>
              <a:t>2010</a:t>
            </a:r>
            <a:r>
              <a:rPr lang="zh-CN" altLang="en-US"/>
              <a:t>年：</a:t>
            </a:r>
            <a:r>
              <a:rPr lang="en-US" altLang="zh-CN"/>
              <a:t>CVC4</a:t>
            </a:r>
            <a:r>
              <a:rPr lang="zh-CN" altLang="en-US"/>
              <a:t>发布，引入更多高级功能</a:t>
            </a:r>
            <a:endParaRPr lang="en-US" altLang="zh-CN"/>
          </a:p>
          <a:p>
            <a:pPr indent="457200">
              <a:buFont typeface="+mj-lt"/>
              <a:buNone/>
            </a:pPr>
            <a:r>
              <a:rPr lang="en-US" altLang="zh-CN"/>
              <a:t>2020</a:t>
            </a:r>
            <a:r>
              <a:rPr lang="zh-CN" altLang="en-US"/>
              <a:t>年：</a:t>
            </a:r>
            <a:r>
              <a:rPr lang="en-US" altLang="zh-CN"/>
              <a:t>CVC5</a:t>
            </a:r>
            <a:r>
              <a:rPr lang="zh-CN" altLang="en-US"/>
              <a:t>开始开发，</a:t>
            </a:r>
            <a:r>
              <a:rPr lang="en-US" altLang="zh-CN"/>
              <a:t>2021</a:t>
            </a:r>
            <a:r>
              <a:rPr lang="zh-CN" altLang="en-US"/>
              <a:t>年首次发布</a:t>
            </a:r>
            <a:endParaRPr lang="en-US" altLang="zh-CN"/>
          </a:p>
          <a:p>
            <a:pPr indent="457200">
              <a:buFont typeface="+mj-lt"/>
              <a:buNone/>
            </a:pPr>
            <a:r>
              <a:rPr lang="en-US" altLang="zh-CN"/>
              <a:t>2023</a:t>
            </a:r>
            <a:r>
              <a:rPr lang="zh-CN" altLang="en-US"/>
              <a:t>年：</a:t>
            </a:r>
            <a:r>
              <a:rPr lang="en-US" altLang="zh-CN"/>
              <a:t>CVC5</a:t>
            </a:r>
            <a:r>
              <a:rPr lang="zh-CN" altLang="en-US"/>
              <a:t>稳定版发布，成为主流</a:t>
            </a:r>
            <a:r>
              <a:rPr lang="en-US" altLang="zh-CN"/>
              <a:t>SMT</a:t>
            </a:r>
            <a:r>
              <a:rPr lang="zh-CN" altLang="en-US"/>
              <a:t>求解器之一</a:t>
            </a:r>
            <a:endParaRPr lang="zh-CN" altLang="en-US"/>
          </a:p>
        </p:txBody>
      </p:sp>
      <p:pic>
        <p:nvPicPr>
          <p:cNvPr id="8" name="ECB019B1-382A-4266-B25C-5B523AA43C14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910" y="2531110"/>
            <a:ext cx="7753350" cy="1400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 flipH="1">
            <a:off x="10108565" y="4355465"/>
            <a:ext cx="2083435" cy="250253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直角三角形 3"/>
          <p:cNvSpPr/>
          <p:nvPr/>
        </p:nvSpPr>
        <p:spPr>
          <a:xfrm flipV="1">
            <a:off x="0" y="0"/>
            <a:ext cx="1765300" cy="225996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>
            <p:custDataLst>
              <p:tags r:id="rId1"/>
            </p:custDataLst>
          </p:nvPr>
        </p:nvSpPr>
        <p:spPr>
          <a:xfrm rot="1914488" flipV="1">
            <a:off x="2295758" y="411511"/>
            <a:ext cx="590088" cy="590088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 rot="5400000" flipV="1">
            <a:off x="444503" y="5715000"/>
            <a:ext cx="876300" cy="876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8682472" flipV="1">
            <a:off x="8497891" y="5476871"/>
            <a:ext cx="1003300" cy="1003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9547294" flipV="1">
            <a:off x="11072835" y="29930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直角三角形 16"/>
          <p:cNvSpPr/>
          <p:nvPr>
            <p:custDataLst>
              <p:tags r:id="rId2"/>
            </p:custDataLst>
          </p:nvPr>
        </p:nvSpPr>
        <p:spPr>
          <a:xfrm rot="601061" flipV="1">
            <a:off x="6012522" y="37804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800"/>
              <a:t>一.cvc5背景介绍</a:t>
            </a:r>
            <a:endParaRPr lang="zh-CN" altLang="en-US" sz="2800"/>
          </a:p>
          <a:p>
            <a:pPr marL="342900" lvl="0" indent="-342900">
              <a:buFont typeface="+mj-lt"/>
              <a:buAutoNum type="arabicPeriod" startAt="2"/>
            </a:pPr>
            <a:r>
              <a:rPr lang="zh-CN" altLang="en-US"/>
              <a:t>核心定位与设计目标</a:t>
            </a:r>
            <a:endParaRPr lang="zh-CN" altLang="en-US"/>
          </a:p>
          <a:p>
            <a:pPr lvl="0" indent="457200">
              <a:buFont typeface="+mj-lt"/>
              <a:buNone/>
            </a:pPr>
            <a:r>
              <a:rPr lang="zh-CN" altLang="en-US"/>
              <a:t>要理解</a:t>
            </a:r>
            <a:r>
              <a:rPr lang="en-US" altLang="zh-CN"/>
              <a:t>CVC5</a:t>
            </a:r>
            <a:r>
              <a:rPr lang="zh-CN" altLang="en-US"/>
              <a:t>，必须先理解其本质：</a:t>
            </a:r>
            <a:r>
              <a:rPr lang="en-US" altLang="zh-CN"/>
              <a:t>SMT(Satisfiability Modulo Theories</a:t>
            </a:r>
            <a:r>
              <a:rPr lang="zh-CN" altLang="en-US"/>
              <a:t>可满足性模理论</a:t>
            </a:r>
            <a:r>
              <a:rPr lang="en-US" altLang="zh-CN"/>
              <a:t>)</a:t>
            </a:r>
            <a:endParaRPr lang="en-US" altLang="zh-CN"/>
          </a:p>
          <a:p>
            <a:pPr lvl="0" indent="457200">
              <a:buFont typeface="+mj-lt"/>
              <a:buNone/>
            </a:pPr>
            <a:r>
              <a:rPr lang="en-US" altLang="zh-CN"/>
              <a:t>SAT</a:t>
            </a:r>
            <a:r>
              <a:rPr lang="zh-CN" altLang="en-US"/>
              <a:t>（布尔可满足性问题）：判断布尔公式是否可满足</a:t>
            </a:r>
            <a:endParaRPr lang="en-US" altLang="zh-CN"/>
          </a:p>
          <a:p>
            <a:pPr lvl="0" indent="457200">
              <a:buFont typeface="+mj-lt"/>
              <a:buNone/>
            </a:pPr>
            <a:r>
              <a:rPr lang="en-US" altLang="zh-CN"/>
              <a:t>SMT = SAT + </a:t>
            </a:r>
            <a:r>
              <a:rPr lang="zh-CN" altLang="en-US"/>
              <a:t>理论在</a:t>
            </a:r>
            <a:r>
              <a:rPr lang="en-US" altLang="zh-CN"/>
              <a:t>SAT</a:t>
            </a:r>
            <a:r>
              <a:rPr lang="zh-CN" altLang="en-US"/>
              <a:t>基础上，增加对</a:t>
            </a:r>
            <a:r>
              <a:rPr lang="zh-CN" altLang="en-US" b="1"/>
              <a:t>数学理论</a:t>
            </a:r>
            <a:r>
              <a:rPr lang="zh-CN" altLang="en-US"/>
              <a:t>的支持</a:t>
            </a:r>
            <a:endParaRPr lang="zh-CN" altLang="en-US"/>
          </a:p>
          <a:p>
            <a:pPr lvl="0" indent="457200">
              <a:buFont typeface="+mj-lt"/>
              <a:buNone/>
            </a:pPr>
            <a:r>
              <a:rPr lang="en-US" altLang="zh-CN"/>
              <a:t>CVC5</a:t>
            </a:r>
            <a:r>
              <a:rPr lang="zh-CN" altLang="en-US"/>
              <a:t>支持丰富多样的理论，这是它的核心优势，通俗的来讲，普通计算器可以直接计算</a:t>
            </a:r>
            <a:r>
              <a:rPr lang="en-US" altLang="zh-CN"/>
              <a:t>2+3=5</a:t>
            </a:r>
            <a:r>
              <a:rPr lang="zh-CN" altLang="en-US"/>
              <a:t>，那</a:t>
            </a:r>
            <a:r>
              <a:rPr lang="en-US" altLang="zh-CN"/>
              <a:t>SMT</a:t>
            </a:r>
            <a:r>
              <a:rPr lang="zh-CN" altLang="en-US"/>
              <a:t>求解器则能解决类似</a:t>
            </a:r>
            <a:r>
              <a:rPr lang="en-US" altLang="zh-CN"/>
              <a:t>‘x+y=10, x&gt;0, y&lt;5</a:t>
            </a:r>
            <a:r>
              <a:rPr lang="en-US" altLang="en-US"/>
              <a:t>→</a:t>
            </a:r>
            <a:r>
              <a:rPr lang="zh-CN" altLang="en-US"/>
              <a:t>是否存在这样的</a:t>
            </a:r>
            <a:r>
              <a:rPr lang="en-US" altLang="zh-CN"/>
              <a:t>x,y’</a:t>
            </a:r>
            <a:r>
              <a:rPr lang="zh-CN" altLang="en-US"/>
              <a:t>的问题</a:t>
            </a:r>
            <a:endParaRPr lang="en-US" altLang="zh-CN"/>
          </a:p>
          <a:p>
            <a:pPr lvl="0" indent="457200">
              <a:buFont typeface="+mj-lt"/>
              <a:buNone/>
            </a:pPr>
            <a:r>
              <a:rPr lang="zh-CN" altLang="en-US"/>
              <a:t>例如：</a:t>
            </a:r>
            <a:endParaRPr lang="zh-CN" altLang="en-US"/>
          </a:p>
          <a:p>
            <a:pPr lvl="2" indent="457200">
              <a:buFont typeface="+mj-lt"/>
              <a:buNone/>
            </a:pPr>
            <a:r>
              <a:rPr lang="en-US" altLang="zh-CN"/>
              <a:t># SAT</a:t>
            </a:r>
            <a:r>
              <a:rPr lang="zh-CN" altLang="en-US"/>
              <a:t>：只处理真</a:t>
            </a:r>
            <a:r>
              <a:rPr lang="en-US" altLang="zh-CN"/>
              <a:t>/</a:t>
            </a:r>
            <a:r>
              <a:rPr lang="zh-CN" altLang="en-US"/>
              <a:t>假</a:t>
            </a:r>
            <a:endParaRPr lang="zh-CN" altLang="en-US"/>
          </a:p>
          <a:p>
            <a:pPr lvl="2" indent="457200">
              <a:buFont typeface="+mj-lt"/>
              <a:buNone/>
            </a:pPr>
            <a:r>
              <a:rPr lang="en-US" altLang="zh-CN"/>
              <a:t>(P ∧ Q) ∨ (</a:t>
            </a:r>
            <a:r>
              <a:rPr lang="en-US" altLang="en-US"/>
              <a:t>¬</a:t>
            </a:r>
            <a:r>
              <a:rPr lang="en-US" altLang="zh-CN"/>
              <a:t>P ∧ R)</a:t>
            </a:r>
            <a:endParaRPr lang="en-US" altLang="zh-CN"/>
          </a:p>
          <a:p>
            <a:pPr lvl="2" indent="457200">
              <a:buFont typeface="+mj-lt"/>
              <a:buNone/>
            </a:pPr>
            <a:endParaRPr lang="en-US" altLang="zh-CN"/>
          </a:p>
          <a:p>
            <a:pPr lvl="2" indent="457200">
              <a:buFont typeface="+mj-lt"/>
              <a:buNone/>
            </a:pPr>
            <a:r>
              <a:rPr lang="en-US" altLang="zh-CN"/>
              <a:t># SMT</a:t>
            </a:r>
            <a:r>
              <a:rPr lang="zh-CN" altLang="en-US"/>
              <a:t>：可以处理数学表达式</a:t>
            </a:r>
            <a:endParaRPr lang="zh-CN" altLang="en-US"/>
          </a:p>
          <a:p>
            <a:pPr lvl="2" indent="457200">
              <a:buFont typeface="+mj-lt"/>
              <a:buNone/>
            </a:pPr>
            <a:r>
              <a:rPr lang="en-US" altLang="zh-CN"/>
              <a:t>x + y &gt; 10 ∧ x &lt; 5 ∧ y &gt; 6</a:t>
            </a:r>
            <a:endParaRPr lang="en-US" altLang="zh-CN"/>
          </a:p>
          <a:p>
            <a:pPr lvl="2" indent="457200">
              <a:buFont typeface="+mj-lt"/>
              <a:buNone/>
            </a:pPr>
            <a:endParaRPr lang="en-US" altLang="zh-CN"/>
          </a:p>
          <a:p>
            <a:pPr marL="0" lvl="0" indent="457200">
              <a:buFont typeface="+mj-lt"/>
              <a:buNone/>
            </a:pPr>
            <a:r>
              <a:rPr lang="zh-CN" altLang="en-US"/>
              <a:t>设计目标：兼顾学术研究的灵活性（支持自定义理论扩展）与工业界的高性能需求（处理大规模、复杂约束），同时保持开源免费的特性，降低使用与二次开发门槛。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 flipH="1">
            <a:off x="10108565" y="4355465"/>
            <a:ext cx="2083435" cy="250253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直角三角形 3"/>
          <p:cNvSpPr/>
          <p:nvPr/>
        </p:nvSpPr>
        <p:spPr>
          <a:xfrm flipV="1">
            <a:off x="0" y="0"/>
            <a:ext cx="1765300" cy="225996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>
            <p:custDataLst>
              <p:tags r:id="rId1"/>
            </p:custDataLst>
          </p:nvPr>
        </p:nvSpPr>
        <p:spPr>
          <a:xfrm rot="1914488" flipV="1">
            <a:off x="2295758" y="411511"/>
            <a:ext cx="590088" cy="590088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 rot="5400000" flipV="1">
            <a:off x="444503" y="5715000"/>
            <a:ext cx="876300" cy="876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8682472" flipV="1">
            <a:off x="8497891" y="5476871"/>
            <a:ext cx="1003300" cy="1003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9547294" flipV="1">
            <a:off x="11072835" y="29930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直角三角形 16"/>
          <p:cNvSpPr/>
          <p:nvPr>
            <p:custDataLst>
              <p:tags r:id="rId2"/>
            </p:custDataLst>
          </p:nvPr>
        </p:nvSpPr>
        <p:spPr>
          <a:xfrm rot="601061" flipV="1">
            <a:off x="6012522" y="37804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800"/>
              <a:t>一.cvc5背景介绍</a:t>
            </a:r>
            <a:endParaRPr lang="zh-CN" altLang="en-US" sz="2800"/>
          </a:p>
          <a:p>
            <a:pPr marL="342900" indent="-342900">
              <a:buFont typeface="+mj-lt"/>
              <a:buAutoNum type="arabicPeriod" startAt="3"/>
            </a:pPr>
            <a:r>
              <a:rPr lang="en-US" altLang="zh-CN"/>
              <a:t>CVC5</a:t>
            </a:r>
            <a:r>
              <a:rPr lang="zh-CN" altLang="en-US"/>
              <a:t>的独特优势：</a:t>
            </a:r>
            <a:endParaRPr lang="zh-CN" altLang="en-US"/>
          </a:p>
          <a:p>
            <a:pPr marL="342900" indent="-342900">
              <a:buFont typeface="+mj-lt"/>
              <a:buAutoNum type="alphaUcPeriod" startAt="3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最活跃的开源社区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理论支持最全面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API</a:t>
            </a:r>
            <a:r>
              <a:rPr lang="zh-CN" altLang="en-US"/>
              <a:t>接口最丰富（</a:t>
            </a:r>
            <a:r>
              <a:rPr lang="en-US" altLang="zh-CN"/>
              <a:t>C/C++/Java/Python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文档和教程最完善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最适合学术研究</a:t>
            </a:r>
            <a:endParaRPr lang="zh-CN" altLang="en-US"/>
          </a:p>
          <a:p>
            <a:pPr indent="457200">
              <a:buFont typeface="+mj-lt"/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 flipH="1">
            <a:off x="10108565" y="4355465"/>
            <a:ext cx="2083435" cy="250253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直角三角形 3"/>
          <p:cNvSpPr/>
          <p:nvPr/>
        </p:nvSpPr>
        <p:spPr>
          <a:xfrm flipV="1">
            <a:off x="0" y="0"/>
            <a:ext cx="1765300" cy="225996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>
            <p:custDataLst>
              <p:tags r:id="rId1"/>
            </p:custDataLst>
          </p:nvPr>
        </p:nvSpPr>
        <p:spPr>
          <a:xfrm rot="1914488" flipV="1">
            <a:off x="2295758" y="411511"/>
            <a:ext cx="590088" cy="590088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 rot="5400000" flipV="1">
            <a:off x="444503" y="5715000"/>
            <a:ext cx="876300" cy="876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8682472" flipV="1">
            <a:off x="8497891" y="5476871"/>
            <a:ext cx="1003300" cy="1003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9547294" flipV="1">
            <a:off x="11072835" y="29930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直角三角形 16"/>
          <p:cNvSpPr/>
          <p:nvPr>
            <p:custDataLst>
              <p:tags r:id="rId2"/>
            </p:custDataLst>
          </p:nvPr>
        </p:nvSpPr>
        <p:spPr>
          <a:xfrm rot="601061" flipV="1">
            <a:off x="6012522" y="37804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800"/>
              <a:t>二.cvc5大致原理</a:t>
            </a:r>
            <a:endParaRPr lang="zh-CN" altLang="en-US" sz="28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核心原理：</a:t>
            </a:r>
            <a:r>
              <a:rPr lang="zh-CN" altLang="en-US" b="1"/>
              <a:t>命题逻辑求解</a:t>
            </a:r>
            <a:r>
              <a:rPr lang="en-US" altLang="zh-CN" b="1"/>
              <a:t> + </a:t>
            </a:r>
            <a:r>
              <a:rPr lang="zh-CN" altLang="en-US" b="1"/>
              <a:t>特定理论推理协同工作</a:t>
            </a:r>
            <a:r>
              <a:rPr lang="zh-CN" altLang="en-US"/>
              <a:t>，本质是解决</a:t>
            </a:r>
            <a:r>
              <a:rPr lang="en-US" altLang="zh-CN"/>
              <a:t> “</a:t>
            </a:r>
            <a:r>
              <a:rPr lang="zh-CN" altLang="en-US"/>
              <a:t>带数学约束的逻辑公式是否可满足</a:t>
            </a:r>
            <a:r>
              <a:rPr lang="en-US" altLang="zh-CN"/>
              <a:t>” (</a:t>
            </a:r>
            <a:r>
              <a:rPr lang="en-US" altLang="zh-CN"/>
              <a:t>SMT)</a:t>
            </a:r>
            <a:r>
              <a:rPr lang="zh-CN" altLang="en-US"/>
              <a:t>的问题。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命题逻辑求解：使用</a:t>
            </a:r>
            <a:r>
              <a:rPr lang="en-US" altLang="zh-CN"/>
              <a:t>SAT</a:t>
            </a:r>
            <a:r>
              <a:rPr lang="zh-CN" altLang="en-US"/>
              <a:t>求解器（基于</a:t>
            </a:r>
            <a:r>
              <a:rPr lang="en-US" altLang="zh-CN"/>
              <a:t>DPLL/CDCL</a:t>
            </a:r>
            <a:r>
              <a:rPr lang="zh-CN" altLang="en-US"/>
              <a:t>）处理布尔组合结构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特定理论推理：各理论求解器处理各自的数学语义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协同工作：通过理论传播、冲突分析、学习机制实现高效协同</a:t>
            </a:r>
            <a:endParaRPr lang="zh-CN" altLang="en-US"/>
          </a:p>
          <a:p>
            <a:pPr indent="457200"/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核心目标：给定一个由</a:t>
            </a:r>
            <a:r>
              <a:rPr lang="en-US" altLang="zh-CN"/>
              <a:t> “</a:t>
            </a:r>
            <a:r>
              <a:rPr lang="zh-CN" altLang="en-US"/>
              <a:t>逻辑连接词（且</a:t>
            </a:r>
            <a:r>
              <a:rPr lang="en-US" altLang="zh-CN"/>
              <a:t> / </a:t>
            </a:r>
            <a:r>
              <a:rPr lang="zh-CN" altLang="en-US"/>
              <a:t>或</a:t>
            </a:r>
            <a:r>
              <a:rPr lang="en-US" altLang="zh-CN"/>
              <a:t> / </a:t>
            </a:r>
            <a:r>
              <a:rPr lang="zh-CN" altLang="en-US"/>
              <a:t>非）</a:t>
            </a:r>
            <a:r>
              <a:rPr lang="en-US" altLang="zh-CN"/>
              <a:t>+</a:t>
            </a:r>
            <a:r>
              <a:rPr lang="zh-CN" altLang="en-US"/>
              <a:t>理论约束（如整数运算、字符串操作）</a:t>
            </a:r>
            <a:r>
              <a:rPr lang="en-US" altLang="zh-CN"/>
              <a:t>” </a:t>
            </a:r>
            <a:r>
              <a:rPr lang="zh-CN" altLang="en-US"/>
              <a:t>组成的公式，判定：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是否存在一组变量赋值让公式为真（返回</a:t>
            </a:r>
            <a:r>
              <a:rPr lang="en-US" altLang="zh-CN"/>
              <a:t> sat </a:t>
            </a:r>
            <a:r>
              <a:rPr lang="zh-CN" altLang="en-US"/>
              <a:t>并给出解）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若不存在则证明矛盾（返回</a:t>
            </a:r>
            <a:r>
              <a:rPr lang="en-US" altLang="zh-CN"/>
              <a:t> unsat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 flipH="1">
            <a:off x="10108565" y="4355465"/>
            <a:ext cx="2083435" cy="250253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直角三角形 3"/>
          <p:cNvSpPr/>
          <p:nvPr/>
        </p:nvSpPr>
        <p:spPr>
          <a:xfrm flipV="1">
            <a:off x="0" y="0"/>
            <a:ext cx="1765300" cy="225996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>
            <p:custDataLst>
              <p:tags r:id="rId1"/>
            </p:custDataLst>
          </p:nvPr>
        </p:nvSpPr>
        <p:spPr>
          <a:xfrm rot="1914488" flipV="1">
            <a:off x="2295758" y="411511"/>
            <a:ext cx="590088" cy="590088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 rot="5400000" flipV="1">
            <a:off x="444503" y="5715000"/>
            <a:ext cx="876300" cy="876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8682472" flipV="1">
            <a:off x="8497891" y="5476871"/>
            <a:ext cx="1003300" cy="1003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9547294" flipV="1">
            <a:off x="11072835" y="29930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直角三角形 16"/>
          <p:cNvSpPr/>
          <p:nvPr>
            <p:custDataLst>
              <p:tags r:id="rId2"/>
            </p:custDataLst>
          </p:nvPr>
        </p:nvSpPr>
        <p:spPr>
          <a:xfrm rot="601061" flipV="1">
            <a:off x="6012522" y="37804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801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800"/>
              <a:t>二.cvc5大致原理</a:t>
            </a:r>
            <a:endParaRPr lang="zh-CN" altLang="en-US" sz="2800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marL="342900" indent="-342900">
              <a:buFont typeface="+mj-lt"/>
              <a:buAutoNum type="arabicPeriod"/>
            </a:pPr>
            <a:endParaRPr lang="zh-CN" altLang="en-US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输入：</a:t>
            </a:r>
            <a:r>
              <a:rPr lang="en-US" altLang="zh-CN"/>
              <a:t>SMT </a:t>
            </a:r>
            <a:r>
              <a:rPr lang="zh-CN" altLang="en-US"/>
              <a:t>公式</a:t>
            </a:r>
            <a:r>
              <a:rPr lang="en-US" altLang="zh-CN"/>
              <a:t> φ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预处理阶段：简化公式结构，减少后续求解的计算量，避免冗余运算</a:t>
            </a:r>
            <a:endParaRPr lang="zh-CN" altLang="en-US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命题抽象阶段：将带理论约束的</a:t>
            </a:r>
            <a:r>
              <a:rPr lang="en-US" altLang="zh-CN"/>
              <a:t> SMT </a:t>
            </a:r>
            <a:r>
              <a:rPr lang="zh-CN" altLang="en-US"/>
              <a:t>问题，转化为纯命题逻辑（</a:t>
            </a:r>
            <a:r>
              <a:rPr lang="en-US" altLang="zh-CN"/>
              <a:t>SAT</a:t>
            </a:r>
            <a:r>
              <a:rPr lang="zh-CN" altLang="en-US"/>
              <a:t>）问题，复用成熟的</a:t>
            </a:r>
            <a:r>
              <a:rPr lang="en-US" altLang="zh-CN"/>
              <a:t> SAT </a:t>
            </a:r>
            <a:r>
              <a:rPr lang="zh-CN" altLang="en-US"/>
              <a:t>求解算法</a:t>
            </a:r>
            <a:endParaRPr lang="zh-CN" altLang="en-US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SAT </a:t>
            </a:r>
            <a:r>
              <a:rPr lang="zh-CN" altLang="en-US"/>
              <a:t>求解阶段：对布尔骨架</a:t>
            </a:r>
            <a:r>
              <a:rPr lang="en-US" altLang="zh-CN"/>
              <a:t> φ_prop</a:t>
            </a:r>
            <a:r>
              <a:rPr lang="zh-CN" altLang="en-US"/>
              <a:t>求解，找到使其为真的命题赋值（候选解）</a:t>
            </a:r>
            <a:endParaRPr lang="zh-CN" altLang="en-US"/>
          </a:p>
          <a:p>
            <a:pPr marL="342900" indent="-342900">
              <a:buFont typeface="+mj-lt"/>
              <a:buAutoNum type="arabicPeriod"/>
            </a:pPr>
            <a:endParaRPr lang="zh-CN" altLang="en-US"/>
          </a:p>
        </p:txBody>
      </p:sp>
      <p:pic>
        <p:nvPicPr>
          <p:cNvPr id="5" name="ECB019B1-382A-4266-B25C-5B523AA43C14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70355"/>
            <a:ext cx="115824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 flipH="1">
            <a:off x="10108565" y="4355465"/>
            <a:ext cx="2083435" cy="250253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直角三角形 3"/>
          <p:cNvSpPr/>
          <p:nvPr/>
        </p:nvSpPr>
        <p:spPr>
          <a:xfrm flipV="1">
            <a:off x="0" y="0"/>
            <a:ext cx="1765300" cy="2259965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>
            <p:custDataLst>
              <p:tags r:id="rId1"/>
            </p:custDataLst>
          </p:nvPr>
        </p:nvSpPr>
        <p:spPr>
          <a:xfrm rot="1914488" flipV="1">
            <a:off x="2295758" y="411511"/>
            <a:ext cx="590088" cy="590088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 rot="5400000" flipV="1">
            <a:off x="444503" y="5715000"/>
            <a:ext cx="876300" cy="876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8682472" flipV="1">
            <a:off x="8497891" y="5476871"/>
            <a:ext cx="1003300" cy="1003300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9547294" flipV="1">
            <a:off x="11072835" y="29930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直角三角形 16"/>
          <p:cNvSpPr/>
          <p:nvPr>
            <p:custDataLst>
              <p:tags r:id="rId2"/>
            </p:custDataLst>
          </p:nvPr>
        </p:nvSpPr>
        <p:spPr>
          <a:xfrm rot="601061" flipV="1">
            <a:off x="6012522" y="378046"/>
            <a:ext cx="681167" cy="681167"/>
          </a:xfrm>
          <a:prstGeom prst="rt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801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800"/>
              <a:t>二.cvc5大致原理</a:t>
            </a:r>
            <a:endParaRPr lang="zh-CN" altLang="en-US" sz="2800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  <a:p>
            <a:pPr marL="342900" indent="-342900">
              <a:buFont typeface="+mj-lt"/>
              <a:buAutoNum type="arabicPeriod"/>
            </a:pPr>
            <a:endParaRPr lang="zh-CN" altLang="en-US"/>
          </a:p>
          <a:p>
            <a:pPr marL="342900" indent="-342900">
              <a:buFont typeface="+mj-lt"/>
              <a:buAutoNum type="arabicPeriod" startAt="5"/>
            </a:pPr>
            <a:r>
              <a:rPr lang="zh-CN" altLang="en-US"/>
              <a:t>理论检查阶段：验证</a:t>
            </a:r>
            <a:r>
              <a:rPr lang="en-US" altLang="zh-CN"/>
              <a:t> SAT </a:t>
            </a:r>
            <a:r>
              <a:rPr lang="zh-CN" altLang="en-US"/>
              <a:t>候选解</a:t>
            </a:r>
            <a:r>
              <a:rPr lang="en-US" altLang="zh-CN"/>
              <a:t> S </a:t>
            </a:r>
            <a:r>
              <a:rPr lang="zh-CN" altLang="en-US"/>
              <a:t>对应的理论约束，是否在实际数学理论中真正可满足</a:t>
            </a:r>
            <a:endParaRPr lang="zh-CN" altLang="en-US"/>
          </a:p>
          <a:p>
            <a:pPr marL="342900" indent="-342900">
              <a:buFont typeface="+mj-lt"/>
              <a:buAutoNum type="arabicPeriod" startAt="5"/>
            </a:pPr>
            <a:r>
              <a:rPr lang="zh-CN" altLang="en-US"/>
              <a:t>冲突处理阶段：生成</a:t>
            </a:r>
            <a:r>
              <a:rPr lang="en-US" altLang="zh-CN"/>
              <a:t> “</a:t>
            </a:r>
            <a:r>
              <a:rPr lang="zh-CN" altLang="en-US"/>
              <a:t>冲突子句</a:t>
            </a:r>
            <a:r>
              <a:rPr lang="en-US" altLang="zh-CN"/>
              <a:t>”</a:t>
            </a:r>
            <a:r>
              <a:rPr lang="zh-CN" altLang="en-US"/>
              <a:t>，指导</a:t>
            </a:r>
            <a:r>
              <a:rPr lang="en-US" altLang="zh-CN"/>
              <a:t> SAT </a:t>
            </a:r>
            <a:r>
              <a:rPr lang="zh-CN" altLang="en-US"/>
              <a:t>求解器避开无效候选解，避免重复搜索</a:t>
            </a:r>
            <a:endParaRPr lang="zh-CN" altLang="en-US"/>
          </a:p>
          <a:p>
            <a:pPr marL="342900" indent="-342900">
              <a:buFont typeface="+mj-lt"/>
              <a:buAutoNum type="arabicPeriod" startAt="5"/>
            </a:pPr>
            <a:r>
              <a:rPr lang="zh-CN" altLang="en-US"/>
              <a:t>迭代循环：冲突处理后，重新回到</a:t>
            </a:r>
            <a:r>
              <a:rPr lang="en-US" altLang="zh-CN"/>
              <a:t>SAT </a:t>
            </a:r>
            <a:r>
              <a:rPr lang="zh-CN" altLang="en-US"/>
              <a:t>求解阶段，基于更新后的</a:t>
            </a:r>
            <a:r>
              <a:rPr lang="en-US" altLang="zh-CN"/>
              <a:t> φ_prop </a:t>
            </a:r>
            <a:r>
              <a:rPr lang="zh-CN" altLang="en-US"/>
              <a:t>寻找新的候选解，重复</a:t>
            </a:r>
            <a:r>
              <a:rPr lang="en-US" altLang="zh-CN"/>
              <a:t>SAT </a:t>
            </a:r>
            <a:r>
              <a:rPr lang="zh-CN" altLang="en-US"/>
              <a:t>求解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理论检查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冲突处理的循环，直到找到有效解（返回</a:t>
            </a:r>
            <a:r>
              <a:rPr lang="en-US" altLang="zh-CN"/>
              <a:t> sat</a:t>
            </a:r>
            <a:r>
              <a:rPr lang="zh-CN" altLang="en-US"/>
              <a:t>）或证明所有候选解均矛盾（返回</a:t>
            </a:r>
            <a:r>
              <a:rPr lang="en-US" altLang="zh-CN"/>
              <a:t> unsat</a:t>
            </a:r>
            <a:r>
              <a:rPr lang="zh-CN" altLang="en-US"/>
              <a:t>）。</a:t>
            </a:r>
            <a:endParaRPr lang="zh-CN" altLang="en-US"/>
          </a:p>
        </p:txBody>
      </p:sp>
      <p:pic>
        <p:nvPicPr>
          <p:cNvPr id="5" name="ECB019B1-382A-4266-B25C-5B523AA43C14-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70355"/>
            <a:ext cx="115824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65101" y="177800"/>
            <a:ext cx="11836400" cy="6500813"/>
          </a:xfrm>
          <a:prstGeom prst="rect">
            <a:avLst/>
          </a:prstGeom>
          <a:noFill/>
          <a:ln w="381000">
            <a:solidFill>
              <a:srgbClr val="94D2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251450" y="3429000"/>
            <a:ext cx="17399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等腰三角形 14"/>
          <p:cNvSpPr/>
          <p:nvPr/>
        </p:nvSpPr>
        <p:spPr>
          <a:xfrm rot="3592439">
            <a:off x="746988" y="613897"/>
            <a:ext cx="913384" cy="787400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等腰三角形 15"/>
          <p:cNvSpPr/>
          <p:nvPr/>
        </p:nvSpPr>
        <p:spPr>
          <a:xfrm rot="3774327">
            <a:off x="1062156" y="4074280"/>
            <a:ext cx="919988" cy="793093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等腰三角形 16"/>
          <p:cNvSpPr/>
          <p:nvPr/>
        </p:nvSpPr>
        <p:spPr>
          <a:xfrm rot="5060062">
            <a:off x="10725934" y="1587357"/>
            <a:ext cx="1221232" cy="1052786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等腰三角形 17"/>
          <p:cNvSpPr/>
          <p:nvPr/>
        </p:nvSpPr>
        <p:spPr>
          <a:xfrm rot="19749097">
            <a:off x="4354211" y="5078950"/>
            <a:ext cx="1125075" cy="969892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等腰三角形 18"/>
          <p:cNvSpPr/>
          <p:nvPr/>
        </p:nvSpPr>
        <p:spPr>
          <a:xfrm rot="3173696">
            <a:off x="10903337" y="5452469"/>
            <a:ext cx="1125075" cy="969892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等腰三角形 19"/>
          <p:cNvSpPr/>
          <p:nvPr/>
        </p:nvSpPr>
        <p:spPr>
          <a:xfrm rot="2840139">
            <a:off x="7311460" y="322464"/>
            <a:ext cx="1409700" cy="1215259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等腰三角形 20"/>
          <p:cNvSpPr/>
          <p:nvPr/>
        </p:nvSpPr>
        <p:spPr>
          <a:xfrm rot="2840139">
            <a:off x="3742762" y="627265"/>
            <a:ext cx="1409700" cy="1215259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等腰三角形 21"/>
          <p:cNvSpPr/>
          <p:nvPr/>
        </p:nvSpPr>
        <p:spPr>
          <a:xfrm rot="2840139">
            <a:off x="9033996" y="4754539"/>
            <a:ext cx="598151" cy="515648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/>
        </p:nvSpPr>
        <p:spPr>
          <a:xfrm rot="2840139">
            <a:off x="2292932" y="2220946"/>
            <a:ext cx="511207" cy="440696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三</a:t>
            </a:r>
            <a:r>
              <a:rPr lang="en-US" altLang="zh-CN" sz="2800"/>
              <a:t>.cvc5</a:t>
            </a:r>
            <a:r>
              <a:rPr lang="zh-CN" altLang="en-US" sz="2800"/>
              <a:t>的</a:t>
            </a:r>
            <a:r>
              <a:rPr lang="en-US" altLang="zh-CN" sz="2800"/>
              <a:t>Python API</a:t>
            </a:r>
            <a:r>
              <a:rPr lang="zh-CN" altLang="en-US" sz="2800"/>
              <a:t>调用和使用方法</a:t>
            </a:r>
            <a:endParaRPr lang="zh-CN" altLang="en-US" sz="2800"/>
          </a:p>
          <a:p>
            <a:pPr marL="342900" indent="-342900" algn="l">
              <a:buClrTx/>
              <a:buSzTx/>
              <a:buFont typeface="+mj-lt"/>
              <a:buAutoNum type="arabicPeriod"/>
            </a:pPr>
            <a:r>
              <a:rPr lang="zh-CN" altLang="en-US" sz="1800"/>
              <a:t>求解器创建与配置</a:t>
            </a:r>
            <a:endParaRPr lang="zh-CN" altLang="en-US" sz="1800"/>
          </a:p>
          <a:p>
            <a:pPr indent="457200"/>
            <a:endParaRPr lang="zh-CN" altLang="en-US" sz="2400"/>
          </a:p>
        </p:txBody>
      </p:sp>
      <p:graphicFrame>
        <p:nvGraphicFramePr>
          <p:cNvPr id="2" name="表格 1"/>
          <p:cNvGraphicFramePr/>
          <p:nvPr/>
        </p:nvGraphicFramePr>
        <p:xfrm>
          <a:off x="1684020" y="2441575"/>
          <a:ext cx="8532495" cy="217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使用</a:t>
                      </a:r>
                      <a:r>
                        <a:rPr lang="zh-CN" altLang="en-US"/>
                        <a:t>方法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举例</a:t>
                      </a:r>
                      <a:endParaRPr lang="zh-CN" altLang="en-US"/>
                    </a:p>
                  </a:txBody>
                  <a:tcPr/>
                </a:tc>
              </a:tr>
              <a:tr h="5772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创建求解器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Solver()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slv = Solver()</a:t>
                      </a:r>
                      <a:endParaRPr lang="en-US" altLang="zh-CN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设置逻辑理论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setLogic()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slv.setLogic("QF_LIA")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配置选项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setOption（）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slv.setOption("produce-models", "true")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65101" y="177800"/>
            <a:ext cx="11836400" cy="6500813"/>
          </a:xfrm>
          <a:prstGeom prst="rect">
            <a:avLst/>
          </a:prstGeom>
          <a:noFill/>
          <a:ln w="381000">
            <a:solidFill>
              <a:srgbClr val="94D2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251450" y="3429000"/>
            <a:ext cx="17399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等腰三角形 14"/>
          <p:cNvSpPr/>
          <p:nvPr/>
        </p:nvSpPr>
        <p:spPr>
          <a:xfrm rot="3592439">
            <a:off x="746988" y="613897"/>
            <a:ext cx="913384" cy="787400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等腰三角形 15"/>
          <p:cNvSpPr/>
          <p:nvPr/>
        </p:nvSpPr>
        <p:spPr>
          <a:xfrm rot="3774327">
            <a:off x="1062156" y="4074280"/>
            <a:ext cx="919988" cy="793093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等腰三角形 16"/>
          <p:cNvSpPr/>
          <p:nvPr/>
        </p:nvSpPr>
        <p:spPr>
          <a:xfrm rot="5060062">
            <a:off x="10725934" y="1587357"/>
            <a:ext cx="1221232" cy="1052786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等腰三角形 17"/>
          <p:cNvSpPr/>
          <p:nvPr/>
        </p:nvSpPr>
        <p:spPr>
          <a:xfrm rot="19749097">
            <a:off x="4354211" y="5078950"/>
            <a:ext cx="1125075" cy="969892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等腰三角形 18"/>
          <p:cNvSpPr/>
          <p:nvPr/>
        </p:nvSpPr>
        <p:spPr>
          <a:xfrm rot="3173696">
            <a:off x="10903337" y="5452469"/>
            <a:ext cx="1125075" cy="969892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等腰三角形 19"/>
          <p:cNvSpPr/>
          <p:nvPr/>
        </p:nvSpPr>
        <p:spPr>
          <a:xfrm rot="2840139">
            <a:off x="7311460" y="322464"/>
            <a:ext cx="1409700" cy="1215259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等腰三角形 20"/>
          <p:cNvSpPr/>
          <p:nvPr/>
        </p:nvSpPr>
        <p:spPr>
          <a:xfrm rot="2840139">
            <a:off x="3742762" y="627265"/>
            <a:ext cx="1409700" cy="1215259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等腰三角形 21"/>
          <p:cNvSpPr/>
          <p:nvPr/>
        </p:nvSpPr>
        <p:spPr>
          <a:xfrm rot="2840139">
            <a:off x="9033996" y="4754539"/>
            <a:ext cx="598151" cy="515648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/>
        </p:nvSpPr>
        <p:spPr>
          <a:xfrm rot="2840139">
            <a:off x="2292932" y="2220946"/>
            <a:ext cx="511207" cy="440696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三</a:t>
            </a:r>
            <a:r>
              <a:rPr lang="en-US" altLang="zh-CN" sz="2800"/>
              <a:t>.cvc5</a:t>
            </a:r>
            <a:r>
              <a:rPr lang="zh-CN" altLang="en-US" sz="2800"/>
              <a:t>的</a:t>
            </a:r>
            <a:r>
              <a:rPr lang="en-US" altLang="zh-CN" sz="2800"/>
              <a:t>Python API</a:t>
            </a:r>
            <a:r>
              <a:rPr lang="zh-CN" altLang="en-US" sz="2800"/>
              <a:t>调用和使用方法</a:t>
            </a:r>
            <a:endParaRPr lang="zh-CN" altLang="en-US" sz="2800"/>
          </a:p>
          <a:p>
            <a:pPr marL="342900" indent="-342900" algn="l">
              <a:buClrTx/>
              <a:buSzTx/>
              <a:buFont typeface="+mj-lt"/>
              <a:buAutoNum type="arabicPeriod" startAt="2"/>
            </a:pPr>
            <a:r>
              <a:rPr lang="zh-CN" altLang="en-US" sz="1800"/>
              <a:t>类型系统</a:t>
            </a:r>
            <a:r>
              <a:rPr lang="en-US" altLang="zh-CN" sz="1800"/>
              <a:t> API</a:t>
            </a:r>
            <a:endParaRPr lang="en-US" altLang="zh-CN" sz="1800"/>
          </a:p>
          <a:p>
            <a:pPr indent="457200"/>
            <a:endParaRPr lang="zh-CN" altLang="en-US" sz="2400"/>
          </a:p>
        </p:txBody>
      </p:sp>
      <p:graphicFrame>
        <p:nvGraphicFramePr>
          <p:cNvPr id="2" name="表格 1"/>
          <p:cNvGraphicFramePr/>
          <p:nvPr/>
        </p:nvGraphicFramePr>
        <p:xfrm>
          <a:off x="1684020" y="2000885"/>
          <a:ext cx="8532495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使用</a:t>
                      </a:r>
                      <a:r>
                        <a:rPr lang="zh-CN" altLang="en-US"/>
                        <a:t>方法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举例</a:t>
                      </a:r>
                      <a:endParaRPr lang="zh-CN" altLang="en-US"/>
                    </a:p>
                  </a:txBody>
                  <a:tcPr/>
                </a:tc>
              </a:tr>
              <a:tr h="5772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基本类型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getBooleanSort()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getIntegerSort()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getRealSort() 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getStringSort()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bool_sort = slv.getBooleanSort()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int_sort = slv.getIntegerSort() </a:t>
                      </a:r>
                      <a:endParaRPr lang="en-US" altLang="zh-CN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构造类型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mkBitVectorSort()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bv8_sort = slv.mkBitVectorSort(8) </a:t>
                      </a:r>
                      <a:r>
                        <a:rPr lang="en-US" altLang="zh-CN" sz="1800">
                          <a:sym typeface="+mn-ea"/>
                        </a:rPr>
                        <a:t># 8</a:t>
                      </a:r>
                      <a:r>
                        <a:rPr lang="zh-CN" altLang="en-US" sz="1800">
                          <a:sym typeface="+mn-ea"/>
                        </a:rPr>
                        <a:t>位位向量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数组类型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mkArraySort() 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array_sort = slv.mkArraySort(int_sort, int_sort)</a:t>
                      </a:r>
                      <a:r>
                        <a:rPr lang="en-US" altLang="zh-CN" sz="1800">
                          <a:sym typeface="+mn-ea"/>
                        </a:rPr>
                        <a:t> # </a:t>
                      </a:r>
                      <a:r>
                        <a:rPr lang="zh-CN" altLang="en-US" sz="1800">
                          <a:sym typeface="+mn-ea"/>
                        </a:rPr>
                        <a:t>整数数组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函数类型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mkFunctionSort()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func_sort = slv.mkFunctionSort(domain_sorts, range_sort)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65101" y="177800"/>
            <a:ext cx="11836400" cy="6500813"/>
          </a:xfrm>
          <a:prstGeom prst="rect">
            <a:avLst/>
          </a:prstGeom>
          <a:noFill/>
          <a:ln w="381000">
            <a:solidFill>
              <a:srgbClr val="94D2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251450" y="3429000"/>
            <a:ext cx="17399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等腰三角形 14"/>
          <p:cNvSpPr/>
          <p:nvPr/>
        </p:nvSpPr>
        <p:spPr>
          <a:xfrm rot="3592439">
            <a:off x="746988" y="613897"/>
            <a:ext cx="913384" cy="787400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等腰三角形 15"/>
          <p:cNvSpPr/>
          <p:nvPr/>
        </p:nvSpPr>
        <p:spPr>
          <a:xfrm rot="3774327">
            <a:off x="1062156" y="4074280"/>
            <a:ext cx="919988" cy="793093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等腰三角形 16"/>
          <p:cNvSpPr/>
          <p:nvPr/>
        </p:nvSpPr>
        <p:spPr>
          <a:xfrm rot="5060062">
            <a:off x="10725934" y="1587357"/>
            <a:ext cx="1221232" cy="1052786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等腰三角形 17"/>
          <p:cNvSpPr/>
          <p:nvPr/>
        </p:nvSpPr>
        <p:spPr>
          <a:xfrm rot="19749097">
            <a:off x="4354211" y="5078950"/>
            <a:ext cx="1125075" cy="969892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等腰三角形 18"/>
          <p:cNvSpPr/>
          <p:nvPr/>
        </p:nvSpPr>
        <p:spPr>
          <a:xfrm rot="3173696">
            <a:off x="10903337" y="5452469"/>
            <a:ext cx="1125075" cy="969892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等腰三角形 19"/>
          <p:cNvSpPr/>
          <p:nvPr/>
        </p:nvSpPr>
        <p:spPr>
          <a:xfrm rot="2840139">
            <a:off x="7311460" y="322464"/>
            <a:ext cx="1409700" cy="1215259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等腰三角形 20"/>
          <p:cNvSpPr/>
          <p:nvPr/>
        </p:nvSpPr>
        <p:spPr>
          <a:xfrm rot="2840139">
            <a:off x="3742762" y="627265"/>
            <a:ext cx="1409700" cy="1215259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等腰三角形 21"/>
          <p:cNvSpPr/>
          <p:nvPr/>
        </p:nvSpPr>
        <p:spPr>
          <a:xfrm rot="2840139">
            <a:off x="9033996" y="4754539"/>
            <a:ext cx="598151" cy="515648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/>
        </p:nvSpPr>
        <p:spPr>
          <a:xfrm rot="2840139">
            <a:off x="2292932" y="2220946"/>
            <a:ext cx="511207" cy="440696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三</a:t>
            </a:r>
            <a:r>
              <a:rPr lang="en-US" altLang="zh-CN" sz="2800"/>
              <a:t>.cvc5</a:t>
            </a:r>
            <a:r>
              <a:rPr lang="zh-CN" altLang="en-US" sz="2800"/>
              <a:t>的</a:t>
            </a:r>
            <a:r>
              <a:rPr lang="en-US" altLang="zh-CN" sz="2800"/>
              <a:t>Python API</a:t>
            </a:r>
            <a:r>
              <a:rPr lang="zh-CN" altLang="en-US" sz="2800"/>
              <a:t>调用和使用方法</a:t>
            </a:r>
            <a:endParaRPr lang="zh-CN" altLang="en-US" sz="2800"/>
          </a:p>
          <a:p>
            <a:pPr marL="342900" indent="-342900" algn="l">
              <a:buClrTx/>
              <a:buSzTx/>
              <a:buFont typeface="+mj-lt"/>
              <a:buAutoNum type="arabicPeriod" startAt="3"/>
            </a:pPr>
            <a:r>
              <a:rPr lang="zh-CN" altLang="en-US" sz="1800"/>
              <a:t>变量与常量创建 API</a:t>
            </a:r>
            <a:endParaRPr lang="zh-CN" altLang="en-US" sz="1800"/>
          </a:p>
        </p:txBody>
      </p:sp>
      <p:graphicFrame>
        <p:nvGraphicFramePr>
          <p:cNvPr id="2" name="表格 1"/>
          <p:cNvGraphicFramePr/>
          <p:nvPr/>
        </p:nvGraphicFramePr>
        <p:xfrm>
          <a:off x="1684020" y="2441575"/>
          <a:ext cx="8532495" cy="217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使用</a:t>
                      </a:r>
                      <a:r>
                        <a:rPr lang="zh-CN" altLang="en-US"/>
                        <a:t>方法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举例</a:t>
                      </a:r>
                      <a:endParaRPr lang="zh-CN" altLang="en-US"/>
                    </a:p>
                  </a:txBody>
                  <a:tcPr/>
                </a:tc>
              </a:tr>
              <a:tr h="5772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创建变量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mkConst()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 = slv.mkConst(int_sort, "x")             # </a:t>
                      </a:r>
                      <a:r>
                        <a:rPr lang="zh-CN" altLang="en-US"/>
                        <a:t>整数变量</a:t>
                      </a:r>
                      <a:r>
                        <a:rPr lang="en-US" altLang="zh-CN"/>
                        <a:t>x</a:t>
                      </a:r>
                      <a:endParaRPr lang="en-US" altLang="zh-CN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创建常量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mkInteger(0)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mkReal() 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mkTrue() 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mkString()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zero = slv.mkInteger(0)                    # </a:t>
                      </a:r>
                      <a:r>
                        <a:rPr lang="zh-CN" altLang="en-US"/>
                        <a:t>整数</a:t>
                      </a:r>
                      <a:r>
                        <a:rPr lang="en-US" altLang="zh-CN"/>
                        <a:t>0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pi = slv.mkReal("3.14159")                 # </a:t>
                      </a:r>
                      <a:r>
                        <a:rPr lang="zh-CN" altLang="en-US"/>
                        <a:t>实数</a:t>
                      </a:r>
                      <a:r>
                        <a:rPr lang="en-US" altLang="zh-CN"/>
                        <a:t>3.14159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true_val = slv.mkTrue()                    # </a:t>
                      </a:r>
                      <a:r>
                        <a:rPr lang="zh-CN" altLang="en-US"/>
                        <a:t>布尔真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65101" y="177800"/>
            <a:ext cx="11836400" cy="6500813"/>
          </a:xfrm>
          <a:prstGeom prst="rect">
            <a:avLst/>
          </a:prstGeom>
          <a:noFill/>
          <a:ln w="381000">
            <a:solidFill>
              <a:srgbClr val="94D2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251450" y="3429000"/>
            <a:ext cx="17399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等腰三角形 14"/>
          <p:cNvSpPr/>
          <p:nvPr/>
        </p:nvSpPr>
        <p:spPr>
          <a:xfrm rot="3592439">
            <a:off x="746988" y="613897"/>
            <a:ext cx="913384" cy="787400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等腰三角形 15"/>
          <p:cNvSpPr/>
          <p:nvPr/>
        </p:nvSpPr>
        <p:spPr>
          <a:xfrm rot="3774327">
            <a:off x="1062156" y="4074280"/>
            <a:ext cx="919988" cy="793093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等腰三角形 16"/>
          <p:cNvSpPr/>
          <p:nvPr/>
        </p:nvSpPr>
        <p:spPr>
          <a:xfrm rot="5060062">
            <a:off x="10725934" y="1587357"/>
            <a:ext cx="1221232" cy="1052786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等腰三角形 17"/>
          <p:cNvSpPr/>
          <p:nvPr/>
        </p:nvSpPr>
        <p:spPr>
          <a:xfrm rot="19749097">
            <a:off x="4354211" y="5078950"/>
            <a:ext cx="1125075" cy="969892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等腰三角形 18"/>
          <p:cNvSpPr/>
          <p:nvPr/>
        </p:nvSpPr>
        <p:spPr>
          <a:xfrm rot="3173696">
            <a:off x="10903337" y="5452469"/>
            <a:ext cx="1125075" cy="969892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等腰三角形 19"/>
          <p:cNvSpPr/>
          <p:nvPr/>
        </p:nvSpPr>
        <p:spPr>
          <a:xfrm rot="2840139">
            <a:off x="7311460" y="322464"/>
            <a:ext cx="1409700" cy="1215259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等腰三角形 20"/>
          <p:cNvSpPr/>
          <p:nvPr/>
        </p:nvSpPr>
        <p:spPr>
          <a:xfrm rot="2840139">
            <a:off x="3742762" y="627265"/>
            <a:ext cx="1409700" cy="1215259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等腰三角形 21"/>
          <p:cNvSpPr/>
          <p:nvPr/>
        </p:nvSpPr>
        <p:spPr>
          <a:xfrm rot="2840139">
            <a:off x="9033996" y="4754539"/>
            <a:ext cx="598151" cy="515648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/>
        </p:nvSpPr>
        <p:spPr>
          <a:xfrm rot="2840139">
            <a:off x="2292932" y="2220946"/>
            <a:ext cx="511207" cy="440696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三</a:t>
            </a:r>
            <a:r>
              <a:rPr lang="en-US" altLang="zh-CN" sz="2800"/>
              <a:t>.cvc5</a:t>
            </a:r>
            <a:r>
              <a:rPr lang="zh-CN" altLang="en-US" sz="2800"/>
              <a:t>的</a:t>
            </a:r>
            <a:r>
              <a:rPr lang="en-US" altLang="zh-CN" sz="2800"/>
              <a:t>Python API</a:t>
            </a:r>
            <a:r>
              <a:rPr lang="zh-CN" altLang="en-US" sz="2800"/>
              <a:t>调用和使用方法</a:t>
            </a:r>
            <a:endParaRPr lang="zh-CN" altLang="en-US" sz="2800"/>
          </a:p>
          <a:p>
            <a:pPr marL="342900" indent="-342900" algn="l">
              <a:buClrTx/>
              <a:buSzTx/>
              <a:buFont typeface="+mj-lt"/>
              <a:buAutoNum type="arabicPeriod" startAt="4"/>
            </a:pPr>
            <a:r>
              <a:rPr lang="zh-CN" altLang="en-US" sz="1800"/>
              <a:t>表达式构建</a:t>
            </a:r>
            <a:r>
              <a:rPr lang="en-US" altLang="zh-CN" sz="1800"/>
              <a:t> API</a:t>
            </a:r>
            <a:endParaRPr lang="en-US" altLang="zh-CN" sz="1800"/>
          </a:p>
        </p:txBody>
      </p:sp>
      <p:graphicFrame>
        <p:nvGraphicFramePr>
          <p:cNvPr id="2" name="表格 1"/>
          <p:cNvGraphicFramePr/>
          <p:nvPr/>
        </p:nvGraphicFramePr>
        <p:xfrm>
          <a:off x="1193165" y="2103755"/>
          <a:ext cx="10137140" cy="415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44488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使用</a:t>
                      </a:r>
                      <a:r>
                        <a:rPr lang="zh-CN" altLang="en-US"/>
                        <a:t>方法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举例</a:t>
                      </a:r>
                      <a:endParaRPr lang="zh-CN" altLang="en-US"/>
                    </a:p>
                  </a:txBody>
                  <a:tcPr/>
                </a:tc>
              </a:tr>
              <a:tr h="5772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算术表达式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mkTerm(Kind.ADD, x, y)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sum_xy = slv.mkTerm(Kind.ADD, x, y)        # x + y</a:t>
                      </a:r>
                      <a:endParaRPr lang="en-US" altLang="zh-CN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比较运算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slv.mkTerm(Kind.EQUAL, x, y)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eq_xy = slv.mkTerm(Kind.EQUAL, x, y)       # x = y</a:t>
                      </a:r>
                      <a:endParaRPr lang="en-US" altLang="zh-CN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布尔逻辑运算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mkTerm(Kind.AND, p, q)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and_pq = slv.mkTerm(Kind.AND, p, q)        # p ∧ q</a:t>
                      </a:r>
                      <a:endParaRPr lang="en-US" altLang="zh-CN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ITE (if-then-else) </a:t>
                      </a:r>
                      <a:r>
                        <a:rPr lang="zh-CN" altLang="en-US"/>
                        <a:t>表达式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mkTerm(Kind.ITE, condition, then, else)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ite_expr = slv.mkTerm(Kind.ITE, condition, then_expr, else_expr)  # if c then a else b</a:t>
                      </a:r>
                      <a:endParaRPr lang="en-US" altLang="zh-CN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数组操作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mkTerm(Kind.STORE, arr, index, value)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arr_store = slv.mkTerm(Kind.STORE, arr, index, value)  # arr[index] = value</a:t>
                      </a:r>
                      <a:endParaRPr lang="en-US" altLang="zh-CN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字符串操作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mkTerm(Kind.STRING_CONCAT, s, t)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str_concat = slv.mkTerm(Kind.STRING_CONCAT, s, t)      # </a:t>
                      </a:r>
                      <a:r>
                        <a:rPr lang="zh-CN" altLang="en-US"/>
                        <a:t>连接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65101" y="177800"/>
            <a:ext cx="11836400" cy="6500813"/>
          </a:xfrm>
          <a:prstGeom prst="rect">
            <a:avLst/>
          </a:prstGeom>
          <a:noFill/>
          <a:ln w="381000">
            <a:solidFill>
              <a:srgbClr val="94D2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251450" y="3429000"/>
            <a:ext cx="17399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等腰三角形 14"/>
          <p:cNvSpPr/>
          <p:nvPr/>
        </p:nvSpPr>
        <p:spPr>
          <a:xfrm rot="3592439">
            <a:off x="746988" y="613897"/>
            <a:ext cx="913384" cy="787400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等腰三角形 15"/>
          <p:cNvSpPr/>
          <p:nvPr/>
        </p:nvSpPr>
        <p:spPr>
          <a:xfrm rot="3774327">
            <a:off x="1062156" y="4074280"/>
            <a:ext cx="919988" cy="793093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等腰三角形 16"/>
          <p:cNvSpPr/>
          <p:nvPr/>
        </p:nvSpPr>
        <p:spPr>
          <a:xfrm rot="5060062">
            <a:off x="10725934" y="1587357"/>
            <a:ext cx="1221232" cy="1052786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等腰三角形 17"/>
          <p:cNvSpPr/>
          <p:nvPr/>
        </p:nvSpPr>
        <p:spPr>
          <a:xfrm rot="19749097">
            <a:off x="4354211" y="5078950"/>
            <a:ext cx="1125075" cy="969892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等腰三角形 18"/>
          <p:cNvSpPr/>
          <p:nvPr/>
        </p:nvSpPr>
        <p:spPr>
          <a:xfrm rot="3173696">
            <a:off x="10903337" y="5452469"/>
            <a:ext cx="1125075" cy="969892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等腰三角形 19"/>
          <p:cNvSpPr/>
          <p:nvPr/>
        </p:nvSpPr>
        <p:spPr>
          <a:xfrm rot="2840139">
            <a:off x="7311460" y="322464"/>
            <a:ext cx="1409700" cy="1215259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等腰三角形 20"/>
          <p:cNvSpPr/>
          <p:nvPr/>
        </p:nvSpPr>
        <p:spPr>
          <a:xfrm rot="2840139">
            <a:off x="3742762" y="627265"/>
            <a:ext cx="1409700" cy="1215259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等腰三角形 21"/>
          <p:cNvSpPr/>
          <p:nvPr/>
        </p:nvSpPr>
        <p:spPr>
          <a:xfrm rot="2840139">
            <a:off x="9033996" y="4754539"/>
            <a:ext cx="598151" cy="515648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/>
        </p:nvSpPr>
        <p:spPr>
          <a:xfrm rot="2840139">
            <a:off x="2292932" y="2220946"/>
            <a:ext cx="511207" cy="440696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三</a:t>
            </a:r>
            <a:r>
              <a:rPr lang="en-US" altLang="zh-CN" sz="2800"/>
              <a:t>.cvc5</a:t>
            </a:r>
            <a:r>
              <a:rPr lang="zh-CN" altLang="en-US" sz="2800"/>
              <a:t>的</a:t>
            </a:r>
            <a:r>
              <a:rPr lang="en-US" altLang="zh-CN" sz="2800"/>
              <a:t>Python API</a:t>
            </a:r>
            <a:r>
              <a:rPr lang="zh-CN" altLang="en-US" sz="2800"/>
              <a:t>调用和使用方法</a:t>
            </a:r>
            <a:endParaRPr lang="zh-CN" altLang="en-US" sz="2800"/>
          </a:p>
          <a:p>
            <a:pPr marL="342900" indent="-342900" algn="l">
              <a:buClrTx/>
              <a:buSzTx/>
              <a:buFont typeface="+mj-lt"/>
              <a:buAutoNum type="arabicPeriod" startAt="5"/>
            </a:pPr>
            <a:r>
              <a:rPr lang="zh-CN" altLang="en-US" sz="1800"/>
              <a:t>约束管理与求解</a:t>
            </a:r>
            <a:r>
              <a:rPr lang="en-US" altLang="zh-CN" sz="1800"/>
              <a:t> API</a:t>
            </a:r>
            <a:endParaRPr lang="en-US" altLang="zh-CN" sz="1800"/>
          </a:p>
        </p:txBody>
      </p:sp>
      <p:graphicFrame>
        <p:nvGraphicFramePr>
          <p:cNvPr id="2" name="表格 1"/>
          <p:cNvGraphicFramePr/>
          <p:nvPr/>
        </p:nvGraphicFramePr>
        <p:xfrm>
          <a:off x="1193165" y="2103755"/>
          <a:ext cx="10137140" cy="415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44488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使用</a:t>
                      </a:r>
                      <a:r>
                        <a:rPr lang="zh-CN" altLang="en-US"/>
                        <a:t>方法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举例</a:t>
                      </a:r>
                      <a:endParaRPr lang="zh-CN" altLang="en-US"/>
                    </a:p>
                  </a:txBody>
                  <a:tcPr/>
                </a:tc>
              </a:tr>
              <a:tr h="5772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添加约束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assertFormula(expr)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slv.assertFormula(expr) # </a:t>
                      </a:r>
                      <a:r>
                        <a:rPr lang="zh-CN" altLang="en-US"/>
                        <a:t>添加单个约束</a:t>
                      </a:r>
                      <a:endParaRPr lang="zh-CN" altLang="en-US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求解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checkSat()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result = slv.checkSat()   # </a:t>
                      </a:r>
                      <a:r>
                        <a:rPr lang="zh-CN" altLang="en-US"/>
                        <a:t>检查可满足性</a:t>
                      </a:r>
                      <a:endParaRPr lang="zh-CN" altLang="en-US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添加约束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push()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slv.push()       # </a:t>
                      </a:r>
                      <a:r>
                        <a:rPr lang="zh-CN" altLang="en-US"/>
                        <a:t>添加一个检查点</a:t>
                      </a:r>
                      <a:endParaRPr lang="zh-CN" altLang="en-US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假设求解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checkSatAssuming(assumptions)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assumptions = [expr1, expr2]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result = slv.checkSatAssuming(assumptions)  # </a:t>
                      </a:r>
                      <a:r>
                        <a:rPr lang="zh-CN" altLang="en-US"/>
                        <a:t>在假设下求解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65101" y="177800"/>
            <a:ext cx="11836400" cy="6500813"/>
          </a:xfrm>
          <a:prstGeom prst="rect">
            <a:avLst/>
          </a:prstGeom>
          <a:noFill/>
          <a:ln w="381000">
            <a:solidFill>
              <a:srgbClr val="94D2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251450" y="3429000"/>
            <a:ext cx="17399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等腰三角形 14"/>
          <p:cNvSpPr/>
          <p:nvPr/>
        </p:nvSpPr>
        <p:spPr>
          <a:xfrm rot="3592439">
            <a:off x="746988" y="613897"/>
            <a:ext cx="913384" cy="787400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等腰三角形 15"/>
          <p:cNvSpPr/>
          <p:nvPr/>
        </p:nvSpPr>
        <p:spPr>
          <a:xfrm rot="3774327">
            <a:off x="1062156" y="4074280"/>
            <a:ext cx="919988" cy="793093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等腰三角形 16"/>
          <p:cNvSpPr/>
          <p:nvPr/>
        </p:nvSpPr>
        <p:spPr>
          <a:xfrm rot="5060062">
            <a:off x="10725934" y="1587357"/>
            <a:ext cx="1221232" cy="1052786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等腰三角形 17"/>
          <p:cNvSpPr/>
          <p:nvPr/>
        </p:nvSpPr>
        <p:spPr>
          <a:xfrm rot="19749097">
            <a:off x="4354211" y="5078950"/>
            <a:ext cx="1125075" cy="969892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等腰三角形 18"/>
          <p:cNvSpPr/>
          <p:nvPr/>
        </p:nvSpPr>
        <p:spPr>
          <a:xfrm rot="3173696">
            <a:off x="10903337" y="5452469"/>
            <a:ext cx="1125075" cy="969892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等腰三角形 19"/>
          <p:cNvSpPr/>
          <p:nvPr/>
        </p:nvSpPr>
        <p:spPr>
          <a:xfrm rot="2840139">
            <a:off x="7311460" y="322464"/>
            <a:ext cx="1409700" cy="1215259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等腰三角形 20"/>
          <p:cNvSpPr/>
          <p:nvPr/>
        </p:nvSpPr>
        <p:spPr>
          <a:xfrm rot="2840139">
            <a:off x="3742762" y="627265"/>
            <a:ext cx="1409700" cy="1215259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等腰三角形 21"/>
          <p:cNvSpPr/>
          <p:nvPr/>
        </p:nvSpPr>
        <p:spPr>
          <a:xfrm rot="2840139">
            <a:off x="9033996" y="4754539"/>
            <a:ext cx="598151" cy="515648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/>
        </p:nvSpPr>
        <p:spPr>
          <a:xfrm rot="2840139">
            <a:off x="2292932" y="2220946"/>
            <a:ext cx="511207" cy="440696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三</a:t>
            </a:r>
            <a:r>
              <a:rPr lang="en-US" altLang="zh-CN" sz="2800"/>
              <a:t>.cvc5</a:t>
            </a:r>
            <a:r>
              <a:rPr lang="zh-CN" altLang="en-US" sz="2800"/>
              <a:t>的</a:t>
            </a:r>
            <a:r>
              <a:rPr lang="en-US" altLang="zh-CN" sz="2800"/>
              <a:t>Python API</a:t>
            </a:r>
            <a:r>
              <a:rPr lang="zh-CN" altLang="en-US" sz="2800"/>
              <a:t>调用和使用方法</a:t>
            </a:r>
            <a:endParaRPr lang="zh-CN" altLang="en-US" sz="2800"/>
          </a:p>
          <a:p>
            <a:pPr marL="342900" indent="-342900" algn="l">
              <a:buClrTx/>
              <a:buSzTx/>
              <a:buFont typeface="+mj-lt"/>
              <a:buAutoNum type="arabicPeriod" startAt="6"/>
            </a:pPr>
            <a:r>
              <a:rPr lang="zh-CN" altLang="en-US" sz="1800"/>
              <a:t>结果获取</a:t>
            </a:r>
            <a:r>
              <a:rPr lang="en-US" altLang="zh-CN" sz="1800"/>
              <a:t> API</a:t>
            </a:r>
            <a:endParaRPr lang="en-US" altLang="zh-CN" sz="1800"/>
          </a:p>
        </p:txBody>
      </p:sp>
      <p:graphicFrame>
        <p:nvGraphicFramePr>
          <p:cNvPr id="2" name="表格 1"/>
          <p:cNvGraphicFramePr/>
          <p:nvPr/>
        </p:nvGraphicFramePr>
        <p:xfrm>
          <a:off x="1193165" y="2103755"/>
          <a:ext cx="10137140" cy="415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44488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使用</a:t>
                      </a:r>
                      <a:r>
                        <a:rPr lang="zh-CN" altLang="en-US"/>
                        <a:t>方法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举例</a:t>
                      </a:r>
                      <a:endParaRPr lang="zh-CN" altLang="en-US"/>
                    </a:p>
                  </a:txBody>
                  <a:tcPr/>
                </a:tc>
              </a:tr>
              <a:tr h="5772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获取变量值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getValue()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x_val = slv.getValue(x) # </a:t>
                      </a:r>
                      <a:r>
                        <a:rPr lang="zh-CN" altLang="en-US"/>
                        <a:t>获取变量</a:t>
                      </a:r>
                      <a:r>
                        <a:rPr lang="en-US" altLang="zh-CN"/>
                        <a:t>x</a:t>
                      </a:r>
                      <a:r>
                        <a:rPr lang="zh-CN" altLang="en-US"/>
                        <a:t>的值</a:t>
                      </a:r>
                      <a:endParaRPr lang="zh-CN" altLang="en-US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获取完整模型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getModel()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model = slv.getModel() # </a:t>
                      </a:r>
                      <a:r>
                        <a:rPr lang="zh-CN" altLang="en-US"/>
                        <a:t>获取完整模型</a:t>
                      </a:r>
                      <a:endParaRPr lang="zh-CN" altLang="en-US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获取不可满足核心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getUnsatCore()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unsat_core = slv.getUnsatCore()  # </a:t>
                      </a:r>
                      <a:r>
                        <a:rPr lang="zh-CN" altLang="en-US"/>
                        <a:t>获取不可满足核心</a:t>
                      </a:r>
                      <a:endParaRPr lang="zh-CN" altLang="en-US"/>
                    </a:p>
                  </a:txBody>
                  <a:tcPr/>
                </a:tc>
              </a:tr>
              <a:tr h="5778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获取统计信息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getStatistics()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stats = slv.getStatistics()            # </a:t>
                      </a:r>
                      <a:r>
                        <a:rPr lang="zh-CN" altLang="en-US"/>
                        <a:t>获取统计信息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65101" y="177800"/>
            <a:ext cx="11836400" cy="6500813"/>
          </a:xfrm>
          <a:prstGeom prst="rect">
            <a:avLst/>
          </a:prstGeom>
          <a:noFill/>
          <a:ln w="381000">
            <a:solidFill>
              <a:srgbClr val="94D2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251450" y="3429000"/>
            <a:ext cx="17399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等腰三角形 14"/>
          <p:cNvSpPr/>
          <p:nvPr/>
        </p:nvSpPr>
        <p:spPr>
          <a:xfrm rot="3592439">
            <a:off x="746988" y="613897"/>
            <a:ext cx="913384" cy="787400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等腰三角形 15"/>
          <p:cNvSpPr/>
          <p:nvPr/>
        </p:nvSpPr>
        <p:spPr>
          <a:xfrm rot="3774327">
            <a:off x="1062156" y="4074280"/>
            <a:ext cx="919988" cy="793093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等腰三角形 16"/>
          <p:cNvSpPr/>
          <p:nvPr/>
        </p:nvSpPr>
        <p:spPr>
          <a:xfrm rot="5060062">
            <a:off x="10725934" y="1587357"/>
            <a:ext cx="1221232" cy="1052786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等腰三角形 17"/>
          <p:cNvSpPr/>
          <p:nvPr/>
        </p:nvSpPr>
        <p:spPr>
          <a:xfrm rot="19749097">
            <a:off x="4354211" y="5078950"/>
            <a:ext cx="1125075" cy="969892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等腰三角形 18"/>
          <p:cNvSpPr/>
          <p:nvPr/>
        </p:nvSpPr>
        <p:spPr>
          <a:xfrm rot="3173696">
            <a:off x="10903337" y="5452469"/>
            <a:ext cx="1125075" cy="969892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等腰三角形 19"/>
          <p:cNvSpPr/>
          <p:nvPr/>
        </p:nvSpPr>
        <p:spPr>
          <a:xfrm rot="2840139">
            <a:off x="7311460" y="322464"/>
            <a:ext cx="1409700" cy="1215259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等腰三角形 20"/>
          <p:cNvSpPr/>
          <p:nvPr/>
        </p:nvSpPr>
        <p:spPr>
          <a:xfrm rot="2840139">
            <a:off x="3742762" y="627265"/>
            <a:ext cx="1409700" cy="1215259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等腰三角形 21"/>
          <p:cNvSpPr/>
          <p:nvPr/>
        </p:nvSpPr>
        <p:spPr>
          <a:xfrm rot="2840139">
            <a:off x="9033996" y="4754539"/>
            <a:ext cx="598151" cy="515648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/>
        </p:nvSpPr>
        <p:spPr>
          <a:xfrm rot="2840139">
            <a:off x="2292932" y="2220946"/>
            <a:ext cx="511207" cy="440696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三</a:t>
            </a:r>
            <a:r>
              <a:rPr lang="en-US" altLang="zh-CN" sz="2800"/>
              <a:t>.cvc5</a:t>
            </a:r>
            <a:r>
              <a:rPr lang="zh-CN" altLang="en-US" sz="2800"/>
              <a:t>的</a:t>
            </a:r>
            <a:r>
              <a:rPr lang="en-US" altLang="zh-CN" sz="2800"/>
              <a:t>Python API</a:t>
            </a:r>
            <a:r>
              <a:rPr lang="zh-CN" altLang="en-US" sz="2800"/>
              <a:t>调用和使用方法</a:t>
            </a:r>
            <a:endParaRPr lang="zh-CN" altLang="en-US" sz="2800"/>
          </a:p>
          <a:p>
            <a:pPr marL="342900" indent="-342900" algn="l">
              <a:buClrTx/>
              <a:buSzTx/>
              <a:buFont typeface="+mj-lt"/>
              <a:buAutoNum type="arabicPeriod" startAt="7"/>
            </a:pPr>
            <a:r>
              <a:rPr lang="zh-CN" altLang="en-US" sz="1800"/>
              <a:t>常用</a:t>
            </a:r>
            <a:r>
              <a:rPr lang="en-US" altLang="zh-CN" sz="1800"/>
              <a:t>Kind</a:t>
            </a:r>
            <a:r>
              <a:rPr lang="zh-CN" altLang="en-US" sz="1800"/>
              <a:t>操作符枚举</a:t>
            </a:r>
            <a:endParaRPr lang="zh-CN" altLang="en-US" sz="18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# </a:t>
            </a:r>
            <a:r>
              <a:rPr lang="zh-CN" altLang="en-US" sz="1400"/>
              <a:t>算术运算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Kind.ADD       # </a:t>
            </a:r>
            <a:r>
              <a:rPr lang="zh-CN" altLang="en-US" sz="1400"/>
              <a:t>加法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Kind.SUB       # </a:t>
            </a:r>
            <a:r>
              <a:rPr lang="zh-CN" altLang="en-US" sz="1400"/>
              <a:t>减法</a:t>
            </a:r>
            <a:r>
              <a:rPr lang="en-US" altLang="zh-CN" sz="1400"/>
              <a:t>  </a:t>
            </a:r>
            <a:endParaRPr lang="en-US" altLang="zh-CN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Kind.MULT      # </a:t>
            </a:r>
            <a:r>
              <a:rPr lang="zh-CN" altLang="en-US" sz="1400"/>
              <a:t>乘法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Kind.DIVISION  # </a:t>
            </a:r>
            <a:r>
              <a:rPr lang="zh-CN" altLang="en-US" sz="1400"/>
              <a:t>除法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Kind.INTS_MODULUS  # </a:t>
            </a:r>
            <a:r>
              <a:rPr lang="zh-CN" altLang="en-US" sz="1400"/>
              <a:t>整数取模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Kind.NEG       # </a:t>
            </a:r>
            <a:r>
              <a:rPr lang="zh-CN" altLang="en-US" sz="1400"/>
              <a:t>取负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Kind.ABS       # </a:t>
            </a:r>
            <a:r>
              <a:rPr lang="zh-CN" altLang="en-US" sz="1400"/>
              <a:t>绝对值</a:t>
            </a:r>
            <a:endParaRPr lang="en-US" altLang="zh-CN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# </a:t>
            </a:r>
            <a:r>
              <a:rPr lang="zh-CN" altLang="en-US" sz="1400"/>
              <a:t>位向量运算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Kind.BITVECTOR_ADD      # </a:t>
            </a:r>
            <a:r>
              <a:rPr lang="zh-CN" altLang="en-US" sz="1400"/>
              <a:t>位向量加法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Kind.BITVECTOR_SUB      # </a:t>
            </a:r>
            <a:r>
              <a:rPr lang="zh-CN" altLang="en-US" sz="1400"/>
              <a:t>位向量减法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Kind.BITVECTOR_MULT     # </a:t>
            </a:r>
            <a:r>
              <a:rPr lang="zh-CN" altLang="en-US" sz="1400"/>
              <a:t>位向量乘法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Kind.BITVECTOR_AND      # </a:t>
            </a:r>
            <a:r>
              <a:rPr lang="zh-CN" altLang="en-US" sz="1400"/>
              <a:t>位与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Kind.BITVECTOR_OR       # </a:t>
            </a:r>
            <a:r>
              <a:rPr lang="zh-CN" altLang="en-US" sz="1400"/>
              <a:t>位或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Kind.BITVECTOR_XOR      # </a:t>
            </a:r>
            <a:r>
              <a:rPr lang="zh-CN" altLang="en-US" sz="1400"/>
              <a:t>位异或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/>
              <a:t>Kind.BITVECTOR_NOT      # </a:t>
            </a:r>
            <a:r>
              <a:rPr lang="zh-CN" altLang="en-US" sz="1400"/>
              <a:t>位非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Kind.BITVECTOR_NEG      # </a:t>
            </a:r>
            <a:r>
              <a:rPr lang="zh-CN" altLang="en-US" sz="1400">
                <a:sym typeface="+mn-ea"/>
              </a:rPr>
              <a:t>位向量取负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Kind.BITVECTOR_SHL      # </a:t>
            </a:r>
            <a:r>
              <a:rPr lang="zh-CN" altLang="en-US" sz="1400">
                <a:sym typeface="+mn-ea"/>
              </a:rPr>
              <a:t>左移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Kind.BITVECTOR_LSHR     # </a:t>
            </a:r>
            <a:r>
              <a:rPr lang="zh-CN" altLang="en-US" sz="1400">
                <a:sym typeface="+mn-ea"/>
              </a:rPr>
              <a:t>逻辑右移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Kind.BITVECTOR_ASHR     # </a:t>
            </a:r>
            <a:r>
              <a:rPr lang="zh-CN" altLang="en-US" sz="1400">
                <a:sym typeface="+mn-ea"/>
              </a:rPr>
              <a:t>算术右移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endParaRPr lang="en-US" altLang="zh-CN" sz="1400"/>
          </a:p>
          <a:p>
            <a:pPr indent="0" algn="l">
              <a:buClrTx/>
              <a:buSzTx/>
              <a:buFont typeface="+mj-lt"/>
              <a:buNone/>
            </a:pPr>
            <a:endParaRPr lang="en-US" altLang="zh-CN" sz="1400"/>
          </a:p>
          <a:p>
            <a:pPr indent="0" algn="l">
              <a:buClrTx/>
              <a:buSzTx/>
              <a:buFont typeface="+mj-lt"/>
              <a:buNone/>
            </a:pPr>
            <a:endParaRPr lang="zh-CN" altLang="en-US" sz="1400"/>
          </a:p>
        </p:txBody>
      </p:sp>
      <p:sp>
        <p:nvSpPr>
          <p:cNvPr id="3" name="文本框 2"/>
          <p:cNvSpPr txBox="1"/>
          <p:nvPr/>
        </p:nvSpPr>
        <p:spPr>
          <a:xfrm>
            <a:off x="4876800" y="1925320"/>
            <a:ext cx="4064000" cy="2336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# </a:t>
            </a:r>
            <a:r>
              <a:rPr lang="zh-CN" altLang="en-US" sz="1400">
                <a:sym typeface="+mn-ea"/>
              </a:rPr>
              <a:t>比较运算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Kind.EQUAL     # </a:t>
            </a:r>
            <a:r>
              <a:rPr lang="zh-CN" altLang="en-US" sz="1400">
                <a:sym typeface="+mn-ea"/>
              </a:rPr>
              <a:t>相等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Kind.DISTINCT  # </a:t>
            </a:r>
            <a:r>
              <a:rPr lang="zh-CN" altLang="en-US" sz="1400">
                <a:sym typeface="+mn-ea"/>
              </a:rPr>
              <a:t>不等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Kind.GT        # </a:t>
            </a:r>
            <a:r>
              <a:rPr lang="zh-CN" altLang="en-US" sz="1400">
                <a:sym typeface="+mn-ea"/>
              </a:rPr>
              <a:t>大于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Kind.LT        # </a:t>
            </a:r>
            <a:r>
              <a:rPr lang="zh-CN" altLang="en-US" sz="1400">
                <a:sym typeface="+mn-ea"/>
              </a:rPr>
              <a:t>小于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Kind.GEQ       # </a:t>
            </a:r>
            <a:r>
              <a:rPr lang="zh-CN" altLang="en-US" sz="1400">
                <a:sym typeface="+mn-ea"/>
              </a:rPr>
              <a:t>大于等于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Kind.LEQ       # </a:t>
            </a:r>
            <a:r>
              <a:rPr lang="zh-CN" altLang="en-US" sz="1400">
                <a:sym typeface="+mn-ea"/>
              </a:rPr>
              <a:t>小于等于</a:t>
            </a:r>
            <a:endParaRPr lang="zh-CN" altLang="en-US" sz="1400"/>
          </a:p>
          <a:p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7625715" y="1859915"/>
            <a:ext cx="406400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# </a:t>
            </a:r>
            <a:r>
              <a:rPr lang="zh-CN" altLang="en-US" sz="1400">
                <a:sym typeface="+mn-ea"/>
              </a:rPr>
              <a:t>布尔运算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Kind.AND       # </a:t>
            </a:r>
            <a:r>
              <a:rPr lang="zh-CN" altLang="en-US" sz="1400">
                <a:sym typeface="+mn-ea"/>
              </a:rPr>
              <a:t>逻辑与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Kind.OR        # </a:t>
            </a:r>
            <a:r>
              <a:rPr lang="zh-CN" altLang="en-US" sz="1400">
                <a:sym typeface="+mn-ea"/>
              </a:rPr>
              <a:t>逻辑或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Kind.NOT       # </a:t>
            </a:r>
            <a:r>
              <a:rPr lang="zh-CN" altLang="en-US" sz="1400">
                <a:sym typeface="+mn-ea"/>
              </a:rPr>
              <a:t>逻辑非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Kind.IMPLIES   # </a:t>
            </a:r>
            <a:r>
              <a:rPr lang="zh-CN" altLang="en-US" sz="1400">
                <a:sym typeface="+mn-ea"/>
              </a:rPr>
              <a:t>蕴含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Kind.XOR       # </a:t>
            </a:r>
            <a:r>
              <a:rPr lang="zh-CN" altLang="en-US" sz="1400">
                <a:sym typeface="+mn-ea"/>
              </a:rPr>
              <a:t>异或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Kind.ITE       # if-then-else</a:t>
            </a:r>
            <a:endParaRPr lang="en-US" altLang="zh-CN" sz="1400"/>
          </a:p>
          <a:p>
            <a:endParaRPr lang="en-US" altLang="zh-CN" sz="1400"/>
          </a:p>
        </p:txBody>
      </p:sp>
      <p:sp>
        <p:nvSpPr>
          <p:cNvPr id="5" name="文本框 4"/>
          <p:cNvSpPr txBox="1"/>
          <p:nvPr/>
        </p:nvSpPr>
        <p:spPr>
          <a:xfrm>
            <a:off x="5071110" y="3880485"/>
            <a:ext cx="4064000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Kind.BITVECTOR_CONCAT   # </a:t>
            </a:r>
            <a:r>
              <a:rPr lang="zh-CN" altLang="en-US" sz="1400">
                <a:sym typeface="+mn-ea"/>
              </a:rPr>
              <a:t>连接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Kind.BITVECTOR_EXTRACT  # </a:t>
            </a:r>
            <a:r>
              <a:rPr lang="zh-CN" altLang="en-US" sz="1400">
                <a:sym typeface="+mn-ea"/>
              </a:rPr>
              <a:t>提取位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Kind.BITVECTOR_ULT      # </a:t>
            </a:r>
            <a:r>
              <a:rPr lang="zh-CN" altLang="en-US" sz="1400">
                <a:sym typeface="+mn-ea"/>
              </a:rPr>
              <a:t>无符号小于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Kind.BITVECTOR_ULE      # </a:t>
            </a:r>
            <a:r>
              <a:rPr lang="zh-CN" altLang="en-US" sz="1400">
                <a:sym typeface="+mn-ea"/>
              </a:rPr>
              <a:t>无符号小于等于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Kind.BITVECTOR_SLT      # </a:t>
            </a:r>
            <a:r>
              <a:rPr lang="zh-CN" altLang="en-US" sz="1400">
                <a:sym typeface="+mn-ea"/>
              </a:rPr>
              <a:t>有符号小于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Kind.BITVECTOR_SLE      # </a:t>
            </a:r>
            <a:r>
              <a:rPr lang="zh-CN" altLang="en-US" sz="1400">
                <a:sym typeface="+mn-ea"/>
              </a:rPr>
              <a:t>有符号小于等于</a:t>
            </a:r>
            <a:endParaRPr lang="zh-CN" altLang="en-US" sz="1400">
              <a:sym typeface="+mn-ea"/>
            </a:endParaRPr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# </a:t>
            </a:r>
            <a:r>
              <a:rPr lang="zh-CN" altLang="en-US" sz="1400">
                <a:sym typeface="+mn-ea"/>
              </a:rPr>
              <a:t>数组运算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Kind.STORE     # </a:t>
            </a:r>
            <a:r>
              <a:rPr lang="zh-CN" altLang="en-US" sz="1400">
                <a:sym typeface="+mn-ea"/>
              </a:rPr>
              <a:t>数组存储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Kind.SELECT    # </a:t>
            </a:r>
            <a:r>
              <a:rPr lang="zh-CN" altLang="en-US" sz="1400">
                <a:sym typeface="+mn-ea"/>
              </a:rPr>
              <a:t>数组选择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endParaRPr lang="zh-CN" altLang="en-US" sz="1400"/>
          </a:p>
          <a:p>
            <a:endParaRPr lang="zh-CN" altLang="en-US" sz="1400"/>
          </a:p>
        </p:txBody>
      </p:sp>
      <p:sp>
        <p:nvSpPr>
          <p:cNvPr id="7" name="文本框 6"/>
          <p:cNvSpPr txBox="1"/>
          <p:nvPr/>
        </p:nvSpPr>
        <p:spPr>
          <a:xfrm>
            <a:off x="8535670" y="3880485"/>
            <a:ext cx="406400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# </a:t>
            </a:r>
            <a:r>
              <a:rPr lang="zh-CN" altLang="en-US" sz="1400">
                <a:sym typeface="+mn-ea"/>
              </a:rPr>
              <a:t>字符串运算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Kind.STRING_CONCAT    # </a:t>
            </a:r>
            <a:r>
              <a:rPr lang="zh-CN" altLang="en-US" sz="1400">
                <a:sym typeface="+mn-ea"/>
              </a:rPr>
              <a:t>连接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Kind.STRING_CONTAINS  # </a:t>
            </a:r>
            <a:r>
              <a:rPr lang="zh-CN" altLang="en-US" sz="1400">
                <a:sym typeface="+mn-ea"/>
              </a:rPr>
              <a:t>包含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Kind.STRING_PREFIX    # </a:t>
            </a:r>
            <a:r>
              <a:rPr lang="zh-CN" altLang="en-US" sz="1400">
                <a:sym typeface="+mn-ea"/>
              </a:rPr>
              <a:t>前缀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Kind.STRING_SUFFIX    # </a:t>
            </a:r>
            <a:r>
              <a:rPr lang="zh-CN" altLang="en-US" sz="1400">
                <a:sym typeface="+mn-ea"/>
              </a:rPr>
              <a:t>后缀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Kind.STRING_LENGTH    # </a:t>
            </a:r>
            <a:r>
              <a:rPr lang="zh-CN" altLang="en-US" sz="1400">
                <a:sym typeface="+mn-ea"/>
              </a:rPr>
              <a:t>长度</a:t>
            </a:r>
            <a:endParaRPr lang="zh-CN" altLang="en-US" sz="1400"/>
          </a:p>
          <a:p>
            <a:pPr indent="0" algn="l">
              <a:buClrTx/>
              <a:buSzTx/>
              <a:buFont typeface="+mj-lt"/>
              <a:buNone/>
            </a:pPr>
            <a:r>
              <a:rPr lang="en-US" altLang="zh-CN" sz="1400">
                <a:sym typeface="+mn-ea"/>
              </a:rPr>
              <a:t>Kind.STRING_SUBSTR    # </a:t>
            </a:r>
            <a:r>
              <a:rPr lang="zh-CN" altLang="en-US" sz="1400">
                <a:sym typeface="+mn-ea"/>
              </a:rPr>
              <a:t>子串</a:t>
            </a:r>
            <a:endParaRPr lang="zh-CN" altLang="en-US" sz="1400"/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65101" y="177800"/>
            <a:ext cx="11836400" cy="6500813"/>
          </a:xfrm>
          <a:prstGeom prst="rect">
            <a:avLst/>
          </a:prstGeom>
          <a:noFill/>
          <a:ln w="381000">
            <a:solidFill>
              <a:srgbClr val="94D2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251450" y="3429000"/>
            <a:ext cx="17399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等腰三角形 14"/>
          <p:cNvSpPr/>
          <p:nvPr/>
        </p:nvSpPr>
        <p:spPr>
          <a:xfrm rot="3592439">
            <a:off x="746988" y="613897"/>
            <a:ext cx="913384" cy="787400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等腰三角形 15"/>
          <p:cNvSpPr/>
          <p:nvPr/>
        </p:nvSpPr>
        <p:spPr>
          <a:xfrm rot="3774327">
            <a:off x="1062156" y="4074280"/>
            <a:ext cx="919988" cy="793093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等腰三角形 16"/>
          <p:cNvSpPr/>
          <p:nvPr/>
        </p:nvSpPr>
        <p:spPr>
          <a:xfrm rot="5060062">
            <a:off x="10725934" y="1587357"/>
            <a:ext cx="1221232" cy="1052786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等腰三角形 17"/>
          <p:cNvSpPr/>
          <p:nvPr/>
        </p:nvSpPr>
        <p:spPr>
          <a:xfrm rot="19749097">
            <a:off x="4354211" y="5078950"/>
            <a:ext cx="1125075" cy="969892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等腰三角形 18"/>
          <p:cNvSpPr/>
          <p:nvPr/>
        </p:nvSpPr>
        <p:spPr>
          <a:xfrm rot="3173696">
            <a:off x="10903337" y="5452469"/>
            <a:ext cx="1125075" cy="969892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等腰三角形 19"/>
          <p:cNvSpPr/>
          <p:nvPr/>
        </p:nvSpPr>
        <p:spPr>
          <a:xfrm rot="2840139">
            <a:off x="7311460" y="322464"/>
            <a:ext cx="1409700" cy="1215259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等腰三角形 20"/>
          <p:cNvSpPr/>
          <p:nvPr/>
        </p:nvSpPr>
        <p:spPr>
          <a:xfrm rot="2840139">
            <a:off x="3742762" y="627265"/>
            <a:ext cx="1409700" cy="1215259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等腰三角形 21"/>
          <p:cNvSpPr/>
          <p:nvPr/>
        </p:nvSpPr>
        <p:spPr>
          <a:xfrm rot="2840139">
            <a:off x="9033996" y="4754539"/>
            <a:ext cx="598151" cy="515648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/>
        </p:nvSpPr>
        <p:spPr>
          <a:xfrm rot="2840139">
            <a:off x="2292932" y="2220946"/>
            <a:ext cx="511207" cy="440696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三</a:t>
            </a:r>
            <a:r>
              <a:rPr lang="en-US" altLang="zh-CN" sz="2800"/>
              <a:t>.cvc5</a:t>
            </a:r>
            <a:r>
              <a:rPr lang="zh-CN" altLang="en-US" sz="2800"/>
              <a:t>的</a:t>
            </a:r>
            <a:r>
              <a:rPr lang="en-US" altLang="zh-CN" sz="2800"/>
              <a:t>Python API</a:t>
            </a:r>
            <a:r>
              <a:rPr lang="zh-CN" altLang="en-US" sz="2800"/>
              <a:t>调用和使用方法</a:t>
            </a:r>
            <a:endParaRPr lang="zh-CN" altLang="en-US" sz="2800"/>
          </a:p>
          <a:p>
            <a:pPr marL="342900" indent="-342900" algn="l">
              <a:buClrTx/>
              <a:buSzTx/>
              <a:buFont typeface="+mj-lt"/>
              <a:buAutoNum type="arabicPeriod" startAt="8"/>
            </a:pPr>
            <a:r>
              <a:rPr lang="zh-CN" altLang="en-US" sz="1800"/>
              <a:t>代码</a:t>
            </a:r>
            <a:r>
              <a:rPr lang="zh-CN" altLang="en-US" sz="1800"/>
              <a:t>示例</a:t>
            </a:r>
            <a:endParaRPr lang="zh-CN" altLang="en-US" sz="1800"/>
          </a:p>
          <a:p>
            <a:pPr indent="457200" algn="l">
              <a:buClrTx/>
              <a:buSzTx/>
              <a:buFont typeface="+mj-lt"/>
              <a:buNone/>
            </a:pPr>
            <a:r>
              <a:rPr lang="zh-CN" altLang="en-US" sz="1800"/>
              <a:t>验证程序前后条件：</a:t>
            </a:r>
            <a:r>
              <a:rPr lang="en-US" altLang="zh-CN" sz="1800"/>
              <a:t>precondition_verification.py</a:t>
            </a:r>
            <a:endParaRPr lang="en-US" altLang="zh-CN" sz="1800"/>
          </a:p>
          <a:p>
            <a:pPr indent="457200" algn="l">
              <a:buClrTx/>
              <a:buSzTx/>
              <a:buFont typeface="+mj-lt"/>
              <a:buNone/>
            </a:pPr>
            <a:r>
              <a:rPr lang="zh-CN" altLang="en-US" sz="1800"/>
              <a:t>布尔逻辑验证示例：</a:t>
            </a:r>
            <a:r>
              <a:rPr lang="en-US" altLang="zh-CN" sz="1800"/>
              <a:t>boolean_logic.py</a:t>
            </a:r>
            <a:endParaRPr lang="en-US" altLang="zh-CN" sz="1800"/>
          </a:p>
          <a:p>
            <a:pPr indent="457200" algn="l">
              <a:buClrTx/>
              <a:buSzTx/>
              <a:buFont typeface="+mj-lt"/>
              <a:buNone/>
            </a:pPr>
            <a:r>
              <a:rPr lang="zh-CN" altLang="en-US" sz="1800"/>
              <a:t>位向量操作验证：</a:t>
            </a:r>
            <a:r>
              <a:rPr lang="en-US" altLang="zh-CN" sz="1800"/>
              <a:t>bitvector_verification.py</a:t>
            </a:r>
            <a:endParaRPr lang="en-US" altLang="zh-CN" sz="1800"/>
          </a:p>
          <a:p>
            <a:pPr indent="457200" algn="l">
              <a:buClrTx/>
              <a:buSzTx/>
              <a:buFont typeface="+mj-lt"/>
              <a:buNone/>
            </a:pPr>
            <a:r>
              <a:rPr lang="zh-CN" altLang="en-US" sz="1800"/>
              <a:t>基础算法验证：</a:t>
            </a:r>
            <a:r>
              <a:rPr lang="en-US" altLang="zh-CN" sz="1800"/>
              <a:t>basic_arithmetic.py</a:t>
            </a:r>
            <a:endParaRPr lang="en-US" altLang="zh-CN" sz="1800"/>
          </a:p>
          <a:p>
            <a:pPr indent="457200" algn="l">
              <a:buClrTx/>
              <a:buSzTx/>
              <a:buFont typeface="+mj-lt"/>
              <a:buNone/>
            </a:pPr>
            <a:r>
              <a:rPr lang="zh-CN" altLang="en-US" sz="1800"/>
              <a:t>数组边界检查验证：</a:t>
            </a:r>
            <a:r>
              <a:rPr lang="en-US" altLang="zh-CN" sz="1800"/>
              <a:t>array_bounds_check.py</a:t>
            </a:r>
            <a:endParaRPr lang="en-US" altLang="zh-CN" sz="1800"/>
          </a:p>
          <a:p>
            <a:pPr indent="457200" algn="l">
              <a:buClrTx/>
              <a:buSzTx/>
              <a:buFont typeface="+mj-lt"/>
              <a:buNone/>
            </a:pPr>
            <a:endParaRPr lang="en-US" altLang="zh-CN" sz="1800"/>
          </a:p>
          <a:p>
            <a:pPr indent="457200" algn="l">
              <a:buClrTx/>
              <a:buSzTx/>
              <a:buFont typeface="+mj-lt"/>
              <a:buNone/>
            </a:pPr>
            <a:endParaRPr lang="en-US" altLang="zh-CN" sz="1800"/>
          </a:p>
          <a:p>
            <a:pPr indent="457200" algn="l">
              <a:buClrTx/>
              <a:buSzTx/>
              <a:buFont typeface="+mj-lt"/>
              <a:buNone/>
            </a:pPr>
            <a:r>
              <a:rPr lang="zh-CN" altLang="en-US" sz="1800"/>
              <a:t>参考资料：</a:t>
            </a:r>
            <a:r>
              <a:rPr lang="en-US" altLang="zh-CN" sz="1800"/>
              <a:t>cvc5</a:t>
            </a:r>
            <a:r>
              <a:rPr lang="zh-CN" altLang="en-US" sz="1800"/>
              <a:t>官方：</a:t>
            </a:r>
            <a:r>
              <a:rPr lang="en-US" altLang="zh-CN" sz="1800"/>
              <a:t>https://cvc5.github.io/</a:t>
            </a:r>
            <a:endParaRPr lang="en-US" altLang="zh-CN" sz="1800"/>
          </a:p>
          <a:p>
            <a:pPr indent="457200" algn="l">
              <a:buClrTx/>
              <a:buSzTx/>
              <a:buFont typeface="+mj-lt"/>
              <a:buNone/>
            </a:pPr>
            <a:r>
              <a:rPr lang="en-US" altLang="zh-CN" sz="1800"/>
              <a:t>                  cvc5GitHub</a:t>
            </a:r>
            <a:r>
              <a:rPr lang="zh-CN" altLang="en-US" sz="1800"/>
              <a:t>：</a:t>
            </a:r>
            <a:r>
              <a:rPr lang="en-US" altLang="zh-CN" sz="1800"/>
              <a:t>https://github.com/cvc5/cvc5  </a:t>
            </a:r>
            <a:endParaRPr lang="en-US" altLang="zh-CN" sz="1800"/>
          </a:p>
          <a:p>
            <a:pPr marL="914400" lvl="2" indent="457200" algn="l">
              <a:buClrTx/>
              <a:buSzTx/>
              <a:buFont typeface="+mj-lt"/>
              <a:buNone/>
            </a:pPr>
            <a:r>
              <a:rPr lang="en-US" altLang="zh-CN" sz="1800"/>
              <a:t>   API</a:t>
            </a:r>
            <a:r>
              <a:rPr lang="zh-CN" altLang="en-US" sz="1800"/>
              <a:t>文档：</a:t>
            </a:r>
            <a:r>
              <a:rPr lang="en-US" altLang="zh-CN" sz="1800"/>
              <a:t>https://cvc5.github.io/docs/latest/api/python/python.html</a:t>
            </a:r>
            <a:endParaRPr lang="en-US" altLang="zh-CN" sz="1800"/>
          </a:p>
          <a:p>
            <a:pPr marL="914400" lvl="2" indent="457200" algn="l">
              <a:buClrTx/>
              <a:buSzTx/>
              <a:buFont typeface="+mj-lt"/>
              <a:buNone/>
            </a:pPr>
            <a:r>
              <a:rPr lang="en-US" altLang="zh-CN" sz="1800"/>
              <a:t>   SMT-LIB </a:t>
            </a:r>
            <a:r>
              <a:rPr lang="zh-CN" altLang="en-US" sz="1800"/>
              <a:t>标准：</a:t>
            </a:r>
            <a:r>
              <a:rPr lang="en-US" altLang="zh-CN" sz="1800"/>
              <a:t>https://smtlib.cs.uiowa.edu/</a:t>
            </a:r>
            <a:endParaRPr lang="en-US" altLang="zh-CN" sz="1800"/>
          </a:p>
          <a:p>
            <a:pPr marL="914400" lvl="2" indent="457200" algn="l">
              <a:buClrTx/>
              <a:buSzTx/>
              <a:buFont typeface="+mj-lt"/>
              <a:buNone/>
            </a:pPr>
            <a:endParaRPr lang="zh-CN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65101" y="177800"/>
            <a:ext cx="11836400" cy="6500813"/>
          </a:xfrm>
          <a:prstGeom prst="rect">
            <a:avLst/>
          </a:prstGeom>
          <a:noFill/>
          <a:ln w="381000">
            <a:solidFill>
              <a:srgbClr val="94D2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251450" y="3429000"/>
            <a:ext cx="17399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等腰三角形 14"/>
          <p:cNvSpPr/>
          <p:nvPr/>
        </p:nvSpPr>
        <p:spPr>
          <a:xfrm rot="3592439">
            <a:off x="746988" y="613897"/>
            <a:ext cx="913384" cy="787400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等腰三角形 15"/>
          <p:cNvSpPr/>
          <p:nvPr/>
        </p:nvSpPr>
        <p:spPr>
          <a:xfrm rot="3774327">
            <a:off x="1062156" y="4074280"/>
            <a:ext cx="919988" cy="793093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等腰三角形 16"/>
          <p:cNvSpPr/>
          <p:nvPr/>
        </p:nvSpPr>
        <p:spPr>
          <a:xfrm rot="5060062">
            <a:off x="10725934" y="1587357"/>
            <a:ext cx="1221232" cy="1052786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等腰三角形 17"/>
          <p:cNvSpPr/>
          <p:nvPr/>
        </p:nvSpPr>
        <p:spPr>
          <a:xfrm rot="19749097">
            <a:off x="4354211" y="5078950"/>
            <a:ext cx="1125075" cy="969892"/>
          </a:xfrm>
          <a:prstGeom prst="triangle">
            <a:avLst/>
          </a:prstGeom>
          <a:solidFill>
            <a:srgbClr val="94D2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等腰三角形 18"/>
          <p:cNvSpPr/>
          <p:nvPr/>
        </p:nvSpPr>
        <p:spPr>
          <a:xfrm rot="3173696">
            <a:off x="10903337" y="5452469"/>
            <a:ext cx="1125075" cy="969892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等腰三角形 19"/>
          <p:cNvSpPr/>
          <p:nvPr/>
        </p:nvSpPr>
        <p:spPr>
          <a:xfrm rot="2840139">
            <a:off x="7311460" y="322464"/>
            <a:ext cx="1409700" cy="1215259"/>
          </a:xfrm>
          <a:prstGeom prst="triangle">
            <a:avLst/>
          </a:prstGeom>
          <a:solidFill>
            <a:srgbClr val="94D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等腰三角形 20"/>
          <p:cNvSpPr/>
          <p:nvPr/>
        </p:nvSpPr>
        <p:spPr>
          <a:xfrm rot="2840139">
            <a:off x="3742762" y="627265"/>
            <a:ext cx="1409700" cy="1215259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等腰三角形 21"/>
          <p:cNvSpPr/>
          <p:nvPr/>
        </p:nvSpPr>
        <p:spPr>
          <a:xfrm rot="2840139">
            <a:off x="9033996" y="4754539"/>
            <a:ext cx="598151" cy="515648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/>
        </p:nvSpPr>
        <p:spPr>
          <a:xfrm rot="2840139">
            <a:off x="2292932" y="2220946"/>
            <a:ext cx="511207" cy="440696"/>
          </a:xfrm>
          <a:prstGeom prst="triangle">
            <a:avLst/>
          </a:prstGeom>
          <a:solidFill>
            <a:srgbClr val="94D2B9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1260" y="1221740"/>
            <a:ext cx="9518650" cy="421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三</a:t>
            </a:r>
            <a:r>
              <a:rPr lang="en-US" altLang="zh-CN" sz="2800"/>
              <a:t>.cvc5</a:t>
            </a:r>
            <a:r>
              <a:rPr lang="zh-CN" altLang="en-US" sz="2800"/>
              <a:t>的</a:t>
            </a:r>
            <a:r>
              <a:rPr lang="en-US" altLang="zh-CN" sz="2800"/>
              <a:t>Python API</a:t>
            </a:r>
            <a:r>
              <a:rPr lang="zh-CN" altLang="en-US" sz="2800"/>
              <a:t>调用和使用方法</a:t>
            </a:r>
            <a:endParaRPr lang="zh-CN" altLang="en-US" sz="2800"/>
          </a:p>
          <a:p>
            <a:pPr marL="342900" indent="-342900" algn="l">
              <a:buClrTx/>
              <a:buSzTx/>
              <a:buFont typeface="+mj-lt"/>
              <a:buAutoNum type="arabicPeriod" startAt="9"/>
            </a:pPr>
            <a:r>
              <a:rPr lang="zh-CN" altLang="en-US" sz="1800"/>
              <a:t>运行示例见</a:t>
            </a:r>
            <a:r>
              <a:rPr lang="zh-CN" altLang="en-US" sz="1800"/>
              <a:t>视频</a:t>
            </a:r>
            <a:endParaRPr lang="zh-CN" altLang="en-US" sz="1800"/>
          </a:p>
          <a:p>
            <a:pPr indent="457200" algn="l">
              <a:buClrTx/>
              <a:buSzTx/>
              <a:buFont typeface="+mj-lt"/>
              <a:buNone/>
            </a:pPr>
            <a:endParaRPr lang="en-US" altLang="zh-CN" sz="1800"/>
          </a:p>
          <a:p>
            <a:pPr indent="457200" algn="l">
              <a:buClrTx/>
              <a:buSzTx/>
              <a:buFont typeface="+mj-lt"/>
              <a:buNone/>
            </a:pP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2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3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4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5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6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7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8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9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10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11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12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13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ags/tag14.xml><?xml version="1.0" encoding="utf-8"?>
<p:tagLst xmlns:p="http://schemas.openxmlformats.org/presentationml/2006/main">
  <p:tag name="KSO_WM_DIAGRAM_VIRTUALLY_FRAME" val="{&quot;height&quot;:359.31761588923007,&quot;left&quot;:214.00007874015745,&quot;top&quot;:73.56128174856524,&quot;width&quot;:699.7498425196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Dc1MTA3NDY0ODg0IiwKCSJHcm91cElkIiA6ICIxNzc2MzEzMTIiLAoJIkltYWdlIiA6ICJpVkJPUncwS0dnb0FBQUFOU1VoRVVnQUFBeTRBQUFDVENBWUFBQUJvRDAyZEFBQUFBWE5TUjBJQXJzNGM2UUFBSUFCSlJFRlVlSnpzM1hkY2xlWC8rUEhYWVNqakFLTGs0S09sNU1oeWhHamh4SUVETlhkR2FMa1ZIRGt3OXpZY21RT3kzS1lvcUNtYXBuMWtKS0wxd2NLTkl3U1ZGQk1WbEtuSU9PZjN4dy91TDBmV01SZnErL2w0bkllZGM2L3JIQyt2N3V1K3J1djlCaU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E0dldsZXRZWHFQNU93eEdnY24zVzF4SFBnRXFibEpLVlB1QnVURXpLaXk3SzAxQzlUdjN1cUF6SHZlaHlpSDlIcGRMZWVaaHNOUENmZjA3Y2Y5RmxlUnFrYlh5SlNkc29TaEZwRzBXcDhSemFScU5uZGVML28zSzF0TFJvL2U0N3RaLzlwY1JUY3k4cG1VdlJNWmdicU92Y2hZZ1hYWjZudytCVFUxT1QxZzNydi9laUN5SWUwNTJFUks1Y2pRV0xySmxBMUlzdXo5TWhiZVBMU05wR1VacEkyeWhLaStmVk5qNkhqZ3VxZDkrcHc3Yk42NTdEcGNUVGNpanNLRU05dm5qUnhYanFiS3RVWnR2bTlTKzZHT0l4N2Q3N014T256bnJSeFhqYXBHMThDVW5iS0VvVGFSdEZhZkc4MmthRFozNEZJWVFRUWdnaGhIaEMwbkVSUWdnaGhCQkNsSHJTY1JGQ0NDR0VFRUtVZXRKeEVVSUlJWVFRUXBSNjBuRVJRZ2doaEJCQ2xIclNjUkZDQ0NHRUVFS1VldEp4RVVJSUlZUVFRcFI2MG5FUlFnZ2hoQkJDbEhyU2NSRkNDQ0dFRU9JMUV4RVJnWU9EQXdjT0hIalJSZEdiZEZ3S2taT1R3NDgvL2tpL2Z2MW8xcXdaelpzM3g5WFZsYXRYcnpKNjlHakdqUnRYNkhIZHUzZG4zYnIveS9RYUhoNk9oNGNIVGs1T09EbzYwcTFiTjRLQ2dwN2pOeEZDQ0NHRWVEMFVkZCsxYWRNbTJyUnBRM1oyZG9GajVzNmRpN3U3dS9JK05qYVdHVE5tMEw1OWV6Nzg4RVBhdDIrUGo0K1BzcjFObXpZNE9EZ29yN0ZqeHhaWm50T25UOU8vZjM4Y0hSM3AwcVVMdnI2K090dVBIRGxDNzk2OWNYUjA1UFBQUHljNk9sclpkdXZXTFR3OVBXbmV2RG50MnJWai92ejVwS2VuNjVSejZOQ2hPRG82OHRGSEh6MzIvZVhkdTNlWk0yY09RNGNPeGR2Ym0vajQrTWM2L2tVeGV0RUZLRzF5Y25MdzlQVGtyNy8rd3QzZEhYdDdlekl6TTRtTWpFU2xVdEc1YzJmbXpwMUxXbG9hYXJWYU9lNzgrZlBFeGNYaDR1SUN3S1pObTFpelpnMkRCZzFpM0xoeG1KaVljT1hLRll5TTVDY1hRZ2doaEhpYWlydnY2dFNwRTk5Kyt5MS8vUEVIelpzM1Y0N0p5c29pTkRTVUNSTW1RTzRJeExoeDQyamJ0aTFmZi8wMWI3enhCamR2M3VUYXRXc0FhTFZhVWxOVDJiNTlPNVVyVndZbzlyNXV5NVl0akI0OW12cjE2M1Bod2dVOFBUMnBYTGt5SFRwMDRNcVZLMHlaTWdVdkx5OGNIUjN4OXZabTNMaHg3TjI3RnlNakkzYnMyRUdMRmkyWU0yY09pWW1KVEowNkZSOGZINlpPblVwV1ZoWmZmUEVGenM3T3JGeTVra09IRGpGanhneHExcXlKbloxZGliOVZVbElTSGg0ZWRPM2FGUThQRDh6TnpSaytmRGlyVjYvRzF0YjJLZnh0UER0eUYvMklyVnUzRWhrWmlaK2ZuMUlwQVdyVnFnVkF4WW9WOGZMeUlqUTBsSTgrK2tqWkhoZ1lTTU9HRGFsYXRTcVJrWkdzWExrU2IyOXZuWDhnYjczMTFuUCtOa0lJSVlRUXJ6Wjk3cnZzN2UwSkRnN1cyUjRlSGs1bVppWnQyN2JsL3YzN1RKMDZsVTgrK1lRdnZ2aEMyYWRxMWFvMGFkSUVnTlRVVkxSYUxWV3FWTkY1ZUYyVVJZc1dZV3hzREVDVEprMW8zYm8xeDQ4ZnAwT0hEdXpjdVpPbVRadlNwazBiQUw3NDRndCsrdWtuSWlJaWFOcTBLUjRlSHNxeEZoWVdmUHJwcDJ6ZXZCbHlSMnJTMDlNWk9YSWtSa1pHZE83Y21aMDdkM0xnd0FIR2pCbFRiSmt1WHJ6SXBFbVRjSFoyWnZEZ3dhU2xwZkg1NTUvejRNRURCZ3dZd0l3Wk0zQnljdEw3dDMvZVpLcllJM2J0Mm9XcnE2dE9weVUvTXpNem5KeWNkSWJrdEZvdHdjSEJkTzdjR1lEZHUzZlR1SEZqblg4Y1FnZ2hoQkRpNmRQbnZxdHo1ODZFaG9hU2xaV2xmQllZR0lpVGt4TnF0WnBEaHc2UmtaSEI4T0hEaXp4SFNrb0tCZ1lHbUp1YjYxV3V2STVIbnR1M2IyTmxaUVc1bmEyR0RSc3EyOHpNekxDenN5TXFLcXJRWTIvZHVxVnpiTDE2OVhSR2UrclZxNmNjVzVpTWpBeldyRm1EdTdzN2d3Y1BadXpZc1d6WnNvVlpzMllCTUdMRUNDWk1tTUQwNmRNWk4yNGNaODZjMGVzN1BtL1NjY2tuTFMyTmYvNzVod1lOR2hTN240dUxDMy8rK1NjcEtTbVFPNGZ4N3QyN3RHL2ZIb0NvcUNqcTE2Ly9YTW9zaEJCQ0NQRTYwK2UreTluWm1ZeU1ESTRkT3dhNU4vSmhZV0hLUStlb3FDaHExNjZOaVlsSmtlZElTVWxCbzlIUXNXTkhYRjFkV2J4NE1mZnUzZE9yakwvODhndVJrWkhLYkowN2QrNVFvVUlGblgyc3JhMUpUazR1Y0d4TVRBeCtmbjcwNmROSE9iWjgrZko2SFp0bjd0eTVIRDE2bFBYcjE5T3paMDhBK3ZmdnorWExsd2tNRElUYys5c2ZmL3dSRXhNVGR1L2VyZGYzZXQ1a3FsZytlYjF3alVaVDdINU5telpGclZZVEdocEs5KzdkT1hqd0lDMWF0RkI2d3BtWm1TV2VRd2doaEJCQ1BEbDk3cnNzTFMxcDFxd1pRVUZCdEd6WmtpTkhqbEMyYkZtYU5tMEt1ZmVBSlozRHpzNU9XWU1TR3h1TGo0OFA0OGVQWjlPbVRVVWVrNU9UdytyVnE5bStmVHVMRmkzaXpUZmZoTng3VGExV1cyRGZSNFdFaERCdjNqemMzTnlVVGxaaDVkUm9OS2hVcWlMTE1XblNKQ3d0TFRFME5GUStNekV4NGJ2dnZ0T1paV1JyYTh1aVJZdEs3WDJzZEZ6eXNiS3l3c3pNak9qb2FLVWlGOGJJeUFobloyZUNnb0xvMnJVcnYvNzZLMU9uVGxXMjI5cmFFaE1UODV4S0xZUVFRZ2p4K3RMM3ZzdkZ4WVd2dnZxS3pNeE1nb0tDNk5DaGd6TGR5dGJXbHYvKzk3OWtaMmNYdWVEZXhNU0VxbFdyQWxDNWNtWEtsU3RIdjM3OXVIMzdOaFVyVml5d2YxcGFHaE1uVGlRcEtRbGZYMTlxMUtpaGJMT3lzaW93UXBLVWxJU05qWTN5M3R2Ym0zMzc5akYvL255ZGRTZFdWbGJjdW5XcndMRjVJemlqUjQ4bU1qSVNBRU5EUXc0ZE9vUzF0VFdob2FITW1ER2oyTitvWExseUhEaHdBQU9EMGprcHEzU1c2Z1V4TURDZ2JkdTIrUG41a1phV1Z1eStMaTR1UkVSRUVCd2NURlpXRmkxYnRsUzJPVHM3OC92dnYzUHUzTG5uVUdvaGhCQkNpTmVYdnZkZHJWcTFRcXZWRWhJU3d1Ky8vMDZYTGwyVWJYa0w5UDM5L2ZXK2J0NElSNWt5WlFyZFBtdldMTXFXTGN2bXpadDFPaTBBZGV2VzVmVHAwOHI3dExRMHJsNjlxaXhYOFBmM0p6ZzRHRDgvdndLTDVkOTU1eDBpSXlOMVJrWE9uRG1qSEx0eTVVckN3c0lJQ3d2ajBLRkR5ajR0VzdiazRNR0RoYjUrL3Zsbi92T2YvK2pjejVaRzBuRjV4Smd4WXpBME5HVFlzR0VjUFhxVStQaDRvcUtpOFBmMzErbk5OMnpZa0lvVks3SnExU3JhdDIrdlUybTdkT21DbzZNalk4ZU9aZmZ1M2NURnhSRWJHMHRnWUtCT0JSSkNDQ0dFRUU5RzMvc3VFeE1UMnJadHk1bzFhNmhVcVJMMTZ0VlR0bFd0V2hWM2QzZSsvZlpidnZ2dU8ySmlZcmh4NHdiaDRlSDQrZmtCY083Y09VNmNPRUZhV2hyUjBkRXNYTGlRRmkxYVVLNWN1UUpsdW5uekptRmhZWXdZTVlJSER4NlFsSlJFVWxLU01zclNzMmRQamh3NVFtaG9LRWxKU1N4YnRveTZkZXNxYTNYOC9mMXhjM1BEeE1SRU9UWXBLWW1jbkJ6YXRXdUhScU5oMWFwVnBLU2tFQkFRd0xWcjEraldyVnV4djVPUmtSRVdGaGFGdnRhdFcwZlpzbVh4OVBSOGFuOHZ6NEpNRlh1RWpZME52cjYrckYyN0ZpOHZMKzdkdTRkYXJhWmV2WHBLeURweWU5a3VMaTVzM0xpUjJiTm42NXpEME5DUTVjdVhzMlhMRnZ6OC9GaThlREVtSmliVXFGRUREdytQRi9DdGhCQkNDQ0ZlVFk5ejMrWGk0c0wrL2ZzWk1XSkVnZk1NR1RLRWF0V3E0ZS92cjR5OFZLNWNtZDY5ZXdQdzRNRUQ1czZkeTUwN2Q3Q3hzYUYxNjlaRjN0ZmxKWFQ4N0xQUGRENVhxOVdFaFlYUnFGRWpwa3lad3VMRmkwbE9UdWFERHo1Z3laSWxPc2N2WGJxVXBVdVg2aHp2Nys5UG5UcDFXTEZpQlFzV0xNRFgxeGM3T3p0OGZId0tMUGJYMXkrLy9FSmdZQ0QrL3Y0Rm9wbVZOdEp4S1lTTmpRM1RwazFqMnJScHhlNDNhdFFvUm8wYVZlZzJZMk5qQmc4ZXpPREJnNTlSS1lVUVFnZ2hCSTl4MytYbzZNaUpFeWVLM042aFF3YzZkT2hRNkxZbVRacXdmLzkrdmNwamIyOWY3SFhJSFhYSmkvRDFxT1BIanhkN2JJTUdEZGkrZmJ0ZVpTbk94WXNYOGZMeVlzbVNKVVdtQWlsTlpLcVlFRUlJSVlRUXI2SHk1Y3N6ZWZKa21qVnI5cUtMb2hmcHVBZ2hoQkJDQ1BFYXFsU3BVb2xyWTBvVDZiZ0lJWVFRUWdnaFNqM3B1QWdoaEJCQ0NDRktQZW00Q0NHRUVFSUk4UytzWDcrZWE5ZXV2ZWhpdkRaZWlvNUxRa0lDM2JwMTQvcjE2OHBuNGVIaGVIaDQ0T1RraEtPakk5MjZkU01vS09pRmx2TnArdm5ubituZHV6ZGFyZlpGRjBVSUlZUVFvbFQ2NmFlZjZOcTFLMDJiTnVYVFR6L2w5OTkvMTltK1ljTUdPblRvUUxObXpaZzBhUklwS1NuS3R0T25UOU8vZjM4Y0hSM3AwcVVMdnI2K3lyYmJ0Mjh6Y3VSSW5KeWNjSEp5NHNzdnYrVHUzYnM2NTQ2S2ltTDkrdlVrSmlZU0ZSVlY1Q3NoSWVHSnZtTk9UZzQvL3Znai9mcjFvMW16WmpSdjNoeFhWMWV1WHIzSzZOR2pHVGR1WEtISGRlL2VuWFhyMWludmk3dDNqbzZPeHNIQlFlZVYvL2NvTFY2S2NNaUxGaTNpMDA4L3BWcTFhZ0JzMnJTSk5XdldNR2pRSU1hTkc0ZUppUWxYcmx6QnlPaWwrRHFGK3V5eno1ZzRjU0lOR3pZRTRQMzMzMmZnd0lGS1ZsWWhoQkJDQ1BGL0VoTVRDUTBOWmZueTVWU3BVb1g5Ky9jemNlSkVkdS9lVFpVcVZkaXpadzg3ZCs1azFhcFZXRnRiTTJIQ0JCWXRXc1NDQlFzQTJMSmxDNk5IajZaKy9mcGN1SEFCVDA5UEtsZXVUSWNPSGNqT3pzYk56WTFHalJweDkrNWRKaytlek5LbFMvSHk4bEt1djJIREJtclVxTUdhTld1VXowNmVQRW1EQmcxMDdrazdkZXBFang0OS90VjN6TW5Kd2RQVGs3LysrZ3QzZDNmczdlM0p6TXdrTWpJU2xVcEY1ODZkbVR0M0xtbHBhYWpWYXVXNDgrZlBFeGNYaDR1TEMraHg3NXlTa2tMbHlwVjFRaXlYTFZ2Mlg1WDVXU3IxZC9wWHIxN2w5T25UU2tXSmpJeGs1Y3FWZUh0NzA3eDVjMlcvdDk1NjZ3V1c4c2xkdUhBQmpVYWp2SzlXclpyU1VSTkNDQ0dFRUxxc3JLeFl2bnc1QmdiL2Z3S1JxNnNyVzdac0lUSXlraXBWcXJCdDJ6WSsvL3h6M243N2JRRGMzZDBaTzNZczZlbnBtSnViczJqUklpWGhZcE1tVFdqZHVqWEhqeCtuUTRjTzJOcmFZbXRyQzRDWm1SbXRXclVpUER4Y3VYWndjREJYcjE3Rno4K1BNbVhLS0o4N09UbXhhTkVpYkd4c2lpejMvZnYzTVRNejArczdidDI2bGNqSVNQejgvSFR5ck5TcVZRdUFpaFVyNHVYbFJXaG9LQjk5OUpHeVBUQXdrSVlORzFLMWFsVzk3cDFUVWxLd3NyTEN3c0pDcjNLOUtLVitxbGhvYUNqTm1qVlRlbjI3ZCsrbWNlUEdPai84b3pRYURmNysvdlR1M1p2bXpadlRwMDhmOXUzYnA3TlBlSGc0QXdjT3BHWExsblRwMGdWdmIyOGVQbndJd1BYcjEzRndjT0MvLy8wdkF3Y09wRXVYTHZUcjE0K3paODhxeDZlbXBqSm56aHphdFd0SHAwNmRXTE5tamRMeDJMTm5EOTI3ZDJmOSt2VTBiOTZjZmZ2MmNmZnVYYVpNbVlLenN6TXRXN1prL1BqeEpDY25jK0hDQlJ3Y0hBQVlPblFvVFpvMFVjN1JxMWN2NVhxZE9uVmkzYnAxakI0OW1xNWR1L0x4eHg5ejd0dzVaZnU5ZS9lWU1tVUtiZHEwb1dQSGptemJ0ZzBIQndjdVhMandsUDRtaEJCQ0NDRktEeU1qSTZYVEFwQ1JrVUZ5Y2pKV1ZsYmN2MytmeTVjdjgvNzc3eXZiNjlXclIzWjJObGV1WElIY3BKWDUzYjU5R3lzcnF3TFh1WEhqQmlFaElVckg0UGJ0Mnl4YXRJZzVjK1pnWUdCQWRuYTI4aUwzUGpUL1ovbW4vZi8xMTErMGF0Vks3L3V6WGJ0MjRlcnFXbVJ5U0RNek01eWNuSFNXUzJpMVdvS0RnK25jdVRQb2VlK2NuSnlNcGFXbFhtVjZrVXI5aU12Rml4ZHAzTGl4OGo0cUtxcllIeDVnNDhhTjdObXpCeTh2TCtyVXFjUHg0OGVaT25VcTV1Ym10R3ZYamxPblRqRisvSGhtelpxRms1TVROMjdjWU5xMGFXUmtaREI1OG1UbFBBY1BIdVQ3NzcvSHpNeU1IMzc0Z2ZIang3TjM3MTdVYWpXVEprM0MxTlNVZ0lBQVVsSlNHRGx5SkZXcVZGRmlZU2NrSkpDZW5rNXdjREFhalliYnQyL1R1SEZqNWZ3ZUhoNzQrdm95WnN3WS92ampEejc4OEVQV3JsMnI4dy9zVVVGQlFheGR1eFpyYTJzV0xGaUFsNWNYMjdadEEyRGl4SW1ZbVpteGJkczJqSXlNK09xcnI1NzR0eGRDQ0NHRWVCbG90VnFXTGwxS3BVcVZjSEJ3NEo5Ly9vSGNCSXQ1MUdvMVJrWkdKQ2NuRnpqK2wxOStJVEl5a21uVHBpbWZMVnUyakwxNzk1S2VuczVubjMybVBGQ3VVS0VDWDMzMUZaY3VYV0xFaUJFNm5aMjB0RFFHREJpZzA2R2FNMmVPOG1EYXpzNk9PWFBtS0tOQXhVbExTK09mZi82aFFZTUd4ZTduNHVMQ3hJa1RTVWxKd2RMU2t0T25UM1AzN2wzYXQyOFBldDQ3cDZTa2NQcjBhVHAyN0VpbFNwVndkbmJHemMydDFDM0RLRjJsS2NTOWUvZXd0clpXM21kbVp1cE1xU3JNMXExYm1UUnBrdElKYU5teUpUMTY5R0QzN3QyMGE5Y09QejgvdW5UcG92UkVhOWV1emFoUm81ZytmVHBmZnZtbGNwNFJJMFlvUTNtZmYvNDU2OWV2NThTSkUxU3BVb1dJaUFpQ2dvSW9WNjRjNWNxVm8wZVBIb1NFaENnZEY0MUd3NGdSSXpBeE1ZSGNmeXgyZG5Za0pTVVJGeGRIMWFwVmlZNk9odHduQmdBR0JnWVlHaG9XK2IxNjl1eXAvQmFkT25WaXo1NDlaR2RuSzlQcC92dmYvMUt4WWtVQUprK2V6TkdqUi8vVmJ5NkVFRUlJOGJKSVRrNW0xcXhaeE1iR3NuTGxTb3lNaklxOFY5UnF0VHJyaDNOeWNsaTllalhidDI5bjBhSkZ2UG5tbThxMjRjT0g0K3JxeXVYTGwvSHg4U0VwS1luWnMyZGphR2hJMDZaTjJiTm5EeDA2ZEdEV3JGbktNVTVPVG16WnNxWElxV0pseXBTaGE5ZXVlbjJ2ckt3c3lMMm5MRTdUcGsxUnE5V0Vob2JTdlh0M0RoNDhTSXNXTFpRT2xUNzN6dDI2ZGNQWjJSbU5Sc1BaczJkWnNtUUpLU2twakI0OVdxK3lQaStsdnVOU3RteFpaUW9YZ0sydExURXhNVVh1bjVLU1FtcHFLbloyZGpxZlY2dFdqV1BIamdFUUZ4ZUh2YjE5Z2UwUEh6N1U2WVhuZFFJQURBME5VYXZWSkNjbms1T1RnMWFyVlRvKzVQNUR5Tjk3dHJHeFVUb3Q1SzVobVRkdkhnOGVQS0JHalJva0pDVG9MS0xTUjdseTVaVC9OamMzUjZQUmtKbVpTVnhjSEdxMVdxZThoUTExQ2lHRUVFSzhTdklpYTlXdlg1K3RXN2NxYXpUeTdvT1NrcEtVYVZhcHFhbms1T1JRb1VJRnlCM1JtRGh4SWtsSlNmajYrbEtqUmcyZGM2dlZhdFJxTmJhMnRsaFlXREJreUJER2poMnJjei8yTEZsWldXRm1aa1owZERSTm16WXRjajhqSXlPY25aMEpDZ3FpYTlldS9QcnJyMHlkT2xYWlh0SzlNN24zbUhuZnEyclZxdHk3ZDQ4ZmYveFJPaTZQcTFLbFN0eThlVk41Nyt6c3pMeDU4emgzN2h6MTZ0VXJzTCtGaFFXbXBxWmN1M2FOZDk1NVIvazhiNVFqNzV5UHh0eStjZU1HWm1abVdGdGJrNWFXQnNEZHUzZVZIbk5pWWlLSmlZbFVxMVpObVZONStQQmhuYzVKZnZtSENBRVdMbHlJbzZPakVySnUyYkpsWExwMDZRbCttZjlqYVdsSldsb2FxYW1weWovWUd6ZHVQSlZ6Q3lHRUVFS1VSdW5wNll3Y09aSmV2WG94Yk5nd25XM1cxdFpVckZpUk0yZk9LUGVEWjg2Y3djek1USG5RUEd2V0xNcVdMY3Ztelp0TGpLQ1Z0OTNJeUlpZ29DQTJidHhJU2tvS0R4NDgwRm12a3A2ZWpvZUhSNEVaTk45ODg0MXlINm92QXdNRDJyWnRpNStmSDcxNjlTcjJnYmVMaXd2RGh3OG5PRGlZckt3c1dyWnNxV3dyNmQ2NU1DcVZxbFJHRlN2MWkvTWJOMjdNbjMvK3FienYwcVVMam82T2pCMDdsdDI3ZHhNWEYwZHNiQ3lCZ1lFY09uUUlsVXJGeHg5L3pNcVZLemw3OWl3UEhqemd0OTkrWSsvZXZmVHYzeCtBdm4zN3NuZnZYZ0lEQTdsLy96N1IwZEY4OTkxM2ZQYlpaenJYWHJGaUJmSHg4U1FrSk9EbDVVWE5talZwMkxBaGRldlc1YzAzMzJUaHdvVWtKaWFTa1pGQlJFUkVzUjJSek14TVpkcFpmSHg4Z1p3emxwYVdSRVZGa1pTVTlOaS9VYjE2OWFoY3VUSUxGaXpnM3IxNzNMaHhBMjl2NzhjK2ozajJpb3Fodm1uVEp0cTBhYU1zN010djd0eTV1THU3Sys5alkyT1pNV01HN2R1MzU4TVBQNlI5Ky9iNCtQZ1VlcjMxNjljcjlUNC9yVlpMNzk2OTJiOS8vMVAraHVKRmVoNngvaU1pSW5CemM2TlpzMlowN05nUmIyL3ZJcWNnWkdSa3NIejVjdHExYTBmTGxpMFpOV29VZi8vOXQ4NCt4ZVZZaUkyTlplalFvVGc2T3ZMUlJ4OFZhRGZidEdtamszTmc3Tml4VC9UN2lhZXJxTGJxV2JSM3NiR3hORzdjbUYyN2RoVlpudUp5ZHFCSGZRTTRkZW9VUFhyMEtKQ1hRNTlqeGROMzZOQWhOQm9OSDMvOE1VbEpTY29yUFQwZGdONjllN041ODJhaW82TzVlZk1tMzMvL1BYMzc5c1hZMkppYk4yOFNGaGJHaUJFamVQRGdnWEpzM3N5Ym4zNzZpZVBIajNQLy9uMnVYYnZHOHVYTGFkMjZOV3ExbWxhdFdyRnk1VXA4ZlgzWnVYTW5LMWV1VkY1bVptWXNXTEJBNTdPVksxY3FvejZabVprY09IQ0F6TXhNdmI3am1ERmpNRFEwWk5pd1lSdzllcFQ0K0hpaW9xTHc5L2ZYR1VWcDJMQWhGU3RXWk5XcVZiUnYzMTRuMGxsSjk4N2tCc082ZlBreTZlbnBoSWVIODhNUFArZzlwZTE1S3ZVakxtM2J0bVhac21WY3ZueVp0OTkrRzBORFE1WXZYODZXTFZ2dzgvTmo4ZUxGbUppWVVLTkdEVHc4UEFBWU5Xb1VwcWFtekpneGc4VEVSR3JVcUlHWGw1ZXl5TDk1OCtiTW56K2ZqUnMzTW0vZVBDcFdyRWpQbmozcDE2K2Z6clZidDI3TmtDRkRTRXRMdzk3ZUhtOXZid3dNRERBd01NRGIyNXV2di82YVhyMTZZV0Jnd0h2dnZhZXpzUDlSbnA2ZUxGaXdnTURBUUtwVnEwYkxsaTExRW1wNmVIanczWGZmOGNNUFB4QVlHUGhZdjFIWnNtVlpzV0lGQ3hjdXBFdVhMdGphMnVMaDRVRjRlTGplNGZiRXMxZGNEUFZPblRyeDdiZmY4c2NmZitnc29Ndkt5aUkwTkpRSkV5WkE3azNqdUhIamFOdTJMVjkvL1RWdnZQRUdOMi9lZk95c3ZTcVZpZ0VEQnVnRWczZzBsNUI0dVR5dldQK0dob2JNbkRrVE96czcvdnJyTDhhTUdVTzFhdFYwb2lEbU9YTGtDQVlHQnZqNysyTmtaTVNLRlN1WU1HRUNBUUVCa0JzOXNhZ2NDMWxaV1h6eHhSYzRPenV6Y3VWS0RoMDZ4SXdaTTZoWnN5WjJkblpvdFZwU1UxUFp2bjI3Y2tOUTJoYVJ2czZLYTZ1YU4yLysxTnU3VmF0V2xaaXd1YmljSFNYVnQ0c1hMN0o4K1hLdVhyMWFJQWxoU2NlS1p5ZnY0WEs3ZHUxMFBuZHljbUxac21VTUhEaVF1M2Z2TW1USUVGUXFGVjI3ZGxYdUZlUGo0eUgzLzMzNXFkVnF3c0xDTURZMlp0NjhlZHkrZlpzS0ZTclFwazBicFZOdFltSlM1SXdibFVxRnRiVjFrV3Rjcmx5NXd1elpzN0d6czZOdTNib2xma2NiR3h0OGZYMVp1M1l0WGw1ZTNMdDNEN1ZhVGIxNjlXalRwbzNPZFYxY1hOaTRjU096WjgvV09ZYys5ODdYcjEvbnE2KytJajA5bmYvODV6OE1IandZVjFmWEVzdjN5cW4renZ1SFhUOGZxbjBTQVFFQjJsR2pSbWsxR3MwVG5VZGYxNjVkMHpacTFFZ2JIeC8vWEs3M0xKdzRjVUxidUhGajdjT0hELy9WOGI4ZVBxS3RVZmQ5YmJYYTd6ZDUwWFhvYWFsZXArSDJkcDE3UFBYZldoOW56NTdWT2pnNGFILzc3YmNpOXhreVpJaDI5dXpaT3ArRmhZVnBtelp0cWsxTlRkV21wNmRyMjdWcnAvWDI5dGI3dXV2V3JkUDI2OWRQcjMwYk5XcWtQWG55cE43bmZwNENmdHFuclZIM2ZhMXRuUVoxWG5ROWVscWVSdHVZMzZaTm03UnQyN2JWM3J4NXM5RHQ2ZW5wMm1iTm1tbjM3ZHVuOC9uU3BVdTFnd1lOMG1yMXJLZVBHanAwcVBiYmI3OHRkRnRtWnFiTys3aTRPRzJqUm8yMENRa0pXcTFXcS8zNDQ0KzFmbjUreXZidzhIRHRCeDk4b0UxTFM5T0doSVJvMjdadHE4M0t5bEsyRHh3NFVPdmo0NlBWYXJYYTVPUmtiYU5HamJTcHFhbDZsL1Zwa0xheFpQcTBWVSt6dlR0eDRvUzJXN2R1MnI1OSsycDM3dHhaNUg2UDFzZVpNMmRxdmJ5OHRGcXR0c1Q2OXR0dnYybTNiZHVtdlhMbGlyWlJvMGJhTzNmdUtQdVZkT3l6SkcxajZkT3FWU3VkK2xHWTlQVDA1MWFlNStWNXRZMmxmcW9ZUUs5ZXZXalZxcFdzMnlqR3ZuMzdpSXVMSXlNamcvUG56L1AxMTEvVHMyZFBuYUZDOGVMb0UwTzljK2ZPaElhR0tsRkV5RTBnNWVUa2hGcXQ1dENoUTJSa1pEQjgrUENuVXFaT25Ub1JHQmhZWkM0aGpVYkR4bzBiNmRxMUs2MWJ0MmJhdEdrNjAzaEU2Zks4WXYzbkZ4RVJ3WlVyVjVTUW00OHFMRWVDa1pFUjV1Ym1KZVpZaUl5TXBGNjllanFqS1BYcTFTTXFLZ3B5QTdFWUdCaGdibTZ1VjFuRjg2TlBXL1cwMnJ2czdHd1dMVnJFdUhIakN0UzNSeFdYczZPaytwWTM3Ykt3T2Y4bEhTdkVvMlEyekwvM1VuUmN5RjJYOHJpTG1sNG5VVkZSREJvMGlOYXRXek5qeGd5Y25KeVU0WGJ4NGtWRlJWRy9mdjFpOTNGMmRpWWpJME9KZnBlUmtVRllXSmh5VXhrVkZVWHQycldMSEo3K3Q5NTk5MTMrK09NUEFOYXVYYXRjZitQR2pmejg4ODk4KysyMy9Qenp6NlNucC9QTk45ODgxV3VMcCtOeFl2My8rZWVmU2dlMHNGai9KZFZUZ0lFREI5SzhlWE04UFQyWlBIa3lkZXFVL0xBM0xTMk5wVXVYMHJWclYweE1USlExQWtYbFdMaHo1NDdPTm5JWDIrYk5QMDlKU1VHajBkQ3hZMGRjWFYxWnZIZ3g5KzdkSzdFYzR0blRwNjE2V3UzZHVuWHJzTEd4MFpreW80KzhuQjE1Q1FWTHFtL0ZlWkpqeGFzbkxDeXN5R2xpNHNuSmhPQkNWS3RXalJNblRyem9ZanlXTDcvOFVpY0hqU2hkOUltaGJtbHBTYk5telFnS0NxSmx5NVljT1hLRXNtWExLaUVRczdLeVNqekh2MVZZTHFHdFc3Y3ljK1pNSlR6a3dJRURHVDE2TlBQbXpYc21aUkQvM3ZPTTlVOXU0SktrcENUT25qMkxsNWNYbVptWnhTN2lqSW1KNGNzdnY2UmF0V3BLTzFWU2pvWEN0bXMwR2lYL2dwMmRIWHYzN3NYSXlJalkyRmg4Zkh3WVAzNDhtelp0S3JIODR0blNwNjE2R3UxZFpHUWtPM2Jzd04vZlgrK3lGWld6bzZUNlZwd25PVllJOFhoZW1oRVhJVjVtK3NSUUovZUplRmhZR0ptWm1RUUZCZEdoUXdlbFUyRnJhOHZWcTFjTGpjVHp0Q1VuSjVPYW1zcTBhZE53ZEhURTBkRVJEdzhQTWpNelpicFlLWlEvMW45eDhzZjZ6OG5KNGRkZmY5WEpSNlZ2UFMxWHJoelZxMWVuVzdkdWZQNzU1d1dpTStVWEVoTENvRUdENk5LbEN5dFdyRkNlb09mUHNaQW5mNDRGS3l1ckFsRVdrNUtTbFB3TEppWW1WSzFhbGNxVksrUG82TWlzV2JPSWpJems5dTNiNU9UazRPVGtwTHhrOVBuNTByZXRlcEwyTGlrcGlTbFRwdkRsbDE5aWEydXJWN25TMHRJWU5Xb1VSNDhleGRmWFZ5ZGNiRW4xclRnbEhidGh3d2FkK2hnWkdhbFhlWVVRQlVuSFJZam53Tm5abWQ5Ly81MXo1ODRWdTErclZxM1FhcldFaElUdysrKy8wNlVZWDRDaUFBQWdBRWxFUVZSTEYyVmIyN1p0dVgvLy9tTTlYZnkzTEMwdGxXaDF4NDRkVTE0UkVSRllXbG8rOCt1THg1TS8xbjllSHFxaXVMaTRFQkVSVVdTc2YzM3FhWDVseTVZdGNpM2QrZlBubVQxN050OTg4dzFEaHc3VnlXK1ZQOGRDbnZ3NUZ0NTU1eDBpSXlOMW5tYWZPWE9teU9sd2VVKzN5NVFwZzZHaElXRmhZY3ByMmJKbGVuOGY4ZVQwYmF1ZXBMMDdmUGd3OGZIeHpKbzFTd21IZmZIaVJTVzZabUh5NSt4NE5OSGc0OWEzeHpsMnlKQWhPdlZSbittWVFvakNTY2RGaU9kQW54anE1RDVGYnR1MkxXdldyS0ZTcFVvNmlhS3FWcTJLdTdzNzMzNzdMZDk5OXgweE1USGN1SEdEOFBCdy9QejhpcngyZG5ZMkNRa0p5aXMxTmJYUS9mTG5Fc29McS9qZGQ5OHBUejFqWW1MNDdiZmZudkl2STU2VzV4WHJmKzNhdFZ5K2ZKbU1qQXhPblRyRjFxMWJkVVp0OHR1NWN5Y3RXclNnVHAwNk9qa1dIajU4Q0NYa1dHalhyaDBhallaVnExYVJrcEpDUUVBQTE2NWRvMXUzYmdDY08zZU9FeWRPa0phV1JuUjBOQXNYTHFSRml4YlBMYU8xS0pxK2JkV1R0SGM5ZXZUZ3hJa1RPcSs2ZGVzeWRlcFVEaHc0VUtCTUplWHNLS20rRmVkSmpoWFBoa2FqSVNFaGdZc1hMM0xreUJFeU1qSzRkKzhlZmZ2MkxSRE91ampoNGVIS0d0RGlYTDkrdlVBQ3pPTDgvZmZmU2pqbXUzZnZNbUxFQ0NXY2QwQkFRSUU4UVkvS3pzN0cwOVB6WCtYK2U5bTlGbXRjSWlNakdUaHdJRnUzYmkwUU0vdkFnUU1zWExpUWtKQ1FJaGNCN3Rtemh5MWJ0ckI3OTI2MFdpMTkrdlJoMEtCQlJjN3BYcjU4T2JHeHNYaDdleE1iRzh1SUVTTllzMllOMWF0WGZ5YmY3elZsVUxObVRYVk1UTXhMTVc5Sm54anFlVnhjWE5pL2Z6OGpSb3dvY0o0aFE0WlFyVm8xL1AzOWxTZVJsU3RYcG5mdjNrVmVPem82bW80ZE95cnZXN1JvVVdpQzBrZHpDVTJZTUFFZkh4L2MzZDFKVDArbmV2WHFqQnc1OGdsL2lWZldDNitQenl2V2YycHFLdTd1N3FTbHBXRnJhOHVnUVlQbzI3ZHZvV1dLajQ4bklpS0NrSkFRbmM4OVBUMXhjM01yTnNlQ2hZVUZLMWFzWU1HQ0JmajYrbUpuWjRlUGo0OHkvZWJCZ3dmTW5UdVhPM2Z1WUdOalErdldyUXY4VzNwTnZmQzZ5R08wVlUrN3ZTdEtTVGs3U3FwdnhYbVNZMThEejcwK1ptZG40K2JteHYzNzl6RXlNdUxERHora1pzMmFMRnUyakJzM2JqQjA2RkJsMys3ZHV6Tmd3QUFBSGo1OFdDQXA1UFhyMTFtelpnMStmbjQ2RVF3TkRRMHhNek1qTmphV1JZc1dNWDM2ZEdYYitmUG5tVFZyRmprNU9aUXBVd1l6TXpQVWFqVldWbFlNSERpUVdyVnFzV1RKRXRxMGFVUHYzcjJKaW9vaU9UbFpHVFhPek16azAwOC81Y3N2djZSRGh3NkZmc2VRa0JCdTNManhXajZvZVMwNkx2WHIxNmRxMWFvRUJRVVY2TGdFQmdiU3RtMWJ2U00xRlphNHJ6aVZLbFZpMEtCQlNvalN5NWN2NCtucHlVOC8vZlF2dm9uSVU3VnExYktXbHBhSjl2YjJJVnF0ZG5kR1JzYnV2Lzc2Sy9GRmw2czR4c2JHREI0OG1NR0RCeGU3bjZPalk3SEJJVHAwNkZCa1kvYW9vVU9INmpUUytSMDhlRkRuZmQrK2ZYVnVRTTNOelprNmRTcFRwMDdWNjFxdnM5SlNIMjFzYkpnMmJSclRwazByZHI5Um8wWXhhdFNvUXJlVlZFODlQVDN4OVBUVXF6eXJWNjh1ZHJ1UmtSR1RKazFpMHFSSmhXNXYwS0FCMjdkdkwzUmJreVpOMkw5L3YxN2xlSjJVbHJxSW5tM1YwMnp2dG03ZFd1UTJlM3Y3RW9QdUZGZmY4dGphMmhaNkhuMk9mUjI5aVBwb1pHVEVqei8reUo0OWU3aDgrVElUSjA1a3dZSUZaR2RuODl0dnY2RlNxVWhKU2NIVjFWVUovdy93L2ZmZnMyZlBuZ0toaW8yTmpSazRjS0R5WHFQUlVLVktGVFp2M2x6bzlSODhlRUNkT25Ydzh2SXFORUREelpzM09YZnVIRXVXTEFIZzBxVkx2UFBPTzhyMlR6LzlsSGZmZlZkbkxkU1NKVXVVVVBaYXJaWjc5KzVScmx5NUlrUFJ0MnJWaXBrelp6N0dyL2J5ZUMwNkx1USsxVGx3NEFCang0NVZQa3RPVHVhUFAvN0F4OGZuc2M3MU9NTy9wcWFtT3BsSDc5MjdKL2xvbmg0amxVclZTYVZTZFRJMU5WMXRiMjkvUkt2Vi9xVFJhQUxPbmowYjk2SUxKMTQ3VWg5RmFTRjFVWlFtTDdRK1ptZG5rNTJkVFkwYU5kaXdZUU1BSjArZVJLMVc4Ny8vL1krRWhBUmF0V29Gd0tCQmd4ZzBhRkN4NTd0MTYxYVJEMXZ5R0JnWUZCbFY3c0tGQzZTbnA5T3BVeWZJSGVrQkNBME5MYkR2dW5YcjZOZXZuMDdrMkczYnRoRVdGc2JxMWF0SlMwc2pLeXNMYTJ0cnZYNkxWOEZyMVhGWnQyNGQ1ODZkVStiUi92cnJyNVFyVjQ0bVRab1FHUm1KdDdjM2x5NWR3dGpZbUs1ZHV6SisvUGhDejlXcFV5ZkdqeCt2VEw4SkNncGk3ZHExM0xoeGcwYU5HdW5FNzc1Ky9UbzlldlFnTURDUVgzNzVSWm1pNCtEZ1FKTW1UVEF5TXFKOCtmSTZJV2FuVDUrT3NiRXhjK2JNZWNhL3lzc3ZiMDVvN25xdDFpcVZxcldSa2RFS2UzdjdQNEhkMmRuWmV5TWpJLzk2c2FVVXJ3dXBqNkswa0xvb1NwUG5XUjlqWTJOeGQzZm4vdjM3YURRYVFrSkNXTDU4T2FkT25WTDJhZEdpQmVTT2RseS9mcDFXclZyUnVIRmpqSTJOdVhYclZySG56OGpJb0dmUG5zcDNPbi8rUEpNbVRTSXRMWTMrL2ZzemJ0dzRqaDQ5U3UvZXZYVUNrbWcwR2dJQ0FtalhyaDBSRVJHUUcvYmIyZG1aclZ1M1VxMWF0UksvVzF4Y0hPdlhyMWRHZXc0Y09FQk1USXpPVkxWWDNXdlRjWG5ycmJlb1c3Y3V3Y0hCU3NjbEtDZ0lGeGNYREF3TVNFaElZT0RBZ1RScTFJaTR1RGdHRGh5SW82T2pFbE8rS0JFUkVjeWFOWXQ1OCtiUm9rVUxJaUlpbURwMXFzN3dZNTdQUHZ1TWQ5NTVoMUdqUmhFZUhvNkJnUUZoWVdITW5EbVRhZE9tWVdKaVFscGFHcUdob2F4WnMrYVovUmI2VXFHbGdybkI5emIyOWtrcWxVcWoxV3B6VkNwVmpsYXIxVHp5WjA2KzdZLytXZGorR3BWS2xRUGtuMHlhcmRGb05BWUdCam1QL3BsM1BvMUdvNXhYcTlVYUt1WE05MVJEcTlYbU5TWWZxRlNxRDR5TmpSZloyOXRmQUFKU0gycGV2OG1ncnhBVldpcWFHbXl1WkcrZitpclV4NVFNamZvNS80VGlLWkcyVVpRbTBqYnFxbDY5T2djUEhtVGl4SWxVcmx5WjhlUEhrNUNRVUdpSEpDa3BDU3NySzNKeWNsaStmSG1CN1RrNU9jVEZ4ZkhXVzI4VjJKWTNZdkxlZSsvcFRJczlmdnc0TFZ1MkpETXpFMWRYVnhvMWFrUlNVaEw5K3ZVcmNJN3c4SENNalkxNStQQmhvYUhvYTlTb29lUld5OHJLWXRhc1dSZ2FHaXJUelA3NTV4L3UzNyt2TTV1b1k4ZU9SUVpNZVJXOE5oMFhja2RkL1AzOUdUZHVISW1KaVJ3L2ZseUo3NSszZURVK1BwN1UxRlRlZU9NTm9xT2pTK3k0N05peEF4Y1hGMlVPcnBPVEV4MDdkaXcwYW9WS3BWSjYzM214Nmx1MWFvV0ZoUVdIRGgyaWMrZk9CQVVGOGRaYmI1V2FjSWxhamRiUXdOREFKTGZ4TWRScXRRWXFsU3IvbjRZcWxjcmcwVDhCWmYvOHh3SDV0eHZudjFiZWIvUG9uM21OWGY3MytaN2VGRjMyM0VSMlFCV1ZTbVdxMFdna0c5aExUZ3NHQmlyVksxRWZvZVJqUk9rbGJhTW9UYVJ0MUpXZW5zNy8vdmMvM25qakRlTGo0NWs5ZTdaT2tKbzhFUkVSWExseUJVTkRRM2J2M2czQTJiTm5xVldyRnFhbXBpUWtKT0RpNHFKczAwZmVkNjVac3libno1K25VYU5HbkQxN3R0RFEyZ2NPSE9EQmd3ZE1temFOS2xXcUtKOW5aR1J3L1BoeHdzTENVS3ZWYUxWYVpzK2V6YzJiTjdHMXRWV0NXUVFIQjNQOStuVmxUZUxldlh1NWV2WHF2L2pGWGg2dlZjZWxZOGVPTEYrK25NaklTTTZmUDQrZG5SMjFhOWNHWVAvKy9heGN1Wkp5NWNyeDFsdHZrWkdSVVNDNlJHSGk0dUw0NktPUGRENnp0cmJXTzl5ZW9hRWhQWHYyNUpkZmZxRno1ODc4L1BQUDlPblQ1MTkrdzZkTGk0cTdEeGh4L2RMSmlPZHdPYU9hTldzYVptUmtHRmhhV2hwbVptWWFtSnFhR2o1OCtORFF4TVRFSUNzcnk3Qk1tVElHV1ZsWmhrWkdSb1lxbGNyTTBORHdITHBEMFBCL2plZFpyVmE3THljbkp6SW5KeWZ5M0xsekY2dlhhU2dySjE5aVdsVGNlYUQ1N0orbzAxSFA0WExQdmo2KzgvN2g1L0E5eERNZ2JhTW9UYVJ0TENnNE9KaGF0V3BSdjM1OWpJMk4yYmh4WTZIaC9OUFQwM1ZteUdpMVdqdzhQTmkxYXhlbXBxYks1NCtHSnpZM044ZlUxQlN0VnN2Rml4ZnAzNzgvRHg4K1pPZk9uVHg0OElBeVpjcmc0T0NBcjY4dm4zMzJHYUdob1RnNU9lbWM0OXExYXh3NWNvU2xTNWV5WThjT25XaWZxMWF0b21MRmlxalYvMy93NmZ2dnZ5Y21Kb1lKRXlhd2QrOWUzbjMzWGNpTm1wdVdscWE4LzkvLy9xZXNtWGxWdlZZZEZ4c2JHNW8wYVVKd2NERG56cDFUa2xTbHBhVXhiOTQ4bGk1ZHFpUmpLMnhJcnpCV1ZsWUZPaW0zYjk4dWN2L0NGbXYxN05tVGpSczNjdkxrU1M1ZnZveUxpOHRqZnJOWFFuWk1USXplS2VHclZxMXFXckZpUmZpL3B6cGFsVXIxdTBhajJhdlZhdmVlUG4yNitCVGl6OEN0VzdmNCt1dXZPWGJzR0NZbUpyUnUzWm9KRXlZb0lSVFQwOU5adkhneGh3NGRva3laTXZUdTNadVJJMGNxZGVMSWtTTjRlM3R6NDhZTmF0ZXV6Y3laTTZsVnE1WmU1eTVNUmtZR3ExYXRZdi8rL1dSbVp0S2dRUU1tVFpxa0RIbVhWSjdZMkZpKyt1b3J6cDA3eHh0dnZNR1lNV01LamU2emUvZHV2THk4Q0FnSWVKVkNmci8wOWZGcCtlbW5uMWkvZmoySmlZbFVyMTZkMGFOSDA3eDVjMlg3aGcwYjJMRmpCMmxwYWJSbzBZSVpNMmJvSkNuVmFEVDgvUFBQN05xMWl5MWJ0dWljdTdnNkx4UlNGM09WMUE0VzEyWTlhZnNzRktXK1BtWmxaZUhyNjB1UEhqMjRmZnMyWThlT0pTY25CM2QzZDhpTmR2akpKNTlnYlczTjRjT0hPWGJzbUhMczlldlhNVGMzMXhuOTBHZzBEQjgrWE9jYWJtNXU5T25UaDR5TURKbzBhY0xzMmJPVlVZK2twQ1FzTFMxNS8vMzNtVGx6SmlkUG51VFBQLzlreXBRcE91ZFl2WG8xWGJwMG9WbXpadnowMDAvS0Erekl5RWgyNzk2dDAxNDJhdFNJbmoxN0Voc2IrN1IvcnBmT2E1ZUEwc1hGaGNPSEQzUGh3Z1ZsZm1KMmRqWTVPVGxLQ0x4ang0NXg2ZElsdmM3bjdPek0zcjE3dVg3OU91VDJmZ3VMREpISDB0SVNqVVpEZEhTMGtqam9qVGZlb0VXTEZzeVpNd2NYRjVjQ29maEVrYkpWS2xXZ1ZxdjF5TW5KcVh6eTVNbVdwMCtmL3VaRi9ZOTV4NDRkdEdqUmdvTUhEN0pod3dZdVhMaWdFN0Z1NGNLRjNMbHpoLzM3OTdOcTFTcDI3ZHJGbmoxN0FMaHk1UXBUcGt4aDlPalJoSWFHOHU2Nzd6SnUzRGl5czdQMU9uZGhqaHc1Z29HQkFmNysvdnowMDArVUwxOWVtUnBaVW5teXNyTDQ0b3N2YU5DZ0FZY1BIOGJEdzRNWk0yWnc1Y29Wbld0a1ptYXlmdjM2cC9vN3ZzUktWWDE4R2hJVEV3a05EV1g1OHVVRUJ3ZlR2WHQzSms2Y3lNMmJOeUUzeDlYT25UdVZEdkx0MjdkWnRHaVJjbnhnWUNCOSt2Umg1Y3FWcEtlbjY1eTdwRG92bnNnclZ4Y3BvUjBzcWMxNmt2WlpQTEhuV2grUEhUdEdvMGFOc0xDd1VENDdlZklrdDI3ZDRzeVpNMWhZV0xCeDQwYktsaTFMeTVZdGRYTDdIRDU4bUljUEgrb2thall3TUdEMzd0MDZyN3laTVVsSlNRVnlxVnk2ZElucTFhdGphR2hJLy83OUdUTm1EQU1IRHFSczJiTEtQa2VQSHVYMzMzOVhjcVBObWpVTGYzOS9WcTllemNTSkUxbThlTEdTUmdPZ2FkT20yTnJhbHZqZDA5TFNkQUlDa0p1c04zOWdncGZkYTlkeGFkdTJMUWtKQ2J6Ly92dFVxbFFKZ0hMbHlqRmh3Z1NtVDUrT3E2c3JZV0ZoaGM1RkxFeXZYcjNvMmJNbnc0Y1BwMWV2WG16YnRxM1lFWk5hdFdyUnVYTm5CZ3dZd09MRmk1WFBlL1Rvd1kwYk4wck5OTEhTTGk0dTdtRktTa3FGa3lkUGRqcDE2dFRxczJmUEZqM005Wng0ZUhqUXMyZFBMQ3dzcUY2OU9wOSsraW5IangrSDNERFlCdzhlWlB6NDhaUXJWNDQ2ZGVyUXAwOGY5dTNiQjdrWnhwczJiVXFiTm0wd05UWGxpeSsrSURFeFVZazhVdHk1aTlLbVRSdkdqaDFMcFVxVnFGQ2hBdTd1N3NUR3hwS1ltRmhpZVk0Y09VSjZlam9qUjQ3RXhNU0V6cDA3ODk1Nzd4WElTTDFwMDZZQ3VaRmVSNld4UGo0TlZsWldMRisrbkZxMWFxRldxM0YxZGFWOCtmSktmb0Z0MjdieCtlZWY4L2JiYjFPK2ZIbmMzZDM1OWRkZmxVN0t2WHYzR0RObURHUEdqQ2x3N3BMcXZQaDNYdFc2U0FudFlFbHQxcE8weitMZmV4SDEwZDdlbmlGRGhpanYvLzc3YjVZc1djS2xTNWM0Y09BQWJtNXVYTGh3Z1ppWUdIYnMySUducHlmWjJkbGtaV1d4YTljdWF0U293VGZmZktQWHRmNysrMitkYUdEWjJkbUVoSVJnYjI5UGRuWTJNVEV4WkdkbmMvMzZkV1dxM0xWcjE1Z3padzdUcDArbmZQbnlrTnZ4cmwyN05oczJiTURhMnBveVpjbzgxbmVlTVdNR2JtNXViTnUyVFNjbkRNRGF0V3Y1KysrL0grdDhwZGxyTlZXTTNDeTU0ZUhoQlQ3djE2OWZrZFBEZXZic1NjK2VQWlgzK1JQM0dSb2FGcHZNclZxMWFnV1NWYzJmUDUvNTgrZnJmSGJwMGlVYU5HZ2cweVQwcDNuUm1hRWZaV3lzczM2Ulc3ZHVZV1ZsQmJsUFBFeE1USFQrZnV2VnE0ZWZueC9ranRUbG40WmxabWFHblowZFVWRlJORzNhdE5oejYxdWUyN2R2WTJSa2hMbTVPUkVSRVNXV3AxNjlla29RaWJ6dFVWSC9ONFU2TGk2TzdkdTNzM0hqUmc0ZmZ1MlhhNVM2K3ZnMDVQLzdKM2Y2WVhKeU1sWldWdHkvZjUvTGx5L3JKT090VjY4ZTJkblpYTGx5aGZyMTZ5czVyQXE3QVN5cHpvdC83WldzaTVUUXhwYlVaajFKK3l5ZXlIT3ZqMnExV2xrYkF1RHI2NHVycXl2R3hzWWtKeWRqWW1MQ2xpMWIyTFZybDlKaENBb0tJalkyRmdzTEMxYXZYbzI3dXpzVEowNmtlL2Z1aFY0akt5c0xBd01Ed3NQREdUQmdnUEw1enAwN3FWS2xDdG5aMll3WU1RSXpNelAyN05uRHVISGpHREZpQkpNblQyYldyRm4wN05tVER6NzRnTURBUUVKQ1FqaCsvRGpkdW5Vak9EaVl3NGNQNCtucGlhMnRMYzJiTjZkOSsvYktGTzlxMWFvVkdqRnM5T2pScEthbVltNXVyak15bzlWcU9YLyt2RTdLalpmZGE5ZHhLVzFTVWxLNGZ2MDZtemR2WnNHQ0JTKzZPT0lwaVltSndjL1BUMGxTZGVmT0hjcVhMNjh6WDlyYTJwcUhEeCtTa1pIQm5UdDNxRkNoZ3M0NXJLMnRTVTVPTHZIYytraExTMlBwMHFWMDdkb1ZFeE1UdmNxVDl5UW8vL2JUcDA5RGJtTTRkKzVjK3ZYclI5NzhaZkZxMDJxMUxGMjZsRXFWS3VIZzRNQS8vL3dEb0ZOUDFHbzFSa1pHaGRiYlJ6MU9uUmZpVVVXMXNmbmxiN1AwT2Jhbzl0REV4T1NaZngveDdQVHAwNGNhTldxUWtaSEJkOTk5UjhlT0hURTBOTVRJeUloVnExWlJ0bXhaSGp4NGdKZVhGK3ZYcjhmRXhJUTFhOWF3ZWZObWZIeDhLRnUyTEI5ODhJRVMvU3duSndkeU95bkp5Y2swYU5DQUJ3OGVBUERISDM4d2F0UW9waytmanBPVEU4T0dEY1BJeUlpTkd6Zmk1ZVhGaFFzWFdMQmdBVys5OVJhK3ZyNUtSTm5aczJjcm5hMGVQWHJRcVZNbmdvS0NDQXdNMU9tb1ZLdFdyZEI4TDVVclY5YVpXcGJueXBVcjJOblpGWmpPOWpLVGpzc0x0bXpaTWc0ZlBzeXdZY04wRnJ5S2wxZElTQWp6NXMzRHpjMU5hWEEwR2syQmlDcDVqWjgrMjRzN2QwbGlZbUw0OHNzdnFWYXRtcEo1VjUveVBFcWowU2ovWS9mejh5TTlQWjBCQXdib0ZYMVB2TnlTazVPWk5Xc1dzYkd4ckZ5NUVpTWpvMExyQ0xxaFRZdWxiNTBYNGxGRnRiR1B5dDltbFhTczFNVlhULzZaTWdBbUppYjgrT09QUmU3djYrdkwyMisvRFVEWnNtVVpQbnk0enFKOHJWYXIxS204ZFNUcjFxM0R5TWdJQ3dzTGR1N2NTVlpXRnNiR3h2ajYrdXBNOTFLcjFTeGN1RkRuZXA5Ly9qbWZmLzU1b1dVeE1UR2hXN2R1ZE92V3JkanYrTWtubnhTNy9lMjMzMmJkdW5YRjd2T3lrWTdMQ3pabnpwd1hYUVR4RkhsN2U3TnYzejdtejUrdkUvclF5c3Fxd0pQa3BLUWsxR28xSmlZbVJXNjNzYkVwOGR3blRwelFXWFEvWk1nUXBURU1DUWxoN3R5NURCZ3dnTUdEQnl1TnJUN2xlVFJaVjFKU0VoVXFWT0RNbVRPc1c3ZU96WnMzWTJSa0pCMlhWOXpWcTFjWlBYbzA5ZXZYWit2V3JjcUMxN3hwTmtsSlNjcVR2dFRVVkhKeWNncU1wQlJHbnpvdnhLT0thMk9MYXJQME9iYTQ5bEM4SHZJNkxVVlJxVlJLTXNnOGowNUJ6SHYvdUd0VWhQNms0eUxFVStMdjcwOXdjREIrZm40RmhtenIxcTFMZW5vNk1URXgxS3haRTNLVFhPVWxHcTFidHk2blQ1OVcxbG1scGFWeDllcFZKVWhFY2VkMmNIQWdMQ3lzUUhuT256L1A3Tm16V2Jac0dSOSsrT0ZqbGVlZGQ5NGhKQ1FFalVhamRIYk9uRGxEMjdadDJiVnJGMmxwYWZUdTNWdm5uTDE3OTZacjE2N01uVHYzQ1g5SlVWcmtMWGJ1MWFzWHc0WU4wOWxtYlcxTnhZb1ZPWFBtakxJWTlNeVpNNWlabVpWNEE0QWVkVjZJUnhYWERoYlhacFYwYkVudG9SQ1BROTlSWi9IdnZIWlJ4WVI0VnZ6OS9YRnpjOFBFeElTa3BDVGxsWk9UUTlXcVZXblNwQWtyVnF3Z0lTR0IwNmRQczN2M2J0emMzQ0IzU1B2SWtTT0Vob2FTbEpURXNtWExxRnUzcnZJL3p1TE9YWlNkTzNmU29rVUw2dFNwbzNQTXc0Y1BTeXhQdTNidDBHZzByRnExaXBTVUZBSUNBcmgyN1JyZHVuVmovdno1bkRoeFFua2RQWG9VZ0lDQUFPbTB2R0lPSFRxRVJxUGg0NDgvMXFsRGVWSERldmZ1emViTm00bU9qdWJtelp0OC8vMzM5TzNidDhCVHlNS1VWT2VGZUZSeDdXQnhiVlpKeDViVUhvcFh4NTQ5ZTVneFl3WlJVVkVNSHo2Y3VMZzRaVnRTVWhJYk4yNVUzZ2NHQmhaNFlGT1NoSVFFZXZUb1VXd1M4a2ZUQ3VSWnRtd1oxNjVkZTZ6cnZZNWU2WTVMVGs0T1AvNzRJLzM2OWFOWnMyWTBiOTRjVjFkWHJsNjlDa0NuVHAzNDVaZGZudW8xcjErL2pvT0RRNEVoNjM5anpabzFjaVA0RW9tUGoyZnAwcVcwYTlkTzV4VVRFd1BBVjE5OWhVcWxvbXZYcmt5ZlBwMnhZOGZTckZrenlFMHVOV1hLRkJZdlhveUxpd3VKaVlrc1diSkU3M01YVlo2UWtKQUN4d1FFQkpSWUhnc0xDMWFzV01IUm8wZHAzNzQ5dTNidHdzZkhSNjhwUU9MVkVSOGZUMEpDUW9FNk5IUG1UQUFHRGh4STY5YXRHVEprQ0s2dXJ0amIyK1BoNGFIWHVVdXE4MEk4cXJoMnNLUTI2MG5hWi9IcU1ERXhJU2NuaHpwMTZ0QzNiMStXTFZ1bWJDdFRwZ3lIRGgxaTZkS2xrQnZhK05ISWlpV3hzYkhoM1hmZlpkdTJiWVZ1ejhuSllkNjhlU3hjdUxEQWc4ZXFWYXV5ZXZYcVFvKzdmZnMyczJmUHBtUEhqbno0NFlkMDZ0Ukp5Umw0NnRRcEhCd2NHRDkrZktISFptVmwwYjU5ZTJYMGNmMzY5VGc0T0JUNit1R0hIeDdyKzc0SXIreFVzWnljSER3OVBmbnJyNzl3ZDNmSDN0NmV6TXhNSWlNalg1b2h2S0ZEaCtMbTVzYnZ2Lzh1Qy9kZkFpWGxWYkd4c2VIYmI3OHRjdnVqWWJjZjU5eUZLYW9CMUxjOERSbzBZUHYyN1NWZXg4ek1yRURJYi9GcUdEWnNXTEZQSEkyTWpKZzBhVktKRWU2S1dtUmFYSjBYNGxFbHRZUEZ0VmxQMmo2TGw4dkZpeGZ4OHZJcThIbEtTZ29wS1NuMDc5OWYrZXlMTDc3QXg4Y0hNek16dkwyOThmRHdJQzR1anJTME5Nek56WXU5anFlbkp3OGZQdFQ1TERVMWxhU2tKRWFQSHEzeitZQUJBMmpTcEFtclY2OW13b1FKN04yN2wxV3JWa0Z1TW1kalkyTlVLaFh0MjdkWGp1bmV2VHVqUm8xaTVNaVJWSzFhRlc5dmI5UnFOVEV4TVRySnlzdVVLVU40ZURqLy9QTlBnVVNWUVVGQlBIejRVT21FZmZycHAzejAwVWNBTEZxMGlESmx5aWpyWlBPSGtTNnRYdG1PeTlhdFc0bU1qQ3d3bi9WbHlaT2kxV294TkRSazBLQkJiTml3UVRvdVFnZ2hoQkI2eUp2TyttZ2tyMU9uVHJGMzcxNmR3RWlHaG9ha3BhVngvdng1QU1hUEg4K05HemU0ZVBFaUdSa1ovUEhISHdYTzM2UkpFd3dNRE9qZnYzK0JrWlA1OCtmajdPeGNJRGx6alJvMXlNN09CbURseXBVWUdCalFxMWN2N3QrL2o3dTdPeDk5OUJFZmYvd3hEeDQ4SURJeWtnOCsrQUJ5YzZaZHZYcVZ1WFBuS3VzSnExYXRxbk51clZhTHZiMDlPM2Z1Wk96WXNUcmJ0bS9menZ2dnY4KzVjK2NBTURjM1Z6cGtKaVltbENsVFJrbkkvako0WlRzdXUzYnR3dFhWdGRDNDF2a2xKaVl5WnN3WVRwdzRRWlVxVlpnNWM2YVNVQzAxTlpXbFM1ZHk5T2hSakkyTjZkbXpKOE9HRFZNVy9tM2J0bzN0MjdjVEh4K1BqWTBOMzMzM1hZR0lFNXMyYldMejVzMnNYYnVXV3JWcWNlVElFYjcvL252aTR1S29VNmNPMDZaTlV4YXlkdXJVaVQ1OStoQWNITXo5Ky9mNStlZWZhZFdxRmJObnorYmV2WHRZVzFzL3M5OUxDQ0dFRU9KVlVhWk1tUUk1VCs3ZXZZdEdvMUUrRHc0T3BsV3JWdHk4ZVpNdFc3Ym83UHZYWDM5aFpXV2w4M2wyZGpZUkVSR0VoNGRUcGt3WjdPM3RDMXpYMU5TVTJyVnIwN2h4NHdMYmdvS0NXTFZxRlY5OTlSWHZ2ZmNlQ1FrSlRKdzRrYTVkdS9MeHh4OURicWRyL3Z6NXpKNDltOGFORzFPaFFnWFVhalhidG0xanhvd1poVWE2MDJnMDlPM2JsM256NWpGaXhBaGxuN05uejNMOStuWDY5T21qZEZ4ZWRxOWt4eVV0TFkxLy92bEhyK2cwTzNic1lPSENoVlN2WHAwNWMrYXdZTUVDSmM3M3BFbVRNRFUxSlNBZ2dKU1VGRWFPSEVtVktsWG8xcTBiTzNic1lNT0dEY3liTnc5N2UzdGlZMk5ScTlWS0VpS0FYMzc1aFkwYk4vTDk5OTlUcTFZdFRwMDZ4WlFwVTFpeVpBa09EZzVzMmJLRkNSTW1FQkFRb0F6aC9menp6eXhmdmx4SnBHVm1aa2FOR2pYNDY2Ky9KSnUwRUVJSUlZUWV6cDA3cDZ6ckFGaThlREVWSzFiazNyMTdBRVJIUjdONDhXSmF0V3BGOWVyVldibHlwYzd4M2J0M1ovTGt5Y3JJQjhDOWUvZHdkbmJXS3dCSllUcDA2TUNEQncrWU5tMGEyN1p0NDVOUFB1SGh3NGY0K2ZueHd3OC9vTkZvTURRMFJLVlNNWDM2ZFB6OC9MQ3hzV0hKa2lWTW5UcVZIajE2TUdMRUNMcDE2NmJ6b0Z5cjFlTGs1SVM1dVRrSER4NmtSNDhla1B1QXZVZVBIcTlVV085WHN1T1NsWlVGUlNTa2VsU3ZYcjJVS0RaOSsvWmwxS2hSWkdkbmMrWEtGU0lpSWdnS0NxSmN1WEtVSzFlT0hqMTZFQklTUXJkdTNWaS9majFqeG94UkZ1L2xEUWxldjM0ZGNyT25mdlBOTnl4YnRveDY5ZXBCN3ZTMTd0MjdLOU8rQmc4ZXpJWU5HNGlLaXVLOTk5NERvSFBuenRqWjJlbVUwZHJhV3ZtSEpvUVFRZ2doaXBhVmxjVUhIM3pBaWhVckFIQjNkOGZJeUlpS0ZTdHk1ODRkdEZvdFc3ZHV4YzNOamJKbHl4WTRQajQrbnZqNGVCbzBhTUNKRXlkd2NIQ0EzTFVvUmtaR3lscnBnSUFBZkgxOUN4dzdhOVlzbmM2Q3BhV2xNbkxUdlh0M09uYnNpSW1KQ2JObXpjTE96ZzYxV28yWm1abE9XU1pPbk1qSmt5ZnAwS0VESDN6d0FYdjM3bVhUcGsxODg4MDM3TjY5bXhVclZ1Z0V6REV3TUtCdjM3NXMzNzZkSGoxNmtKQ1F3T0hEaHdrSUNDQXlNdktwLzhZdnlpdlpjYkd5c3NMTXpJem82T2dTUnlueVR5V3pzTEJBcTlXU21abEpYRndjV3ExV0p6dTVWcXZsN2JmZkpqVTFsYnQzNzFLN2R1MGl6K3ZqNDBQejVzMTFoZ3JqNHVJNGV2UW9lL2JzVVQ3VGFEVGN2bjFiNmJqODV6Ly9LWEN1aHc4ZlNqSWpJWVFRUWdnOVBIandBRXRMUzJVMlMwWkdCaVltSnBpYW1tSmxaVVZ3Y0RESGpoM2p5eSsvTFBUNDRPQmdHalpzU0haMk52UG16YU5mdjM3MDdkdVhyS3dzbmZ1eFRwMDYwYUpGQzUxalI0MGF4YkJodzVSbEIrU3VvOGt2YjhTbVljT0diTml3QVU5UFQzYnYzazNObWpVeE5qYm0yTEZqekpneGc0Yi9Wc3dBQUJPZ1NVUkJWSExseWluSHFOVnFSbzhlVGE5ZXZSZytmRGdyVnF4Zy92ejVPdWZ0MmJNbmE5YXM0ZFNwVXh3N2RveW1UWnRpYTJzckhaZlN6c0RBZ0xadDIrTG41MGV2WHIzK1ZaU0VOOTU0QXdNREF3NGZQbHhnaUUycjFXSmlZc0wxNjljTExMN0tNMy8rZktaT25jckdqUnNaUEhpd2NzNldMVnNXaURUeGFOa2ZkZlBtelpkcTRaUVFRZ2doeEl0eTY5WXRuZEdJMU5SVUxDd3NJRGY2M055NWM1a3padzVxdGJwQTJPUE16RXkyYnQzSzVNbVRVYXZWK1BqNE1IandZQ3d0TGFsUm80Yk9QV0graGU1NWpJeU1LRmV1WEpIM2JYa0puUGZ0MjBkeWNqSi8vdmtuNUU1dE16YzN4OExDZ2dzWExqQm8wS0JDajdlMXRhVmR1M1pFUkVRVTJHWmhZVUhuenAwSkNBZ2dJaUtDcjc3NjZyRi91OUx1bGMzak1tYk1HQXdORFJrMmJCaEhqeDRsUGo2ZXFLZ28vUDM5aTgxOWthZHUzYnE4K2VhYkxGeTRrTVRFUkRJeU1vaUlpT0RTcFV1b1ZDcDY5ZXJGeXBVck9YMzZOQmtaR1p3NWM0WTdkKzRveDl2WjJiRjgrWExXcjErdnJKbnAzTGt6dTNidDRzOC8veVFySzR0YnQyNXg0TUNCWXN2eDk5OS9rNWFXVm1RSFNRZ2hoQkJDL0orclY2OVNzMlpOc3JPelNVNU9KaUVoZ2ZMbHk2UFZhdEZxdFZTcFVrVUpPOXl2WHorU2s1T1ZZN2R1M1lxSmlRbXRXN2NHNEsyMzNtTDU4dVc4Kys2NzNMOS9YeWNNOGI5eDl1eFpySzJ0S1Z1MkxMZHYzeTQyOEZKMmRqYVhMMS9tbTIrKzRlVEprOXk2ZFlzVEowNXc2TkFoUHZ6d3cwS1ArZlRUVHpsNDhDQldWbFkwYWRMa2ljcGFHcjJTSXk3a3htVDM5ZlZsN2RxMWVIbDVjZS9lUGRScU5mWHExYU5ObXpZbEhtOWtaSVMzdHpkZmYvMDF2WHIxd3NEQWdQZmVlNC9Ka3lkRGJzZkkxTlNVR1RObWtKaVl5TnR2djgwMzMzeWpjdzU3ZTN1OHZMeVlQSGt5NXVibWRPN2NtYVNrSkx5OHZMaDkrellWSzFha1Q1OCt4WlpqMTY1ZGZQVFJSNCtkQkVrSUlZUVE0blYwN05neFB2bmtFOXEwYVVOV1ZoWTlldlRBMU5TVXI3Lyttci8vL3B1TWpBeXVYcjFLOWVyVnVYWHJGcGFXbGdCRVJFU3dkdTFhdnYvK2U1MFpNSG5Cbmk1ZnZxeU0zUHhiSjArZVZEb1VKMCtlTERaTlIvLysvVm13WUFHeHNiRk1uanlaMU5SVUtsV3FSS2RPblJneFlrU2h4OWpaMmRHa1NST2RmREN2a2xmNmJ0akd4b1pwMDZZeGJkcTBRcmNmUEhoUTUvMjc3NzZyazBpdmF0V3ErUGo0Rkhwc21USmxHRGx5SkNOSGppeXdMZjg1MnJScG93d0RBcmk1dWVIbTVxWlhlV0pqWXpsMDZCQ2JOMjh1OGpzS0lZUVFRb2ovNzg4Ly84VFUxSlMzMzM2YkkwZU9vTkZveU1yS1l0S2tTVVJIUjdOKy9YcU9Iei9PM0xsekdUUm9FRysrK1NZcWxZcmZmLytkYWRPbU1YejRjQm8xYWdTNTA3b1NFaEt3dExRa016T1RIMy84VVprQjQrL3Z6NW8xYXdvdFEyRkplYTJzck5pM2J4OUhqeDdGdzhPRDZPaG9kdXpZVWVBY2hvYUdaR1Zsa1oyZFRYeDhQRysrK1dhQmlHZjUyZHZiRjVnMmxwZllNay9IamgzcDJMRmpnV01melhQek1uaWxPeTR2dTVpWUdCWXRXb1NOamMyTExvb1FRZ2doUktsMzd0dzVoZ3daQW9EcS83VjM3MEZWVmU4Zng5OFF5SUVqZzBpSW1sSmVHQjBWa01ac1NKM1FIQ2JOVzVwb3B1bDRTMHNDUk1POFpGbWlGb3FqbGpKcEtTaGdKcGFHcERsR2x1a1lscGVrREJVditBVzhnWEVBbGR2dmp4L3M2UVNJTldXSW45ZGZzTmMrYXk4MmUvYnM1K3oxck1mR3hnZ0VYRnhjV0w5K1BVMmFOT0hwcDU4bUp5ZUh5TWhJUWtORE9YejRNR0ZoWVV5ZE90VXF0eVE3TzV2bm4zL2VLQXJ1Nit2TDVNbVRvWTR2b210ejdkbzF6cDgvVDlPbVRaazRjU0xoNGVIVjNyaDA2TkNCakl3TUFnTURlZUtKSnpUajVrOTBOdXF4dm4zNy90ZERFQkVSRWJsbmpCMDd0dG9xWGlhVGlibHo1MXB0R3pkdUhPUEdqWVBLRlY1alltS3FGWlQwOHZJaUxTMk4wdEpTYkcxdGExeEE2YTlvMnJRcFgzLzlOU2FUaVlTRUJGcTJiR20wdmZIR0c4YlBkZVUvMzg4VXVJaUlpSWhJZy9Ebm9PVk8yTnJhVmd0YS91aWZmT3RSdFNyWkg0TVd1WE1OZGxVeEVSRVJFUkZwT0JTNGlJaUlpTWg5S3lZbWhxaW9LQW9LQ2hnM2Jod25UcHlvdGs5cWFpcS8vUExMWFIzWHRXdlhTRXBLdXF2SHJPOGF4RlN4OHZKeWR1ell3YWVmZmtwY1hKeFYyK2JObTRtUGorZlNwVXY0K3ZveWYvNThXclJvQVVCUlVSRXJWNjVrNzk2OUZCVVZFUmdZU0VSRWhGRVY5WWNmZm1ERmloV2NPWE9HRmkxYUVCRVJVZWVhMkVlT0hDRXFLb3BUcDA3aDV1YkdpQkVqZVBIRkY0MzJzMmZQOHM0NzcvRHp6ei9qN3U1T2NIQXdnWUdCUnZ1NmRldll2SGt6Rm91Rm5qMTdNbmZ1WEdPWnZycjZGaEVSRVpHL3g5blptU2xUcGpCNzltdzJiZHBrRkRDL2NlTUdpeFl0d3QzZG5VYU5HakY2OUdqS3k4dUpqbzRtTnpmWEtEWlpWZklpSUNDQW4zNzZpYkN3TUZxMWFnVkFWbFlXSzFldTVPVEprM3o0NFllNHU3dERaYzJaenovL3ZNYUZtT3pzN0hqLy9mZng4UENnUjQ4ZWQvVmMxRmYzZk9DeWE5Y3VZbUppcktxaVZ0bStmVHRyMTY1bDJiSmxlSHA2c25UcFVtYk1tTUdtVFpzQVdMSmtDUmN1WEdERGhnMlVscFl5YytaTVZxNWNTWGg0T0dmUG5pVWtKSVE1YytZUUVCQkFjbkl5b2FHaHRWNWNWZUxpNHBnMmJScmUzdDZrcDZjVEhoNU84K2JOQ1F3TXBLU2toRmRmZlpXK2ZmdXlhdFVxOXU3ZHk5eTVjMm5mdmoxdDI3WmwyN1p0Yk5teWhkV3JWK1BxNnNyMDZkTlp2SGd4a1pHUmRmWXRJaUlpSXJXeldDek1tVE9uMnZaejU4NVJWbGJHaFFzWG9MSWNSdFYrYjczMUZ2SHg4WVNHaHZMVVUwOHhjdVJJV3JkdWpaZVhGejE3OXVUWlo1ODFrdW5EdzhPdG5rWDkvZjJOSllkbnpweHBiQjgrZkRnVEowNkV5c1VFcXVUazVHQ3hXS3pHTm56NGNESXpNNDNnQ01ESnllbSt6Wkc1NXdPWHZMdzhnb09ES1Nnb1lQMzY5Vlp0WDN6eEJVRkJRWGg3ZXdNUUVSRkJuejU5K09XWFgvRHk4dUxMTDc5a3pabzFORy9lSENxTFNyNysrdXVFaFlXeGUvZHVmSHg4ZU9hWlp3QUlDZ29pT1RtWmxKUVV4b3daVSt0NEZpOWVqTDI5UFFDUFBmWVlBUUVCcEtXbEVSZ1l5TDU5K3lnc0xPVGxsMS9HenM2Ty92MzdzMlhMRnBLVGt3a09EaVloSVlFWFgzeVJkdTNhQVRCbHloUkNRa0lvTEN6RWJEYmZ0bThSRVJFUnFaM0paS3F4Y0dOU1VoSkZSVVdNSGoyNld0dXZ2LzdLWjU5OXh1TEZpNG1OamNYVjFSV0x4VUpKU1FrcEtTbDA3ZHFWNjlldlkyOXZ6OW16WjYyKzNENXc0SURSWjFaV2xqRkxac3VXTGFTbXBrTGxHNWMvamlNdExhM0dzZS9kdXhlQTlQUjB1bmZ2WG11ZHdZYnVuZzljUm80Y0NaVnZWLzZzcUtqSW1QWUZZRGFiY1hKeUlpTWpBMDlQVDBwTFM0MUFBTURkM1IyTHhVSk9UZzZGaFlWV2JWWHRwMDZkdXUxNC92eVpTNWN1R1lIVDhlUEg2ZEtsaTlYcUZGMjZkT0hreVpNVUZSVngrdlJwdW5idGF0VldXbHJLbVRObjhQYjJ2bTNmSWlJaUlsSTdPenM3T25YcXhNS0ZDeGs0Y0NBK1BqNEFmUHZ0dHh3NmRJaE9uVG9CY092V0xTSWpJNDB2bXQzZDNkbTZkU3ZIangvbjBVY2ZaZTdjdVF3ZE9wU2twQ1RXcmwxTFJFUUVHUmtaOU9qUmc0Y2ZmaGdBUjBkSGhnd1pRbWhvS0FBZmYvd3grL2J0bzJuVHBvU0VoTEI3OTI2bVRwMUtVbEtTOFh4WFUxSHpLdVhsNVN4ZHVwVDgvUHhhQzZ2ZkQrNzV3T1YydW5mdlRsSlNFb0dCZ1RSdjNweFBQdm1FMzMvL25lTGlZc3htTTEyNmRPSGpqei9tblhmZXdjYkd4cWhRWDFSVXhPT1BQMDVpWWlKcGFXbDA2OWFOWThlT2NmRGdRZno5L2UvNCtEdDM3dVQ0OGVQR0JYYjU4bVdhTm0xcXRZK3JxeXRIamh6aHlwVXJVTG5HZDVYR2pSdGpaMmZIOWV2WDYreGJSRVJFUk9ybTUrZEhTRWdJc2JHeHRHN2RHaXJ6aUgvNjZTZDhmWDE1ODgwM09YZnVIRTVPVGpScjFvejI3ZHN6Wk1nUUNnb0tHRGx5SkRrNU9iUnUzWnFJaUFqeTgvTjU0WVVYTUpsTVZublFtelp0b3JDd2tPblRweHZiamh3NVFydDI3WEIyZGlZN081c3BVNmJnNStkSFpHUWtTNVlzcVhXOEZvdUZlZlBta1plWHg3cDE2M0IxZFlYS3FXWG56cDM3UzMrN2o0OFBqbzZPZitPczFROE5PbkNaTkdrUzJkblpEQjQ4R0h0N2UvcjA2VVBMbGkyTmY5amJiNy9ObkRsemVQTEpKekdaVER6MzNITlFPWGZ3aVNlZTRLV1hYaUlrSklTS2lncmF0bTFMdDI3ZGNISnlxdk80WldWbHJGbXpoc1RFUkJZdlhveW5weWRVUnN0L1ZsNWVqbzJOVFkxdEFCVVZGZGpZMk5UWnQ0aUlpSWpVclgvLy9odzdkb3oxNjljemI5NDhxTXhyaVlxS29rT0hEcHc1YzRZMWE5WVl5ZmtBdTNmdjV1TEZpeVFuSjVPVGs0T3ZyeS9SMGRGa1ptWlNWRlNFblowZEhoNGVlSHQ3ODhvcnJ6QjU4bVRLeXNvQXlNaklZTTJhTlF3ZE90U1lHalovL256am1mS1B6M2wvZHZMa1NTSWlJdkR6OCtQZGQ5KzFtbjF6Nk5DaGFta1NkVm0rZlBrOS9lellvQU1YUjBkSEZpMWF4TTJiTnlrdExjWEJ3WUZldlhyeHlDT1BBT0RwNlVsY1hCd1dpNFZHalJweDRzUUpFaE1UalFTbzhlUEhNM2JzV0FvS0NtalNwQWxUcGt3eFhpdXVXN2VPMk5oWTQxaXJWcTNDMjlzYmk4WENqQmt6eU0vUEp6WTJsalp0MmhqN3VMaTRrSnViYXpYRy9QeDgzTnpjY0hGeE1YNnZ5cmtwS0NpZ3JLd01OemMzcUl5NGErdGJSRVJFUk81TWVIZzRGUlVWZlAzMTErellzWU9BZ0FCKysrMDNEaDQ4U0VKQ2d2RmNWbVhJa0NIazV1WVNGQlJFWm1ZbXVibTVYTGh3Z2Vqb2FPTGo0ekdielF3ZVBCaVR5VVIyZGpaNzl1emh6Smt6SER0MkRIZDNkNlpObTBidjNyMHBMUzBsSVNHQk45OThrMmJObXRHbVRSdWNuSndZUFhxMFZXSi9lWGs1R3pac0lDNHVqckN3TUFZT0hGanRieGcwYUJDREJnMjZLK2Vydm1qUWdVc1ZCd2NISEJ3YzJMVnJGNDBiTjZaejU4NVc3VlVSOWM2ZE8rblJvNGRWMWRVSEhuaUFKazJha0p1Ynk0OC8vc2lNR1RNQW1EQmhBaE1tVEtoMnJEZmVlQU1IQndjMmJOaUFnNE9EVlZ2SGpoM1pzMmNQNWVYbDJOcitmd21kbzBlUDBxZFBIMXhkWFduV3JCbEhqeDZsWThlT1JwdVRrNU9SckgrN3ZrVkVSRVRrem1SbVpySjA2Vkl5TXpPTkpZdm56NS9QQ3krOFFFcEtpcEZEVGVYc2wxbXpabkgxNmxWQ1EwTzVkT2tTWldWbFRKczJqWll0VytMczdJeXpzN094MGxkaFlTSG56NTluLy83OStQajQ0T0xpUW1wcUt1M2F0ZVBLbFN1Y09uV0tqaDA3Y3Y3OGVaS1NrcGcwYVpKVjBKS2VuazVrWkNSbXM1blkyRmhqZk5MQUE1ZXNyQ3hLU2twNDZLR0hPSHIwS011V0xTTTRPTmdJVEU2Y09JR0hod2RtczVtVWxCUjI3OTdOUng5OUJKVnJkcWVucDlPNWMyZXlzN05ac0dBQi9mcjFvMzM3OXJVZUx6czdtMisrK1lhNHVEaUtpNHNwTGk2R3lsZUFMaTR1UFBYVVU2eFlzWUxWcTFjelpzd1l2dnJxSzg2ZlAyOUV5OE9HRFdQRGhnMDgrdWlqTkc3Y21BOCsrSUNnb0NEczdlM3I3RnRFUkVSRWJpOHJLNHZWcTFlVG1wcktxRkdqaUk2T0ppNHVqb0tDQWg1NjZDRVdMVnJFOU9uVEtTNHVadXpZc2RqYTJwS1hsOGVLRlN1SWpvNG1MQ3lNSlV1V2tKcWF5cDQ5ZTZCeVJveU5qWTFSYm1QNzl1ME1IVHFVUzVjdUdjbjV5NVl0NCtyVnEwYnV6SWdSSXdDWU5Xc1cvZnIxQStDMzMzNWoxYXBWL1BqamowUkVSTlQ0bHVWKzE2QURsOHVYTHpOcjFpenk4L05wMWFvVndjSEJEQmd3d0dnL2V2UW9NVEV4M0xwMWk4NmRPN05xMVNyajdVWlpXUmtMRnk0a0t5c0xWMWRYQmd3WVVPTVNlbitVazVNRFVHMjU1TWFORy9QTk45L2c3T3pNOHVYTGlZeU1KRFkybHJadDI3Sml4UXBqS3RpNGNlTzRkdTBhRXlaTXdNYkdoZ0VEQmpCMTZ0UTc2bHRFUkVSRWFuZjE2bFdHRFJ0R3o1NDkyYkpsUzQyMVVQejkvVm0yYkJrelo4NWsvLzc5UkVWRmNmbnlaYU5nWkpWUm8wWVJGaFlHUUV4TURNN096b3dhTmNwcUh5Y25KeU05d1d3Mkc5dWJOR2xpYksrYVFYUGd3QUZtejU1TmVIZzR1Ym01ZlBmZGQzaDZldEs1YzJlcjFXanZkdzNtVE5RMHo4L1B6NDlkdTNiVitwbFJvMFpWdThpcW1NMW10bTdkK3BmRzRPZm54K0hEaDIrN2o0K1BENG1KaVRXMjJkblo4ZHByci9IYWE2LzlyYjVGUkVSRXBHWnVibTVzM0xnUkx5OHZLaW9xeU12THc5SFJrZE9uVDFzbHJQdjcreE1mSDgvR2pSdU5HaTBtazRuaHc0Zmo2dXJLalJzM2pDbi90NU9XbG1ZVW1MeHc0UUpCUVVFQWJOdTJqZSsvL3g2QTA2ZFBBM0R6NWswV0xGaEFyMTY5Nk51M0wvSHg4U3hZc0lDTEZ5L2k0dUppSEsraW9vS1NraEllZlBCQkVoTVRiNXZZM3hBMW1NQkZSRVJFUk9SMnZMeThvSEtxL2JQUFBrdEJRUUVlSGg1TW1qVEphajlQVDA5bXo1N056cDA3R1R4NE1GU21FWXdaTXdhejJWeXR2RVZOdW5YcnhudnZ2UWZBbkRsenNMR3h3ZGJXbHFGRGh6SjU4bVFBSTdBSkNBZ3dQbWN5bVJnL2Zqemp4NCtucEtRRWk4VkNXVmtaNWVYbGxKZVhVMUZSZ2Nsa3V1K0NGaFM0aUlpSWlNajlLRFUxMVdyQnBKcjA3OS9mK0xsMzc5NEVCQVJVQ3hocVNpWHc5dlkyZ2hhQWhRc1hBbGdWR2dlTUdvSzFzYmUzTitxMkNOVDlua3RFUkVSRXBBRzZreWxmZjNRL3Z1V29UeFM0aUlpSWlJaEl2YWZBUlVSRVJFUkU2ajBGTGlJaUlpSWlVdThwY0JFUkVSRVJrWHBQZ1l1SWlJaUlpTlI3Q2x4RVJFUkVSS1RldXh0MVhDclNmejNKODJNbjNvVkR5VDhsTC8vNmZ6MkVmOFgvc25OMExkNkRMbCs1K2w4UDRkK2dlK005U1BkR3FVOTBiNVQ2NG03ZEcvLzF3S1dDaWgyLy8xN0F3VU9ILysxRHlUK3U0c1lEdDJ3eS91dFIvRk1xYkd5MkZ4ZmY4TkMxZUkrcW9LamtXdW5GLzNvWS94VGRHKzlsdWpkS1BhSjdvOVFiRGV2ZUtDSWlJaUlpSWlJaUlpSWlJaUlpSWlJaUlpSWlJaUlpSWlJaUlpSWlJaUlpSWlJaUlpSWlJaUlpSWlJaUlpSWlJaUlpSWlJaUlpSWlJaUlpSWlJaUlpSWlJaUlpSWlJaUlpSWlJaUlpSWlJaUlpSWlJaUlpSWlJaUlpSWlJaUlpSWlJaUlpSWlJaUlpSWlJaUlpSWlJaUlpSWlJaUlpSWlJaUlpSWlJaUlpSWlJaUlpSWlJaUlpSWlJaUlpSWlJaUlpSWlJaUlpSWxMZi9CODJtb2hJWGNjYkdRQUFBQUJKUlU1RXJrSmdnZz09IiwKCSJUaGVtZSIgOiAiIiwKCSJUeXBlIiA6ICJmbG93IiwKCSJVc2VySWQiIDogIjI2NDM4Mjc0NyIsCgkiVmVyc2lvbiIgOiAiMTIiCn0K"/>
    </extobj>
    <extobj name="ECB019B1-382A-4266-B25C-5B523AA43C14-2">
      <extobjdata type="ECB019B1-382A-4266-B25C-5B523AA43C14" data="ewoJIkZpbGVJZCIgOiAiNDc1MTEwNTU1MjQ5IiwKCSJHcm91cElkIiA6ICIxNzc2MzEzMTIiLAoJIkltYWdlIiA6ICJpVkJPUncwS0dnb0FBQUFOU1VoRVVnQUFCTUFBQUFEU0NBWUFBQUNzRzd3VkFBQUFBWE5TUjBJQXJzNGM2UUFBSUFCSlJFRlVlSnpzM1hsNERlZi8vL0hueVNiRUVpRjJxblpLN1hzcHJWcHJLVXFwclVRbFNtUGZHckh2K3hMN21xcTFwU2hGVmF2OWxKYUdGa1VzUmFuYVFtU1I3WnpNNzQ5dnpNOXBFdFFXaWRmanVseFhaczQ5OTl3elo5em5uUGU4NzN0Q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TVQbGlTZWtHaUlpSWlBaThYS0pjZHdQYXAzUTdYbVFXV0gzdTVHK0xVN29kSW1tVitybVU5N3ozYzdwR1V0N3pmbzA4RHFlVWJvQ0lpSWlJZ0FIdE0yZk9XS2RVaWVJcDNaUVgwdkdUd1lTRlJRQ2t5Uy85SXM4RDlYTXBLelgwYzdwR1VsWnF1RVllaHdKZ0lpSWlJcytKVWlXS3MyYmxrcFJ1eGd1cFhXY3ZmajRRbE5MTkVFbnoxTStsbk5UU3ora2FTVG1wNVJwNVZBNHAzUUFSRVJFUkVSRVJFWkduU1FFd0VSRVJFUkVSRVJGSjB4UUFFeEVSRVJFUkVSR1JORTBCTUJFUkVSRVJFUkVSU2RNVUFCTVJFUkVSRVJFUmtUUk5BVEFSRVJFUkVSRVJFVW5URkFBVEVSRVJFUkVSRVpFMFRRRXdFUkVSRVJFUkVSRkoweFFBRXhFUkVSRVJFUkdSTkUwQk1CRVJFUkVSRVJFUlNkTVVBQk1SRVJFUkVSRVJTV1dzVm10S055RlZVUUJNUkVSRUpKVUtDUWxoejU0OWR1dHNOaHVSa1pIY3VIR0Q4K2ZQODhzdnY3Qmx5eGEyYk5tU1l1MTgwZzRlUEVod2NIQ2k5WHYyN09IU3BVc3AwaVlSZWJhdVhidEdlSGc0QU1lUEg2ZGh3NGFQVkUvRGhnMjVlUEVpZm41K3JGdTNEc013QUlpSWlFaXkvSysvL2tyWHJsMGZ1djd2di8rZTlldlhQMUxiNU5Ha2h2ZnVoeDkrWU1hTUdROVZkdWZPblVsK2h1L2F0WXVQUHZwSVFiRC93Q21sR3lBaUlpSWlqeVl1TG80eFk4Ymc2ZWxKbVRKbG1ESmxDbDk5OVJVZUhoNWt5WktGVEpreWtUbHpaakpuemt6V3JGa3hESU01Yythd2V2VnEwcVZMZDkrNlkySmlhTjI2TlFNR0RIaG14L093NHVMaTZOMjdOOHVXTFNOZnZud0FYTHg0a1pFalJ6Smp4Z3h6bllpa1hXUEhqcVYwNmRKOCtPR0hqMVdQcTZzck5wdU5nUU1ITW1MRUNBb1hMa3pod29WcDNibzFnWUdCNU0yYjk3SHF6NTA3TjFPbVRLRjU4K2JKOXJ0ZVhsNmNPSEVpMlRyaTR1S3cyV3g4L2ZYWDVNaVI0N0hhazliZHVuVXJWYngzQ3hZc29ISGp4c1RFeENTN3JaT1RFNDZPanBRdFc1YVBQdnFJYytmTzBidDNieHdjL2krUHFXN2R1cXhZc1lKZHUzYlJ1SEhqeHpyV0Y0VUNZQ0lpSWlLcFZLNWN1ZkR4OFdINDhPR3NYNytlK1BoNCt2ZnZUN05temU2N1hmdjI3Zm40NDQvdlcyYmh3b1ZtZGtWS21UcDFLamx5NUtCVHAwNEFIRDE2bEppWUdGeGNYS2hRb1FMYnRtMmpZc1dLQU15YU5ZdlhYMzhkd3pENDlkZGZ5WlVybHdKaEltblVoUXNYMkxkdkgzMzY5T0hPblR2RXhNUmdHQVozN3R5eEsrZm82R2dHTHNhTkc1ZGtvT0xxMWFzTUhEalFMRGR6NWt5OHZMeG8yYklsbzBlUFp1SENoY1RHeHBwMVIwUkVZTFBaQ0EwTkJjREJ3WUhNbVRNRE1IdjJiTmF2WDAvNjlPa1Q3ZWZ0dDkrMld3NE5EZVhnd1lNQUxGbXlKTmxqM2JwMUt6Tm16S0I3OSs0S2ZqMkVyRm16UHZmdjNkNjllemw3OWl5TEZ5OW04ZUxGU1c0YkZSWEYwS0ZEZWVlZGQ4aVZLeGRMbHk1bDllclZiTnUyelc2ZmQrN2NZZUhDaFN4Y3VOQmN0M3IxYXR6YzNCNzZuTDFJRkFBVEVSRVJTY1ZhdDI1TnpwdzVjWEZ4QVNBOFBKeXJWNjhtS3VmbTVrYkdqQmxUb0lXUExqZzRHSGQzZDNONTNicDEzTGh4Zy9qNGVJS0NncWhjdVRLSER4OEd3R0t4c0dmUEhxNWZ2dzRKdzVvVUFCTkptd0lEQTNGeGNlR0REejZBaEtIZlVWRlJOR3JVeUs1Y3hZb1ZtVDU5T2dEbno1L252ZmZlbzJ6WnNuWmxCZzhlekFjZmZFQ0pFaVhNZFZtelpxVjY5ZXEwYXRXS2I3Lzlsc2pJU0taTm0wYTJiTm1Jam80bU5EU1VybDI3WXJWYXNWZ3NiTjY4MmR5MlM1Y3VlSGw1RVJvYXlzNmRPM24zM1hkeGNIRGc0TUdER0laQmxTcFZpSW1KNGJYWFhydnZNVVpHUmpKaHdnVCsrT01QNXMrZlQvSGl4Wi9JdVhzUmVIbDVQYmZ2WFVSRUJOT25UMmY4K1BHOCtlYWJ5ZGJScTFjdm5KMmRBZGk5ZXpkMTZ0U2haOCtlUkVWRlVhVktGYlBjZ0FFRGFOV3FGZFdyVnpmWFpjaVE0WkhQWFZxbkFKaUlpSWhJS21RWUJyZHYzd2F3KytLN2ZQbnlSSE9XaElhRzBycDFhM3IzN20yM2Z0S2tTV3pmdnQyODR4MFZGVVhqeG8wWlBIaXdYYm5aczJkejl1eFpaczJhWmE1cjJiSWw3ZHUzcDNYcjFtemF0SWtWSzFiUXVuVnJ2djc2YTY1ZHU4YWJiNzdKa0NGRHNGZ3NYTDkrblFrVEpoQVVGRVI4ZkR5ZE8zZkd5OHVMbXpkdk1ubnlaSDc5OVZkaVltS29WS2tTSTBlT0pFdVdMTlNzV1pQbzZHZ09IVHJFL1BueldiSmtDV1BIam9XRUh4ZDE2dFJod1lJRlpudU9IeitPbjUrZjNUb1JTWHNPSGp6SWpoMDcyTEJoZ3puRTdmang0L1RyMTQ4ZE8zYmNkMXRQVDAveTU4OXZ0ODdkM1oxTW1US1JQMzkrenB3NWc5VnFOY3ZNbnorZjNMbHpzMzM3ZHQ1ODgwMzgvZjM1OWRkZm1UZHZIc3VXTGVQeTVjdjQrUGlZZGIzLy92dmN2SG1UZ0lBQXRtelpRb3NXTFFnTEM4UEp5UWtYRnhlV0xGbkM1TW1UYWQrK1BaOS8vbm15N2J4Ky9UcGVYbDZVSzFlTzFhdFhKNW1WSk1sTGx5N2RjL3ZlalIwN2x0eTVjMU94WWtVekUrMHVWMWRYWEYxZElTR282K3pzVEZ4Y0hOdTNiMmZWcWxWTW5qeVpIRGx5Mk5YcDdPeE1saXhaeUprejV4TThnMm1YQW1BaUlpSWlxZER0MjdmcDNMa3pvYUdoOU9uVGgzZmVlWWVvcUNnR0RCaEF2bno1S0YyNk5DUUV5dDU3N3oycVZhdVdaRDI5ZS9lbWRldldBSHorK2VlY1BYdjJrZHJ6OTk5LzQrenN6T3JWcS9uNzc3OTU5OTEzcVY2OU9uWHExR0hhdEduRXg4ZWJkOXIvL3Z0dlNBak1WYXBVeVF5NCtmajRFQmdZU08vZXZmbmhoeC9vMGFNSFZhcFVvV3ZYcmpnNTZXdXJ5SXN1T2pxYWtTTkgwcU5IajBlYTMybmd3SUZtWDFLcVZDbm16cDJMdTdzN3QyN2Rnb1I1bWNxVksyZG1nLzA3V1BZZ3k1WXQ0OXR2djZWNTgrYXNXN2NPZDNkMzFxOWZ6eDkvL01FcnI3eEM3dHk1NmRHakJ5dFdyR0R4NHNYTW16ZVBsMTkrT1ZFOVY2NWN3VEFNUm8wYTlaK1BVZjdQOC9qZW5UaHhnaU5IanRDNmRXdGF0V3FGcDZlbitkck5temRwMDZZTlhsNWVjRThBek5uWm1hbFRweko5K25UMjdkdEhpeFl0SHVsOHlQL1JOd2tSRVJHUlZNamQzWjNObXpjemFkSWtjOTJ0VzdlNGMrY09RNFlNb1gzNzlyUnYzNTZ2dnZvS0p5Y25LbGV1L0ZUYmt6RmpSdHEyYlF0QTNyeDVLVk9tRE1IQndkU3BVd2VMeGNMTm16ZUpqSXdrYjk2ODVyREdRb1VLVWFoUUlVSkRRN2wwNlJMNTh1WGo5T25Ua0RCM2o4Vml3Y0hCQVNjbkowSkRRODJoblhmbmM3bjNTWkFYTGx3Z05qYldibDJSSWtWd2RIUjhxc2N0SXMrT3E2c3I3Ny8vUGkxYnRyU2I3eXU1T2NCY1hGek1nRmRjWEJ4ejVzemhsVmRlSVNnb2lPWExsd09RTTJkT3JsNjl5c1dMRnpsOCtEQ2pSNDgydDU4MmJacDVNK0ZoZE9qUUFWOWZYM05JK3QzOXVycTYwcXBWSzJiUG5rMWNYQnhUcDA3bDlPblRwRXVYanBvMWF5YXF4ekFNWW1KaWtueXRmLy8rdEd6WjhxSGI5S0o2WHQrN2RldldzWHYzYnVyWHIyK1hiZjN2dWNTc1ZxczVCTkxCd2NGOElFMWtaQ1JkdW5ReHkxMitmSm1wVTZjeWI5NDhBTjU4ODAyOHZiMGYrcmhmTkFxQWlZaUlpS1FSd2NIQitQbjU4ZHBycitIcjY4dnZ2Ly9PZ1FNSG5zbXd3Q3hac21DeFdNeGxOemMzODhmbzRNR0RtVGx6SnExYnQ2WjY5ZXIwN2R1WC9QbnpjL3o0Y1VhUEhrMVVWQlF2di93eU4yN2NTSGFlc2dNSERoQVlHQWhBYkd3c0ZvdUZNV1BHbUs5SFJVVVJFaEppdDI3QmdnV3BidDR6RWJtLzl1M2JNM1RvVVBidDIyZXVTMjRPc0NGRGhwanJvcUtpY0hkM3g4bkppZGpZV0hPb1djR0NCVGwwNkJCVHAwNmxZOGVPZHZNbmZmZmRkOVNzV1pOcjE2N3gwMDgvNGUzdFRYaDRPSmN1WGNMYjI1dlkyRmk3L2MyWk04ZWNIUDJ1cUtnb0RNTmd6NTQ5QUd6ZnZ0MThiZmJzMmZ6MDAwK0pqdkhvMGFQNCtmblp6VThsLzAxcWYrOWlZMlB0Z25GcjE2N0Z3OE9EZXZYcW1mUGFBUXdkT3BRV0xWcFF0V3BWU0xnWkpjbFRBRXhFUkVRa0RmampqejlJbHk2ZE9hUml3SUFCZlBqaGg3ejAwa3ZrenAwNzJlM216SmxqM25tK093Zll2N201dVJFWkdXbTNMaXdzN0tIYjV1N3V6c2lSSS9IMTlXWENoQWtNR0RDQWRldldNV0hDQktwVnEwYWZQbjBBbUQ1OU9xZE9uVEszdXplZ1ZyOStmZXJYcncvQTRjT0htVEJoQXF0V3JUSmZ2enNIMkwzclJDUnRtakJoZ3QzeXc4d0JkdTNhTmJKbHl3WUpEd3ZKbENrVEFLKysraXFUSjA4bWYvNzhkT2pRQWF2VmlwT1RFNmRQbitiT25UdFVxbFNKN2R1M1U2Wk1HYnk5dlRsKy9EaHIxNjVsd0lBQlhMOStuWWtUSjVyN0dEOSt2TjArbzZPamFkNjhPUUNmZlBJSnRXdlhmcUxuUVpLV0d0NjdmZnYyTVhEZ1FIUDUvUG56TkdqUXdGeitkd0JzKy9idGRPalFBUWNIQjd2aG5TNHVMbVRMbHUwL0QvbDhVU2tBSmlJaUl2S0VsUzlmM3ZQdzRjTTNBZHV6MnVlU0pVdG8wYUlGOGZIeGZQSEZGOHlkT3hkL2YzLys5Ny8vMGJWclYrYk9uVXV1WExuc3RxbFNwUXFOR3plbVRKa3lrSERuK3NhTkc0bnFMbFdxRkV1V0xPR3Z2LzZpUUlFQ2JONjgyWnd6NTJGOCsrMjNsQzlmSG5kM2Q0b1VLY0s1YytjZzRRdiszV3lMSzFldXNHdlhMZ29XTEdodWx6bHpaazZmUGsxVVZCUVdpOFhNMk5pL2Z6K2xTcFY2eERNbElrOUNTdlJ6anlva0pJUU1HVEtRTGwwNlNBaVFaTStlSFJLR3VjWEd4dEt0V3plY25KejQ2cXV2T0hmdUhPblNwZVAxMTEvSHljbUpXclZxVWFGQ0JmTGx5MGRvYUNpdXJxNFVLVktFQWdVS01Ibnk1Q1QzR1I4ZnorVEprM25sbFZmdzl2YW1aOCtlakJ3NThvRlBFRXhMVXVvYStlNjc3NTc3OTY1NDhlSjA3TmpSYnQyOUU5bkh4c2FhUXlCRFEwTTVkZW9VTldyVWVHTDdmMUVwQUNZaUlpTHk1SFdxVUtIQ1VNTXdObHNzbGsxaFlXSGZuRGx6SnVacDdPank1Y3NVS0ZDQWpCa3pVck5tVGRxM2I0L0ZZbUgrL1BtVUtsV0t0OTkrbTFHalJ0RzNiMTlXcjE1dHQyM2R1blh0bHU4R3d2NnRldlhxdEduVGh1N2R1NU01YzJicTFLbkRTeSs5OU5CdERBb0tZdlRvMGNUSHgxTzhlSEZ6bUdMLy92MFpQMzQ4TzNmdUpILysvTlNxVll1TEZ5K2EyM1hzMkpGaHc0WlJyMTQ5bGk1ZFNva1NKYmgwNlJMcjFxMWo3dHk1Ly9GTWljZ1Q5c3o2dWNlMWYvOStYbjMxVlZhdFdzV0NCUXR3ZDNkbjNyeDUvUG5ubi9UczJaT2FOV3V5Wjg4ZTNucnJMYTVkdTBhbVRKbll1blVydnI2K0FHVE5tcFdzV2JNbXF0ZkZ4WVhpeFlzbld2L25uMzh5WThZTVFrSkNtRGR2SHU3dTdreWNPSkZCZ3dieHhodHYwS1ZMRi9MbHkvZE1qajJGcGNnMXNuUG56dWY2dlN0Um9nU2VucDdKZnVhU01DbCtsaXhaQVBqaGh4OG9VNllNR1RObUpDYkcvdlFaaG9IVmFyVmI3K1RrcFBrdms2RUFtSWlJaU1qVGtjMWlzWFFGdW1iT25EbXNmUG55MjRDTk5wdnQ2eU5IamtRK3hQWVBOR1hLRkVKQ1FsaXpaZzFEaGd5aFFJRUNkTzdjbVFZTkd1RGc0QUFKazhtUEdqV0t2Ly8rMnh4U3VHN2RPclp1M1hyZnV1L2N1Y003Nzd4akx2ZnQyNWUrZmZ1YXl4OTk5Skg1OXp2dnZHTlhsb1RoakhjTkdqU0lRWU1HSmRwSGxTcFYrUExMTDVOdFE5bXlaZG0yYlp1NS9OZGZmK0hyNjB1VEprM3UrOE5CUko2WnA5N1AzZXZtelpzMGJkbzAyZGVUbTNoODI3WnR2UC8rKzd6eHhodDA3TmdSSnljbjl1L2Z6NUFoUS9EeThxSmR1M2EwYjkrZXJWdTNjdmp3WWFwV3JjcVZLMWZNZVpVZTFycDE2L2p1dSsvTUovMU5tRERCbkpPcFVxVktyRjY5bW9DQUFGcTJiRW1SSWtVWU5HZ1E1Y3FWZzRTc28zLysrWWNzV2JJUUZCUkUrdlRwLy9QNWVVNDkwMnZrNk5HanovMTdWN0prU2J2bGE5ZXVZYkZZeUpRcEUvSHg4V3pidGcwbkp5Znk1TWtEQ1ZuVU5XclVJRFkyMXB3SzRGNWp4NDYxVy9iMTlkV0RFcEtoQUppSWlJaklVMklZeHQwL00xc3NsblpBT3ljbnB6c1ZLbFRZQ1d5MFdDeGJnNEtDYmo5SzNlSGg0ZnoyMjI4c1dMQ0FNMmZPRUJBUXdQRGh3M0Z5Y21MV3JGbm0zVityMVdyK216SmxDZ0J0MjdibDQ0OC92bS85Q3hjdUpEdzgvRkdhOXRTc1dyV0txbFdyMHE5ZnY1UnVpb2drZUpyOTNMOTVlSGdrT2ZINC9VUkVSTEJ6NTA1ZWYvMTFTTWlPQWJoOSt6WURCZ3d3QTJyVHAwL0h6OCtQK1BoNFdyWnNTZUhDaGMwaGt3L0wyZG1aZXZYcU1XN2NPSE8rc1h2bHlwV0xNV1BHMEtkUEgzNzY2U2RlZWVVVjh6WERNR2pac2lWV3E1VU1HVExZelErVjJqM0xhNlJFaVJKTW5UbzFWYjEzbXpadFl0R2lSWkF3OStWTEw3M0V1SEhqek0veGhnMGJVcnAwYVZ4Y1hOaTdkKzkvcWx2c1dSNmlqSWlJaUVpeXlwVXIxOTFpc2JSUDZYWThaL0piTEpiQ2htSFlUZVIrejQrQXUrdHR3QS94OGZHcnc2THBVcVZLeFpwclZpNUp1c1lreE1URUpQa2wzMmF6RVI4ZlQzeDh2TGxQd3pCd2RYVzFhMDlxWTdQWm50cXdqbmFkdmZqNVFORDM1MC8rVnZjaGlzc0xTSDFkSXMra24zc1M3azVzLzd3ekRJUDQrUGluMnM4ZFBCajBhMlpYUzhSVDJVRmlxZVlhZVZ5UCs5N2RIY3Bvc1ZoUzlGcE5nV3ZFWkJqRzZ0OSsrMjN4MDl6SDg5OExpSWlJeUhNdDRRZGhPZUMzbEc1TGFwTHdBOEFCU0ErNEdCZ1AzdWhma3J2RDdlam9tQ2JuLzBpTHh5U3BoL3E2Lys1SjlITlBRbW9JZnBFUURIclIrcm5uNVJwNVhJLzczbGtzRm5QUyt4ZFV1WVJncUFKZ0lpSWk4dHo3N2ZEaHc4cWNTVkMrZlBuK3dGVHV1ZE50c1Zpd1dDd1loaEVEN0RFTVkxTjhmUHptSTBlT1hBTW9XS0xjdXluYzdDUTl6YXdya1ZSSWZWMkN0TlRQdlVoc0JoSFA2aHJXTlpJNlBjdHI1Szd5NWN0Lzl5ejJvd0NZaUlpSXlKTm4zc0pPK0tJZllSakdEc013TmtWRVJIeDE1c3lac0pSdDNzTmJ0V29WWVdGaDlPN2QyMjc5MEtGRHFWV3JGbzBiTjc3djlzSEJ3VXlhTklsbHk1WTk1WmFLeURPV1p2cTVleTFhdElqOCtmUFRxRkdqbEc1S1dwQW1yNUdnb0NCaVltS29VYU5HU2pkRi9pTUZ3RVJFUkVTZVBJdGhHRGVCcmZIeDhadENRME4zbmo5L1BqcWxHL1ZmV2ExV05tell3T3pac3grcS9JZ1JJd2dORGJWYkZ4a1p5WjkvL21rK2t2NWViZHEwU2ZLcGJTS1NLcVNKZnU1ZU4yN2NZTVdLRlN4WnNvU1ltSmhreTdtNHVKaHpXdGxzTnI3NDRnczJiOTdNdVhQbnNGZ3M1TStmbndrVEp2RHl5eTgvdzlZL2w5TGNOUUtRSVVNR2hnMGJ4c1NKRXlsZnZueEtOMGYrQXdYQVJFUkVSSjR3QndlSGxVRkJRYk1BYTBxMzVYRnMyYktGQ2hVcWtDOWZQbzRmUDA2dlhyM00xeUlqSS9ueHh4K1pPblVxQUZteVpHSGF0R25FeGNYWjFYSGh3Z1dXTDE5T3o1NDlFOVdmTTJmT1ozQVVJdkkwcEpWKzdsNHJWNjRFd01mSEo5a3lFUkVSZlBubGwrVFBueCtielViLy92MDVlZklrM3Q3ZWxDOWZudGpZV0k0ZVBacXFIemp5cEtURmF3U2daTW1TakI0OUduOS9melpzMklDcnEydEtOMGtla2dKZ0lpSWlJazlZVUZEUWpaUnV3K09Lakl4a3hZb1ZMRnEwaUxWcjEzTHk1RW4yN05sanZ2NndReUFCMHFkUFQvSGl4Wjl5aTBYa1dVb0wvZHk5VHA0OHlWZGZmY1hHalJ2SmxTdFhzdVdxVjY5dVRsYSthdFVxamg0OXltZWZmV2EzVGRHaVJaOUptNTkzYWUwYXVWZlZxbFdKalkwbE1EQ1FEei84TUtXYkl3OUpBVEFSRVJFUlNXVFZxbFU0T3p2ejJXZWZzWHYzYnBZdVhmcFEyNDBZTVlKOSsvYVJJVU1HQU9MaTRyaDE2eGJObXpjM3kxeTdkbzFGaXhaUnBreVpwOVorRVpHSEZSRVJ3ZURCZzNudnZmZHdkWFZOTkpRN1k4YU01cE1rYlRhYitmZm5uMy9PZSsrOWQ5K0FtYVJOUjQ4ZUpTWW1oblhyMXZIZWUrK1JPWFBtUkdXaW9xTG8zTGt6dFd2WHBsZXZYc3lZTVlPdnYvNGFaMmRuT25YcVJOdTJiVk9rN1M4eUJjQkVSRVJFSkpFNmRlcVFOMjllMXE1ZFM0Y09IY2lUSnc5OSsvYmw5OTkvaHlTR1FIYnQycFVPSFRvQU1HREFBQm8wYUFESlRJTGZ2WHYzRkRrbUVaR2szQjNTK05kZmY5R2hRd2N5WnN4b3ZuYnAwaVhtekpsanp2VmtzOWx3ZG5ZbUlpS0N5NWN2OCtxcnI2Wmd5eVdsZlBQTk56UnAwb1RvNkdqV3JGbERqeDQ5RXBWWnQyNGROcHNOSHg4ZmJ0Kyt6YXBWcTlpMWF4ZDM3dHloZmZ2MkZDOWVuSExseXFWSSsxOVVDb0NKaUlpSVNDTEZpeGZueG8wYnVMbTUwYjU5ZXdCbXpKaVIwczBTRVhuaTJyZHZUNHNXTFpnNGNTSjkrdlNoWHIxNjVtdmUzdDdtMzFici8wMWw1ZXpzYkU2U0h4OGZud0l0bHBRVUdocktsMTkreWVMRmkzRnpjNk56NTg2MGJkc1dkM2QzdTNMLys5Ly9xRmV2SG82T2prUkdSZ0tRTFZzMnNtWExScDA2ZGRpOGViTUNZTStZQW1BaUlpSWlrc2lsUzVmdzgvT2pRWU1HakJremhreVpNbEdxVkNsMjd0eVpaUGwrL2ZxUkwxOCtBQ1pQbm13K09USTBOSlRvNkdnYU5HaGdEaHNLQ1FsNWhrY2lJbkovRGc0T2RsbGZ5WW1OallXRXAwQzZ1cnFTSVVNR1RwOCtUZlhxMVo5QksrVjVzWGp4WWlwVXFHRE9iVm03ZG0wQ0FnTDQ1Sk5QN01xRmhZWGg0ZUdSWkIzWnMyZm4xS2xUejZTOTh2OHBBQ1lpSWlJaWlZU0dobEs1Y21YYzNkMHBXTEFnSlV1V1pNZU9IWGg0ZU5DeVpVdTdzaU5IamlRc0xBeUE5OTkvbjE2OWV1SHA2Y24yN2R0WnRHZ1JZV0ZoRkN0V2pDbFRwdURxNnNxUkkwY29XTEJneWh5WWlNaDlyRnExeWk3UWYrYk1HZlB2Mk5oWUxCYUxHY3gvNDQwMytPeXp6Mmpac3VWREJkQWs5VHQ0OENCZmZ2a2xhOWV1TmRmMTZ0V0xkOTk5bHpmZmZKTnExYXFaNndzVUtHQjMvZHdyT0RqWXZHa2t6NDRDWUNJaUlpS1NTT25TcFprOGVUSWtEUEg1NjYrL0FQRDA5S1JVcVZKMlpkT25UMi8rWGF4WU1RekRJQ0FnZ0lNSER6SjgrSEFDQWdKNCsrMjM4Zkx5WXR5NGNab3pSMFNlVzdWcjE2Wnk1Y3JtY3FkT25TaFVxQkFrUE5URHhjWEZmSzEzNzk0Y1BIaVE3dDI3MDdOblQ0b1dMY3J0MjdjSkNncWlTcFVxRkNsU0pFV09RWjZPaXhjdk1talFJSHg5ZmNtZlA3KzVQbHUyYlBUcjE0OWh3NGF4Yk5reTh3YlArKysvajQrUEQyWExsald6eFc3ZnZzMm1UWnM0ZE9nUUF3Y09UTEZqZVZFcEFDWWlJcEpHR0laaHBIUVRVbkxuRm92RmtwTDdUMnRPbkRqQkR6Lzh3TysvLzg2eFk4Y29VYUlFRlN0V2ZPQjJ4NDRkWStyVXFlVE9uWnNGQ3hadzRjSUZBQm8wYUVEV3JGbng4ZkdoZWZQbWRPelkwWHhTcElqSTgrQ05OOTZnWU1HQ1pzRHIzMjdjdUdIM3RML3MyYk1UR0JqSW9rV0xHRGR1SExkdTNTSmp4b3lVTGwyYXVuWHJQc09XeTlOMjZOQWhCZzhlVEtOR2pXalRwazJpMTk5KysyMU9uRGhCdDI3ZEdEZHVITldxVmFOOCtmSk1uejZkQlFzV2NQYnNXUUNhTkdsQ2lSSWxXTFJvRVMrLy9ISUtITW1MVFFFd0VSRVJFVW5rekpremhJV0YwYXBWSzhhTkcwZldyRmxadUhBaHExYXRZdE9tVFhabGI5MjZCY0M0Y2VQWXZYczNmZnYycFZtelpvbnFyRktsQ3A5KytpbVRKMCttVWFOR1RKZ3dnUm8xYWp5ell4SVJ1WjgzM25qRGJ2blNwVXU0dWJtUklVTUdvcUtpV0x0MmJhSU0yT3pac3pOczJEQ0dEUnYyakZzcno4cTFhOWY0NktPUDZOS2xTNUpQZTd5cmYvLytBQXdlUEpndnZ2aUM3Tm16VTZOR0RXclVxTUhseTVkcDJyUXAvL3ZmLzU1aHkrWGZGQUFURVJHUkZHV3oyWEIwZEV6cFpzaS9ORzNhbEtaTm15WmEzNkZEaDBRL0FEcDM3Z3hBM2JwMTZkbXpKMW16WmsyMjNtelpzakZwMGlST25EaVJiSmFGUFArZWc0elRsUFRDSHZ1TGxtazdhdFFvRGgwNkJBa1QzNWNwVXdaL2YvK1VicFk4WXpseTVHRDkrdlYyd3g2VDR1RGd3TUNCQStuYXRTdlpzbVY3WnUyVGg2Y0FtSWlJaUR3MVAvLzhNMWV1WEtGRml4Ym11aVZMbGdEZzVlVUZ3SHZ2dmNmMDZkTWYrTVZTVWw1eWQ3NVhybHlaN0RiRml4ZG4yYkpsaWRhWExGbnlpYlpOUk9SSlc3eDRNZkh4OFZpdFZweWNuSEJ3Y0VqcEpra0srUy9mVVJUOGVuNHBBQ1lpSXZJQyt2SEhIeGs5ZXZSRGx5OVpzaVI1OCthMWV6TFdnMlRKa29YNTgrY3phZElrUWtKQ2lJaUlJQ0lpZ3BNblR3Snc5ZXBWQUs1ZnY4NzgrZk54YzNPalFvVUtOR3JVaUt0WHI5SzRjZVA3UGxVcklpS0M3ZHUza3pObnpvZHVrNGpJaThnd0RBekRVQURuRVRnNE9OaE5mQy95S1BMa3lVTlFVRkJLTitPRnB3Q1lpSWpJQzZoYXRXcHMyTEFoMGZvRkN4YXdiOTgrVnF4WVlmZER5Y25KQ1JjWEYzcjM3bjNmZWc4ZlBzenMyYk5adm53NUZvdUY5T25UczNUcFVtN2Z2azFvYUNpeHNiSEV4Y1VCVUs5ZVBRRDI3OTlQalJvMThQVDB0QXRtWmNtU2hUMTc5aVM3cjMvUDFTSWlxY1B5NWN0NTY2MjN5SmN2bjkzNm8wZVAwcVZMRjVZc1dVTDU4dVVUYlJjWUdFaGtaQ1ErUGo0QUJBY0g0Ky92ejVvMWF4NHFzQk1jSE15a1NaT1N6RWk4VjJ4c0xOOS8vejMxNjljSFlPdldyVlNwVXVXNURiYmJiRFptenB4Smx5NWQ3REpQcWxXcnhzOC8vd3pBdDk5K3kvZmZmOC9Zc1dOVHNLVWlJaWxMQVRBUkVaRVhrTE96TSs3dTduYnJnb09EMmJoeEl5Tkhqc1REd3lQSjdSNTBGenhkdW5SWUxCYno2WDVXcXhVUER3KzcrdTcrWGJSb1VVaVlMTFppeFlwNklxQklLaE1ZR01qcTFhdk41Yng1OCtMaDRjR3hZOGR3Y1hIaG4zLytJV2ZPbkRnNE9IRGx5aFYyN3R5SnU3czdobUh3MFVjZnNXTEZDbk8rT0t2VnlyUnAwNmhXclJvQkFRRXNYcnlZZTZlYmlvNk81clBQUG1QaHdvWG11bzBiTjFLbFNwVWtnMThqUm93Z05EVFVibDFrWkNSLy92a252cjYraWNxM2FkT0dtalZyQWpCcjFpekN3c0xNQUpqRllpRWdJQ0RKckZsdmIyOE9IanlZNVBsWnNXSUZzMmZQNXZ6NTh3OTFQZ0VHREJqQXBFbVRIcm84d01jZmYweldyRm5wMUtrVHZyNitabnRzTmh2anhvMEQ0TysvLytieTVjdm1zcSt2THhrelptVDA2TkhzMkxFRFoyZm5KT3VPaTR1alljT0dtdmRLUk5JRUJjQkVSRVRTbUsxYnR6SjM3bHlXTDE5T1ZGUVVnd1lOSWp3OG5NS0ZDek55NU1na3N4Z2lJeVB4OC9PalpNbVNOR3JVS05tNlQ1dzRRYTlldmV4K0xGbXRWdnIxNjBmanhvM3R5aHFHZ1plWEYwMmJOcVZWcTFaMDdOaVJzTEF3ckZZck4yL2VKRWVPSEhaL0F6UnIxb3h1M2JvQkVCWVdScE1tVFpKdFMxaFkyQ09kSHhGNU1qcDE2a1NuVHAzbzBLRURFeVpNSUgvKy9Bd2NPSkRKa3lkVHBrd1ptalQ4SnRLMUFBQWdBRWxFUVZScHdxZWZmb3E3dXp2Tm16YzN0K3ZhdFN0SGpoeGgwYUpGREI0OEdJRFpzMmZqNXViR25EbHo2TkdqQjRzWEwrYkREejgwdC9uc3M4K29WNjhlQlFzVzVPREJnNVFvVVlJZE8zWVFFeFBEeG8wYjdkbzFjK1pNT25mdWJHYWIzblhod2dXV0wxOU96NTQ5RXgzTDNYNXh6NTQ5Yk55NGtXTEZpcGtQZDdoeTVRcXVycTdtOGwwQkFRRk1uRGlSbUpnWUFOcTNiMC9YcmwzTjdGWVBEdyttVDUrT3pXYXoyeTRrSklUT25Udno4Y2NmbTBHMnU5emMzS2hWcTlZRHozM3YzcjFwMDZZTnRXclZ3c1hGQlNjbko4cVdMVXUrZlBuSWtpVUxBRnUyYkRIYmN2andZZUxqNDgzbGRPblNtWFg1K3ZyU3RtM2JKUGV6YnQwNmdvT0RIOWdlRVpIVVFBRXdFUkdSTkNRNk9wcHAwNll4YU5BZzh1VEp3K1RKazZsWXNTTERoZzFqNHNTSmpCdzVrdm56NTl0dEV4OGZ6eWVmZk1MdDI3ZTVlZk1tZi96eEIxZXVYS0Ztelpxa1Q1L2VycXpWYWlWZnZueDJrNTZQR0RIQy9BRjRMNHZGd3BneFkvRDE5Y1hGeFlWUFAvMFVFbjZFamhremhpVkxsdGo5L1crWk0yZTJHNmI1OXR0dnMyVEpFbkxseW1VdWk4anpaL0xreWJpNXVYSHo1azBHREJpQWs1TVQxNjlmdHlzemF0UW9NNk4wL3Z6NS9QVFRUK2JRNndrVEp0Q3hZMGN5Wk1oQWh3NGRPSC8rUEZ1M2J1V3p6ejdqNjYrL1p0bXlaVlNxVklrMzMzd3pVV1pTbXpadGNISnlTdllKbytuVHA2ZDQ4ZUpKdnJaNzkyNG1USmhBK3ZUcDdSN2NzWHYzYnZMa3lVT3BVcVhNZGZueTVVczBSNkdEZ3dPWk1tV3l1OG1RVkdiVnVISGp5Smt6SjYxYXRVcnlDYmpKWldQOWUxOHVMaTVtNXF6TlpxTml4WXB3VHpEUDM5K2ZxbFdyQXZEU1N5OVJ2WHAxeXBZdCs4QzZSVVRTS2dYQVJFUkUwcENqUjQ4U0ZSWEZtMisrQ1FtWlhYbnk1QUdnUTRjT05HL2VuQ3RYcnBoQkpKdk54c2lSSTgxc0RGOWZYK0xpNHRpeVpRc3pac3pBejgrUDZ0V3JQM0o3OHVmUFQyQmdJQmt5WkdEcTFLbDgvZlhYT0RrNUVSNGVUcE1tVGJCYXJlYmZJU0VockZ5NWt1TEZpK1BwNlVsQVFBQVJFUkZtZGhpQXE2dXIrWVB2ODg4L1R6U01VMFJTWG84ZVBTaFJvZ1FkTzNaazJMQmhaTTZjbVM1ZHVrQkNObFYwZERTT2pvNjR1N3N6Y09CQUxsMjZ4T0xGaThtVUtSTUEyYk5uWi83OCtmVG8wWU5qeDQ1aEdBYXVycTZNSFR1V1gzLzlGUjhmSDJiTm1zVzZkZXNTN1RzdUxzNE1ySTBZTVlKOSsvYVpmVVpjWEJ5M2J0Mnl5MGE3ZHUwYWl4WXRva3laTWdRRkJURi8vbng2OXV4cEY4VEtrQ0VEbVROblRqUkg0YVBZdkhremUvYnNZZmJzMlVrR3YrNGFNbVFJaHc4Zk5vZUJHb2FCdTd0N2tzZjgvZmZmRXhnWXlLUkpremg0OEtBNVREUWtKSVRaczJmajZ1cEtTRWdJYm01dXVMcTZBckI2OVdyYzNOd2dZZTdId01EQUpOdHg1ODRkNnRhdCswakhLaUx5dkZFQVRFUkVKQTBKQ3d2RHpjM05ibmpMWGRtelo0ZUVIM3k1Y3VVaUtpcUs0Y09IYytEQUFSWXNXRUNSSWtVZ1ljTDcyYk5uczIzYk5vWU1HY0xycjc5Ty8vNzlIL2tIMytuVHAzbjU1WmNCNk4rL1B4NGVIbXpldkprSkV5Ync0NDgvOHMwMzN6QjY5R2k2ZCs5dWJ1UGc0TUR1M2J0Smx5NmQzVENva0pBUXV4K05OMi9lTkk5TFJKNnQvZnYzczNidFdpNWV2TWpZc1dNcFhibzBKQVNIc21mUGpvT0RBeDRlSHJpN3U1di9id01EQXpseTVBaFhyMTVsMDZaTjVNdVhqMDgrK1lUUTBGQzd1UUp6NU1oQllHQWdXN2R1cFU2ZE9vU0hoL1BwcDU5U3RXcFZtalZyUnZIaXhUbHk1QWhmZnZrbDN0N2U1blpXcTlWdXJzSUJBd2JRb0VFRFNHWVMvSHY3bmNHREIyTzFXb21NakxRTENGMjhlSkVMRnk3d3h4OS9tT3NxVjY1TXNXTEYvdFA1K3UyMzN4Zy9mandGQ3haa3c0WU52UHp5eS96enp6OW01dGE5SWlJaUdERmlCRFZxMUFEZzh1WExkTzNhTmNsNjY5U3B3K25UcCtuUm93ZnIxNjgzaDZNUEd6YU1kOTU1aDhxVks5djkvVy9kdW5XalpjdVdrREN2MnNtVEp4azJiSmk1L09lZmYvNm40eFFSZVY0cEFDWWlJcEtHRkNoUWdOdTNiM1A5K25VOFBUM3RYcnM3ajB1ZVBIazRjK1lNZ3djUHh0SFJrY0RBUUFvV0xKaW9yaVpObWxDeFlrWDgvUHp3OGZIaHM4OCtBK0RreVpPODlkWmJacm1JaUFqS2xTdVhiSnRtejU1TnUzYnR6T1hqeDQremI5OCtUcDQ4eWNtVEp6bCsvRGdSRVJHSnRqdDc5aXl0V3JXeVd6ZHk1RWk3NFVIWnNtVWpJQ0RnNFU2T2lEeFJSWW9Vb1gzNzl2ejExMTgwYmRxVXdvVUxzMnpaTWdZTkdvU0xpd3ZYcjErblk4ZU81aVQ0QUlNR0RTSTBOSlIzMzMyWGpCa3o0dXZyUzNCd01INStmdWFRNThPSEQrUG41OGVZTVdQdzh2S0NoRUQ2OGVQSFdidDJMVTVPVHJ6eXlpdDRlSGd3ZHV4WVhuLzlkVXFXTEFrSlQzQjgwTU02SHNURHc0TzVjK2VheTdObno2Wmt5WkoyL2Q1L2RmVG9VWHg5ZlduV3JCbGx5cFJoMTY1ZC9Qbm5uL2o1K2ZIV1cyK1prOUkvcXU3ZHU5TzJiVnN6QTlqVDA1TmJ0MjRSRkJTRWs1T1QrWGQ4ZkR4bHlwUmgrdlRwQVBUcjE0L2c0R0RTcFV1SG82TWp6czdPT0RvNm1sbHpyVnUzeG1xMVBuSzdSRVNlSndxQWlZaUlwQ0ZGaXhhbFNwVXFEQjgrbktGRGh4SWZINC9OWnVQRWlST01HemVPeG8wYmt6MTdkZzRjT0VDWk1tVVlNbVNJT1NRbUtibHk1V0xSb2tWY3ZuelpISXJ6eWl1djJHVlEzSS9WYWlVNE9KaXlaY3R5NU1nUmJEWWIyN1p0bzErL2ZreWZQcDJRa0JDekhmSHg4ZVoyMGRIUkhEaHd3TXpjdUd2T25Ebm1rRTRSU1ZtZW5wNTRlbnJpNXVaRzJiSmx5WjgvdjVreG1pdFhMcnRKOEpjdlgzN2Z2b2FFTEtmRml4ZHo0TUFCUm80Y1NZVUtGUUNJaVlsaCtQRGhlSGw1Y2ZyMGFjNmZQMC85K3ZYSm5UczNuVHAxWXV6WXNRUUdCdUxvNkVoc2JLeGRCdXpreVpPWlBYczJBS0dob1VSSFI5T2dRUU9jblA3dloxQklTRWlpZG9TRWhOaGxuZ0ljTzNiTWJrNUNnR25UcHBsUHNieWYvZnYzTTNEZ1FPcldyY3ZRb1VQNTZxdXZBSGp0dGRmWXNHRUQ0OGFObzFXclZnd2RPcFE2ZGVvOHNMNmtSRVJFRUJ3Y1RJa1NKY2lkT3plYk4yL21ndzgrWU1TSUVSUXNXSkFPSFRvd2FkSWsvdm5uSDdzbmR6bzVPZEdyVnk5KytPRUhNMHN2T2pxYXExZXYydFh2NU9UMHdQZFBST1I1cHdDWWlJaElHak5seWhUbXpKbURqNCtQK1NQbTY2Ky9wbjc5K3VhUHVzYU5HeWQ2YW1OeUhCd2N5SmN2SHdCbHlwUjU2T0FYQ1ZrYjk4NmRzM3o1Y2w1OTlWV2FOMjlPU0VnSVI0NGNZY1NJRWZqNyszUHAwaVZ6dXkrLy9KSmN1WEt4WU1FQ2F0U284Y2pETDBYazJTcGJ0aXpSMGRHY1AzOGVxOVhLeFlzWENRME5wVzdkdW9tZWhuaXZTNWN1MGFGREI5cTBhY082ZGV2c3NxRisrdWtuVHA4K3pZUUpFOGlUSnc5RmloUXgrNjhPSFRydzg4OC9jLzM2ZFhMbHlrVjBkTFNaQWZiKysrL1RxMWN2UEQwOTJiNTlPNHNXTFNJc0xJeGl4WW94WmNvVVhGMWRPWExraUprQkd4a1pTVlJVRkg1K2ZsU3JWZzBTSGhMU3YzOS9ac3lZa2FqTkQ4cllzdGxzTEZxMGlCVXJWdURsNVlXWGw1ZDVJK0V1VDA5UFpzNmN5ZnIxNnhrMmJCamp4NDgzZzJERGhnMHpNMTdqNCtQdk96bitzV1BIbURKbENpdFdySUNFK2M3T25EbkQ4dVhMR1RwMEtPZk9uZVBBZ1FQa3o1L2ZicnR6NTg1UnVIQmh1N3AvK2VVWGZIMTk3Y3IxNk5GRGM0R0pTS3FuQUppSWlFZ2FrekZqUm9ZT0hjclFvVU1aTVdJRWVmTGtvVWVQSGs5dGZ4RVJFVVJFUk9EcTZzcnZ2Lzl1RHAwQk9IandvRGt2RUVDdFdyWHc4ZkdCaE1DYXY3OC9Gb3VGVWFORzBhWk5HNXlkbmZubm4zOVl0R2dSa3lkUDV1alJvM2g1ZWRHL2YzOE13MGh5L3phYjdiNlRTYWNteDA4RzA2NnpWMG8zNDRWMC9HUndTamNoVmJ0MTZ4WWhJU0dzV3JYS0hOSWNGaGJHckZtenpHd3JMeTh2S2xXcWxPVDJIaDRlckY2OTJpN1lQV1hLRkdyWHJrM2x5cFZadVhJbGhRc1hUdlJrV2xkWFYvTXBzdkh4OFhZWllNV0tGY013REFJQ0FqaDQ4Q0REaHc4bklDQ0F0OTkrR3k4dkw4YU5HOGVycjc1cTFyVmp4dzYrKys0NzgrOWJ0MjV4OHVSSkFCbzBhRUNGQ2hYc3NzdDY5KzZkN0JNbFNjaUFQWExrQ0hQbnprMXk3cTE3dFduVGhobzFhcGdacm5lZmh2bXdEeUg1NDQ4LzdKN3d1R3ZYTGw1Ly9YVnUzcnpKNU1tVEtWZXVIRXVXTEtGWnMyWjIyKzNkdTVjN2QrNFFIeCtQZzRNREFLKy8vanFqUm8xNnFQMCtDdlZ6S1NlMTlITzZSbEpPYXJsR0hwVUNZQ0lpSXZKWVRwdzRZVTVDblRGalJuUHlaQkt5T3U3OWdWbThlSEZ6R00zZHA4TDE3ZHVYb0tBZ1huNzVaUW9VS01DUUlVT29WYXNXbFNwVm9sS2xTaFFzV0pBbFM1WmdzOWxvMmJLbEdleXkyV3pFeGNYUnFWT25STmtLcVpHQnNUVXNMSUtmRHdTbGRGTmVYQlpqUzBvM0lUWFp1M2N2TzNiczRPclZxOHliTjQrYU5Xc3lkZXBVOC9VbVRab3dkZXJVWkovVyt0ZGZmNWxCOGd3Wk1pVEs5QXdPRHFaR2pScGt5cFNKMHFWTFk3VmFPWFBtREtkUG42Wnc0Y0tKSnFHL0czaTcyOGNjTzNhTXFWT25ranQzYmhZc1dNQ0ZDeGNnSVppVk5XdFdmSHg4YU42OE9SMDdkaVJEaGd5MGF0V0tWcTFhRVI4Zno4YU5Hd2tNREdUeTVNbE1tVEtGRGgwNnNHWExGbng5ZmFsWnMrWkRuWjkwNmRJeGYvNzhoejZmZHpOdFNaaDM3TDg0ZXZTb21Ua1dIaDVPUUVBQUFRRUJaTXlZa1c3ZHVqRmh3Z1JpWW1LWU4yOGVtVE5uaG9TaGpwczNieVpqeG95c1diT0c5OTkvL3ovdDgxR29uM3NPUE9mOW5LNlI1OEJ6Zm8ySWlJaUlZQ1RCMzkvZldMQmdRVkl2UFRQeDhmR0dZUmhHZUhpNEVSVVZkZDh5aG1FWTU4NmRNNktqbzVNc1o3VmFqZGpZV0NNNk90cUlpb295b3FLaURLdlZhaGpKcFllSnlGTmhHSVp4OXV4WjQ5aXhZMFpjWEp4aEdJWXhjZUpFbzNIanh1YS9TcFVxR1kwYU5US1hPM2Z1YkJpR1lWeTRjTUdvV3JXcVViOStmZVBiYjc4MXpwNDlhOVN0VzllNGMrZU8rWC85K3ZYclJ1M2F0WTNMbHk4YmMrZk9OVnEwYUdGVXJselpxRmV2bnRHdFd6Zmo5OTkvTnd6RE1DNWV2R2lFaDRjYmNYRnh4cGRmZm1rMGJkclVNQXpER0R0MnJGR25UaDFqOCtiTlpwMG5UNTQwUHZqZ0EzUDV4bzBieHFCQmc0emF0V3NiUC8zMGszSDU4bVZqNmRLbHhydnZ2bXY0Ky9zYk4yN2NNT0xpNG93R0RScVkyM2Z0MnRWbzI3YXRzV3JWS3VQQ2hRdVAxQ2R1M3J6WitPaWpqLzd6ZHBjdlh6WkNRa0tNeTVjdkcvWHIxemQrL3Zsbncwam9GMnZWcW1XY09uWEtDQXNMTTVvMmJXcWVuMHVYTGhscjE2NDE2OWk1YzZjeGFOQWd3ekFNWThhTUdZYVhsNWR4L2ZwMW8xbXpac2FjT1hPTXVYUG5HdjcrL29uMmJiUFpqUGo0ZVBXekl2SlVsQzlmL3J2eTVjdC85N1Qzb3d3d0VSR1JOT3hwRG1ONVdIZm52TG5mZkRuM3pvdVQxQk1wNzNKMGRFd3p3eDFGVXJ0Q2hRclpMUThlUEpqQmd3Yy9jTHV6Wjg5U3FGQWhKazJhUlA3OCtiRmFyUlFxVklpNmRldWEvNzhkSEJ4bzFhb1Z1WFBucGxxMWFsU3VYSmxpeFlvbHlpYno5L2ZueUpFakdJYUJ1N3M3Zm41K0FOU3RXNWVlUFh2ZWQ1TDZiTm15TVduU0pFNmNPR0cySjB1V0xFeWZQdDNNeHJyM0NZakZpeGRuNmRLbEhEcDBpRTJiTnVIcDZVbUJBZ1grNDFsN2RQNysvaHc2ZEFpTHhVSzVjdVhNcCsvKy9mZmZwRStmbnNLRkN4TVpHWW5GWWpFemIvUG16VXZidG0wNWN1UUlmZnIwSVRZMkZuOS9mODZjT2NPR0RSdFl1WElsMmJOblo4V0tGU3hldkppOWUvZHk0OFlOdnZubUc3TmZqbzJOeGNIQmdkMjdkeit6WXhVUmVSb3NEMUZHUkVSRUpGbDM3OWdkUG54WU15U0x2Q0NNeDh5NmpJdUx1KytrN3YrVjFXbzE1eHA3RVJtR2djVml3VEFNUWtKQ3lKNDkrd08zQ1E0T1RuWU9NNnZWU254OHZQbDBYZ2NIQjF4Y1hMRDhleFovRVpFbjRGbDlsM3h4UHlWRVJFUkVSQ1JGUE1uZ0YvQkNCNys0SjR2V1lyRThWUENMaEl5MjVMem81MU5FMGliMWJDSWlJaUlpOHArOGlKbEF5bllWRVVuZEhGSzZBU0lpSWlJaUlpSWlJaytUQW1BaUlpSWlJaUlpSXBLbUtRQW1JaUlpSWlJaUlpSnBtZ0pnSWlJaUlpSWlJaUtTcGlrQUppSWlJaUlpSWlJaWFab0NZQ0lpSWlJaUlpSWlrcVlwQUNZaUlpSWlJaUlpSW1tYUFtQWlJaUlpSWlJaUlwS21LUUFtSWlJaUlpSWlJaUpwbWdKZ0lpSWlJaUlpSWlLU3Bpa0FKaUlpSWlJaUlpSWlhWm9DWUNJaUlpSWlJaUlpa3FZcEFDWWlJaUlpSWlJaUltbWFBbUFpSWlJaUlpSWlJcEttS1FBbUlpSWlJaUlpSWlKcG10UFQzc0hMSmNwMU42RDkwOTZQSk04Q3E4K2QvRzF4U3Jjak9icEdVcDZ1RVhrUVhTTnlQN1o0eWxrc3h0V1Via2RxcCtzNDVhbXZrL3RSWHlmeTlLbWZTM25QKzJmaDQzanFBVEFEMm1mT25MRk9xUkxGbi9hdUpBbkhUd1lURmhZQjhOeGV3THBHVXBhdUVYa1FYU1B5SUNlUC9VNjh6WmJTelVqMWRCMm5MUFYxOGlEcTYwU2VQdlZ6S1NzMWZCWStqcWNlQUFNb1ZhSTRhMVl1ZVJhN2tuOXAxOW1Mbnc4RXBYUXpIa2pYU01yUk5TSVBvbXRFSHVTMVdxOFRIaDZlMHMxSUUzUWRweHoxZGZJZzZ1dEVuZzMxY3lrbnRYd1dQaXJOQVNZaUlpSWlJaUlpSW1tYUFtQWlJaUlpSWlJaUlwS21LUUFtSWlJaUlpSWlJaUpwMmpPWkEweEVSRVJFUkVSRTVHbXlXcTFzMjdhTlpzMmFZYkZZQURBTWcram9hS0tqbzRtTWpPVDY5ZXRjdlhxVmE5ZXUwYTVkTzV5ZG5WTzYyZktNS0FBbUlpSWlJaUlpSW1uQ2hnMGJDQXNMbzJQSGpuejMzWGQ4OHNrblpNK2VuY3laTTV2L01tWEtSSllzV2JoNTh5Wm56NTdGMTllWERCa3kzTGRlcTlWSy92ejVXYnQyN1RNN2xudTk4Y1liT0RnNG1JRzlmN3Q5K3phZmZ2b3B4WXZyQ1pySlVRQk1SRVJFUkVSRVJGSTlKeWNuUm93WVFaY3VYWGp0dGRldzJXeTg5ZFpiakJvMUt0bHR6cDQ5UzZsU3BWaTVjdVY5Ni83MTExK1pPblhxWTdWdjZ0U3A1TWlSZzA2ZE9qM1M5cHMyYlNKVHBreEp2dGFoUTRmSGF0dUxRQUV3RVJFUkVSRVJFVWtUaWhZdHlzU0pFOG1mUHo5bno1NGxPanFhcTFldkppcm40dUpDMXF4Wm4ybmJnb09EY1hkM2YrVHRPM2JzaUlORDBsTzUvL1BQUDQvUnNoZURBbUFpSWlJaUlpSWlrdXFGaDRkanM5bW9XTEVpVGs3L0YrN1l0MjhmSjArZXRDc1hIUjFON3R5NVdiRmloZDM2M2J0MzQrL3ZUK2JNbVFHdzJXeTR1N3V6WWNNR3UzSldxNVZaczJheFk4Y09JaUlpcUZTcEVuUG16QUZnNXN5WmZQUE5OOXk2ZFl0Q2hRcmg1K2RIaVJJbHFGbXpKdEhSMFJ3NmRJajU4K2V6Wk1rU3lwY3ZiMWZ2VzIrOXhjYU5HNVBOOHZyMDAwK1ZBZllZRkFBVEVSRVJFUkVSa1ZSdnlKQWhuRDU5bWlwVnFqQjI3Rmlpb3FKbzBxUUpqUm8xb216WnNtYTVTWk1ta1NWTGxpVHJlUDMxMTVrd1lRSUE1OCtmWitEQWdZbktiTnEwaVcrLy9aYWxTNWVTSTBjT2poOC9icjdtN096TW9rV0x5SjQ5T3hNblRtVGl4SW1zV0xHQ0gzNzRnUjQ5ZWxDbFNoVzZkdTFxQnVqK2kvYnQyeWViQVpaVWxwdllVd0JNUkVSRVJFUkVSRks5Z0lBQWR1L2V6ZmZmZncvQXJWdTN5SkFoQXdFQkFlVE1tUk0vUHovKytlY2ZkdXpZa1NpcjY3K3dXQ3hFUlVVUkVoSkNnUUlGcUZDaGd2bmFSeDk5UkZSVUZILzk5UmU1YytkbTE2NWRBRGc2T21LeFdIQndjSGlrNEJmQTZ0V3JsUUgyR0ZKRkFNd3dEQXpEU0RiU0tTSWlJaUlpSWlKeXIxT25UbEd6WmsxOGZId1lOV29VM2JwMXcycTE0dVBqUS9iczJSKzUzaFl0V25EcjFpMzY5ZXRIM3J4NStlaWpqNmhldlRxaG9hSDQrL3R6OHVSSkNoY3VqTE96TTdHeHNmZXRhOVNvVWV6WnN3ZUFpSWdJbWpScGdzVmlvVWlSSWl4ZHV0U3VyRExBSGsrcWlDajk4Y2NmOU92WEw5SDZnd2NQVXFsU0pkYXZYNS9zdHYvODh3K2ZmLzc1VTI3aGt4VWVIcDdTVFJCSjh3NGVQRWpWcWxXWk9ISGlFNis3WmN1V1hMdDJMZEg2Y2VQR3NYdjM3bVMzaTQrUFo4aVFJV3pldlBteDlqOWh3Z1NHRGgzNldIV0lTT3AyN2RvMTgvdkU4ZVBIYWRpdzRTUFYwN0JoUXk1ZXZJaWZueC9yMXEzRE1Jd2t5ejNOUHRVd0RKWXRXL2JFNjVXSGQvSGl4VVR6NU56VnExY3Z2TDI5azN4dDNMaHg3TnUzejI2ZDFXcWxjK2ZPTEYrKy9LSDJQWERnUUk0ZVBmb0lyZGJub2NpTExqWTJsdjM3OTFPK2ZIbWNuWjNwMzc4LzE2NWQ0OXk1YzVRclZ5N1o3ZmJ1M1V2RGhnMXAyTEFoM2J0M1Q3S01rNU1UM2J0M1o4ZU9IYno1NXB2MDZkT0hrSkFRVnE1Y1NYaDRPTnUzYjJmKy9QbTBidDNhYmp1THhaS29yaEVqUnJCMzcxNzI3dDJMaDRjSDI3WnRZKy9ldlltQ1h5UmtnRzNldkRuSmYwV0tGSG1rOC9RaWVlNHp3Q0lqSXdrS0NxSm8wYUtFaDRmajdPeU1xNnNybHk5Zlp2ejQ4WXdmUDU3WnMyZFRyVm8xQ2hRb2tHajc5T25UczJYTEZpSWlJdWpTcGN0OTkzWDA2RkhtejUvUDhlUEhpWW1KSVhmdTNNeWRPNWM4ZWZLd1pNa1M1cytmVDc5Ky9Yai8vZmNUYlh2cTFDbmF0V3ZIRzIrOHdaUXBVNmhjdVRMeDhmR0p5ams3Ty9Qenp6L2JyUnMrZkRoVnFsU2hhZE9tL1A3Nzc0d2VQWm9OR3pZbzQwM2tLVGwyN0JqRGhnMWp6Smd4ckZpeGdqVnIxdEN1WGJ0RTVSWXVYTWl1WGJ2dzhQQ0FoUC9ubjN6eUNZc1hMNGFFWUxXcnF5dk96czRBckYyN0ZrZEhSMncyVzdJL0VwTVRIeC9QbURGaitPYWJiN2h3NFVLaWxPeGV2WHBSclZvMWMzblNwRWw4L2ZYWHVMcTZjdjM2ZGZidTNVdkdqQm41KysrLytlcXJyd0M0Y09FQ0w3MzAwaU9jSVJGSjdjYU9IVXZwMHFYNThNTVBINnNlVjFkWGJEWWJBd2NPWk1TSUVSUXVYSmhLbFNyWmxYbmFmZXFmZi83SnZuMzc2TnExS3dCTGx5NWx5NVl0WnIxV3F4VlhWMWUrK09LTHh6cldGNEhOWnFOSmt5WjI2MXExYXNXS0ZTdkluajA3a1pHUnhNWEY0ZTd1enAwN2Q2aFhyeDZEQnc4bVE0WU1yRisvSG1kblo3dnZ3VC8rK0NNWExsekF3Y0dCWDM3NWhhcFZxejZ3RFd2V3JNRm1zN0ZxMVNyZWZ2dHRQRDA5SWVIOUh6RmlSS0x5Zi96eEI3Tm16VElucEw2cldMRmllSHQ3Ni9OUVJKSzFmdjE2U3BZc1NhNWN1ZmoxMTEveDkvZW5YcjE2NU1xVmkrN2R1ek4xNmxRcVY2NXN0ODFMTDcyRW41OGZqUnMzaG9RaGxIZjdrbnNkUEhnUVQwOVBYbnJwSlVxWExvM05aZ01nSmlhR2RPblM0ZWpvU0hSMGRLSmtuY3laTTNQNjlHbWlvcUt3V0N5NHVybys4RGhHalJyRjNyMTdBV2pldlBsOXkvcjQrT0RoNFpIcWtvQ2VsZWMrQURaKy9IaCsvUEZIQ2hRb1FGQlFFSlVxVmFKNTgrYjA3OStmNGNPSFU2RkNCYkpreVVMZnZuMlpObTBhQlFzV3ROdmUzZDJkR1RObTBMNTllMnJXckVuUm9rV1QzTStsUzVmdzl2YW1YYnQyREJreUJLdlZ5bSsvL1dZWG9iMzc0ZCsrZmZ0RWtkczFhOWJnNXVabUxtL2J0ZzNETUxoMDZSSWZmdmdoSzFhc0lFZU9ISW0yTzNIaUJIdjM3cVZ2Mzc0QWxDMWJsblRwMHJGdDJ6YWFObTM2Uk02aGlQeC8zM3p6RFZPbVRHSGt5SkhVckZtVEtsV3EwTGR2WDg2ZE8wZS9mdjBTZlFqVnJsM2JITk0vY2VKRTZ0ZXZULzM2OVFIbzFLa1RvMGVQTnZzZHE5WEtuVHQzTUF5RDZPaG9ZbU5qN1FKaDhmSHhXSzFXWW1KaUlPSE9rYU9qSTdkdjMyYjQ4T0ZreTVhTlgzNzV4WndUd0RBTUprK2V6SlVyVjVLOFN6Vm8wQ0JlZmZWVmZIeDh5Smd4STRaaE1HYk1HRHAwNklETlpzUGYzNThsUzVhWVB5WkY1TVZ3NGNJRjl1M2JSNTgrZmJoejV3NHhNVEVZaHNHZE8zZnN5ams2T3BJdVhUcEl5TlE1Y2VKRW9ycXVYcjNLd0lFRHpYSXpaODdFeTh1TE9uWHF3RlB1VSsvNjhjY2ZxVnUzTG4zNzlxVno1ODUwNjlhTmJ0MjZtYS8vL3Z2dlpoQk43cy9SMFpFZE8zYnc0NDgvc25QblRzYU9IY3VaTTJmNC9mZmZtVHQzTGx1MmJPSEVpUk1NSGp5WTdkdTNtNWxYMmJKbFk5S2tTWGg3ZTFPL2ZuMDhQVDI1ZlBreW8wZVBadEtrU2NURnhURml4QWhXclZwMTN5RkZwMDZkWXRXcVZRUUdCckoxNjFZR0R4N013b1VMY1haMkpuMzY5UFRzMmRNc2UvbnlaV2JPbkltYm14dHhjWEU0T1RuWlRScWRJVU1HczZ3K0QwWGtYcGN2WHlZMk5wYnc4SEI2OXV4Si8vNzlPWExrQ0gzNzlqVURXMjV1YnZUcDB5ZlJ5SXVpUll2YXhReXlaczFLeDQ0ZEUrM2oyclZyK1BuNUVSNGVUcDQ4ZVJnL2ZqelpzbVdqVTZkT0RCczJqR2JObXVIcDZjbHJyNzNHTDcvOFltN1hzV05IaGcwYlJyMTY5Vmk2ZENrbFNwU3dxM2ZzMkxHa1Q1L2VidDI5TndkKysrMDNQdi84YzN4OGZNaWJOeStSa1pITW5EbVRXclZxVWIxNmRmVnpEL0RjQjhER2poMUxpeFl0V0xseUpZNk9qdXpmdng4dkx5L1NwMC9QOU9uVHpYTHAwNmVuZS9mdWRPL2VuVFp0MnRqVmtTMWJOaXBXck1pVUtWTll0R2hSa3ZzSkNncUNoQ3lMdXdvVkttUlhwbmp4NHB3NmRZcWZmdnFKMTE1N3pWd2ZHaHJLcmwyNzdDYSt5NUVqQndCUlVWRm1HM0xtekdsWFgyeHNMQ05Hak1EYjI5dThHd293ZE9oUWV2ZnVUZG15WlpQTWFoT1IvKzc2OWV2TW1qV0xzMmZQc21EQkF2UC90N3U3TzRzV0xXTFdyRm0wYXRXS0R6LzhrSVlORzVvLzlpSWpJN2wxNnhZazNEa25ZWUxKbUpnWXJsMjd4b0FCQTdCYXJmVHIxNC9ZMkZqbXpadkgxYXRYK2Zqamo2bFRwdzVyMXF3eDd6cGZ2MzZkL2Z2M3MzVHBVbTdldk1tSEgzNUlzV0xGR0R4NE1LR2hvYnowMGt0bTFvVFZhaVV1TG81YnQyNlJLMWN1T25ic1NGeGNIQU1IRHFSbXpacm1jZTNidDgvOElSb1FFRUJFUkFUZHUzZkhNQXgrKyswMy9QMzlHVE5tekNOUHRDa2lxVTlnWUNBdUxpNTg4TUVIa05CM1JVVkYwYWhSSTd0eUZTdFdOTDlMblQ5L252ZmVlOC91Q1ZrQWd3Y1A1b01QUHJEN2dwNDFhOVpuMHFmV3JsMGJnQjA3ZHRDM2IxOE9IRGpBeVpNbldiQmdnVjBiUTBORHVYbnpKdDdlM3J6MzNudG1ueWdQNy9qeDQzaDdlM1BqeGcwaUl5TTVkKzRjSVNFaGR0bCtaY3FVNFlzdnZzRFQwOU84Y2V6dDdXMSsvMjNac2lYZTN0N01temVQUTRjT3NYVHBVaTVmdnN5K2ZmdklsQ2tUTTJmT3BFK2ZQZ3djT0pDY09YUFNyVnMzVHAwNlJkKytmWms2ZFNxdXJxNFVLVktFeU1oSTFxNWR5emZmZk1PMGFkT1lOMjhlblRwMTRyZmZmbVBZc0dGMDZ0U0poZzBiSmdxdTZ2TlFSRWk0TWZQWlo1K1JLVk1tS2xTb1FLRkNoV2pZc0NHalI0KzJTMWhwMWFvVmxTdFhKbnYyN0p3NmRZcVRKMC95MWx0djNiZnV1TGc0Y3VYS0JVQ1RKazBTWmRRQzVNcVZLOUd3L2JzWnpDUWt2R3pidGkzWmZTU1ZTWHZqeGcyMmI5L085dTNic1Znc3RHclZpcXhac3dMZzRPQkFtVEpsV0w5K1BTTkdqT0MxMTE2alpjdVdsQzlmL3I3SDhxSjY3ajhCZ29PREtWcTBLSnMyYmFKT25Ub3NYNzZjTVdQR1VLRkNCYnNoaGc0T0RwdzhlZEx1OGFOM3hjWEY4ZE5QUCtIaTRzTEJnd2NUcFRtU2tPb1lIUjNOdW5YcmFOdTJiWkp0Y1haMnBtblRwcXhkdTlZdUFMWng0MGJLbFN0SDd0eTV6UzkxRDJJWUJxTkdqU0pyMXF5SmhnbVVLVk9HenAwNzA2TkhEeFlzV0tDVWJaSEg5UFBQUC9QSko2c285MU1BQUNBQVNVUkJWSi9RcmwwN0tsU29ZSGVIK2E0NmRlb3dmdng0WnMyYXhhKy8vc3FZTVdNZ29mKzRHOGkrbTgxMTllcFZ2djc2YTA2Y09JR0hod2RmZmZVVlVWRlJOR2pRZ0hyMTZ0RzhlWE1XTFZwRWhnd1oyTDU5dXptY2NkeTRjVlN0V3BWNjllcXhjT0ZDU1BpUUhEQmdBRHQyN0xBTDZnOGRPcFRhdFd2L1AvYnVQUzdtN1A4RCtHdHFwcWFia3FKUTJWMWlYU3VFNUpaMXZ4V0xKTmV5aVlpU2NvMFZVU2tpeFlhRWFGbDN5bVdMV0NISi9WWVVYVVNsMjZTcFp1YnorK003YzM2TktiSkxOK2Y1ZU94am01blBmT2JUT0ozUDUzUE8rN3pmVWplc0FRRUI1RmdrL3Zubkg4eVlNUU4vL1BFSExsKytqQjA3ZHBDTGUzOS9meXhjdUJCejU4NkZwNmNuOVBUMHZzRzNTMUZVZlpLUWtFQXFXN1ZxMVFvUUQyNjR1TGdnT2pyNmsrL1YxdGFXNlNjME5EU2dwcVlHUFQwOXBLU2tRQ0FRSURNenMxYjZWTW52azV5Y1RQWnJZR0FBZDNkM3JGKy9IdTd1N2pJejNjMmFOZnVYMzl6M3JWMjdkdkR5OHNLRkN4ZVFuSnlNK2ZQbkl5WW1CcW1wcWVEeitjak96Z2JFMysrVksxZncrKysvWSs3Y3VaZ3dZUUxaeDIrLy9ZYmk0bUxZMk5oZzNicDFPSHo0TUlZTkc0WVZLMVpBWDE4ZnMyZlB4c3laTS9ITEw3OEE0anc0R3pac2dLZW5KMnh0YmJGaHd3YWNPSEVDRnk5ZWhLV2xKY0xDd3NEbGN0R25UeDlvYW1waTJyUnBNRGMzUjBCQUFEWnYzb3lCQXdkaTdkcTE1UFBwK1pDaUtJanZ6YmRzMlFKTlRVMEVCQVJnOSs3ZGtKT1RJOVVYV1N3V2hFSWhoRUloQkFJQnJLMnQwYVZMRjNUbzBBSDc5dTM3NUw1djM3NE5QeisvV3Z0ZEpONjhlWU1YTDE1Z3hZb1Y2TktsaTlSclNrcEtHRHQyTE1hT0hZdWNuQnljUG4yNnhtTVMzNk42UHdBV0Z4ZUh2bjM3NHZMbHkralZxeGQrLy8xM0hEMTZGR2xwYWNqUHowZi8vdjN4OHVWTGRPL2VIVStmUGtXL2Z2MWs5aEVmSHc5ZFhWMU1uejRkdTNidHFuSUF6TWpJQ003T3p2RDM5OGVaTTJld2NPRkNtZTBZaG9HMXRUWEdqeCtQMTY5ZlExOWZIMEtoRUVlUEhzV3laY3NRRnhkWG85OUpKQkpoMDZaTmVQandJZmJ0MndjV2k0V1hMMStDeFdMaGh4OStBQURNbWpVTFJVVkZtRDU5T3R6ZDNVbW9Ka1ZSWDg3WTJCaVJrWkZrV2NiNDhlUEphM3crWDJvd1BUZzRtTnlVcWFpb2dNUGhrQ2lGajIrczR1TGkwTEZqeC85MGJMcTZ1aWdxS2tKQ1FnSW1UcHdJaVB1SWpJd01QSG55UkdvR0tTOHZUK2FrbDVhV0JnNkhnMGVQSHNITnpRMHZYcndnRWFpU0FpS3hzYkdRbDVmL1Q4ZEpVVlQ5eCtmenNXYk5Hamc0T0pEQnJ5L2g1dVpHQmd3NmR1eUk3ZHUzUTBORGcxeEloNFNFd01qSUNCTW5UcXkxUGpVa0pBU3RXN2NtajdsY0xnb0tDcENjbkl5b3FDaXBiUTBORGY5MXN2L3ZpYWVuSjE2K2ZJbWNuQnc0T3p0anhJZ1I0SEE0ME5MU2dxcXFLcmhjTHZrWjRnVDRYbDVleU1yS2dvT0RBeFFWRmVIbDVRVjlmWDN3ZUR5eUhjUzVaL1QwOUtDbHBZVTdkKzZndUxnWWtaR1JXTEJnQVJZdlhveXpaOC9LUkViTW16Y1BreVpOZ3JLeU1oUVZGZEdqUncrY09YTUc1ODZkSTl0VVRnUXRFQWpnNXVZR0JRVUZxWHk1OUh4SVVSVEVTL1VsVWNlVkM3TXdERU1HdmlUbkpZWmh3T0Z3d0dhellXWm05dGw5OStqUkE0Y1BILzZHUjErMUxsMjZ5TndEVkVWYlcxc3Eyb3lTVmU4SHdPN2R1d2MrbjQ5WHIxN0J5OHNMZmZ2MlJYSnlNcHljbkJBYUdvcjA5SFRjdUhFRFAvNzRJK0xqNDlHcFV5ZVpwWVo3OSs3RjJMRmpNV3pZTU96YXRRdTNidDJDcWFtcHpHZE5uejRkRmhZV0NBb0t3dHk1Y3pGMjdGaXNYTGxTNmtTcHA2Y0hNek16L1Bubm4xaXlaQWxpWW1MQTRYQmdibTVlNHdHdzJOaFkzTGh4QThIQndkRFEwQURFU3oyN2RPbENjb0VCZ0xPek0vVDE5UkVURTRQaHc0ZlRwUGdVOVM4cEtpb2lPVGtaVTZkT0JZdkZBc013Nk4rL1AxYXNXSUV4WThaQVZWVVZMQllMZkQ0ZjNicDFnN2UzTis3ZXZVdHlBaVFsSlpGOVZiNXdseVM1ckN3ek14TjhQaC91N3U3bzNyMDdJTDVZbDVEa0FhdDhnNmlqb3dOL2YzOTA3dHdaUjQ4ZVJXaG9LQ1pNbUlDbFM1ZVNiUVFDQWFLaW9xU1dXZ1BBZ2dVTHNIdjNibXpac2dYSGp4L0g4K2ZQMGFkUEgwQjhNMmxvYUFoblorZXYrRzFTVk4xZ3ZyU3lSRDNHcXFvRTFGZkE1WEl4ZGVwVWpCOC9YaXJmVjNVNXdCUVVGTWlBVjBWRkJiWnQyNFpPblRvaE1UR1JWT2hyMGFJRjNyNTlpL1QwZENRbEplSDMzMyt2dFQ0MVB6OGZtcHFhME5YVmxUcnVuVHQzd3RyYUdxMWJ0NGEzdHpkV3JseEpqcFg2UEV0TFM5eTVjd2NKQ1Ftd3NiR0Jnb0lDa3BLU01HN2NPSklFLy9yMTZ5UUpmcnQyN2JCdjN6NXMyclFKQUVpT1doY1hGNHdjT1JLLy9QSUx5c3JLc0huelpxU25weU00T0JnUVJ6TDM3dDBiblRwMXdvWU5HN0JqeHc2WW01dmp3NGNQdUhUcEVpWlBuZ3crbjQ5YnQyNlJwYmZPenM1WXYzNDlIQjBkTVhiczJDcVBmOGFNR1dqZnZqM2F0Mjh2OVR3OUgxYXRNZldkMzZ0dmRjNW9yRDYrTnBkZ3NWaGdzOWwwR2ZSM3J0Ny82Njlac3daOFBoOWVYbDZ3dDdjSGk4VkNlSGc0bkoyZGtaNmVYbVhZZldXeHNiSEl5c3FDcGFVbDVPWGxZVzl2RHo4L1AwUkVSRlRaK0NVWFUrUEdqWU96c3pPNmRlc0dTMHRMcVcyc3JhM2g0ZUdCK2ZQbmt5V1RYOUl2RFI0OEdIMzY5Q0hKT3k5ZXZJanM3R3hzMzc1ZFpsc3JLeXRZV1ZuVmVOOFVSVld0b3FJQ25UcDFncisvUDY1ZnY0N1RwMCtUMXc0ZlBneEZSVVhjdkhrVEowNmNBTVJSb1JzMmJBQ2Z6OGVEQncrZ3BLUkUvaFlQSFRvRWlKTmY2dWpva0NUQkVSRVJDQXNMQTQvSGc0ZUhCMHhNVExCLy8zN1kydHFTN2VQajQ3Rm56eDdrNWVYQjN0NmU1QVc3ZWZNbVZxMWFoYUZEaCtMMzMzK0htNXNiMnJadEMyTmpZMFJGUlNFNk9ocnQycldUeVUxZ1lXR0J6WnMzbzdpNEdBekQwSUZ5aXZyTzJkallZTm15WmJoKy9UcDVycm9jWUI0ZUh1UzUwdEpTYUdob2dNMW1vN3k4bk9SWGF0T21EZTdjdVFNL1B6OU1temFOWEx2VVJwL2F0R2xUckYyN0ZoczJiQ0Q3TGlrcGdZR0JBUndkSGZIaHd3Y0VCZ2JTS1BrdlpHeHNEQjZQaDlUVVZQVHExUXU1dWJsWXNtUUpyS3lzcEpMZ1AzbnloQ3g5ckk1SUpNSzVjK2V3YytkT3FaeHlUNTQ4UVdGaElWcTFhb1hPblR0ajBxUkoyTE5uRDlUVjFmSHJyNzhpTEN3TWt5Wk5Ra0pDQXZiczJVUHl2VWtFQmdaS1JYMVY5dmJ0MnlxZnArZERpcUlhTzZGUVNLTlkvNk42UHdBbUtZM001WExCNC9IQTUvUFJvVU1IZUh0N2YzYU5ibTV1TG54OGZMQmd3UUp5d1RacTFDZ2NQMzRjTzNmdXhQejU4NnQ5YisvZXZkR3VYVHU4ZVBGQzVyVStmZnBBUzBzTE8zZnV4Tk9uVDdGbHk1WXYvcjBreDhQajhlRHY3dzhQRHc4b0t5dWpvcUlDYytiTWdiZTN0OHlNSi9WbEpKWDJxaUtaR1hqeDRnVVdMbHdvazRqUTA5TVRIVHQyckRZZjNOZmk3ZTJOb3FJaWVIdDdWL2w2Y1hFeGNuTnprWm1aaVI0OWVvRFA1Nk80dUppOHJxU2s5TWxxUzlSL2s1Q1FRQWEzdzhMQ2NQcjBhVXlaTWdYVHBrMURXVmtaRWhJUzBMUnBVMWhZV0tCcDA2Ym8yN2N2cksydFlXVmxoWTRkTzBKT1RnN3E2dW9rVkxxcUhHQTVPVG00ZXZVcUJnd1lBRHM3T3h3K2ZCakJ3Y0h3OGZIQjBxVkwwYkZqUjZTbnArT3Z2LzRpRWFPVnljbkpRVk5URXdVRkJTZ3NMSlFwRTAvVkQ1S2NFWWNQSDRhcnF5c0dEUnFFMGFOSFMyMlRtcHFLNTgrZlk5aXdZZi81ODJqZjhtMDBsQXZQai8vZGE1SUQ3TjI3ZDJSSlluRnhNZFRVMUFBQVhidDJoWStQRC9UMDlHQnJhd3VCUVBDdlo4Ky90RS9GUjVYK0pML0xsU3RYY09YS0ZRZ0VBdVRuNTBzdGU3U3hzY0gwNmRQLzFmRjlyeFFWRldGc2JJeTB0RFRrNXVhaXVMZ1lhV2xwVUZKU2dxR2g0U2ZmdTI3ZE9yUnYzeDZlbnA1U0VjcVBIajJDdmIwOVdhYXFvYUdCZnYzNllldldyWmc2ZFNwYXRteUpseTlmNHZyMTY2UUthR1VMRnk3OFpBUllWZWo1a0twdkdJYWhnN0YxYk9YS2xSZ3dZSURVQkxLVGt4UHM3T3orVlpMNGdJQUF0Ry9mSG1abVpsTFg1VDQrUGhnNWNpUTZkKzVNbnBzelp3NFdMbHhZN2RMRmhJUUVOR25TUkNhYU5TWW1Cb2FHaGxMTC95Rk9NZkRycjc5aS8vNzk1QndKOGZKdloyZG5tV3FXVk5YcS9RRFlva1dMOFBUcFV6S2IwNzE3ZHp4Ly9oeWVucDVJUzB1VEtsRmFHWi9QaDR1TEM3cDE2eVpWbllIRlltSFZxbFdZT25VcTJyVnJSMDY2NTg2ZEk5VnVORFUxa1ppWWlKU1VGRGc0T0ZTNS84bVRKMlBUcGsyWU5HbVNWTzZETCtYbjU0YytmZnBnd0lBQmdEalJmcjkrL2JCczJUS0Vob1kydUJCTlkyTmo3YVNrcFBjQWhMWDFtYmR1M2NMcTFhdko0L3o4Zk15WU1RUG56NThIeExQRmZENWZLdGZJL3YzNzBhUkpFOXkvZjcvR2xUYUZRcUZNcFk4SkV5WWdMQ3dNV2xwYVpObUFob1lHV1RiZzd1Nk9UWnMySVNvcUNsd3VGems1T2JoeTVRcFVWVldSbVptSk0yZk9BT0tTOVpXTEhWeTRjQUhyMTYrSGxwWVdORFEwMEt4Wk02aXJxeU0yTmhhWExsMGluNmV0clYxbDVHQjlWaGR0UkNJN094dW5UcDFDU2txSzFQT1MxUUZaV1ZsU043ZHYzcndoZVZHbVRKbUNVYU5HUVZGUkVYSnljdkR5OG9LRGd3UHUzTG1EVTZkT1llM2F0Zi9xQXFkTm16WVlOR2dRTGx5NGdHM2J0c0hHeGdiRGh3K0hsNWNYZEhSMDRPTGlnaU5IanVEY3VYT3dzYkdSZXUvZmYvK04yTmhZdkgvL0hycTZ1a2hPVGliTFBScXkybW9qWjgrZXhjR0RCL0hxMVN1d1dDeDA2dFNKREV4S3hNWEZZZkhpeFhCMWRTWGYvOXk1YzVHUWtGRGxQc1BDd2o2Ym8ySHg0c1ZZc21RSldyVnFKWFh4dFgzN2RyeDQ4UUtSa1pIbzBhTUhKa3lZZ05telp5TS9QeDlxYW1wZ3M5a29MUzNGcUZHajRPcnFTdnVXcit6R2pSdkl6czZXaXZvT0RRMEZBTmpiMndQaUNIQi9mLzlHbDBBN0x5K1A1RjhDZ09Ua1pESUFXbEZSZ2ZMeWN0aloyWUhOWnVQTW1UTklUVTJGdWJuNU4rOVRQOGJoY05DclZ5Lzg5dHR2Z1BodkpqSXlFa3VXTENHSjFSdVN1andmUW54ZDgrVEpFeng4K0JCLy8vMDNJSjQ4TGlrcFFXNXVMaURPVStucDZWbnRQdWJNbVNNMTRKaWVubzZBZ0FCczJyUUpIQTVIS2s5Yng0NGQ4ZUxGQzVTVWxNREV4QVFaR1JtNGV2VXFXVzViMlpZdFcyVDZZd25Kc1ZYV1dNK0hkVzN2M3IwWU1tU0l6STM0Z3djUE1IUG1USVNHaGxZNWlCQWVIbzZTa2hJNE9qb0M0cUptcTFldnhxRkRoMnAwcmZUczJUTnMyclJKSmwvY3g4ckx5M0g1OG1WeVAzZjY5R21ZbXByV3luSm9vVkNJTFZ1MllPYk1tVkwzR0wxNzk4YU5HemNBY2J1OGZQa3l2THk4dnZueDFGZDEyYytWbHBZaU5qWVdUazVPTmRyZXo4OFB4NDhmQjV2TmhrQWd3S3hac3lBbko0ZHIxNjRCQU5UVjFhR3ZyNC8wOUhTNHVibmhqei8rQU1SdDRmTGx5K2pac3llV0xWdEc5dmZ5NVV2czJMRkRhcUJzM3J4NTVCcWlvcUlDQ3hZc3dKNDllOGpmV0hwNk90YXNXWU9BZ0FDWnY3c3paODZnUzVjdVVvTmYxSmVyOTZNcnk1Y3ZSN05temVEaTRvSWxTNWFndUxnWWQrN2NnYSt2TDdrd1hiRmloZFJBVVhaMk5wWXVYUW9XaTRVMWE5YklMRTlzMDZZTjFxMWJoMlhMbGlFbkp3ZFRwa3lCam80T0RoOCtqTkRRVUFpRlFoZ1lHR0RseXBWVkp0V0hPUC9CamgwNy9sT0UwUDc5KzNIMzdsMGNPblFJSXBFSVpXVmw0UFA1R0RwMEtFNmRPdlhaS0xWNmFycUppY2t5aG1GT3NsaXM0MFZGUlJkVFVsS3FEOFg2Q2t4TlRYSHk1RW1VbDVmaitmUG4yTEJoQTJ4c2JNankyTjI3ZDZPc3JLeks1YkkzYjk1RXAwNmRhdlE1OHZMeWlJNk94dFdyVjNIKy9IbDRlWGtoSlNVRjkrN2R3L2J0MjZXV0RadzdkNDRzNFFDQXBVdVhvbXZYcm5CMGRJU3FxaW9ZaHNHNmRldGdhMnNMb1ZDSTFhdFhJelEwbEZTekVnZ0VHRGx5Sk56ZDNhV080ZUxGaTVneFl3WW1USmlBcEtTa2FwY0gxSE8xM2tZa3lzcks4TzdkT3hRVUZFZzlIeGNYaDFXclZvSE5abVBObWpYaytVZVBIcUc0dUJqNit2b3dOemVIbXBvYXpwdzVnOTI3ZDhQRXhBUVRKMDZFbFpVVjVzNmRpNkNnSUN4WXNPQ0xqK25EaHcrNGVQRWloZzRkQ2djSEIwUkVST0RZc1dQdzlQVEVwVXVYa0oyZGpTVkxsbURtekpuZ2NybFN5YVk3ZCs0TWZYMTllSGg0b0tLaUFqZHYzc1RDaFF2LzQ3ZFVMM3p6Tm5MaHdnVnMyTEFCeTVjdmg3R3hNWXFLaW5EejVrMlo3VTZkT29WV3JWcmg5T25UWkFCczQ4YU5KTUxVeHNZR3MyZlBKamZmbXBxYTJMaHhJOTY4ZVNPMW44TENRbVJsWlpIOE04MmFOVU5ZV0JqQ3dzSXdiZG8waUVRaWFHcHFZdE9tVFZpM2JoMjB0TFRRb2tVTG5EMTdGdE9tVGNPR0RSdWdwNmVIaUlnSThIZzhzbC9hdDFSdDA2Wk5aQktrSnRUVjFSRWNISXhObXpZaEx5OFBQQjRQUEI0UFQ1OCtCU290dWNySnlVRndjREJVVkZSZ1ltS0NFU05HNE8zYnR4ZzVjdVFuSjhONFBCN09uVHRYYjNOVXhjZkhvMnZYcmpodzRBQkNRa0tnb2FHQkhUdDI0T1hMbDVnM2J4NzY5dTJMbUpnWURCa3lCTy9ldlNQUlliWGRwMWF1dkJVYkc0dFRwMDRoSkNRRUxpNHVhTldxRlg3KytlZHYvbDE5WmJWK1Bpd3BLVUZJU0FnU0V4TlJVbEtDeU1oSVRKczJqUlJocVh3dFV4V0dZYkIzNzE1eUxtclpzcVhVNjluWjJjak56WldwemdueGRkVFdyVnVob0tDQStmUG5JeWtwQ2ZyNittUzFoNFN4c1RGR2p4NU44b0o5Yk4rK2ZUSVIwWTM0ZlBoVmhJZUhJeUlpZ2p4dTFhb1ZORFUxOGZEaFF5Z29LT0RObXpkbzBhSUY1T1Rra0oyZGpmUG56ME5EUXdNTXcyRCsvUGtJQ3dzak45MENnUUNiTjI5Rzc5NjlFUlFVaEQvKytFUHFYb3ZQNStQZ3dZTlNBNWpIamgyRHFhbHBsWU5mbnA2ZU1uMUlTVWtKWHI1OFdXWE90a21USnFGdjM3NEFnSzFidDZLb3FJZ01nTEZZTEFRRkJlSDMzMytYZWQrbkpxODJiOTVjNVhzK1plSENoV2phdENtbVQ1OE9aMmRuc20raFVJajE2OWNENHJ5d1dWbFo1TEd6c3pOVVZWWHgrKysvSXpvNnVzcS9FNGdIUm9ZUEh5NDF3ZCtBMWRsMS85V3JWMkZvYUFnZEhaMGF2OGZmM3g4OWV2VEErZlBua1pXVkJWdGJXMWhiV3dQaUtOT2RPM2RDWDE4ZnljbkplUGJzR2RxM2I0L3IxNi9EMk5nWVJrWkdVdWY1MTY5Zlk4U0lFV2pidGkxNVRrdExDdzhlUEVCWldSa1VGQlJnWW1LQ3MyZlBrcnpCVzdkdXhZQUJBOEF3REc3ZnZnMGRIUjIwYnQwYUZSVVYyTDkvUHdJREExRlFVSUN0VzdmaXlwVXJnTGpObFpTVXdNTENnbnpPd29VTFpkSTRVZjlUN3dmQUpOVmJxaUlRQ0NBbkp3YzJtdzA1T1RtVWxwYUN4V0xCMmRrWnVycTYyTEJoQThsaDhURUxDd3Q0ZW5waS9mcjFhTk9tRGZyMjdZdnc4UEJxUDh2ZTNwN01BRU84UE9UeTVjdFMyNnhZc1VMbWZXM2F0RUZpWXFMTTg1Y3ZYOGFXTFZ2QVpyTXhhTkFnaUVRaXFLcXFRa1ZGQlNvcUt0RFMwa0pFUkFUNjkrOWZvNG9QOVV3ekZvczFHOERzSmsyYUZCa2JHNThGY0V3b0ZFYmR2MysvNUZ0ODRPM2J0N0YxNjFidytYeHMzYm9WR2hvYStPZWZmL0RxMVN2RXhjWEJ3TUNBblBnbFZUUUVBZ0hpNCtNaEVBaHc2TkFoTUF3REF3TURrb3VrcGg0L2ZveTVjK2VTV2RQVTFGUVNUVmpaOWV2WE1YRGdRQUJBVUZBUWVEd2U1c3laQTRaaGNQZnVYYXhldlJycjFxMGpnN2tsSlNYSXlzb0N4SW1LdGJTMDhPTEZpOFl5bzFucmJVUlRVeE1USmt5QWpZME5YcjkrVFc1c0FXREFnQUV5Z3gvcDZlbmtadGZCd1FHcXFxcm8wNmNQbEpTVU1HZk9ISkp6aHNQaHdOZlhGems1T1NncUtnTEVnMXFTcUllQ2dnS01HemNPRUY4VVhyOStIZHUyYlVOaFlTRWNIUjBoSnljSE16TXpuRHg1RWhrWkdiQzJ0aVlKbmYzOS9URmt5QkJ5Y3k2cG9PWGo0d09JRXo0UEhqd1lFTGNwSXlPakx6ckoxM1BmdEkxY3ZYb1YzYnQzSjFHZExWdTJSSWNPSGFTMktTd3N4TldyVnhFUUVJQ0ZDeGZpK2ZQbk1EUTBsTHJ4a3BPVGc1cWFtdFFGejhTSkUyV1dZRDk1OGdRSERoeW9NcXBZV1ZrWnYvMzJHMXhjWEhEdDJqVmN1M1lObzBlUFJuNStQZ29MQy9IKy9YczBhZElFRlJVVmVQNzhPYnAyN1NyMWZ0cTN5RnE4ZVBGbkI2U1RrcElRR0JpSXZYdjNnc1ZpUVVsSkNidDM3MFpoWVNFS0NncFFYbDZPaW9vS0FDQURuUEh4OFRBek00TzJ0cmJVdjdtNnVqcGlZbUtxL2F6S0Y2WDQzN0pDbFcvUjE3MS8vNTRrS0srSzVLYXhNbGRYVjV3OWV4WlRwMDZGaFlVRnBrMmJCamFiamZqNGVIaDRlTURlM2g1VHBreUJqWTBOVHA4K2phU2tKRmhiVzlkS255b1NpV1J1bUI4L2ZveERodzdoeG8wYkNBZ0lRS2RPbmJCdzRVTE1uajBiNDhlUGg2V2xaYldyQStxcFdqMGZxcWlvd05UVWxFU3RaR1JrU1BWTHBhV2xxS2lva0NyczVPenNqS0ZEaDZLb3FBZ2hJU0V3TkRTRXRiVTFPQndPTWpJeXlIWU13eUErUGg0Ly9mU1R6T2RldlhwVlpvQkJVakYweUpBaDBOYld4cFFwVXhBUUVGQ2ozMlBmdm4xUVVGQWd5M29iK2Zud1A1cytmVHFtVDU4T1cxdGJlSHQ3UTA5UEQyNXVidkR4OFVHWExsMHdhdFFvN04rL0h4b2FHdVNhQlFCbXo1Nk4rL2Z2WTlldVhXUlFOREF3RUNvcUt0aTJiUnNjSEJ6d3h4OS9rS2hNQURoNDhDQisrZVVYdEduVEJna0pDZWpRb1FPaW82TlJWbGFHWThlT1NSM1hsaTFiTUdQR0ROTFhTcng2OVFwNzkrNnRjdkphMHZmR3hNVGcyTEZqTURRMEpNdGlzN096d2VWeVpaYkpCZ1VGZlhMeXFtblRwaVJ5K2xNV0xGaUFTWk1tb1YrL2ZxU0lTTGR1M2RDNmRXdW9xNnNENGtGa3lYNlRrcElnRW9uSTQ4ckoyWjJkbmFzTnBJaU1qTVN6Wjg4K2V6d05TSzFmOTZQU3Y4V1NKVXR3NTg0ZFFId05KTGtIYk5La0NSbThsUlQ1Z0RqYWU5YXNXV1FKYStWSVprblF5dHExYThtLzU3Rmp4ekJreUJBMGJkb1VKMDZjSUNtVTNyNTlpd3NYTHVEV3JWc0FnR25UcGtGSlNRbVJrWkhJemMyRlNDUkNZbUlpZXZic1NZckRzRmdzeE1URUlDY25Cd0F3ZlBod3RHN2RHb2NPSFVLZlBuM1F2SGx6V0ZwYVl1Zk9uU1E2bHk2Qi9ETDFmZ0RzWXl3V0N4d09CeUVoSWJoNzl5NHNMUzNoNStkSFppcjA5ZlhoNys4UFhWM2R6NGJZamh3NUVyMTY5WklwdzEwYnpNM05zWDM3ZHJScDB3YnE2dW95T1M0Z1BybW5wcVkyeEFFd1ZDbzQwNFRGWWswQk1JWE5abjh3TVRFNUQrQVlpOFU2blppWVdQaTFQcTl2Mzc3SXpzN0doUXNYOE1NUFB3RGlNRkVkSFIwTUd6WU01ZVhsa0plWEp5VzV1M1RwZ3JpNE9MRFpiTVRFeEVCZVhoNXhjWEU0Y3VRSTJlZkZpeGVSbVptSmVmUG1WVHVRQ2dEdDJyV0RsNWNYTGx5NGdPVGtaTXlmUHg4eE1URklUVTJWMnU2ZmYvN0JqQmt6OE1jZmYrRHk1Y3ZZc1dNSHVTSDE5L2ZId29VTE1YZnVYTktaSlNZbWtzUy8rdnI2TURJeXdwczNiOUN6WjA5QVBJT1FscFpXN1RyeCtxNjIyNGlCZ1FGWkNxYXZyLy9acGE4OEhnK0RCdzlHNjlhdGNmRGdRVVJFUk1EZDNSMjV1YmtRQ0FUdzkvY25wWlFGQWdGWUxCWmNYVjNoNitzTEl5TWpOR3ZXRER3ZUR4b2FHbFdla0NRem81bVptYmg3OXk1c2JXM1JwMDhma3RDWllSZ01HRENBTEMzUTBkSEIvdjM3Y2VQR0RaaytxN0N3RUxHeHNkaTJiWnZVODF3dUZ3b0tDdi81dTZzcjM3S050R25UQm1GaFliaDc5eTZNakl5cTNDWXFLZ28vL1BBRHpNek0wS05IRDV3K2ZScXVycTZmM2ZkUFAvMkVFeWRPb0xTMEZGT21UQUhFZzZJNU9UblEwOU1qMFROQlFVSG8xYXNYOVBYMTBiVnJWeHc5ZWhRQVlHaG9pT0RnWUhUczJCRlhybHlCdTdzN0lpSWk4T2VmZjhMQXdBQ0xGaTJTK2p6YXQ4aFNVRkQ0Yk50WFZGUUVpOFVpNTErQlFBQk5UVTFvYW1xU2JTUS9Td1pVSk5WZHF6cG5md2sybS8zdVcvUjFtcHFhK09lZmY3N29QVHdlRCtmUG55ZXBHQ1J0cDdDd0VFdVdMQ0VEYXY3Ky9saTVjaVZFSWhGTVRVM0I0WEMrZVo5Njh1UkpxVngwNWVYbFdMTm1EYnAxNjRZLy8veVRSS1NNR2pVSzJ0cmFDQWtKcVRadlZIMVcyK2ZEeXFzYldyZHVMWk1IdFRxdlhyMGlBeWtzRmd2RGhnMkRwNmNuV1FZRThibEtNa256OFdkZXZIanhzNS94cVFIY21taXM1OE52eGNmSEJ5b3FLbmovL2oyV0xGa0NOcHROYnJ3bDFxNWRTNzY3NE9CZy9QUFBQd2dMQzRPY25CeTh2YjFKY1F4YlcxdWtwYVhoOU9uVE9IandJS0tpb3JCbnp4NzA2TkVEZ3djUGxvbG1talJwRXRoc05uNzg4Y2NxajAxSlNVa21ONUxFcFV1WDRPM3REU1VsSmFrb2wwdVhMcUZseTVibzJMRWplYTUxNjlZeUVicFZUVjdWcEgzSXljbEJRVUdCbkFPRVFpR0ozSkhzYS9YcTFlalZxeGNndnZiczA2ZFB0ZEdNMzVQYTd1Y1NFeE1SSHgrUGtTTkhrdWhoa1VpRUNSTW1RRlZWRlJVVkZYQnhjWUdwcVNsNWp5U2lTdUxkdTNld3M3T1RlaTRuSndkc05odEhqeDVGbno1OU1IejRjTVRGeFpFSjFaczNiMkxNbURINDRZY2ZwRktYQkFjSDQ5MjdkMmpmdmoxWkVsdFNVb0tCQXdjaUpDU0ViUGY0OFdPc1hMbFM2amsrbjQrZE8zZGk2TkNoY0hOenc2QkJnOUNtVFp1djlWVjlkeHJNQU5qV3JWdkp6NVZENENGZUFySjA2Vkx5dUZXclZqWGViMTBNZmtGOGdmbTUyZmJxa254K0tYa1dWSTJOaldPL3lzNCtqeVJHcVJ3T0xlNzBsQUZZc1Znc0s0WmhoQ1ltSm5FaWtTaWlpSStxNDM5cjZOU3BVOWl4WXdmNGZENHFLaW93Wk1nUXRHalJBbnA2ZWhneVpBZytmUGlBaUlnSVVwbElFbWI5MTE5L2djZmpvYlMwRktxcXFuajY5S2xVQkVqZnZuM3grdlZyVEo0OEdldlhyMGZuenAzaDZlbUpseTlmSWljbkI4N096aGd4WWdUSlo2S3FxZ291bDB0Ky9saGFXaG80SEE0ZVBYb0VOemMzdkhqeGdrUTRQbnIwQ0M0dUxvaU5qU1d6RFAzNzl5ZXpiWHcrSDk3ZTNsaTNiaDFLUzBzQmNVTFpCUXNXSUNzclN5Wnk1VXMxOWpieUtkVmRrUC84ODgva3hsOURRd1B6NXMzN2JOVlpBRkpMRk5YVTFLcmRmK1VaOThxRDNDNHVMbkJ4Y2FueVBXdzJHK2JtNW9ENFJseENYVjBkZi83NXA4eWcvOWNzOTk3WTJvaXRyUzFldm53Sk96czdEQmt5QkU1T1RqSURQYWRQbnlaUkthTkhqMFpBUUFDY25aMXJsSnZSeU1nSTA2ZFBoN2EyTnBuNUxTMHR4ZUhEaHpGbnpod2NPWElFUjQ0Y3daQWhRNkNxcW9yKy9mdVR2RGJLeXNvb0xDeUVvcUlpWEYxZElSUUtNWExrU0docmErUFhYMytWK2F6NjBMZG82N2JDdS9lUE0ydWpqWncrZlJyYnQyL0gzcjE3VVZwYWlxVkxsNks0dUJnLy9mUVQxcXhaUTI1Q25qeDVBaWNuSjZrbEpnS0JBQzR1TGpKVkF4bUdnYjI5UGNhTUdZTUpFeVpnMnJScEtDb3Fna0Fnd1B2Mzc5RzhlWE9wbndGZzdOaXg1TUs0cUtoSUprZGtaWkxvMEVxZlYrdDlYWFZVVlZVUkZCUWtrOXkvY21KNWlHOGl3OExDUHJ1L3I5Mm5BcERLbjNQNDhPRXFKemhOVFUybGJtVCtyY2JXMTMxTmUvZnVsZnA3c3JDd2tJbHUvRmhWcXlPK3R0bzhINHI3dXF4YWJDUGZsSU9EQXpwMDZJQnAwNlpoK2ZMbGFOS2tDV2JPbkFtSW82bjRmRDdrNWVXaG9hRUJOemMzWkdSazRJOC8vaUFUT1ZwYVdpU3E4K0hEcFZrbmdnQUFJQUJKUkVGVWgyQVlCbHd1RjE1ZVhyaDkrelljSFIyeGRldFdSRVpHeW54MlJVVUZHWFR5OVBURTlldlhwYXJNNXVmblMwV2p2WHYzRHJ0MjdVS1hMbDJRbUppSTRPQmd6SnMzVDJvUVMxbFpHVTJhTkpHSjBLMHBEdzhQSkNVbGtiOUhobUdnb2FGUjVmRmZ2bndaNGVIaDJMUnBFeElTRXNqRVpsNWVIZ0lEQThIbGNwR1hsd2NWRlJVeWtSNFJFUUVWRlJVQVFFaElTTFdyano1OCtJQkJnd2FSeHcyOHZkVkpQeGNZR0VqYXFjUzFhOWRnWUdBQWdVQ0FybDI3NHNTSkUxV2VOeVRIMmFKRkM5S0hyVjI3Rm5aMmRvaU9qb2FhbWhxSjNsdXdZSUZNdE9tNWMrZGtpbkM4ZlBueVgvOHVYQzRYUzVjdXhmdjM3M0h6NWsxczNMZ1JkKy9lSmZjTEh5K0JsSmVYcjlHRXcvZXF3UXlBVVkySHVNT1RBNkFFUUlFQjgvazNmY0xZc1dNeGR1eFlrcmZDMU5RVXNiR3hVdUhVSCtlQlMwbEp3Wk1uVDlDdlh6OVNnU2d1TGc1dWJtNWtHMlZsWlhoNmV1TENoUXRZdm53NURoMDZCRXRMUzl5NWN3Y0pDUW13c2JHQmdvSUNrcEtTTUc3Y09KSUUvL3IxNnlRSmZtVUxGaXpBN3QyN3NXWExGaHcvZmh6UG56OG5nNkJ4Y1hFd05EUWtGMmgzNzk3RmhRc1hTRGhzeDQ0ZFlXaG9pSmt6WjZKejU4N2s5MGxKU2NHcVZhdGtjbkEwZEYrN2pmeGJINTg0NjdQdnJjTFFmMjBqaW9xS1dMOStQU3d0TGJGdDJ6Wk1tREFCUzVjdXhZUUpFd0R4Mzlhelo4OUlsVjhMQ3d0NGUzdmoyclZyWkxuaHA3UnAwd2FyVnExQ2NIQXd1WWpWMHRKQ1pHUWsyR3cyd3NQREVSUVVKRlZoN2U3ZHU0QjRDUmlmejhlb1VhT1FrNU9EUFh2MlFGTlRFOW5aMmJoMDZSSzRYSzVVOWVINjBMZHdsWlFoWWxpbE5mejYvelUrbjQvTm16ZGo2ZEtsYU5teUpYeDhmTkM5ZTNjc1g3NGNHemR1eEpvMWF4QWNIQXlJQjd0YXQyNHRWVEhhMDlPenlnckJMQllMNjlhdGc3T3pNeFFVRkxCLy8zNUFIUEd5YnQwNmhJYUdTdjM4c1NaTm1raEZFSThlUFJxaG9hSGtvdmpqaXA4UzlhV3ZxNjJDTzEralQ2VjlYZDIwRVlqN3BvYmdXN1lSY1YvMzRadDl3RGNTSHgrUHc0Y1BJejA5SFY1ZVhxUlNuYnE2T3JTMHRFZ0ZUUTBORFRJWUhoNGVqdnYzNytQdDI3YzRmdnc0V3JkdWpSVXJWcUNnb0VBcVVyWjU4K1lJRHcvSDZkT25NWERnUUJRWEYyUC8vdjNvMWFzWHhvNGRpL2J0MitQKy9mczRjZUlFNXM2ZFM5NG5FQWlrb3E2V0xGbENxaUJYbFFSL3pwdzU1R2QzZDNjSUJBS1VsSlJJRFNLbHA2ZmoxYXRYZVBUb0VYbXVaOCtlbjYxbUtzSGo4ZURwNlFrek16TkFYTWhqOXV6WlZXNDdjT0JBSkNjbnc4SEJBWC8rK1NlWldGbStmRG1zckt6UXMyZFBxWjgvWm1kblJ5Wk5qeDA3aHFkUG4yTDU4dVhrOFg4Wk1HbG92blkvbDUyZERaRklKRlZoVmlRU0lTZ29DSXNYTDhhQkF3ZlF2WHQzUkVkSEl5VWxSU3BIRno2S0JseThlREZtejU2Tm5Kd2NDQVFDS0NzcjQ4T0gvM1VCcGFXbDRIQTRwTDFJakI4L1htWXB1T1M2cmFDZ2dPUVZsZXluOG5MWFY2OWVvYnk4WE9xNXRtM2JZdlRvMFpnelp3N1dyRmtEVlZWVkdCa1pmVEwxQWxVOU9nRDJIUkF5NENVbEpRMnF3YWIvbWJHeHNTc0FQMVFLZFdXeFdHQ3hXR0FZcGd4QURNTXd4MFVpMGNuNzkrKy9BNEEySFl3bWZzMWp1SC8vUHN6TnpSRWIrNy9Ka3ZMeWNwbmxLbTNhdE1IR2pSdkJZckVRR0JpSTVzMmJvN1MwdE1vUTVhRkRoOExDd2dKc05odkd4c2JnOFhoSVRVMUZyMTY5a0p1Yml5Vkxsc0RLeWtvcWNleVRKMCtRblowdHRSOExDd3RzM3J5WlZEVDkzQVhhNE1HRHlYSXJPVGs1Y0RnYzNMaHhBOWJXMXVqYnR5OXljbkpnWTJPRDNyMTcvK2Z2N0h0ckk5U1hhNnh0cEdmUG5nZ1BEOGV1WGJ2ZzdlMk5IajE2d01EQUFLZE9uUUxETUZJUlYrWGw1ZVFDdnlhR0RCa0NNek16dkhqeEFpRWhJV2phdENrc0xDd1FGQlNFc0xBd21RSWNrcjlsSlNVbEZCUVVnR0VZL1BYWFg5aTZkU3RTVTFOeDh1UkpyRnk1VXFidnFDOTlTeTIwRWViQmd3Y29MUzBsdVg1S1NrcklJSjJ0clMzR2pSdUg3T3pzZjVYN1IwOVBEK0hoNFZCV1ZvYWZueCtpb3FMQVpyTlJYRnlNVWFOR1FTQVFrSi96OHZLd2I5OCt0Ry9mSHRyYTJpVDNXdVc4cFZ3dWw1eDdqaDQ5K25IU2J0clgxVk9OdGEranZwN2FiQ05mQ2RPMmJWdVNyMi9NbURINDZhZWZzR2ZQSGl4ZHVoUUtDZ3JJeWNuQnRHblRTQko4aUZmWUZCUVVZT0xFaVZCVlZZV3pzek9lUFh1R2xTdFhrZ0gvcEtRa3JGeTVFdXZXclNPNWtwT1RrL0g0OFdNY1Bud1liRFliblRwMWdxYW1Kcnk4dkRCZ3dBQlNyS0s4dlB3L0wwdlYxTlNVcWxnY0dCaUluMy8rR1VPR0RQbFArNjJwT1hQbVlQTGt5ZVM4cEsydGpmejhmQ1FtSm9MTlpwT2ZSU0lSdW5UcFFsYWp1TGk0NE5teloxQlVWSVM4dkR3NEhBN2s1ZVhKT2VQWFgzK0ZRQ0FnbjlQQTJwdVV1dWpuZEhSMEVCQVFJRlhRNThDQkExQlZWVVh2M3IxeDRNQUJ5TW5KWWZyMDZkaXdZUU4yN2RvbE5SRlVhYmttUkNJUitkblYxUldHaG9ia1hLK2twQVJ2YjIrWjFXa1JFUkV5cTRFa0ExcTNidDBpZzdibDVlVmtBazZpdExRVWVYbDVVcytGaElRZ0pDUUVSVVZGaUkrUFIyUmtKQndjSEtTV1NWYldxVk1ubWFXYjFQK2pBMkFmaVkyTlJXUmtKTHk4dkxCejUwNHNYYnEwd2N4NDFST2t4eEIzYkR5R1lhSVpoam5PNC9IT3BLU2tGSDM2N2YrZHM3TXpHSVloQTJDWm1aa3l5MkxaYkRZSmVWVlJVWUdibTV2VU10cVBWVGM3cnFpb0NHTmpZNlNscFNFM054ZkZ4Y1ZJUzB1RGtwS1N6R3lUWkhhdG9LQUFoWVdGTXFHeEg1T1hseWZKRlV0S1NpQVNpV0JsWllYUTBGRDA3dDBidnI2K0dEOStmSU9LVWhLcjh6WlNHNHFMaTVHYm00dk16RXowNk5FRGZENGZ4Y1hGNUhVbEpTV3AzRGFVbEZwdkk3YTJ0dGk1Y3lmUzB0TFFxbFVyUkVWRndkWFZWV3F3Ni83OSs2UmExY2NWeUtxU2w1ZUg0T0JnUkVWRm9XZlBudUR4ZUpnMWF4YXVYYnVHQXdjT1lQMzY5VkxMemlTUlN2THk4aEFLaFhCd2NNRFVxVk5oYUdpSW9xSWljTG5jS2lPeXZxZStwYWlvQ0NvcUtsS0poQ1VrZjAvdjNyMzcxOG12azVPVFNSNUpWMWRYYUdwcTR1VEprL0QyOXNiVnExZHg4ZUpGL1A3NzcxS1JDSEp5Y3JoMDZSSVVGUldsRWtIbjVlVkovZnUrZi8rZUhHTnhjWEh6K3RyWFhiMTZGV1ZsWlNTS09TTWpBMmxwYVRBM040ZTF0VFZXckZoUlpXN1N5NWN2bzBXTEZnMnhFbU5kb3VkRGVqNnNGZHJhMnREVzFvYUtpZ3E2ZGVzR1BUMDlEQmd3QUs2dXJ0RFIwWkZLZ3I5Mzc5NVA1cjZGT0RMcWp6Lyt3SzFidDdCbXpScVltSmdBNHNxd3ExYXRncjI5UFpLVGs1R1dsb2FoUTRkQ1YxY1gwNmRQaDVlWEY4TER3eUV2TDQveThuS3B2dHpIeHdlQmdZR0FPRXFHeitkajJMQmg1Qm84THk5UDVqank4dktrK2wwQWVQandvVlJFTHNSVkhpVTVBNzhtSG8rSFo4K2VvVU9IRHREVjFjWEpreWN4YTlZc2VIcDZvazJiTnJDMXRjV21UWnZ3NXMwYnFTcWNiRFliVGs1T2lJdUxJK2NKUHA5UElvTXFiL2U1ZjRzR29FNzZ1Y3A5eXUzYnR4RWFHaXF6NUhUczJMRTRjK1lNTm16WVFBcFFmZmp3b2RxMnNubnpadVRrNU9ENDhlUGt1YXF1UjJiTm1pVlRqTVhYMXhjUUIxWklJdE9Ta3BMZzdlMk5Bd2NPa08wa09jQXFQd2Z4b0Z6Mzd0M1Jva1VMbUpxYXdzREFBRmV1WENFUjZ4TDM3OTlIZkh4OERiNmg3eGNkQVB1SWdvSUNCQUlCTkRRMGtKT1RnOFdMRjJQcjFxMHl1VEdvYXJFWWhua1A0TFJJSkRwZVVGQndQaTB0alYvckI4RmlvVU9IRGxCVFU4T1ZLMWVncmEwTmdVQ0FsaTFieXR3Y0dob2E0dmJ0MjFWV0xhcU9VQ2pFa3lkUDhQRGhRL3o5OTk4QVFLcEFTdkw0Nk9ycWtxVFRmLy85TjJKalkvSCsvWHZvNnVvaU9UbTUyaHh3R1JrWitQdnZ2NUdjbkl5Wk0yY2lQVDBkNWVYbDJMbHpKeXdzTEhEczJESE1talVMTEJhTGxGVnVZT3BGRy9sV0xseTRnUFhyMTBOTFN3c2FHaHBvMXF3WjFOWFZFUnNiaTB1WExrRkxTd3NsSlNYUTF0YVdtcldrcEh6ek5ySmp4dzRZR0JpZ1U2ZE9ZTFBaK091dnY2Q3NySXhPblRyaCt2WHJLQ29xd3BneFk2UUdnWm8zYnc1ZlgxK2NPM2RPS3JIcHgzZzhIaWs1YjI1dWppTkhqaUFyS3d0K2ZuN2djRGp3OGZHQm5aMGRsaTlmamxXclZrRlZWUlg1K2ZtWU8zY3VTa3RMU1FSWWNuSXk0dUxpRUJJU2d2THljcFNVbEpBOFU1Sy8vZSt0YjlIWDEwZGhZU0Z5Y25LZ3JhMHQ5WnBrZHJYeUlPSFRwMCtsSWdGNFBGNjFSUThnamg2UUZDNkErRUwwK3ZYcmVQcjBLWjQrZllySGp4K0R4K1BKdk8vRml4ZGsrYXpFbWpWcnBDYlFtalZyaHFDZ0lPQi9TMHpyN2NCRzgrYk5NWGZ1WExScjF3NEdCZ1k0ZS9Zc1NrcEtTUDdCcWtoeXlXbHJhME5CUVFHMnRyWVFpVVFJQ0FqQTI3ZHZTVDZlZ29JQ3JGKy9IZ01IRGtSRlJRVkNRME1SSFIyTjdPeHNLQ3NyNDlkZmY4WDgrZk5yOGJldGMvUjhTTStIZGFaYnQyN2c4L2xJUzB1RFFDQkFlbm82Q2dvS01HalFJQWlGd21yZmw1R1JBVnRiVzB5YU5BbVJrWkZTa1M3Ly9QTVBrcE9UNGUzdGpaWXRXNkp0Mjdaa2FhQ3RyUzF1M0xpQm5Kd2M2T2pvZ00vbmt3aXdxVk9ud3NuSkNkcmEyamgzN2h4MjdkcUZvcUlpR0JvYXd0ZlhGMXd1Ri9mdjN5ZUp2MHRLU2xCYVdvcVZLMWVTYUdXUlNBUlhWOWNxSzRsV2xadTNPc3VYTHlkOXQwZ2srbVFneE1PSEQrSHI2MHZ5STFaVVZDQWxKUVY3OSs3RnNtWExrSnFhaWx1M2JrRlBUMC9xZmFtcHFmanBwNStrOW4zejVrMlpYSFVPRGc1U3VjQWFxRHJ0NTU0OWV3WnZiMjhzWDc0Y1o4NmN3Y21USjFGVVZJUkhqeDZCeldZak1EQVFIaDRlQ0FzTHcrVEprM0gvL24wa0p5ZWpiZHUyNk5PbkR4NDhlQ0MxUHowOVBieDY5UXBGUlVXSWpZMlZ5bE1uRVJ3Y0xMUDZLRFUxVldiYitQaDRxWUlObjFJNVRVOUJRUUc1RnZuNC9RVUZCWFFBN0RPK3l3R3c0dUxpS21jUklKNUpLQ2twUVVaR0Jod2RIUkVkSFkzMDlIUVlHQmpJNUpHaVpNbkp5ZTFMVEV6Y0NrQlFnODIvcVJrelp1RDgrZlBnOC9rb0tDaUFnNE1EdkwyOXBaYW9QSHIwQ05IUjBmRHk4b0tibXh1Q2dvS2dvNk1EUzB0TG1kSC9rcElTaElTRUlERXhFU1VsSllpTWpNUzBhZE13Y2VML29uUXJMNEg4V09mT25hR3ZydzhQRHc5VVZGVGc1czJiV0xod1laWEh6ZUZ3VUZGUkFYMTlmZGpiMjBOUFQ0OFVheWd1TG9heXNqTGk0K014ZVBCZ2ZQanc0WXVTZTlZSDlhbU5mQXNDZ1FBalI0NlVhUWNYTDE3RWpCa3pNR0hDQkNRbEpVbUZaVlBTYXFPTmFHbHBZYytlUFhqejVnMjRYQzQ2ZE9pQW9LQWdhR2xwNGZUcDB6QTFOWldKZ0dLejJSZ3laQWhPbno3OXlRRXd5VEtRYmR1MmtTcWVXVmxaNUhVZEhSMkVob2JDMGRFUmt5ZFBocSt2TDdLenMyRm9hQ2hWUGJaTGx5NmtIZDIrZlZ1cW1BY0FuRDkvL3J2clc5cTFhd2RUVTFPc1dyVUt5NVl0ZzBna0loTVM2OWV2eDhpUkk2Vm1mVHQxNmlTVlErWlRCQUlCbmoxN2htN2R1dUgrL2ZzUUNvVTRlL1lzWEZ4YzRPL3ZqN3k4UEhUcDBnVWVIaDVTU3lMNGZENXUzYnBGY3RkSWJOdTJyVUhtWjJ6ZnZqMm1UcDJLNE9CZ2JOeTRFVEV4TWVEeGVMaDE2eFpldlhxRlZhdFdrWWlFTVdQR1lPclVxZGl6Wnc4V0xWcUV3WU1IdzlyYUducDZlbWpYcmgzTXpjMWhaV1ZGcWd5NnVycVN2eXMvUHovY3ZIa1RLMWFzZ0o2ZUhyS3pzNUdlbmw2bnYzdHRvK2REZWo2c0MvbjUrY2pMeThPQkF3ZklUWFJSVVJHMmJ0MUtvcTNzN2UzUm8wZVBLdCt2cWFtSmlJZ0lxWE9FcjY4dit2ZnZqNTQ5ZTJMZnZuMzQ2YWVmb0tTa0pQVStMcGRMY2lpS1JDS3BDREJEUTBNd0RJT2dvQ0FrSkNSZzFhcFZDQW9Ld3VqUm8yRnZiNC8xNjllamE5ZXVaRi9SMGRGa3BVZDBkRFR5OC9QeDlPbFRBTUN3WWNOZ1ltSWlGWm16WU1HQ2FpdEtWaWFwYlBtNVFtVVNqeDQ5a2txZmN1SENCUXdZTUFEdjM3K0hqNDhQakl5TUVCb2FLbE9kOXNxVksvanc0UU5FSWhGSld6Qmd3QUNzWGJ1MlJwL2JrTlIxUDJkZ1lJQjE2OWFSaUg0bkp5YzRPVG5CenM2T1hLUHQyYk1IU2twS0pBWENyNy8raW1YTGxrbFZ1QVdBQnc4ZVFGdGJHN201dWNqT3pzYlZxMWVySEFCYnZIaXhUSHY3ZUdJeEl5TURrWkdSTlJyODUvUDVpSTZPeHIxNzkzRHYzajNrNXViVzI0bktodUM3SEFDTGo0K3Z0dW9Hbjg5SFZsWVdDWU1FZ0lTRUJJU0doamFHRU5SdkxqRXhNYmUyUDFNb0ZFSmVYaDdaMmRua3hDMFFDTEJ2M3o2Y1BYc1dPM2Z1UkxObXpiQnQyemJZMnRyQ3o4OFBYYnQyUlU1T0RqdzhQT0RxNm9waHc0WkJUazRPczJiTklpZE9WVlZWdkh2M0Rod09CMEtoRUtxcXFqQTFOY1hNbVRQUnJGa3paR1JrU0ZYeUt5MHRSVVZGQmVMaTRzaHprcG1jRmkxYWtKdzFRVUZCTURJeXFuYUpUb3NXTFRCOCtIQThlUENBUkNyd2VEeWNPSEVDNGVIaE1ERXh3ZkhqeHhFWUdBaExTMHNNR3pZTVU2Wk1JZVhvNjd1NmFDTzFyYVNraEF4NEtDZ29RRXRMQ3k5ZXZLanhCZFgzcmpiYXlLUkprekJwMHFRcVg1T0VxVmZGdzhORDZuRlZWWFkyYk5nQUF3TUR5TXZMbzZDZ0FFcEtTa2hPVHBZNmgranE2dUxnd1lNSURBeEVzMmJORUI4ZkQwZEhSMmhwYVlIRDRTQTZPcnBHa3k3Zlk5L2k2K3VMYmR1MndkSFJrU3dYaVlxS3d0Q2hRNldXd25UcDBxWEdnMThRTDMrc1hEMXM3OTY5Nk5xMUs4YU5HNGU4dkR5eUJIYjE2dFhJeU1nZzd6dHg0Z1IwZEhRUUVoSUNNek96ZWpsdytLVm16cHdKZ1VDQTY5ZXZRMDVPRG9jUEh3YkVTWnRkWFYzSmpMT0NnZ0lTRWhKdzRzUUpiTnk0RWVIaDRXamF0Q2w0UEI0cUtpb1FGUlVGSXlNakZCWVdnc1BoSUMwdGpReFFYcjE2RmRiVzFpUWRnYTZ1THJrWitWN1E4eUZWVzY1Y3VZTG82R2k4ZmZzV08zYnNRTisrZmFYeUZvMGFOUXArZm43Vkx1OS8vZm8xRWhJUzBMbHpaeWdySzh2MGM4K2VQWU9abVJuVTFOVFF1WE5uQ0FRQ3BLU2tJRGs1R1QvOTlKTk1XaERKd0p2a3ZQanc0VVA0K2ZsQlYxY1hJU0VoZVBYcUZTQWV6R3JhdENrY0hSMHhidHc0VEpzMkRjckt5cGd3WVFJbVRKZ0FrVWlFWThlT0lUdzhIRDQrUHZEMTlZV3RyUzFPblRvRloyZG45TzNiOTR1K0o4a1N6SnA2OE9BQkdWZ3BMaTVHVUZBUWdvS0NvS3FxQ2pzN08zaDdlNk9zckF3N2R1d2dLMUQ0ZkQ1T25qd0pWVlZWSERwMENGT25UdjJpejJ4bzZycWY0M0s1bjgzZEtwa01QSDc4T0RnY0R1Yk1tUU5WVlZWY3Zud1pLU2twOFBEd0lNdTRiV3hzWUdKaWduMzc5bFY3dmFXc3JGemxKS3JFNjlldjRlenNqRkdqUmxXWlV1QmpiRFliTjI3Y1FPZk9uVEZ4NGtTMGI5K2VyRTc3dUdKelJVVUZLWEpCVmUyN0hBQ3J2UGIyWTY5ZXZjS2lSWXRrMXQxQ1BNQXhZOFlNOU8vZkgwNU9UZ2dJQ0VCVVZCUTRIQTZtVDU5T3lxRlN0ZXZXclZ0d2RuYUdrcElTT1prN09UbEJVVkVSdTNmdkpwRmN6czdPK1BISEg3Rng0MGJzM3IwYmpvNk9zTEN3SUxQMlE0Y09oWW1KQ2M2Y09ZT2pSNDhpSXlNREJRVUZLQ3NyZzV5Y0hNTER3OUd2WHoveXVhMWJ0eWF6MnA4aXFiWUdBSVdGaFlpTmpjVzJiZHVrdHVGeXVaOU1CSHJnd0FFa0pDUmd6Wm8xcE5LSW41OGZFaElTY09USWtTclhuMU4xSnpFeEVSczJiQURFUzdhTWpJenc1czBiVWdWSVMwc0xhV2xwaUltSmdhR2hJVnEzYmwzSFIweDlUVC8rK0NQNWVkMjZkYmg4K1RLVWxKU3diTmt5cWUxVVZGU3diTmt5dkhyMUNzYkd4bWpTcEFrcUtpcGdaMmVIaW9vS1VzMndKcjZudmtWVlZSWExsaTNEc21YTDRPbnBpWll0VzBwTlJud0tqOGNEajhjRGw4dkZ2WHYzcEpZb1NHN3VKUHIxNndkSFIwZEFIQld3ZXZWcXNGZ3NyRjI3RnBNbVRRS0h3OEdiTjIrd2E5Y3UrUGo0NE1HREI3QzN0NGVycTZ0VUF0M0tKQk0yOVZWeWNqS2lvcUlBQU5PblQwZFpXUm5tenAxTEx1VGw1T1JrTHV6VjFkV2hyYTJOdi83NkN3OGVQSUNKaVFsV3JseUo4ZVBINDlpeFl3Z05EWVc3dXp1U2s1UFJ0MjlmTXFCcVlHQ0FjK2ZPWWRpd1lXVFFrV3A4NlBtd2Z0RFQwNE90clMzV3JWc0hOcHVOVFpzMmtTWDFFT2RPdExHeElSTXYydHJhQ0FzTFExRlJFWXFMaXpGbnpoeTR1N3VEdytFZ0x5K1BMTmVIT0FWSWNuSXlmdnp4UndRRkJlSFNwVXZJek15RXVybzZEQXdNU0ZSeVJrWUdORFEwd09WeUVSc2JpMWF0V2tGZVhoN3IxNi9IcFV1WHNIanhZcGxJS1FBd05UWEYvdjM3NGVQamd4RWpSc0RiMnhzLy9QQURvcUtpRUIwZGpaOS8vaGw3OSs2RnVybzZHUURyMmJNbmZIeDhzRzNiTm93Wk13YjkrdldEdnI0KzJXZFZrMWZWZWZQbURSUVZGVkZXVm9iWHIxK1Q4NFpRS01TZE8zZklzbTFWVlZWNGVYbmhoeDkrUUdabUpxWk9uVXFLM1V5YU5JbWtUQWtKQ1VIcjFxM2g3ZTBOT3pzNzVPZm5WenZoSlJLSjZBcWsvMEJPVHU2THZyLzc5KzlqMWFwVkFJQXBVNllnSnljSEh6NTh3TTgvLzR3T0hUcEFSVVVGQU5DMWExZk1temNQM3Q3ZTVMMGlrUWpqeG8xRFRrNE9YRjFkWmE2OTh2THlrSkNRZ0prelo1SmlhaTR1TGpVNkxqYWJqWTBiTjFiNVduUjB0TlRqNjlldkl6SXlzc2EvTS9VTnRPbGdGR3M5M1k1cEtONi9mODlZV0ZoVStkcmV2WHVaOGVQSE13S0JnQ2tvS0dCTVRFeVkzTnhjNXZYcjE0eTV1VG1UbEpSVTY4ZjdPZGJUN1pnMkhZeGk2N29kZk1xM2FDT0ZoWVhWdmxaUlVjRXdETVBjdm4yYkVZbEVYL1Z6YTBJb0ZOYktlMnJxZTIwajM4clpzMmVaalJzM2tzZWxwYVhNNnRXcm1ZY1BIekpGUlVYa3Yram9hR2IvL3YxTVptWm1uUjV2VGRBMjh0OElCSUphK1p5NjdGdHFvNDFVOWJtclY2OW1Ra0pDYW55Y3QyN2RZa3hNVEJnVEV4T21mLy8rVEhSME5IbHQvZnIxekw1OSt4aUdZUmhmWDEvbTdObXpNdTlmdEdnUjA2OWZQMmI2OU9sTVJVVUY0K3JxeXF4ZXZacThIaE1UdzlqWjJUSDkrdlZqZXZYcXhaaVptVEZtWm1aTXIxNjlHQk1URTJiTGxpME1VOTNvV0Qxb3g2OWV2V0lPSHo3TURCMDZsSG4rL0RremVmSmtxZjk2OSs3TmpCczNUdXE1ek14TVp2WHExY3lkTzNlWUJRc1dNRStlUEdFY0hCeVk4K2ZQTTFldVhHRWVQMzdNeE1YRk1iZHUzWkw2ckRkdjNqQlRwa3hoek16TW1NREFRS2E0dUxqT2ZtOEoydGQ5WGZSOFdELzhsOTgzSmlhR21USmxDdlA2OVd1R0VWOUQyOW5aU2ZWdjV1Ym1URUJBQU1PSXI2MXYzcnpKNU9mbnkreHIxcXhaVFBmdTNSa1RFeFBHd3NLQ2lZbUpZUmlHWWY3NTV4L20vZnYzVXRzK2ZmcVVtVFZybHN3K0hqOSt6UEQ1ZkdidDJyWE1saTFibVBUMGRQSmFSVVVGTTJ6WU1LbnRFeE1UbVpVclZ6TG56NS8vMTkrQnZiMDlZMkppd25UdjNwMnhzN05qK0h3K3c0ajd5NkZEaHpKQ29aQXBLaXBpeG80ZEsvUGVlL2Z1TVlNR0RXTDY5dTNMbkQ5L25rbE9UbWJNek15WTVPUmtoaEhmZDI3YXRJa1pPWElrWTJwcXl2VHAwNGQ4cnoxNjlHQk1UVTJab3FLaWFzOFpqVlZENnVmK2pkcTZMdnkzNnFxZk16WTJqalUyTnY3bW4vdGRSb0FCZ0pXVkZkNjlld2VoVUFpaFVFaEdhY1BEdzhIajhTQVFDR1FxLzEyN2RnMi8vUElMNU9YbFVWSlNBb2hESnBzMWE0YUJBd2ZpNU1tVG4weXVTOVdlVDFWQmsveTdkdS9ldlJhUDZQOUoxdnAvNi9kUWRlZkNoUXNrOHE5ang0NHdORFRFekprejBibHpaeklUbFpLU2dsV3JWalhJSEVIVWw2bXRpQi9hdDN4ZXo1NDlrWmlZV09Wcnk1Y3ZKNUZiYytmT3JiTDZiMEJBQUJpR0lYL0hUazVPME5YVkphOFBHalNJSkN3V0NvVVFpVVFRaVVSa3YvVzlxclMrdmo3MDlmVng5T2hSY0xsY2t2L0UzOThmUC8vOE0wYU1HSUdaTTJkaTFhcFZKSnBDTWlOKzRjSUZaR1ptNHV6WnM4ak96a2EzYnQwUUVCQ0ExTlJVZlBqd0FXdzJHeTFhdEVDWExsMHdmLzU4Nk9qb1lQLysvVGgxNmhSMjdkcUZreWRQSWlBZ29FYkxRYWlHZzU0UEc3WkJnd2JCM055YzlGMXNOcHZrOGFyS3A2NnRKVXZTUDc3SGtrUWZWOWErZmZzcWw3Qkxxc3l1WHIxYTVqVTJteTBURFdOaVlrSXFWUDViSCtlQmt0RFgxeWZwQ2xSVlZhdk1aZGUxYTFmRXhNUklQYmRueng2MGJkc1dBTkMwYVZNc1hicVVWS0lYQ0FUa3ZBSHhPZnBUVWR4VXcxU2ZJOEcvQjkvdEFKaWtmT21wVTZkdytmSmxxY1RDdXJxNnlNaklJSlZHSklxS2lxQ3BxVm5sL3JTMHRQRDgrZk52Zk5RVVJUVUVnd2NQaHF1ckt5QytlT0Z3T0xoeDR3YXNyYTNSdDI5ZjVPVGt3TWJHaGxRdW9panEzL25hQ1lNbE4rU2ZxaGhXZVRuRng5Y0psY25MeXpmNGkxekpVc2VTa2hJMGI5NGNhbXBxa0pPVGc0cUtDdFRVMUhEejVrMnlsTTNTMGhKdjM3N0ZwRW1Ua0pxYWlyZHYzeUk5UFIwQkFRR0lpSWlBaW9vS3hvMGJKNVVMVDE1ZUhsWldWaGd4WWdUYzNOemc3dTZPczJmUDBpVS9qUWc5SHpaOFgzdmd2cXJKaFlaSzBsZXhXQ3lwQWl5ZjhxbGsvSTNwdTZHbyt1cjdtdnF0b1hidDJ1SEpreWN5eit2cjZ5TWxKYVhLOXp4NzlneXRXcldxaGFPaktLcStrNWVYaDZLaUloUVZGVkZlWG82eXNqSllXVmtoTkRRVVFxRVF2cjYrR0Q5K3ZFeUNUSXFpcXNkcVJPcjZ1L3dTaFlXRlNFaElxUEttemQzZEhXVmxaV0FZQmg0ZUhyaDkrellXTFZxRWUvZnVRU2dVd3NuSkNTMWJ0b1NhbWhyVTFkWFJzbVhMS2ljU3VWd3VKazJhaExkdjM1SUllNnB4b09mRHVsZlgvUjMxMzlWMUc2SytqSXVMQzI3ZXZGblhoMEZWZ3c0elY2Rjc5KzZJajQvSGlCRWpBUEd5U0NzcksweWRPaFdPam83bzFxMGJ1UkFzTEN6RThlUEhjZWZPSGJpNXVkWHhrVk1VVlpjeU1qTHc5OTkvSXprNUdUTm56a1I2ZWpyS3k4dXhjK2RPV0ZoWTROaXhZNWcxYXhaWUxCWXRYMHhSVkwzMzl1MWJ1THU3dzl6Y25DejFWRkpTd3VQSGo1R2ZudzlsWldVb0tTa2hQejhmZ1lHQkNBZ0l3T0xGaTdGcDB5WmN2bndabHk1ZEFzVEZCMWdzRmc0ZVBBaUlvKy9YckZtRG9VT0hvbTNidHVEeGVJaU1qRVRIamgwL0dYMUhOUnowZkVoUlZHTVhIeDlQcWlSWDl2anhZK1RsNVNFaUlrTHErU1pObW1EZHVuVzFlSVJVVmI3TEFiRHk4bktrcDZjakt5c0xkKzdjd2ZQbno3Rm8wU0s4ZnYwYXVycTY4UFQweEk0ZE81Q1hsd2QxZFhXRWhJUmcvUGp4TURZMmhyKy9QMEpDUXZEaXhRdEFYRGE0UTRjTzJMVnJGMzc0NFllNi90VW9pcXBESEE0SEZSVVYwTmZYaDcyOVBmVDA5RWhwNWVMaVlpZ3JLeU0rUGg2REJ3L0dodzhmWk1xSVV4UkYxYlhrNUdSa1pXVWhNek1UaHc0ZFF2UG16YkZ5NVVyeStwdzVjM0RvMENFd0RJTWxTNVlBQUhKeWNxQ3RyUzIxSHhzYkd5eGV2QmdBc0hQblRxaXBxY0hHeG9hOHJxQ2dnSTBiTjVKcnJWNjllbFdaMTRkcW1PajVrS0tveHE1ang0NllOMitlelBPYk4yL0dzR0hEcENwTGd5NXhyVGUreTMrRlI0OGVZZEdpUlRBd01JQ0JnUUVzTFMyaHI2OFBQVDA5Nk92clEwVkZCU05Hak1EU3BVc3hldlJvNk9qb2tCbEpNek16bUptWklTc3JDMlBHak1HMWE5ZnErdGVoS0txZWFOR2lCWVlQSDQ0SER4NE1qZUh6QUFBSE4wbEVRVlNRZ2hnOEhnOG5UcHhBZUhnNFRFeE1jUHo0Y1FRR0JzTFMwaExEaGczRGxDbFRZR0JnVU5lSFRsRVVoWUtDQXJpNHVNRFcxaFplWGw0aytxdnlDcHgrL2ZxaFg3OSs1SEZHUmdZNEhBNjRYQzRtVHB5SXBrMmJncy9uZjdiQWdxVFVQTlU0MGZNaFJWR05uYnE2ZXBXRDk2cXFxbWpkdXZVbjg3MVJkZWU3SEFBek5qYkdsU3RYUHJtTmk0c0xmSDE5c1hYclZqZzVPZFhhc1ZFVTFiZ2NPSEFBQ1FrSldMTm1EYWwwNU9mbmg0U0VCQnc1Y2dTS2lvcDFmWWdVUlZFQWdPZlBuMlBnd0lGd2RIU0VpWWtKZ29LQ3NIejVjaWdvS0lERllvSEZZa0VrRWtFZ0VFQWdFQUFBRml4WWdISGp4Z0VBK0h3K3BrMmJCaFVWbFdxTEJsSGZMM28rcENpcXNjbkt5b0tWbFJWMGRIVEljN201dVhqMDZCRXArc0xuODlHdVhUdHMzNzY5RG8rVWt2Z3VCOEJxUWxGUkVTdFhycFFLKzZjb2l2cWNrU05IWXVUSWtlVHhiNy85aHJsejU4cHMxN05uVDFJOWphSW9xajR3TlRXRmlZa0pBS0JYcjE3bzFhc1hSQ0lSeXN2TElSUUt3VEFNV0N3VzVPVGtJQ2NuQjNsNWVha2xIWU1HRGNMQWdRTmxxamc2T0RqVSt1OUMxVDE2UHFRbzZudlFxbFVySER0MmpEeDJjWEhCNU1tVDBhdFhMd0RBN2R1M0VSWVdWb2RIU0ZWR0I4RCtwWll0V3lJeE1iR3VENE9pcUhydWM4dUFLSXFpNnBPUGM1VEl5Y21SV2V5YW9BWExxT3JROHlGRlVSUlYxK2dBR0VWUkZFVlJGRVZSRkVWUjFCZkt5TWpBcUZHakFBQkNvUkE1T1RtNGNlTUdtalp0Q29nTDhORjhZUFVISFFDaktJcWlLSXFpS0lxaUtJcjZBcHFhbXRpeFl3ZDY5T2lCZ29JQ2VIaDRnR0VZY0RnY3VMbTVZY0NBQVNnb0tFQkdSa1pkSHlvbFJtT1JLWXFpS0lxaUtJcWlLSXFpdmdDWHkwV1BIajJRbXBxSzJiTm5ZK3pZc2VqVXFSTmNYVjJ4Zi85KzdObXpCK3JxNnVqY3VYTmRIeW9sUmdmQUtJcWlLSXFpS0lxaUtJcWl2Z0NmejhldVhic3dmLzU4ZUhoNGtNSWZ5c3JLMkw1OU8xSlNVakJqeGd6Y3UzZXZyZytWRXFNRFlCUkZVUlJGVVJSRlVSUkZVVFgwNE1FRFRKZ3dBUThlUE1DK2ZmdGdhbW9xOVRxWHk4V0dEUnN3WmNvVXVMbTV3Y25KQ1NLUnFNNk9sL29mbWdPTW9paUtvaWlLb2lpS29paXFodHEwYVFOM2QzZjA3OS8vazl1TkdERUNnd1lOUWxwYUdxMkdXdy9RQVRDS29paUtvaWlLb2lpS29xZ2FVbE5UcTNMd3k5L2ZYK1k1THBlTERoMDYxTktSVVo5Q2h5QXBpcUlvaXFJb2lxSW9pcUtvUm8wT2dGRVVSVkVVUlZFVVJWRVVSVkdOV3Ewc2dYejg5Qm1tekxDdmpZK2lQdkw0NmJPNlBvUWFvVzJrN3RBMlFuME9iU1BVNXpTVU50SVEwSFpjZHhwS082WnRwTzQwbERaQ1VRMGQ3ZWZxVG1QdjU3NzVBQmdENW5SUkVRODNiaVYrNjQraXFzTmlUdFgxSVh3S2JTUDFBRzBqMU9mUU52Sk5zY0J3QUlBQnE2S3VqK1ZmcStkdHBDRm82TzI0VWFqbjdaaTJrWHFnbnJjUmltcm9hRDlYRDlCK2pxSW9pcUtvYjhYRXhNVEJ5TWhvVGwwZkIwVlJGRVZSRkVYVk5tTmo0MWhqWStQWWIvMDVOQWNZUlZFVVJkVzk4U3dXeTdLdUQ0S2lLSXFpS0lxaUdpczZBRVpSRkVWUmRhaExseTVOQVF4bXNWakRmdnp4Ui9XNlBoNktvaWlLb2lpS2Fvem9BQmhGVVJSRjFTRTVPVGxMQVBJQTVOWFYxY2ZXOWZGUUZFVlJGRVZSVkdORUI4QW9pcUlvcWc3SnljbFpNZ3dEaG1IQVlyR3M2dnA0S0lxaUtJcWlLS294b2dOZ0ZFVlJGRlZIMnJkdnJ3WmdlS1duUm5UdDJsV2xEZytKb2lpS29paUtvaG9sT2dCR1VSUkZVWFZFU1VscERJdkZVcWowRkZkZVhuNUVIUjRTUlZFVVJWRVVSVFZLZEFDTW9paUtvdXFJWlBtamhQaG51Z3lTb2lpS29paUtvcjR5T2dCR1VSUkZVWFdnYmR1MmlnekRqQVFBRm9zRkZvc0Y4YzlqMnJadHExalh4MGRSRkVWUkZFVlJqUWtkQUtNb2lxS29PcUNpb2pLU3hXSlZsZTlMclVtVEprUHI0SkFvaXFJb2lxSW9xdEdpQTJBVVJWRVVWUWZrNWVYSFYxNytLTUV3REVRaTBmZzZPU2lLb2lpS29paUthcVRZZFgwQUZFVlJGUFc5NmQ2OU80ZGhtREdTWlk4U2xSNlBFNStqQlhWeGZCUkZVUlJGVVJUVjJOQUJNSXFpS0lxcVpTS1JTSnZGWWdWSUhqTU1NeFAvR3dBTEUvOGZIVHQyMUhyOCtIRjJYUjRuUlZFVVJWRVVSVFVXZEFEcy85cTVZeHVFWVFDSW9oZUpnZUlOV0kyVllBQTJTRElGYzFEUlVpQVJTNmYzT2hlV3IvNkZBZUJrKzc2L2t0dys1ekhHTlVtMmJidDl2UWdBQVB6RUgyQUFBQUFBVkJQQUFBQUFBS2dtZ0FFQUFBQlFUUUFEQUFBQW9Kb0FCZ0FBQUVBMUFRd0FBQUNBYWdJWUFBQUFBTlVFTUFBQUFBQ3FDV0FBQUFBQVZCUEFBQUFBQUtnbWdBRUFBQUJRVFFBREFBQUFvSm9BQmdBQUFFQTFBUXdBQUFDQWFwZlpBd0NBSk1rNnhuak9IZ0VBQUNkYmt4ei9ma1FBQTRENUhyTUhBQURBSk1leUxQZlpJd0FBQUFBQUFBQUFBQUFBQUFBQUFBQUFBQUFBQUFBQUFBQUFBQUFBQUFBQUFBQUFBQUFBQUFBQUFBQUFBQUFBQUFBQUFBQUFBQUFBQUFBQUFBQUFBQUFBQUFBQUFBQUFBQUFBQUFBQUFBQUFBQUFBQUFBQUFBQUFBQUFBQUFBQUFBQUFBQUFBQUFBQUFBQUFBQUFBQUFBQXp2WUdQUmtIdFBFTnV3Z0FBQUFBU1VWT1JLNUNZSUk9IiwKCSJUaGVtZSIgOiAiIiwKCSJUeXBlIiA6ICJmbG93IiwKCSJVc2VySWQiIDogIjI2NDM4Mjc0NyIsCgkiVmVyc2lvbiIgOiAiMzMiCn0K"/>
    </extobj>
    <extobj name="ECB019B1-382A-4266-B25C-5B523AA43C14-3">
      <extobjdata type="ECB019B1-382A-4266-B25C-5B523AA43C14" data="ewoJIkZpbGVJZCIgOiAiNDc1MTEwNTU1MjQ5IiwKCSJHcm91cElkIiA6ICIxNzc2MzEzMTIiLAoJIkltYWdlIiA6ICJpVkJPUncwS0dnb0FBQUFOU1VoRVVnQUFCTUFBQUFEU0NBWUFBQUNzRzd3VkFBQUFBWE5TUjBJQXJzNGM2UUFBSUFCSlJFRlVlSnpzM1hsNERlZi8vL0hueVNiRUVpRjJxblpLN1hzcHJWcHJLVXFwclVRbFNtUGZHckh2K3hMN21xcTFwU2hGVmF2OWxKYUdGa1VzUmFuYVFtU1I3WnpNNzQ5dnpNOXBFdFFXaWRmanVseFhaczQ5OTl3elo5em5uUGU4NzN0Q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TVQbGlTZWtHaUlpSWlBaThYS0pjZHdQYXAzUTdYbVFXV0gzdTVHK0xVN29kSW1tVitybVU5N3ozYzdwR1V0N3pmbzA4RHFlVWJvQ0lpSWlJZ0FIdE0yZk9XS2RVaWVJcDNaUVgwdkdUd1lTRlJRQ2t5Uy85SXM4RDlYTXBLelgwYzdwR1VsWnF1RVllaHdKZ0lpSWlJcytKVWlXS3MyYmxrcFJ1eGd1cFhXY3ZmajRRbE5MTkVFbnoxTStsbk5UU3ora2FTVG1wNVJwNVZBNHAzUUFSRVJFUkVSRVJFWkduU1FFd0VSRVJFUkVSRVJGSjB4UUFFeEVSRVJFUkVSR1JORTBCTUJFUkVSRVJFUkVSU2RNVUFCTVJFUkVSRVJFUmtUUk5BVEFSRVJFUkVSRVJFVW5URkFBVEVSRVJFUkVSRVpFMFRRRXdFUkVSRVJFUkVSRkoweFFBRXhFUkVSRVJFUkdSTkUwQk1CRVJFUkVSRVJFUlNkTVVBQk1SRVJFUkVSRVJTV1dzVm10S055RlZVUUJNUkVSRUpKVUtDUWxoejU0OWR1dHNOaHVSa1pIY3VIR0Q4K2ZQODhzdnY3Qmx5eGEyYk5tU1l1MTgwZzRlUEVod2NIQ2k5WHYyN09IU3BVc3AwaVlSZWJhdVhidEdlSGc0QU1lUEg2ZGh3NGFQVkUvRGhnMjVlUEVpZm41K3JGdTNEc013QUlpSWlFaXkvSysvL2tyWHJsMGZ1djd2di8rZTlldlhQMUxiNU5Ha2h2ZnVoeDkrWU1hTUdROVZkdWZPblVsK2h1L2F0WXVQUHZwSVFiRC93Q21sR3lBaUlpSWlqeVl1TG80eFk4Ymc2ZWxKbVRKbG1ESmxDbDk5OVJVZUhoNWt5WktGVEpreWtUbHpaakpuemt6V3JGa3hESU01Yythd2V2VnEwcVZMZDkrNlkySmlhTjI2TlFNR0RIaG14L093NHVMaTZOMjdOOHVXTFNOZnZud0FYTHg0a1pFalJ6Smp4Z3h6bllpa1hXUEhqcVYwNmRKOCtPR0hqMVdQcTZzck5wdU5nUU1ITW1MRUNBb1hMa3pod29WcDNibzFnWUdCNU0yYjk3SHF6NTA3TjFPbVRLRjU4K2JKOXJ0ZVhsNmNPSEVpMlRyaTR1S3cyV3g4L2ZYWDVNaVI0N0hhazliZHVuVXJWYngzQ3hZc29ISGp4c1RFeENTN3JaT1RFNDZPanBRdFc1YVBQdnFJYytmTzBidDNieHdjL2krUHFXN2R1cXhZc1lKZHUzYlJ1SEhqeHpyV0Y0VUNZQ0lpSWlLcFZLNWN1ZkR4OFdINDhPR3NYNytlK1BoNCt2ZnZUN05temU2N1hmdjI3Zm40NDQvdlcyYmh3b1ZtZGtWS21UcDFLamx5NUtCVHAwNEFIRDE2bEppWUdGeGNYS2hRb1FMYnRtMmpZc1dLQU15YU5ZdlhYMzhkd3pENDlkZGZ5WlVybHdKaEltblVoUXNYMkxkdkgzMzY5T0hPblR2RXhNUmdHQVozN3R5eEsrZm82R2dHTHNhTkc1ZGtvT0xxMWFzTUhEalFMRGR6NWt5OHZMeG8yYklsbzBlUFp1SENoY1RHeHBwMVIwUkVZTFBaQ0EwTkJjREJ3WUhNbVRNRE1IdjJiTmF2WDAvNjlPa1Q3ZWZ0dDkrMld3NE5EZVhnd1lNQUxGbXlKTmxqM2JwMUt6Tm16S0I3OSs0S2ZqMkVyRm16UHZmdjNkNjllemw3OWl5TEZ5OW04ZUxGU1c0YkZSWEYwS0ZEZWVlZGQ4aVZLeGRMbHk1bDllclZiTnUyelc2ZmQrN2NZZUhDaFN4Y3VOQmN0M3IxYXR6YzNCNzZuTDFJRkFBVEVSRVJTY1ZhdDI1TnpwdzVjWEZ4QVNBOFBKeXJWNjhtS3VmbTVrYkdqQmxUb0lXUExqZzRHSGQzZDNONTNicDEzTGh4Zy9qNGVJS0NncWhjdVRLSER4OEd3R0t4c0dmUEhxNWZ2dzRKdzVvVUFCTkptd0lEQTNGeGNlR0REejZBaEtIZlVWRlJOR3JVeUs1Y3hZb1ZtVDU5T2dEbno1L252ZmZlbzJ6WnNuWmxCZzhlekFjZmZFQ0pFaVhNZFZtelpxVjY5ZXEwYXRXS2I3Lzlsc2pJU0taTm0wYTJiTm1Jam80bU5EU1VybDI3WXJWYXNWZ3NiTjY4MmR5MlM1Y3VlSGw1RVJvYXlzNmRPM24zM1hkeGNIRGc0TUdER0laQmxTcFZpSW1KNGJYWFhydnZNVVpHUmpKaHdnVCsrT01QNXMrZlQvSGl4Wi9JdVhzUmVIbDVQYmZ2WFVSRUJOT25UMmY4K1BHOCtlYWJ5ZGJScTFjdm5KMmRBZGk5ZXpkMTZ0U2haOCtlUkVWRlVhVktGYlBjZ0FFRGFOV3FGZFdyVnpmWFpjaVE0WkhQWFZxbkFKaUlpSWhJS21RWUJyZHYzd2F3KytLN2ZQbnlSSE9XaElhRzBycDFhM3IzN20yM2Z0S2tTV3pmdnQyODR4MFZGVVhqeG8wWlBIaXdYYm5aczJkejl1eFpaczJhWmE1cjJiSWw3ZHUzcDNYcjFtemF0SWtWSzFiUXVuVnJ2djc2YTY1ZHU4YWJiNzdKa0NGRHNGZ3NYTDkrblFrVEpoQVVGRVI4ZkR5ZE8zZkd5OHVMbXpkdk1ubnlaSDc5OVZkaVltS29WS2tTSTBlT0pFdVdMTlNzV1pQbzZHZ09IVHJFL1BueldiSmtDV1BIam9XRUh4ZDE2dFJod1lJRlpudU9IeitPbjUrZjNUb1JTWHNPSGp6SWpoMDcyTEJoZ3puRTdmang0L1RyMTQ4ZE8zYmNkMXRQVDAveTU4OXZ0ODdkM1oxTW1US1JQMzkrenB3NWc5VnFOY3ZNbnorZjNMbHpzMzM3ZHQ1ODgwMzgvZjM1OWRkZm1UZHZIc3VXTGVQeTVjdjQrUGlZZGIzLy92dmN2SG1UZ0lBQXRtelpRb3NXTFFnTEM4UEp5UWtYRnhlV0xGbkM1TW1UYWQrK1BaOS8vbm15N2J4Ky9UcGVYbDZVSzFlTzFhdFhKNW1WSk1sTGx5N2RjL3ZlalIwN2x0eTVjMU94WWtVekUrMHVWMWRYWEYxZElTR282K3pzVEZ4Y0hOdTNiMmZWcWxWTW5qeVpIRGx5Mk5YcDdPeE1saXhaeUprejV4TThnMm1YQW1BaUlpSWlxZER0MjdmcDNMa3pvYUdoOU9uVGgzZmVlWWVvcUNnR0RCaEF2bno1S0YyNk5DUUV5dDU3N3oycVZhdVdaRDI5ZS9lbWRldldBSHorK2VlY1BYdjJrZHJ6OTk5LzQrenN6T3JWcS9uNzc3OTU5OTEzcVY2OU9uWHExR0hhdEduRXg4ZWJkOXIvL3Z0dlNBak1WYXBVeVF5NCtmajRFQmdZU08vZXZmbmhoeC9vMGFNSFZhcFVvV3ZYcmpnNTZXdXJ5SXN1T2pxYWtTTkgwcU5IajBlYTMybmd3SUZtWDFLcVZDbm16cDJMdTdzN3QyN2Rnb1I1bWNxVksyZG1nLzA3V1BZZ3k1WXQ0OXR2djZWNTgrYXNXN2NPZDNkMzFxOWZ6eDkvL01FcnI3eEM3dHk1NmRHakJ5dFdyR0R4NHNYTW16ZVBsMTkrT1ZFOVY2NWN3VEFNUm8wYTlaK1BVZjdQOC9qZW5UaHhnaU5IanRDNmRXdGF0V3FGcDZlbitkck5temRwMDZZTlhsNWVjRThBek5uWm1hbFRweko5K25UMjdkdEhpeFl0SHVsOHlQL1JOd2tSRVJHUlZNamQzWjNObXpjemFkSWtjOTJ0VzdlNGMrY09RNFlNb1gzNzlyUnYzNTZ2dnZvS0p5Y25LbGV1L0ZUYmt6RmpSdHEyYlF0QTNyeDVLVk9tRE1IQndkU3BVd2VMeGNMTm16ZUpqSXdrYjk2ODVyREdRb1VLVWFoUUlVSkRRN2wwNlJMNTh1WGo5T25Ua0RCM2o4Vml3Y0hCQVNjbkowSkRRODJoblhmbmM3bjNTWkFYTGx3Z05qYldibDJSSWtWd2RIUjhxc2N0SXMrT3E2c3I3Ny8vUGkxYnRyU2I3eXU1T2NCY1hGek1nRmRjWEJ4ejVzemhsVmRlSVNnb2lPWExsd09RTTJkT3JsNjl5c1dMRnpsOCtEQ2pSNDgydDU4MmJacDVNK0ZoZE9qUUFWOWZYM05JK3QzOXVycTYwcXBWSzJiUG5rMWNYQnhUcDA3bDlPblRwRXVYanBvMWF5YXF4ekFNWW1KaWtueXRmLy8rdEd6WjhxSGI5S0o2WHQrN2RldldzWHYzYnVyWHIyK1hiZjN2dWNTc1ZxczVCTkxCd2NGOElFMWtaQ1JkdW5ReHkxMitmSm1wVTZjeWI5NDhBTjU4ODAyOHZiMGYrcmhmTkFxQWlZaUlpS1FSd2NIQitQbjU4ZHBycitIcjY4dnZ2Ly9PZ1FNSG5zbXd3Q3hac21DeFdNeGxOemMzODhmbzRNR0RtVGx6SnExYnQ2WjY5ZXIwN2R1WC9QbnpjL3o0Y1VhUEhrMVVWQlF2di93eU4yN2NTSGFlc2dNSERoQVlHQWhBYkd3c0ZvdUZNV1BHbUs5SFJVVVJFaEppdDI3QmdnV3BidDR6RWJtLzl1M2JNM1RvVVBidDIyZXVTMjRPc0NGRGhwanJvcUtpY0hkM3g4bkppZGpZV0hPb1djR0NCVGwwNkJCVHAwNmxZOGVPZHZNbmZmZmRkOVNzV1pOcjE2N3gwMDgvNGUzdFRYaDRPSmN1WGNMYjI1dlkyRmk3L2MyWk04ZWNIUDJ1cUtnb0RNTmd6NTQ5QUd6ZnZ0MThiZmJzMmZ6MDAwK0pqdkhvMGFQNCtmblp6VThsLzAxcWYrOWlZMlB0Z25GcjE2N0Z3OE9EZXZYcW1mUGFBUXdkT3BRV0xWcFF0V3BWU0xnWkpjbFRBRXhFUkVRa0RmampqejlJbHk2ZE9hUml3SUFCZlBqaGg3ejAwa3ZrenAwNzJlM216SmxqM25tK093Zll2N201dVJFWkdXbTNMaXdzN0tIYjV1N3V6c2lSSS9IMTlXWENoQWtNR0RDQWRldldNV0hDQktwVnEwYWZQbjBBbUQ1OU9xZE9uVEszdXplZ1ZyOStmZXJYcncvQTRjT0htVEJoQXF0V3JUSmZ2enNIMkwzclJDUnRtakJoZ3QzeXc4d0JkdTNhTmJKbHl3WUpEd3ZKbENrVEFLKysraXFUSjA4bWYvNzhkT2pRQWF2VmlwT1RFNmRQbitiT25UdFVxbFNKN2R1M1U2Wk1HYnk5dlRsKy9EaHIxNjVsd0lBQlhMOStuWWtUSjVyN0dEOSt2TjArbzZPamFkNjhPUUNmZlBJSnRXdlhmcUxuUVpLV0d0NjdmZnYyTVhEZ1FIUDUvUG56TkdqUXdGeitkd0JzKy9idGRPalFBUWNIQjd2aG5TNHVMbVRMbHUwL0QvbDhVU2tBSmlJaUl2S0VsUzlmM3ZQdzRjTTNBZHV6MnVlU0pVdG8wYUlGOGZIeGZQSEZGOHlkT3hkL2YzLys5Ny8vMGJWclYrYk9uVXV1WExuc3RxbFNwUXFOR3plbVRKa3lrSERuK3NhTkc0bnFMbFdxRkV1V0xPR3Z2LzZpUUlFQ2JONjgyWnd6NTJGOCsrMjNsQzlmSG5kM2Q0b1VLY0s1YytjZzRRdiszV3lMSzFldXNHdlhMZ29XTEdodWx6bHpaazZmUGsxVVZCUVdpOFhNMk5pL2Z6K2xTcFY2eERNbElrOUNTdlJ6anlva0pJUU1HVEtRTGwwNlNBaVFaTStlSFJLR3VjWEd4dEt0V3plY25KejQ2cXV2T0hmdUhPblNwZVAxMTEvSHljbUpXclZxVWFGQ0JmTGx5MGRvYUNpdXJxNFVLVktFQWdVS01Ibnk1Q1QzR1I4ZnorVEprM25sbFZmdzl2YW1aOCtlakJ3NThvRlBFRXhMVXVvYStlNjc3NTc3OTY1NDhlSjA3TmpSYnQyOUU5bkh4c2FhUXlCRFEwTTVkZW9VTldyVWVHTDdmMUVwQUNZaUlpTHk1SFdxVUtIQ1VNTXdObHNzbGsxaFlXSGZuRGx6SnVacDdPank1Y3NVS0ZDQWpCa3pVck5tVGRxM2I0L0ZZbUgrL1BtVUtsV0t0OTkrbTFHalJ0RzNiMTlXcjE1dHQyM2R1blh0bHU4R3d2NnRldlhxdEduVGh1N2R1NU01YzJicTFLbkRTeSs5OU5CdERBb0tZdlRvMGNUSHgxTzhlSEZ6bUdMLy92MFpQMzQ4TzNmdUpILysvTlNxVll1TEZ5K2EyM1hzMkpGaHc0WlJyMTQ5bGk1ZFNva1NKYmgwNlJMcjFxMWo3dHk1Ly9GTWljZ1Q5c3o2dWNlMWYvOStYbjMxVlZhdFdzV0NCUXR3ZDNkbjNyeDUvUG5ubi9UczJaT2FOV3V5Wjg4ZTNucnJMYTVkdTBhbVRKbll1blVydnI2K0FHVE5tcFdzV2JNbXF0ZkZ4WVhpeFlzbld2L25uMzh5WThZTVFrSkNtRGR2SHU3dTdreWNPSkZCZ3dieHhodHYwS1ZMRi9MbHkvZE1qajJGcGNnMXNuUG56dWY2dlN0Um9nU2VucDdKZnVhU01DbCtsaXhaQVBqaGh4OG9VNllNR1RObUpDYkcvdlFaaG9IVmFyVmI3K1RrcFBrdms2RUFtSWlJaU1qVGtjMWlzWFFGdW1iT25EbXNmUG55MjRDTk5wdnQ2eU5IamtRK3hQWVBOR1hLRkVKQ1FsaXpaZzFEaGd5aFFJRUNkTzdjbVFZTkd1RGc0QUFKazhtUEdqV0t2Ly8rMnh4U3VHN2RPclp1M1hyZnV1L2N1Y003Nzd4akx2ZnQyNWUrZmZ1YXl4OTk5Skg1OXp2dnZHTlhsb1RoakhjTkdqU0lRWU1HSmRwSGxTcFYrUExMTDVOdFE5bXlaZG0yYlp1NS9OZGZmK0hyNjB1VEprM3UrOE5CUko2WnA5N1AzZXZtelpzMGJkbzAyZGVUbTNoODI3WnR2UC8rKzd6eHhodDA3TmdSSnljbjl1L2Z6NUFoUS9EeThxSmR1M2EwYjkrZXJWdTNjdmp3WWFwV3JjcVZLMWZNZVpVZTFycDE2L2p1dSsvTUovMU5tRERCbkpPcFVxVktyRjY5bW9DQUFGcTJiRW1SSWtVWU5HZ1E1Y3FWZzRTc28zLysrWWNzV2JJUUZCUkUrdlRwLy9QNWVVNDkwMnZrNk5HanovMTdWN0prU2J2bGE5ZXVZYkZZeUpRcEUvSHg4V3pidGcwbkp5Znk1TWtEQ1ZuVU5XclVJRFkyMXB3SzRGNWp4NDYxVy9iMTlkV0RFcEtoQUppSWlJaklVMklZeHQwL00xc3NsblpBT3ljbnB6c1ZLbFRZQ1d5MFdDeGJnNEtDYmo5SzNlSGg0ZnoyMjI4c1dMQ0FNMmZPRUJBUXdQRGh3M0Z5Y21MV3JGbm0zVityMVdyK216SmxDZ0J0MjdibDQ0OC92bS85Q3hjdUpEdzgvRkdhOXRTc1dyV0txbFdyMHE5ZnY1UnVpb2drZUpyOTNMOTVlSGdrT2ZINC9VUkVSTEJ6NTA1ZWYvMTFTTWlPQWJoOSt6WURCZ3d3QTJyVHAwL0h6OCtQK1BoNFdyWnNTZUhDaGMwaGt3L0wyZG1aZXZYcU1XN2NPSE8rc1h2bHlwV0xNV1BHMEtkUEgzNzY2U2RlZWVVVjh6WERNR2pac2lWV3E1VU1HVExZelErVjJqM0xhNlJFaVJKTW5UbzFWYjEzbXpadFl0R2lSWkF3OStWTEw3M0V1SEhqek0veGhnMGJVcnAwYVZ4Y1hOaTdkKzkvcWx2c1dSNmlqSWlJaUVpeXlwVXIxOTFpc2JSUDZYWThaL0piTEpiQ2htSFlUZVIrejQrQXUrdHR3QS94OGZHcnc2THBVcVZLeFpwclZpNUp1c1lreE1URUpQa2wzMmF6RVI4ZlQzeDh2TGxQd3pCd2RYVzFhMDlxWTdQWm50cXdqbmFkdmZqNVFORDM1MC8rVnZjaGlzc0xTSDFkSXMra24zc1M3azVzLzd3ekRJUDQrUGluMnM4ZFBCajBhMlpYUzhSVDJVRmlxZVlhZVZ5UCs5N2RIY3Bvc1ZoUzlGcE5nV3ZFWkJqRzZ0OSsrMjN4MDl6SDg5OExpSWlJeUhNdDRRZGhPZUMzbEc1TGFwTHdBOEFCU0ErNEdCZ1AzdWhma3J2RDdlam9tQ2JuLzBpTHh5U3BoL3E2Lys1SjlITlBRbW9JZnBFUURIclIrcm5uNVJwNVhJLzczbGtzRm5QUyt4ZFV1WVJncUFKZ0lpSWk4dHo3N2ZEaHc4cWNTVkMrZlBuK3dGVHV1ZE50c1Zpd1dDd1loaEVEN0RFTVkxTjhmUHptSTBlT1hBTW9XS0xjdXluYzdDUTl6YXdya1ZSSWZWMkN0TlRQdlVoc0JoSFA2aHJXTlpJNlBjdHI1Szd5NWN0Lzl5ejJvd0NZaUlpSXlKTm4zc0pPK0tJZllSakdEc013TmtWRVJIeDE1c3lac0pSdDNzTmJ0V29WWVdGaDlPN2QyMjc5MEtGRHFWV3JGbzBiTjc3djlzSEJ3VXlhTklsbHk1WTk1WmFLeURPV1p2cTVleTFhdElqOCtmUFRxRkdqbEc1S1dwQW1yNUdnb0NCaVltS29VYU5HU2pkRi9pTUZ3RVJFUkVTZVBJdGhHRGVCcmZIeDhadENRME4zbmo5L1BqcWxHL1ZmV2ExV05tell3T3pac3grcS9JZ1JJd2dORGJWYkZ4a1p5WjkvL21rK2t2NWViZHEwU2ZLcGJTS1NLcVNKZnU1ZU4yN2NZTVdLRlN4WnNvU1ltSmhreTdtNHVKaHpXdGxzTnI3NDRnczJiOTdNdVhQbnNGZ3M1TStmbndrVEp2RHl5eTgvdzlZL2w5TGNOUUtRSVVNR2hnMGJ4c1NKRXlsZnZueEtOMGYrQXdYQVJFUkVSSjR3QndlSGxVRkJRYk1BYTBxMzVYRnMyYktGQ2hVcWtDOWZQbzRmUDA2dlhyM00xeUlqSS9ueHh4K1pPblVxQUZteVpHSGF0R25FeGNYWjFYSGh3Z1dXTDE5T3o1NDlFOVdmTTJmT1ozQVVJdkkwcEpWKzdsNHJWNjRFd01mSEo5a3lFUkVSZlBubGwrVFBueCtielViLy92MDVlZklrM3Q3ZWxDOWZudGpZV0k0ZVBacXFIemp5cEtURmF3U2daTW1TakI0OUduOS9melpzMklDcnEydEtOMGtla2dKZ0lpSWlJazlZVUZEUWpaUnV3K09Lakl4a3hZb1ZMRnEwaUxWcjEzTHk1RW4yN05sanZ2NndReUFCMHFkUFQvSGl4Wjl5aTBYa1dVb0wvZHk5VHA0OHlWZGZmY1hHalJ2SmxTdFhzdVdxVjY5dVRsYSthdFVxamg0OXltZWZmV2EzVGRHaVJaOUptNTkzYWUwYXVWZlZxbFdKalkwbE1EQ1FEei84TUtXYkl3OUpBVEFSRVJFUlNXVFZxbFU0T3p2ejJXZWZzWHYzYnBZdVhmcFEyNDBZTVlKOSsvYVJJVU1HQU9MaTRyaDE2eGJObXpjM3kxeTdkbzFGaXhaUnBreVpwOVorRVpHSEZSRVJ3ZURCZzNudnZmZHdkWFZOTkpRN1k4YU01cE1rYlRhYitmZm5uMy9PZSsrOWQ5K0FtYVJOUjQ4ZUpTWW1oblhyMXZIZWUrK1JPWFBtUkdXaW9xTG8zTGt6dFd2WHBsZXZYc3lZTVlPdnYvNGFaMmRuT25YcVJOdTJiVk9rN1M4eUJjQkVSRVJFSkpFNmRlcVFOMjllMXE1ZFM0Y09IY2lUSnc5OSsvYmw5OTkvaHlTR1FIYnQycFVPSFRvQU1HREFBQm8wYUFESlRJTGZ2WHYzRkRrbUVaR2szQjNTK05kZmY5R2hRd2N5WnN4b3ZuYnAwaVhtekpsanp2VmtzOWx3ZG5ZbUlpS0N5NWN2OCtxcnI2Wmd5eVdsZlBQTk56UnAwb1RvNkdqV3JGbERqeDQ5RXBWWnQyNGROcHNOSHg4ZmJ0Kyt6YXBWcTlpMWF4ZDM3dHloZmZ2MkZDOWVuSExseXFWSSsxOVVDb0NKaUlpSVNDTEZpeGZueG8wYnVMbTUwYjU5ZXdCbXpKaVIwczBTRVhuaTJyZHZUNHNXTFpnNGNTSjkrdlNoWHIxNjVtdmUzdDdtMzFici8wMWw1ZXpzYkU2U0h4OGZud0l0bHBRVUdocktsMTkreWVMRmkzRnpjNk56NTg2MGJkc1dkM2QzdTNMLys5Ly9xRmV2SG82T2prUkdSZ0tRTFZzMnNtWExScDA2ZGRpOGViTUNZTStZQW1BaUlpSWlrc2lsUzVmdzgvT2pRWU1HakJremhreVpNbEdxVkNsMjd0eVpaUGwrL2ZxUkwxOCtBQ1pQbm13K09USTBOSlRvNkdnYU5HaGdEaHNLQ1FsNWhrY2lJbkovRGc0T2RsbGZ5WW1OallXRXAwQzZ1cnFTSVVNR1RwOCtUZlhxMVo5QksrVjVzWGp4WWlwVXFHRE9iVm03ZG0wQ0FnTDQ1Sk5QN01xRmhZWGg0ZUdSWkIzWnMyZm4xS2xUejZTOTh2OHBBQ1lpSWlJaWlZU0dobEs1Y21YYzNkMHBXTEFnSlV1V1pNZU9IWGg0ZU5DeVpVdTdzaU5IamlRc0xBeUE5OTkvbjE2OWV1SHA2Y24yN2R0WnRHZ1JZV0ZoRkN0V2pDbFRwdURxNnNxUkkwY29XTEJneWh5WWlNaDlyRnExeWk3UWYrYk1HZlB2Mk5oWUxCYUxHY3gvNDQwMytPeXp6Mmpac3VWREJkQWs5VHQ0OENCZmZ2a2xhOWV1TmRmMTZ0V0xkOTk5bHpmZmZKTnExYXFaNndzVUtHQjMvZHdyT0RqWXZHa2t6NDRDWUNJaUlpS1NTT25TcFprOGVUSWtEUEg1NjYrL0FQRDA5S1JVcVZKMlpkT25UMi8rWGF4WU1RekRJQ0FnZ0lNSER6SjgrSEFDQWdKNCsrMjM4Zkx5WXR5NGNab3pSMFNlVzdWcjE2Wnk1Y3JtY3FkT25TaFVxQkFrUE5URHhjWEZmSzEzNzk0Y1BIaVE3dDI3MDdOblQ0b1dMY3J0MjdjSkNncWlTcFVxRkNsU0pFV09RWjZPaXhjdk1talFJSHg5ZmNtZlA3KzVQbHUyYlBUcjE0OWh3NGF4Yk5reTh3YlArKysvajQrUEQyWExsald6eFc3ZnZzMm1UWnM0ZE9nUUF3Y09UTEZqZVZFcEFDWWlJcEpHR0laaHBIUVRVbkxuRm92RmtwTDdUMnRPbkRqQkR6Lzh3TysvLzg2eFk4Y29VYUlFRlN0V2ZPQjJ4NDRkWStyVXFlVE9uWnNGQ3hadzRjSUZBQm8wYUVEV3JGbng4ZkdoZWZQbWRPelkwWHhTcElqSTgrQ05OOTZnWU1HQ1pzRHIzMjdjdUdIM3RML3MyYk1UR0JqSW9rV0xHRGR1SExkdTNTSmp4b3lVTGwyYXVuWHJQc09XeTlOMjZOQWhCZzhlVEtOR2pXalRwazJpMTk5KysyMU9uRGhCdDI3ZEdEZHVITldxVmFOOCtmSk1uejZkQlFzV2NQYnNXUUNhTkdsQ2lSSWxXTFJvRVMrLy9ISUtITW1MVFFFd0VSRVJFVW5rekpremhJV0YwYXBWSzhhTkcwZldyRmxadUhBaHExYXRZdE9tVFhabGI5MjZCY0M0Y2VQWXZYczNmZnYycFZtelpvbnFyRktsQ3A5KytpbVRKMCttVWFOR1RKZ3dnUm8xYWp5ell4SVJ1WjgzM25qRGJ2blNwVXU0dWJtUklVTUdvcUtpV0x0MmJhSU0yT3pac3pOczJEQ0dEUnYyakZzcno4cTFhOWY0NktPUDZOS2xTNUpQZTd5cmYvLytBQXdlUEpndnZ2aUM3Tm16VTZOR0RXclVxTUhseTVkcDJyUXAvL3ZmLzU1aHkrWGZGQUFURVJHUkZHV3oyWEIwZEV6cFpzaS9ORzNhbEtaTm15WmEzNkZEaDBRL0FEcDM3Z3hBM2JwMTZkbXpKMW16WmsyMjNtelpzakZwMGlST25EaVJiSmFGUFArZWc0elRsUFRDSHZ1TGxtazdhdFFvRGgwNkJBa1QzNWNwVXdaL2YvK1VicFk4WXpseTVHRDkrdlYyd3g2VDR1RGd3TUNCQStuYXRTdlpzbVY3WnUyVGg2Y0FtSWlJaUR3MVAvLzhNMWV1WEtGRml4Ym11aVZMbGdEZzVlVUZ3SHZ2dmNmMDZkTWYrTVZTVWw1eWQ3NVhybHlaN0RiRml4ZG4yYkpsaWRhWExGbnlpYlpOUk9SSlc3eDRNZkh4OFZpdFZweWNuSEJ3Y0VqcEpra0srUy9mVVJUOGVuNHBBQ1lpSXZJQyt2SEhIeGs5ZXZSRGx5OVpzaVI1OCthMWV6TFdnMlRKa29YNTgrY3phZElrUWtKQ2lJaUlJQ0lpZ3BNblR3Snc5ZXBWQUs1ZnY4NzgrZk54YzNPalFvVUtOR3JVaUt0WHI5SzRjZVA3UGxVcklpS0M3ZHUza3pObnpvZHVrNGpJaThnd0RBekRVQURuRVRnNE9OaE5mQy95S1BMa3lVTlFVRkJLTitPRnB3Q1lpSWpJQzZoYXRXcHMyTEFoMGZvRkN4YXdiOTgrVnF4WVlmZER5Y25KQ1JjWEYzcjM3bjNmZWc4ZlBzenMyYk5adm53NUZvdUY5T25UczNUcFVtN2Z2azFvYUNpeHNiSEV4Y1VCVUs5ZVBRRDI3OTlQalJvMThQVDB0QXRtWmNtU2hUMTc5aVM3cjMvUDFTSWlxY1B5NWN0NTY2MjN5SmN2bjkzNm8wZVAwcVZMRjVZc1dVTDU4dVVUYlJjWUdFaGtaQ1ErUGo0QUJBY0g0Ky92ejVvMWF4NHFzQk1jSE15a1NaT1N6RWk4VjJ4c0xOOS8vejMxNjljSFlPdldyVlNwVXVXNURiYmJiRFptenB4Smx5NWQ3REpQcWxXcnhzOC8vd3pBdDk5K3kvZmZmOC9Zc1dOVHNLVWlJaWxMQVRBUkVaRVhrTE96TSs3dTduYnJnb09EMmJoeEl5Tkhqc1REd3lQSjdSNTBGenhkdW5SWUxCYno2WDVXcXhVUER3KzcrdTcrWGJSb1VVaVlMTFppeFlwNklxQklLaE1ZR01qcTFhdk41Yng1OCtMaDRjR3hZOGR3Y1hIaG4zLytJV2ZPbkRnNE9IRGx5aFYyN3R5SnU3czdobUh3MFVjZnNXTEZDbk8rT0t2VnlyUnAwNmhXclJvQkFRRXNYcnlZZTZlYmlvNk81clBQUG1QaHdvWG11bzBiTjFLbFNwVWtnMThqUm93Z05EVFVibDFrWkNSLy92a252cjYraWNxM2FkT0dtalZyQWpCcjFpekN3c0xNQUpqRllpRWdJQ0RKckZsdmIyOE9IanlZNVBsWnNXSUZzMmZQNXZ6NTh3OTFQZ0VHREJqQXBFbVRIcm84d01jZmYweldyRm5wMUtrVHZyNitabnRzTmh2anhvMEQ0TysvLytieTVjdm1zcSt2THhrelptVDA2TkhzMkxFRFoyZm5KT3VPaTR1alljT0dtdmRLUk5JRUJjQkVSRVRTbUsxYnR6SjM3bHlXTDE5T1ZGUVVnd1lOSWp3OG5NS0ZDek55NU1na3N4Z2lJeVB4OC9PalpNbVNOR3JVS05tNlQ1dzRRYTlldmV4K0xGbXRWdnIxNjBmanhvM3R5aHFHZ1plWEYwMmJOcVZWcTFaMDdOaVJzTEF3ckZZck4yL2VKRWVPSEhaL0F6UnIxb3h1M2JvQkVCWVdScE1tVFpKdFMxaFkyQ09kSHhGNU1qcDE2a1NuVHAzbzBLRURFeVpNSUgvKy9Bd2NPSkRKa3lkVHBrd1ptalQ4SnRLMUFBQWdBRWxFUVZScHdxZWZmb3E3dXp2Tm16YzN0K3ZhdFN0SGpoeGgwYUpGREI0OEdJRFpzMmZqNXViR25EbHo2TkdqQjRzWEwrYkREejgwdC9uc3M4K29WNjhlQlFzVzVPREJnNVFvVVlJZE8zWVFFeFBEeG8wYjdkbzFjK1pNT25mdWJHYWIzblhod2dXV0wxOU96NTQ5RXgzTDNYNXh6NTQ5Yk55NGtXTEZpcGtQZDdoeTVRcXVycTdtOGwwQkFRRk1uRGlSbUpnWUFOcTNiMC9YcmwzTjdGWVBEdyttVDUrT3pXYXoyeTRrSklUT25Udno4Y2NmbTBHMnU5emMzS2hWcTlZRHozM3YzcjFwMDZZTnRXclZ3c1hGQlNjbko4cVdMVXUrZlBuSWtpVUxBRnUyYkRIYmN2andZZUxqNDgzbGRPblNtWFg1K3ZyU3RtM2JKUGV6YnQwNmdvT0RIOWdlRVpIVVFBRXdFUkdSTkNRNk9wcHAwNll4YU5BZzh1VEp3K1RKazZsWXNTTERoZzFqNHNTSmpCdzVrdm56NTl0dEV4OGZ6eWVmZk1MdDI3ZTVlZk1tZi96eEIxZXVYS0Ztelpxa1Q1L2VycXpWYWlWZnZueDJrNTZQR0RIQy9BRjRMNHZGd3BneFkvRDE5Y1hGeFlWUFAvMFVFbjZFamhremhpVkxsdGo5L1crWk0yZTJHNmI1OXR0dnMyVEpFbkxseW1VdWk4anpaL0xreWJpNXVYSHo1azBHREJpQWs1TVQxNjlmdHlzemF0UW9NNk4wL3Z6NS9QVFRUK2JRNndrVEp0Q3hZMGN5Wk1oQWh3NGRPSC8rUEZ1M2J1V3p6ejdqNjYrL1p0bXlaVlNxVklrMzMzd3pVV1pTbXpadGNISnlTdllKbytuVHA2ZDQ4ZUpKdnJaNzkyNG1USmhBK3ZUcDdSN2NzWHYzYnZMa3lVT3BVcVhNZGZueTVVczBSNkdEZ3dPWk1tV3l1OG1RVkdiVnVISGp5Smt6SjYxYXRVcnlDYmpKWldQOWUxOHVMaTVtNXF6TlpxTml4WXB3VHpEUDM5K2ZxbFdyQXZEU1N5OVJ2WHAxeXBZdCs4QzZSVVRTS2dYQVJFUkUwcENqUjQ4U0ZSWEZtMisrQ1FtWlhYbnk1QUdnUTRjT05HL2VuQ3RYcnBoQkpKdk54c2lSSTgxc0RGOWZYK0xpNHRpeVpRc3pac3pBejgrUDZ0V3JQM0o3OHVmUFQyQmdJQmt5WkdEcTFLbDgvZlhYT0RrNUVSNGVUcE1tVGJCYXJlYmZJU0VockZ5NWt1TEZpK1BwNlVsQVFBQVJFUkZtZGhpQXE2dXIrWVB2ODg4L1R6U01VMFJTWG84ZVBTaFJvZ1FkTzNaazJMQmhaTTZjbVM1ZHVrQkNObFYwZERTT2pvNjR1N3N6Y09CQUxsMjZ4T0xGaThtVUtSTUEyYk5uWi83OCtmVG8wWU5qeDQ1aEdBYXVycTZNSFR1V1gzLzlGUjhmSDJiTm1zVzZkZXNTN1RzdUxzNE1ySTBZTVlKOSsvYVpmVVpjWEJ5M2J0Mnl5MGE3ZHUwYWl4WXRva3laTWdRRkJURi8vbng2OXV4cEY4VEtrQ0VEbVROblRqUkg0YVBZdkhremUvYnNZZmJzMlVrR3YrNGFNbVFJaHc4Zk5vZUJHb2FCdTd0N2tzZjgvZmZmRXhnWXlLUkpremg0OEtBNVREUWtKSVRaczJmajZ1cEtTRWdJYm01dXVMcTZBckI2OVdyYzNOd2dZZTdId01EQUpOdHg1ODRkNnRhdCswakhLaUx5dkZFQVRFUkVKQTBKQ3d2RHpjM05ibmpMWGRtelo0ZUVIM3k1Y3VVaUtpcUs0Y09IYytEQUFSWXNXRUNSSWtVZ1ljTDcyYk5uczIzYk5vWU1HY0xycjc5Ty8vNzlIL2tIMytuVHAzbjU1WmNCNk4rL1B4NGVIbXpldkprSkV5Ync0NDgvOHMwMzN6QjY5R2k2ZCs5dWJ1UGc0TUR1M2J0Smx5NmQzVENva0pBUXV4K05OMi9lTkk5TFJKNnQvZnYzczNidFdpNWV2TWpZc1dNcFhibzBKQVNIc21mUGpvT0RBeDRlSHJpN3U1di9id01EQXpseTVBaFhyMTVsMDZaTjVNdVhqMDgrK1lUUTBGQzd1UUp6NU1oQllHQWdXN2R1cFU2ZE9vU0hoL1BwcDU5U3RXcFZtalZyUnZIaXhUbHk1QWhmZnZrbDN0N2U1blpXcTlWdXJzSUJBd2JRb0VFRFNHWVMvSHY3bmNHREIyTzFXb21NakxRTENGMjhlSkVMRnk3d3h4OS9tT3NxVjY1TXNXTEYvdFA1K3UyMzN4Zy9mandGQ3haa3c0WU52UHp5eS96enp6OW01dGE5SWlJaUdERmlCRFZxMUFEZzh1WExkTzNhTmNsNjY5U3B3K25UcCtuUm93ZnIxNjgzaDZNUEd6YU1kOTU1aDhxVks5djkvVy9kdW5XalpjdVdrREN2MnNtVEp4azJiSmk1L09lZmYvNm40eFFSZVY0cEFDWWlJcEtHRkNoUWdOdTNiM1A5K25VOFBUM3RYcnM3ajB1ZVBIazRjK1lNZ3djUHh0SFJrY0RBUUFvV0xKaW9yaVpObWxDeFlrWDgvUHp3OGZIaHM4OCtBK0RreVpPODlkWmJacm1JaUFqS2xTdVhiSnRtejU1TnUzYnR6T1hqeDQremI5OCtUcDQ4eWNtVEp6bCsvRGdSRVJHSnRqdDc5aXl0V3JXeVd6ZHk1RWk3NFVIWnNtVWpJQ0RnNFU2T2lEeFJSWW9Vb1gzNzl2ejExMTgwYmRxVXdvVUxzMnpaTWdZTkdvU0xpd3ZYcjErblk4ZU81aVQ0QUlNR0RTSTBOSlIzMzMyWGpCa3o0dXZyUzNCd01INStmdWFRNThPSEQrUG41OGVZTVdQdzh2S0NoRUQ2OGVQSFdidDJMVTVPVHJ6eXlpdDRlSGd3ZHV4WVhuLzlkVXFXTEFrSlQzQjgwTU02SHNURHc0TzVjK2VheTdObno2Wmt5WkoyL2Q1L2RmVG9VWHg5ZlduV3JCbGx5cFJoMTY1ZC9Qbm5uL2o1K2ZIV1cyK1prOUkvcXU3ZHU5TzJiVnN6QTlqVDA1TmJ0MjRSRkJTRWs1T1QrWGQ4ZkR4bHlwUmgrdlRwQVBUcjE0L2c0R0RTcFV1SG82TWp6czdPT0RvNm1sbHpyVnUzeG1xMVBuSzdSRVNlSndxQWlZaUlwQ0ZGaXhhbFNwVXFEQjgrbktGRGh4SWZINC9OWnVQRWlST01HemVPeG8wYmt6MTdkZzRjT0VDWk1tVVlNbVNJT1NRbUtibHk1V0xSb2tWY3ZuelpISXJ6eWl1djJHVlEzSS9WYWlVNE9KaXlaY3R5NU1nUmJEWWIyN1p0bzErL2ZreWZQcDJRa0JDekhmSHg4ZVoyMGRIUkhEaHd3TXpjdUd2T25Ebm1rRTRSU1ZtZW5wNTRlbnJpNXVaRzJiSmx5WjgvdjVreG1pdFhMcnRKOEpjdlgzN2Z2b2FFTEtmRml4ZHo0TUFCUm80Y1NZVUtGUUNJaVlsaCtQRGhlSGw1Y2ZyMGFjNmZQMC85K3ZYSm5UczNuVHAxWXV6WXNRUUdCdUxvNkVoc2JLeGRCdXpreVpPWlBYczJBS0dob1VSSFI5T2dRUU9jblA3dloxQklTRWlpZG9TRWhOaGxuZ0ljTzNiTWJrNUNnR25UcHBsUHNieWYvZnYzTTNEZ1FPcldyY3ZRb1VQNTZxdXZBSGp0dGRmWXNHRUQ0OGFObzFXclZnd2RPcFE2ZGVvOHNMNmtSRVJFRUJ3Y1RJa1NKY2lkT3plYk4yL21ndzgrWU1TSUVSUXNXSkFPSFRvd2FkSWsvdm5uSDdzbmR6bzVPZEdyVnk5KytPRUhNMHN2T2pxYXExZXYydFh2NU9UMHdQZFBST1I1cHdDWWlJaElHak5seWhUbXpKbURqNCtQK1NQbTY2Ky9wbjc5K3VhUHVzYU5HeWQ2YW1OeUhCd2N5SmN2SHdCbHlwUjU2T0FYQ1ZrYjk4NmRzM3o1Y2w1OTlWV2FOMjlPU0VnSVI0NGNZY1NJRWZqNyszUHAwaVZ6dXkrLy9KSmN1WEt4WU1FQ2F0U284Y2pETDBYazJTcGJ0aXpSMGRHY1AzOGVxOVhLeFlzWENRME5wVzdkdW9tZWhuaXZTNWN1MGFGREI5cTBhY082ZGV2c3NxRisrdWtuVHA4K3pZUUpFOGlUSnc5RmloUXgrNjhPSFRydzg4OC9jLzM2ZFhMbHlrVjBkTFNaQWZiKysrL1RxMWN2UEQwOTJiNTlPNHNXTFNJc0xJeGl4WW94WmNvVVhGMWRPWExraUprQkd4a1pTVlJVRkg1K2ZsU3JWZzBTSGhMU3YzOS9ac3lZa2FqTkQ4cllzdGxzTEZxMGlCVXJWdURsNVlXWGw1ZDVJK0V1VDA5UFpzNmN5ZnIxNnhrMmJCamp4NDgzZzJERGhnMHpNMTdqNCtQdk96bitzV1BIbURKbENpdFdySUNFK2M3T25EbkQ4dVhMR1RwMEtPZk9uZVBBZ1FQa3o1L2ZicnR6NTg1UnVIQmh1N3AvK2VVWGZIMTk3Y3IxNk5GRGM0R0pTS3FuQUppSWlFZ2FrekZqUm9ZT0hjclFvVU1aTVdJRWVmTGtvVWVQSGs5dGZ4RVJFVVJFUk9EcTZzcnZ2Lzl1RHAwQk9IandvRGt2RUVDdFdyWHc4ZkdCaE1DYXY3OC9Gb3VGVWFORzBhWk5HNXlkbmZubm4zOVl0R2dSa3lkUDV1alJvM2g1ZWRHL2YzOE13MGh5L3phYjdiNlRTYWNteDA4RzA2NnpWMG8zNDRWMC9HUndTamNoVmJ0MTZ4WWhJU0dzV3JYS0hOSWNGaGJHckZtenpHd3JMeTh2S2xXcWxPVDJIaDRlckY2OTJpN1lQV1hLRkdyWHJrM2x5cFZadVhJbGhRc1hUdlJrV2xkWFYvTXBzdkh4OFhZWllNV0tGY013REFJQ0FqaDQ4Q0REaHc4bklDQ0F0OTkrR3k4dkw4YU5HOGVycjc1cTFyVmp4dzYrKys0NzgrOWJ0MjV4OHVSSkFCbzBhRUNGQ2hYc3NzdDY5KzZkN0JNbFNjaUFQWExrQ0hQbnprMXk3cTE3dFduVGhobzFhcGdacm5lZmh2bXdEeUg1NDQ4LzdKN3d1R3ZYTGw1Ly9YVnUzcnpKNU1tVEtWZXVIRXVXTEtGWnMyWjIyKzNkdTVjN2QrNFFIeCtQZzRNREFLKy8vanFqUm8xNnFQMCtDdlZ6S1NlMTlITzZSbEpPYXJsR0hwVUNZQ0lpSXZKWVRwdzRZVTVDblRGalJuUHlaQkt5T3U3OWdWbThlSEZ6R00zZHA4TDE3ZHVYb0tBZ1huNzVaUW9VS01DUUlVT29WYXNXbFNwVm9sS2xTaFFzV0pBbFM1WmdzOWxvMmJLbEdleXkyV3pFeGNYUnFWT25STmtLcVpHQnNUVXNMSUtmRHdTbGRGTmVYQlpqUzBvM0lUWFp1M2N2TzNiczRPclZxOHliTjQrYU5Xc3lkZXBVOC9VbVRab3dkZXJVWkovVyt0ZGZmNWxCOGd3Wk1pVEs5QXdPRHFaR2pScGt5cFNKMHFWTFk3VmFPWFBtREtkUG42Wnc0Y0tKSnFHL0czaTcyOGNjTzNhTXFWT25ranQzYmhZc1dNQ0ZDeGNnSVppVk5XdFdmSHg4YU42OE9SMDdkaVJEaGd5MGF0V0tWcTFhRVI4Zno4YU5Hd2tNREdUeTVNbE1tVEtGRGgwNnNHWExGbng5ZmFsWnMrWkRuWjkwNmRJeGYvNzhoejZmZHpOdFNaaDM3TDg0ZXZTb21Ua1dIaDVPUUVBQUFRRUJaTXlZa1c3ZHVqRmh3Z1JpWW1LWU4yOGVtVE5uaG9TaGpwczNieVpqeG95c1diT0c5OTkvL3ovdDgxR29uM3NPUE9mOW5LNlI1OEJ6Zm8ySWlJaUlZQ1RCMzkvZldMQmdRVkl2UFRQeDhmR0dZUmhHZUhpNEVSVVZkZDh5aG1FWTU4NmRNNktqbzVNc1o3VmFqZGpZV0NNNk90cUlpb295b3FLaURLdlZhaGpKcFllSnlGTmhHSVp4OXV4WjQ5aXhZMFpjWEp4aEdJWXhjZUpFbzNIanh1YS9TcFVxR1kwYU5US1hPM2Z1YkJpR1lWeTRjTUdvV3JXcVViOStmZVBiYjc4MXpwNDlhOVN0VzllNGMrZU8rWC85K3ZYclJ1M2F0WTNMbHk4YmMrZk9OVnEwYUdGVXJselpxRmV2bnRHdFd6Zmo5OTkvTnd6RE1DNWV2R2lFaDRjYmNYRnh4cGRmZm1rMGJkclVNQXpER0R0MnJGR25UaDFqOCtiTlpwMG5UNTQwUHZqZ0EzUDV4bzBieHFCQmc0emF0V3NiUC8zMGszSDU4bVZqNmRLbHhydnZ2bXY0Ky9zYk4yN2NNT0xpNG93R0RScVkyM2Z0MnRWbzI3YXRzV3JWS3VQQ2hRdVAxQ2R1M3J6WitPaWpqLzd6ZHBjdlh6WkNRa0tNeTVjdkcvWHIxemQrL3Zsbncwam9GMnZWcW1XY09uWEtDQXNMTTVvMmJXcWVuMHVYTGhscjE2NDE2OWk1YzZjeGFOQWd3ekFNWThhTUdZYVhsNWR4L2ZwMW8xbXpac2FjT1hPTXVYUG5HdjcrL29uMmJiUFpqUGo0ZVBXekl2SlVsQzlmL3J2eTVjdC85N1Qzb3d3d0VSR1JOT3hwRG1ONVdIZm52TG5mZkRuM3pvdVQxQk1wNzNKMGRFd3p3eDFGVXJ0Q2hRclpMUThlUEpqQmd3Yy9jTHV6Wjg5U3FGQWhKazJhUlA3OCtiRmFyUlFxVklpNmRldWEvNzhkSEJ4bzFhb1Z1WFBucGxxMWFsU3VYSmxpeFlvbHlpYno5L2ZueUpFakdJYUJ1N3M3Zm41K0FOU3RXNWVlUFh2ZWQ1TDZiTm15TVduU0pFNmNPR0cySjB1V0xFeWZQdDNNeHJyM0NZakZpeGRuNmRLbEhEcDBpRTJiTnVIcDZVbUJBZ1grNDFsN2RQNysvaHc2ZEFpTHhVSzVjdVhNcCsvKy9mZmZwRStmbnNLRkN4TVpHWW5GWWpFemIvUG16VXZidG0wNWN1UUlmZnIwSVRZMkZuOS9mODZjT2NPR0RSdFl1WElsMmJOblo4V0tGU3hldkppOWUvZHk0OFlOdnZubUc3TmZqbzJOeGNIQmdkMjdkeit6WXhVUmVSb3NEMUZHUkVSRUpGbDM3OWdkUG54WU15U0x2Q0NNeDh5NmpJdUx1KytrN3YrVjFXbzE1eHA3RVJtR2djVml3VEFNUWtKQ3lKNDkrd08zQ1E0T1RuWU9NNnZWU254OHZQbDBYZ2NIQjF4Y1hMRDhleFovRVpFbjRGbDlsM3h4UHlWRVJFUkVSQ1JGUE1uZ0YvQkNCNys0SjR2V1lyRThWUENMaEl5MjVMem81MU5FMGliMWJDSWlJaUlpOHArOGlKbEF5bllWRVVuZEhGSzZBU0lpSWlJaUlpSWlJaytUQW1BaUlpSWlJaUlpSXBLbUtRQW1JaUlpSWlJaUlpSnBtZ0pnSWlJaUlpSWlJaUtTcGlrQUppSWlJaUlpSWlJaWFab0NZQ0lpSWlJaUlpSWlrcVlwQUNZaUlpSWlJaUlpSW1tYUFtQWlJaUlpSWlJaUlwS21LUUFtSWlJaUlpSWlJaUpwbWdKZ0lpSWlJaUlpSWlLU3Bpa0FKaUlpSWlJaUlpSWlhWm9DWUNJaUlpSWlJaUlpa3FZcEFDWWlJaUlpSWlJaUltbWFBbUFpSWlJaUlpSWlJcEttS1FBbUlpSWlJaUlpSWlKcG10UFQzc0hMSmNwMU42RDkwOTZQSk04Q3E4K2QvRzF4U3Jjak9icEdVcDZ1RVhrUVhTTnlQN1o0eWxrc3h0V1Via2RxcCtzNDVhbXZrL3RSWHlmeTlLbWZTM25QKzJmaDQzanFBVEFEMm1mT25MRk9xUkxGbi9hdUpBbkhUd1lURmhZQjhOeGV3THBHVXBhdUVYa1FYU1B5SUNlUC9VNjh6WmJTelVqMWRCMm5MUFYxOGlEcTYwU2VQdlZ6S1NzMWZCWStqcWNlQUFNb1ZhSTRhMVl1ZVJhN2tuOXAxOW1Mbnc4RXBYUXpIa2pYU01yUk5TSVBvbXRFSHVTMVdxOFRIaDZlMHMxSUUzUWRweHoxZGZJZzZ1dEVuZzMxY3lrbnRYd1dQaXJOQVNZaUlpSWlJaUlpSW1tYUFtQWlJaUlpSWlJaUlwS21LUUFtSWlJaUlpSWlJaUpwMmpPWkEweEVSRVJFUkVSRTVHbXlXcTFzMjdhTlpzMmFZYkZZQURBTWcram9hS0tqbzRtTWpPVDY5ZXRjdlhxVmE5ZXUwYTVkTzV5ZG5WTzYyZktNS0FBbUlpSWlJaUlpSW1uQ2hnMGJDQXNMbzJQSGpuejMzWGQ4OHNrblpNK2VuY3laTTV2L01tWEtSSllzV2JoNTh5Wm56NTdGMTllWERCa3kzTGRlcTlWSy92ejVXYnQyN1RNN2xudTk4Y1liT0RnNG1JRzlmN3Q5K3phZmZ2b3B4WXZyQ1pySlVRQk1SRVJFUkVSRVJGSTlKeWNuUm93WVFaY3VYWGp0dGRldzJXeTg5ZFpiakJvMUt0bHR6cDQ5UzZsU3BWaTVjdVY5Ni83MTExK1pPblhxWTdWdjZ0U3A1TWlSZzA2ZE9qM1M5cHMyYlNKVHBreEp2dGFoUTRmSGF0dUxRQUV3RVJFUkVSRVJFVWtUaWhZdHlzU0pFOG1mUHo5bno1NGxPanFhcTFldkppcm40dUpDMXF4Wm4ybmJnb09EY1hkM2YrVHRPM2JzaUlORDBsTzUvL1BQUDQvUnNoZURBbUFpSWlJaUlpSWlrdXFGaDRkanM5bW9XTEVpVGs3L0YrN1l0MjhmSjArZXRDc1hIUjFON3R5NVdiRmloZDM2M2J0MzQrL3ZUK2JNbVFHdzJXeTR1N3V6WWNNR3UzSldxNVZaczJheFk4Y09JaUlpcUZTcEVuUG16QUZnNXN5WmZQUE5OOXk2ZFl0Q2hRcmg1K2RIaVJJbHFGbXpKdEhSMFJ3NmRJajU4K2V6Wk1rU3lwY3ZiMWZ2VzIrOXhjYU5HNVBOOHZyMDAwK1ZBZllZRkFBVEVSRVJFUkVSa1ZSdnlKQWhuRDU5bWlwVnFqQjI3Rmlpb3FKbzBxUUpqUm8xb216WnNtYTVTWk1ta1NWTGxpVHJlUDMxMTVrd1lRSUE1OCtmWitEQWdZbktiTnEwaVcrLy9aYWxTNWVTSTBjT2poOC9icjdtN096TW9rV0x5SjQ5T3hNblRtVGl4SW1zV0xHQ0gzNzRnUjQ5ZWxDbFNoVzZkdTFxQnVqK2kvYnQyeWViQVpaVWxwdllVd0JNUkVSRVJFUkVSRks5Z0lBQWR1L2V6ZmZmZncvQXJWdTN5SkFoQXdFQkFlVE1tUk0vUHovKytlY2ZkdXpZa1NpcjY3K3dXQ3hFUlVVUkVoSkNnUUlGcUZDaGd2bmFSeDk5UkZSVUZILzk5UmU1YytkbTE2NWRBRGc2T21LeFdIQndjSGlrNEJmQTZ0V3JsUUgyR0ZKRkFNd3dEQXpEU0RiU0tTSWlJaUlpSWlKeXIxT25UbEd6WmsxOGZId1lOV29VM2JwMXcycTE0dVBqUS9iczJSKzUzaFl0V25EcjFpMzY5ZXRIM3J4NStlaWpqNmhldlRxaG9hSDQrL3R6OHVSSkNoY3VqTE96TTdHeHNmZXRhOVNvVWV6WnN3ZUFpSWdJbWpScGdzVmlvVWlSSWl4ZHV0U3VyRExBSGsrcWlDajk4Y2NmOU92WEw5SDZnd2NQVXFsU0pkYXZYNS9zdHYvODh3K2ZmLzc1VTI3aGt4VWVIcDdTVFJCSjh3NGVQRWpWcWxXWk9ISGlFNis3WmN1V1hMdDJMZEg2Y2VQR3NYdjM3bVMzaTQrUFo4aVFJV3pldlBteDlqOWh3Z1NHRGgzNldIV0lTT3AyN2RvMTgvdkU4ZVBIYWRpdzRTUFYwN0JoUXk1ZXZJaWZueC9yMXEzRE1Jd2t5ejNOUHRVd0RKWXRXL2JFNjVXSGQvSGl4VVR6NU56VnExY3Z2TDI5azN4dDNMaHg3TnUzejI2ZDFXcWxjK2ZPTEYrKy9LSDJQWERnUUk0ZVBmb0lyZGJub2NpTExqWTJsdjM3OTFPK2ZIbWNuWjNwMzc4LzE2NWQ0OXk1YzVRclZ5N1o3ZmJ1M1V2RGhnMXAyTEFoM2J0M1Q3S01rNU1UM2J0M1o4ZU9IYno1NXB2MDZkT0hrSkFRVnE1Y1NYaDRPTnUzYjJmKy9QbTBidDNhYmp1THhaS29yaEVqUnJCMzcxNzI3dDJMaDRjSDI3WnRZKy9ldlltQ1h5UmtnRzNldkRuSmYwV0tGSG1rOC9RaWVlNHp3Q0lqSXdrS0NxSm8wYUtFaDRmajdPeU1xNnNybHk5Zlp2ejQ4WXdmUDU3WnMyZFRyVm8xQ2hRb2tHajc5T25UczJYTEZpSWlJdWpTcGN0OTkzWDA2RkhtejUvUDhlUEhpWW1KSVhmdTNNeWRPNWM4ZWZLd1pNa1M1cytmVDc5Ky9Yai8vZmNUYlh2cTFDbmF0V3ZIRzIrOHdaUXBVNmhjdVRMeDhmR0p5ams3Ty9Qenp6L2JyUnMrZkRoVnFsU2hhZE9tL1A3Nzc0d2VQWm9OR3pZbzQwM2tLVGwyN0JqRGhnMWp6Smd4ckZpeGdqVnIxdEN1WGJ0RTVSWXVYTWl1WGJ2dzhQQ0FoUC9ubjN6eUNZc1hMNGFFWUxXcnF5dk96czRBckYyN0ZrZEhSMncyVzdJL0VwTVRIeC9QbURGaitPYWJiN2h3NFVLaWxPeGV2WHBSclZvMWMzblNwRWw4L2ZYWHVMcTZjdjM2ZGZidTNVdkdqQm41KysrLytlcXJyd0M0Y09FQ0w3MzAwaU9jSVJGSjdjYU9IVXZwMHFYNThNTVBINnNlVjFkWGJEWWJBd2NPWk1TSUVSUXVYSmhLbFNyWmxYbmFmZXFmZi83SnZuMzc2TnExS3dCTGx5NWx5NVl0WnIxV3F4VlhWMWUrK09LTHh6cldGNEhOWnFOSmt5WjI2MXExYXNXS0ZTdkluajA3a1pHUnhNWEY0ZTd1enAwN2Q2aFhyeDZEQnc4bVE0WU1yRisvSG1kblo3dnZ3VC8rK0NNWExsekF3Y0dCWDM3NWhhcFZxejZ3RFd2V3JNRm1zN0ZxMVNyZWZ2dHRQRDA5SWVIOUh6RmlSS0x5Zi96eEI3Tm16VElucEw2cldMRmllSHQ3Ni9OUVJKSzFmdjE2U3BZc1NhNWN1ZmoxMTEveDkvZW5YcjE2NU1xVmkrN2R1ek4xNmxRcVY2NXN0ODFMTDcyRW41OGZqUnMzaG9RaGxIZjdrbnNkUEhnUVQwOVBYbnJwSlVxWExvM05aZ01nSmlhR2RPblM0ZWpvU0hSMGRLSmtuY3laTTNQNjlHbWlvcUt3V0N5NHVybys4RGhHalJyRjNyMTdBV2pldlBsOXkvcjQrT0RoNFpIcWtvQ2VsZWMrQURaKy9IaCsvUEZIQ2hRb1FGQlFFSlVxVmFKNTgrYjA3OStmNGNPSFU2RkNCYkpreVVMZnZuMlpObTBhQlFzV3ROdmUzZDJkR1RObTBMNTllMnJXckVuUm9rV1QzTStsUzVmdzl2YW1YYnQyREJreUJLdlZ5bSsvL1dZWG9iMzc0ZCsrZmZ0RWtkczFhOWJnNXVabUxtL2J0ZzNETUxoMDZSSWZmdmdoSzFhc0lFZU9ISW0yTzNIaUJIdjM3cVZ2Mzc0QWxDMWJsblRwMHJGdDJ6YWFObTM2Uk02aGlQeC8zM3p6RFZPbVRHSGt5SkhVckZtVEtsV3EwTGR2WDg2ZE8wZS9mdjBTZlFqVnJsM2JITk0vY2VKRTZ0ZXZULzM2OVFIbzFLa1RvMGVQTnZzZHE5WEtuVHQzTUF5RDZPaG9ZbU5qN1FKaDhmSHhXSzFXWW1KaUlPSE9rYU9qSTdkdjMyYjQ4T0ZreTVhTlgzNzV4WndUd0RBTUprK2V6SlVyVjVLOFN6Vm8wQ0JlZmZWVmZIeDh5Smd4STRaaE1HYk1HRHAwNklETlpzUGYzNThsUzVhWVB5WkY1TVZ3NGNJRjl1M2JSNTgrZmJoejV3NHhNVEVZaHNHZE8zZnN5ams2T3BJdVhUcEl5TlE1Y2VKRW9ycXVYcjNLd0lFRHpYSXpaODdFeTh1TE9uWHF3RlB1VSsvNjhjY2ZxVnUzTG4zNzlxVno1ODUwNjlhTmJ0MjZtYS8vL3Z2dlpoQk43cy9SMFpFZE8zYnc0NDgvc25QblRzYU9IY3VaTTJmNC9mZmZtVHQzTGx1MmJPSEVpUk1NSGp5WTdkdTNtNWxYMmJKbFk5S2tTWGg3ZTFPL2ZuMDhQVDI1ZlBreW8wZVBadEtrU2NURnhURml4QWhXclZwMTN5RkZwMDZkWXRXcVZRUUdCckoxNjFZR0R4N013b1VMY1haMkpuMzY5UFRzMmRNc2UvbnlaV2JPbkltYm14dHhjWEU0T1RuWlRScWRJVU1HczZ3K0QwWGtYcGN2WHlZMk5wYnc4SEI2OXV4Si8vNzlPWExrQ0gzNzlqVURXMjV1YnZUcDB5ZlJ5SXVpUll2YXhReXlaczFLeDQ0ZEUrM2oyclZyK1BuNUVSNGVUcDQ4ZVJnL2ZqelpzbVdqVTZkT0RCczJqR2JObXVIcDZjbHJyNzNHTDcvOFltN1hzV05IaGcwYlJyMTY5Vmk2ZENrbFNwU3dxM2ZzMkxHa1Q1L2VidDI5TndkKysrMDNQdi84YzN4OGZNaWJOeStSa1pITW5EbVRXclZxVWIxNmRmVnpEL0RjQjhER2poMUxpeFl0V0xseUpZNk9qdXpmdng4dkx5L1NwMC9QOU9uVHpYTHAwNmVuZS9mdWRPL2VuVFp0MnRqVmtTMWJOaXBXck1pVUtWTll0R2hSa3ZzSkNncUNoQ3lMdXdvVkttUlhwbmp4NHB3NmRZcWZmdnFKMTE1N3pWd2ZHaHJLcmwyNzdDYSt5NUVqQndCUlVWRm1HM0xtekdsWFgyeHNMQ05Hak1EYjI5dThHd293ZE9oUWV2ZnVUZG15WlpQTWFoT1IvKzc2OWV2TW1qV0xzMmZQc21EQkF2UC90N3U3TzRzV0xXTFdyRm0wYXRXS0R6LzhrSVlORzVvLzlpSWpJN2wxNnhZazNEa25ZWUxKbUpnWXJsMjd4b0FCQTdCYXJmVHIxNC9ZMkZqbXpadkgxYXRYK2Zqamo2bFRwdzVyMXF3eDd6cGZ2MzZkL2Z2M3MzVHBVbTdldk1tSEgzNUlzV0xGR0R4NE1LR2hvYnowMGt0bTFvVFZhaVV1TG81YnQyNlJLMWN1T25ic1NGeGNIQU1IRHFSbXpacm1jZTNidDgvOElSb1FFRUJFUkFUZHUzZkhNQXgrKyswMy9QMzlHVE5tekNOUHRDa2lxVTlnWUNBdUxpNTg4TUVIa05CM1JVVkYwYWhSSTd0eUZTdFdOTDlMblQ5L252ZmVlOC91Q1ZrQWd3Y1A1b01QUHJEN2dwNDFhOVpuMHFmV3JsMGJnQjA3ZHRDM2IxOE9IRGpBeVpNbldiQmdnVjBiUTBORHVYbnpKdDdlM3J6MzNudG1ueWdQNy9qeDQzaDdlM1BqeGcwaUl5TTVkKzRjSVNFaGR0bCtaY3FVNFlzdnZzRFQwOU84Y2V6dDdXMSsvMjNac2lYZTN0N01temVQUTRjT3NYVHBVaTVmdnN5K2ZmdklsQ2tUTTJmT3BFK2ZQZ3djT0pDY09YUFNyVnMzVHAwNlJkKytmWms2ZFNxdXJxNFVLVktFeU1oSTFxNWR5emZmZk1PMGFkT1lOMjhlblRwMTRyZmZmbVBZc0dGMDZ0U0poZzBiSmdxdTZ2TlFSRWk0TWZQWlo1K1JLVk1tS2xTb1FLRkNoV2pZc0NHalI0KzJTMWhwMWFvVmxTdFhKbnYyN0p3NmRZcVRKMC95MWx0djNiZnV1TGc0Y3VYS0JVQ1RKazBTWmRRQzVNcVZLOUd3L2JzWnpDUWt2R3pidGkzWmZTU1ZTWHZqeGcyMmI5L085dTNic1Znc3RHclZpcXhac3dMZzRPQkFtVEpsV0w5K1BTTkdqT0MxMTE2alpjdVdsQzlmL3I3SDhxSjY3ajhCZ29PREtWcTBLSnMyYmFKT25Ub3NYNzZjTVdQR1VLRkNCYnNoaGc0T0RwdzhlZEx1OGFOM3hjWEY4ZE5QUCtIaTRzTEJnd2NUcFRtU2tPb1lIUjNOdW5YcmFOdTJiWkp0Y1haMnBtblRwcXhkdTlZdUFMWng0MGJLbFN0SDd0eTV6UzkxRDJJWUJxTkdqU0pyMXF5SmhnbVVLVk9HenAwNzA2TkhEeFlzV0tDVWJaSEg5UFBQUC9QSko2c285MU1BQUNBQVNVUkJWSi9RcmwwN0tsU29ZSGVIK2E0NmRlb3dmdng0WnMyYXhhKy8vc3FZTVdNZ29mKzRHOGkrbTgxMTllcFZ2djc2YTA2Y09JR0hod2RmZmZVVlVWRlJOR2pRZ0hyMTZ0RzhlWE1XTFZwRWhnd1oyTDU5dXptY2NkeTRjVlN0V3BWNjllcXhjT0ZDU1BpUUhEQmdBRHQyN0xBTDZnOGRPcFRhdFd2L1AvYnVQUzdtN1A4RCtHdHFwcWFia3FKUTJWMWlYU3VFNUpaMXZ4V0xKTmV5aVlpU2NvMFZVU2tpeFlhRWFGbDN5bVdMV0NISi9WWVVYVVNsMjZTcFp1YnorK003YzM2TktiSkxOK2Y1ZU94am01blBmT2JUT0ozUDUzUE8rN3pmVWplc0FRRUI1RmdrL3Zubkg4eVlNUU4vL1BFSExsKytqQjA3ZHBDTGUzOS9meXhjdUJCejU4NkZwNmNuOVBUMHZzRzNTMUZVZlpLUWtFQXFXN1ZxMVFvUUQyNjR1TGdnT2pyNmsrL1YxdGFXNlNjME5EU2dwcVlHUFQwOXBLU2tRQ0FRSURNenMxYjZWTW52azV5Y1RQWnJZR0FBZDNkM3JGKy9IdTd1N2pJejNjMmFOZnVYMzl6M3JWMjdkdkR5OHNLRkN4ZVFuSnlNK2ZQbkl5WW1CcW1wcWVEeitjak96Z2JFMysrVksxZncrKysvWSs3Y3VaZ3dZUUxaeDIrLy9ZYmk0bUxZMk5oZzNicDFPSHo0TUlZTkc0WVZLMVpBWDE4ZnMyZlB4c3laTS9ITEw3OEE0anc0R3pac2dLZW5KMnh0YmJGaHd3YWNPSEVDRnk5ZWhLV2xKY0xDd3NEbGN0R25UeDlvYW1waTJyUnBNRGMzUjBCQUFEWnYzb3lCQXdkaTdkcTE1UFBwK1pDaUtJanZ6YmRzMlFKTlRVMEVCQVJnOSs3ZGtKT1RJOVVYV1N3V2hFSWhoRUloQkFJQnJLMnQwYVZMRjNUbzBBSDc5dTM3NUw1djM3NE5QeisvV3Z0ZEpONjhlWU1YTDE1Z3hZb1Y2TktsaTlSclNrcEtHRHQyTE1hT0hZdWNuQnljUG4yNnhtTVMzNk42UHdBV0Z4ZUh2bjM3NHZMbHkralZxeGQrLy8xM0hEMTZGR2xwYWNqUHowZi8vdjN4OHVWTGRPL2VIVStmUGtXL2Z2MWs5aEVmSHc5ZFhWMU1uejRkdTNidHFuSUF6TWpJQ003T3p2RDM5OGVaTTJld2NPRkNtZTBZaG9HMXRUWEdqeCtQMTY5ZlExOWZIMEtoRUVlUEhzV3laY3NRRnhkWG85OUpKQkpoMDZaTmVQandJZmJ0MndjV2k0V1hMMStDeFdMaGh4OStBQURNbWpVTFJVVkZtRDU5T3R6ZDNVbW9Ka1ZSWDg3WTJCaVJrWkZrV2NiNDhlUEphM3crWDJvd1BUZzRtTnlVcWFpb2dNUGhrQ2lGajIrczR1TGkwTEZqeC85MGJMcTZ1aWdxS2tKQ1FnSW1UcHdJaVB1SWpJd01QSG55UkdvR0tTOHZUK2FrbDVhV0JnNkhnMGVQSHNITnpRMHZYcndnRWFpU0FpS3hzYkdRbDVmL1Q4ZEpVVlQ5eCtmenNXYk5Hamc0T0pEQnJ5L2g1dVpHQmd3NmR1eUk3ZHUzUTBORGcxeEloNFNFd01qSUNCTW5UcXkxUGpVa0pBU3RXN2NtajdsY0xnb0tDcENjbkl5b3FDaXBiUTBORGY5MXN2L3ZpYWVuSjE2K2ZJbWNuQnc0T3p0anhJZ1I0SEE0ME5MU2dxcXFLcmhjTHZrWjRnVDRYbDVleU1yS2dvT0RBeFFWRmVIbDVRVjlmWDN3ZUR5eUhjUzVaL1QwOUtDbHBZVTdkKzZndUxnWWtaR1JXTEJnQVJZdlhveXpaOC9LUkViTW16Y1BreVpOZ3JLeU1oUVZGZEdqUncrY09YTUc1ODZkSTl0VVRnUXRFQWpnNXVZR0JRVUZxWHk1OUh4SVVSVEVTL1VsVWNlVkM3TXdERU1HdmlUbkpZWmh3T0Z3d0dhellXWm05dGw5OStqUkE0Y1BILzZHUjErMUxsMjZ5TndEVkVWYlcxc3Eyb3lTVmU4SHdPN2R1d2MrbjQ5WHIxN0J5OHNMZmZ2MlJYSnlNcHljbkJBYUdvcjA5SFRjdUhFRFAvNzRJK0xqNDlHcFV5ZVpwWVo3OSs3RjJMRmpNV3pZTU96YXRRdTNidDJDcWFtcHpHZE5uejRkRmhZV0NBb0t3dHk1Y3pGMjdGaXNYTGxTNmtTcHA2Y0hNek16L1Bubm4xaXlaQWxpWW1MQTRYQmdibTVlNHdHdzJOaFkzTGh4QThIQndkRFEwQURFU3oyN2RPbENjb0VCZ0xPek0vVDE5UkVURTRQaHc0ZlRwUGdVOVM4cEtpb2lPVGtaVTZkT0JZdkZBc013Nk4rL1AxYXNXSUV4WThaQVZWVVZMQllMZkQ0ZjNicDFnN2UzTis3ZXZVdHlBaVFsSlpGOVZiNXdseVM1ckN3ek14TjhQaC91N3U3bzNyMDdJTDVZbDVEa0FhdDhnNmlqb3dOL2YzOTA3dHdaUjQ4ZVJXaG9LQ1pNbUlDbFM1ZVNiUVFDQWFLaW9xU1dXZ1BBZ2dVTHNIdjNibXpac2dYSGp4L0g4K2ZQMGFkUEgwQjhNMmxvYUFoblorZXYrRzFTVk4xZ3ZyU3lSRDNHcXFvRTFGZkE1WEl4ZGVwVWpCOC9YaXJmVjNVNXdCUVVGTWlBVjBWRkJiWnQyNFpPblRvaE1UR1JWT2hyMGFJRjNyNTlpL1QwZENRbEplSDMzMyt2dFQ0MVB6OGZtcHFhME5YVmxUcnVuVHQzd3RyYUdxMWJ0NGEzdHpkV3JseEpqcFg2UEV0TFM5eTVjd2NKQ1Ftd3NiR0Jnb0lDa3BLU01HN2NPSklFLy9yMTZ5UUpmcnQyN2JCdjN6NXMyclFKQUVpT1doY1hGNHdjT1JLLy9QSUx5c3JLc0huelpxU25weU00T0JnUVJ6TDM3dDBiblRwMXdvWU5HN0JqeHc2WW01dmp3NGNQdUhUcEVpWlBuZ3crbjQ5YnQyNlJwYmZPenM1WXYzNDlIQjBkTVhiczJDcVBmOGFNR1dqZnZqM2F0Mjh2OVR3OUgxYXRNZldkMzZ0dmRjNW9yRDYrTnBkZ3NWaGdzOWwwR2ZSM3J0Ny82Njlac3daOFBoOWVYbDZ3dDdjSGk4VkNlSGc0bkoyZGtaNmVYbVhZZldXeHNiSEl5c3FDcGFVbDVPWGxZVzl2RHo4L1AwUkVSRlRaK0NVWFUrUEdqWU96c3pPNmRlc0dTMHRMcVcyc3JhM2g0ZUdCK2ZQbmt5V1RYOUl2RFI0OEdIMzY5Q0hKT3k5ZXZJanM3R3hzMzc1ZFpsc3JLeXRZV1ZuVmVOOFVSVld0b3FJQ25UcDFncisvUDY1ZnY0N1RwMCtUMXc0ZlBneEZSVVhjdkhrVEowNmNBTVJSb1JzMmJBQ2Z6OGVEQncrZ3BLUkUvaFlQSFRvRWlKTmY2dWpva0NUQkVSRVJDQXNMQTQvSGc0ZUhCMHhNVExCLy8zN1kydHFTN2VQajQ3Rm56eDdrNWVYQjN0NmU1QVc3ZWZNbVZxMWFoYUZEaCtMMzMzK0htNXNiMnJadEMyTmpZMFJGUlNFNk9ocnQycldUeVUxZ1lXR0J6WnMzbzdpNEdBekQwSUZ5aXZyTzJkallZTm15WmJoKy9UcDVycm9jWUI0ZUh1UzUwdEpTYUdob2dNMW1vN3k4bk9SWGF0T21EZTdjdVFNL1B6OU1temFOWEx2VVJwL2F0R2xUckYyN0ZoczJiQ0Q3TGlrcGdZR0JBUndkSGZIaHd3Y0VCZ2JTS1BrdlpHeHNEQjZQaDlUVVZQVHExUXU1dWJsWXNtUUpyS3lzcEpMZ1AzbnloQ3g5ckk1SUpNSzVjK2V3YytkT3FaeHlUNTQ4UVdGaElWcTFhb1hPblR0ajBxUkoyTE5uRDlUVjFmSHJyNzhpTEN3TWt5Wk5Ra0pDQXZiczJVUHl2VWtFQmdaS1JYMVY5dmJ0MnlxZnArZERpcUlhTzZGUVNLTlkvNk42UHdBbUtZM001WExCNC9IQTUvUFJvVU1IZUh0N2YzYU5ibTV1TG54OGZMQmd3UUp5d1RacTFDZ2NQMzRjTzNmdXhQejU4NnQ5YisvZXZkR3VYVHU4ZVBGQzVyVStmZnBBUzBzTE8zZnV4Tk9uVDdGbHk1WXYvcjBreDhQajhlRHY3dzhQRHc4b0t5dWpvcUlDYytiTWdiZTN0OHlNSi9WbEpKWDJxaUtaR1hqeDRnVVdMbHdvazRqUTA5TVRIVHQyckRZZjNOZmk3ZTJOb3FJaWVIdDdWL2w2Y1hFeGNuTnprWm1aaVI0OWVvRFA1Nk80dUppOHJxU2s5TWxxUzlSL2s1Q1FRQWEzdzhMQ2NQcjBhVXlaTWdYVHBrMURXVmtaRWhJUzBMUnBVMWhZV0tCcDA2Ym8yN2N2cksydFlXVmxoWTRkTzBKT1RnN3E2dW9rVkxxcUhHQTVPVG00ZXZVcUJnd1lBRHM3T3h3K2ZCakJ3Y0h3OGZIQjBxVkwwYkZqUjZTbnArT3Z2LzRpRWFPVnljbkpRVk5URXdVRkJTZ3NMSlFwRTAvVkQ1S2NFWWNQSDRhcnF5c0dEUnFFMGFOSFMyMlRtcHFLNTgrZlk5aXdZZi81ODJqZjhtMDBsQXZQai8vZGE1SUQ3TjI3ZDJSSlluRnhNZFRVMUFBQVhidDJoWStQRC9UMDlHQnJhd3VCUVBDdlo4Ky90RS9GUjVYK0pML0xsU3RYY09YS0ZRZ0VBdVRuNTBzdGU3U3hzY0gwNmRQLzFmRjlyeFFWRldGc2JJeTB0RFRrNXVhaXVMZ1lhV2xwVUZKU2dxR2g0U2ZmdTI3ZE9yUnYzeDZlbnA1U0VjcVBIajJDdmIwOVdhYXFvYUdCZnYzNllldldyWmc2ZFNwYXRteUpseTlmNHZyMTY2UUthR1VMRnk3OFpBUllWZWo1a0twdkdJYWhnN0YxYk9YS2xSZ3dZSURVQkxLVGt4UHM3T3orVlpMNGdJQUF0Ry9mSG1abVpsTFg1VDQrUGhnNWNpUTZkKzVNbnBzelp3NFdMbHhZN2RMRmhJUUVOR25TUkNhYU5TWW1Cb2FHaGxMTC95Rk9NZkRycjc5aS8vNzk1QndKOGZKdloyZG5tV3FXVk5YcS9RRFlva1dMOFBUcFV6S2IwNzE3ZHp4Ly9oeWVucDVJUzB1VEtsRmFHWi9QaDR1TEM3cDE2eVpWbllIRlltSFZxbFdZT25VcTJyVnJSMDY2NTg2ZEk5VnVORFUxa1ppWWlKU1VGRGc0T0ZTNS84bVRKMlBUcGsyWU5HbVNWTzZETCtYbjU0YytmZnBnd0lBQmdEalJmcjkrL2JCczJUS0Vob1kydUJCTlkyTmo3YVNrcFBjQWhMWDFtYmR1M2NMcTFhdko0L3o4Zk15WU1RUG56NThIeExQRmZENWZLdGZJL3YzNzBhUkpFOXkvZjcvR2xUYUZRcUZNcFk4SkV5WWdMQ3dNV2xwYVpObUFob1lHV1RiZzd1Nk9UWnMySVNvcUNsd3VGems1T2JoeTVRcFVWVldSbVptSk0yZk9BT0tTOVpXTEhWeTRjQUhyMTYrSGxwWVdORFEwMEt4Wk02aXJxeU0yTmhhWExsMGluNmV0clYxbDVHQjlWaGR0UkNJN094dW5UcDFDU2txSzFQT1MxUUZaV1ZsU043ZHYzcndoZVZHbVRKbUNVYU5HUVZGUkVYSnljdkR5OG9LRGd3UHUzTG1EVTZkT1llM2F0Zi9xQXFkTm16WVlOR2dRTGx5NGdHM2J0c0hHeGdiRGh3K0hsNWNYZEhSMDRPTGlnaU5IanVEY3VYT3dzYkdSZXUvZmYvK04yTmhZdkgvL0hycTZ1a2hPVGliTFBScXkybW9qWjgrZXhjR0RCL0hxMVN1d1dDeDA2dFNKREV4S3hNWEZZZkhpeFhCMWRTWGYvOXk1YzVHUWtGRGxQc1BDd2o2Ym8ySHg0c1ZZc21RSldyVnFKWFh4dFgzN2RyeDQ4UUtSa1pIbzBhTUhKa3lZZ05telp5TS9QeDlxYW1wZ3M5a29MUzNGcUZHajRPcnFTdnVXcit6R2pSdkl6czZXaXZvT0RRMEZBTmpiMndQaUNIQi9mLzlHbDBBN0x5K1A1RjhDZ09Ua1pESUFXbEZSZ2ZMeWN0aloyWUhOWnVQTW1UTklUVTJGdWJuNU4rOVRQOGJoY05DclZ5Lzg5dHR2Z1BodkpqSXlFa3VXTENHSjFSdVN1andmUW54ZDgrVEpFeng4K0JCLy8vMDNJSjQ4TGlrcFFXNXVMaURPVStucDZWbnRQdWJNbVNNMTRKaWVubzZBZ0FCczJyUUpIQTVIS2s5Yng0NGQ4ZUxGQzVTVWxNREV4QVFaR1JtNGV2VXFXVzViMlpZdFcyVDZZd25Kc1ZYV1dNK0hkVzN2M3IwWU1tU0l6STM0Z3djUE1IUG1USVNHaGxZNWlCQWVIbzZTa2hJNE9qb0M0cUptcTFldnhxRkRoMnAwcmZUczJUTnMyclJKSmwvY3g4ckx5M0g1OG1WeVAzZjY5R21ZbXByV3luSm9vVkNJTFZ1MllPYk1tVkwzR0wxNzk4YU5HemNBY2J1OGZQa3l2THk4dnZueDFGZDEyYytWbHBZaU5qWVdUazVPTmRyZXo4OFB4NDhmQjV2TmhrQWd3S3hac3lBbko0ZHIxNjRCQU5UVjFhR3ZyNC8wOUhTNHVibmhqei8rQU1SdDRmTGx5K2pac3llV0xWdEc5dmZ5NVV2czJMRkRhcUJzM3J4NTVCcWlvcUlDQ3hZc3dKNDllOGpmV0hwNk90YXNXWU9BZ0FDWnY3c3paODZnUzVjdVVvTmYxSmVyOTZNcnk1Y3ZSN05temVEaTRvSWxTNWFndUxnWWQrN2NnYSt2TDdrd1hiRmloZFJBVVhaMk5wWXVYUW9XaTRVMWE5YklMRTlzMDZZTjFxMWJoMlhMbGlFbkp3ZFRwa3lCam80T0RoOCtqTkRRVUFpRlFoZ1lHR0RseXBWVkp0V0hPUC9CamgwNy9sT0UwUDc5KzNIMzdsMGNPblFJSXBFSVpXVmw0UFA1R0RwMEtFNmRPdlhaS0xWNmFycUppY2t5aG1GT3NsaXM0MFZGUlJkVFVsS3FEOFg2Q2t4TlRYSHk1RW1VbDVmaitmUG4yTEJoQTJ4c2JNankyTjI3ZDZPc3JLeks1YkkzYjk1RXAwNmRhdlE1OHZMeWlJNk94dFdyVjNIKy9IbDRlWGtoSlNVRjkrN2R3L2J0MjZXV0RadzdkNDRzNFFDQXBVdVhvbXZYcm5CMGRJU3FxaW9ZaHNHNmRldGdhMnNMb1ZDSTFhdFhJelEwbEZTekVnZ0VHRGx5Sk56ZDNhV080ZUxGaTVneFl3WW1USmlBcEtTa2FwY0gxSE8xM2tZa3lzcks4TzdkT3hRVUZFZzlIeGNYaDFXclZvSE5abVBObWpYaytVZVBIcUc0dUJqNit2b3dOemVIbXBvYXpwdzVnOTI3ZDhQRXhBUVRKMDZFbFpVVjVzNmRpNkNnSUN4WXNPQ0xqK25EaHcrNGVQRWloZzRkQ2djSEIwUkVST0RZc1dQdzlQVEVwVXVYa0oyZGpTVkxsbURtekpuZ2NybFN5YVk3ZCs0TWZYMTllSGg0b0tLaUFqZHYzc1RDaFF2LzQ3ZFVMM3p6Tm5MaHdnVnMyTEFCeTVjdmg3R3hNWXFLaW5EejVrMlo3VTZkT29WV3JWcmg5T25UWkFCczQ4YU5KTUxVeHNZR3MyZlBKamZmbXBxYTJMaHhJOTY4ZVNPMW44TENRbVJsWlpIOE04MmFOVU5ZV0JqQ3dzSXdiZG8waUVRaWFHcHFZdE9tVFZpM2JoMjB0TFRRb2tVTG5EMTdGdE9tVGNPR0RSdWdwNmVIaUlnSThIZzhzbC9hdDFSdDA2Wk5aQktrSnRUVjFSRWNISXhObXpZaEx5OFBQQjRQUEI0UFQ1OCtCU290dWNySnlVRndjREJVVkZSZ1ltS0NFU05HNE8zYnR4ZzVjdVFuSjhONFBCN09uVHRYYjNOVXhjZkhvMnZYcmpodzRBQkNRa0tnb2FHQkhUdDI0T1hMbDVnM2J4NzY5dTJMbUpnWURCa3lCTy9ldlNQUlliWGRwMWF1dkJVYkc0dFRwMDRoSkNRRUxpNHVhTldxRlg3KytlZHYvbDE5WmJWK1Bpd3BLVUZJU0FnU0V4TlJVbEtDeU1oSVRKczJqUlJocVh3dFV4V0dZYkIzNzE1eUxtclpzcVhVNjluWjJjak56WldwemdueGRkVFdyVnVob0tDQStmUG5JeWtwQ2ZyNittUzFoNFN4c1RGR2p4NU44b0o5Yk4rK2ZUSVIwWTM0ZlBoVmhJZUhJeUlpZ2p4dTFhb1ZORFUxOGZEaFF5Z29LT0RObXpkbzBhSUY1T1Rra0oyZGpmUG56ME5EUXdNTXcyRCsvUGtJQ3dzak45MENnUUNiTjI5Rzc5NjlFUlFVaEQvKytFUHFYb3ZQNStQZ3dZTlNBNWpIamgyRHFhbHBsWU5mbnA2ZU1uMUlTVWtKWHI1OFdXWE90a21USnFGdjM3NEFnSzFidDZLb3FJZ01nTEZZTEFRRkJlSDMzMytYZWQrbkpxODJiOTVjNVhzK1plSENoV2phdENtbVQ1OE9aMmRuc20raFVJajE2OWNENHJ5d1dWbFo1TEd6c3pOVVZWWHgrKysvSXpvNnVzcS9FNGdIUm9ZUEh5NDF3ZCtBMWRsMS85V3JWMkZvYUFnZEhaMGF2OGZmM3g4OWV2VEErZlBua1pXVkJWdGJXMWhiV3dQaUtOT2RPM2RDWDE4ZnljbkplUGJzR2RxM2I0L3IxNi9EMk5nWVJrWkdVdWY1MTY5Zlk4U0lFV2pidGkxNVRrdExDdzhlUEVCWldSa1VGQlJnWW1LQ3MyZlBrcnpCVzdkdXhZQUJBOEF3REc3ZnZnMGRIUjIwYnQwYUZSVVYyTDkvUHdJREExRlFVSUN0VzdmaXlwVXJnTGpObFpTVXdNTENnbnpPd29VTFpkSTRVZjlUN3dmQUpOVmJxaUlRQ0NBbkp3YzJtdzA1T1RtVWxwYUN4V0xCMmRrWnVycTYyTEJoQThsaDhURUxDd3Q0ZW5waS9mcjFhTk9tRGZyMjdZdnc4UEJxUDh2ZTNwN01BRU84UE9UeTVjdFMyNnhZc1VMbWZXM2F0RUZpWXFMTTg1Y3ZYOGFXTFZ2QVpyTXhhTkFnaUVRaXFLcXFRa1ZGQlNvcUt0RFMwa0pFUkFUNjkrOWZvNG9QOVV3ekZvczFHOERzSmsyYUZCa2JHNThGY0V3b0ZFYmR2MysvNUZ0ODRPM2J0N0YxNjFidytYeHMzYm9WR2hvYStPZWZmL0RxMVN2RXhjWEJ3TUNBblBnbFZUUUVBZ0hpNCtNaEVBaHc2TkFoTUF3REF3TURrb3VrcGg0L2ZveTVjK2VTV2RQVTFGUVNUVmpaOWV2WE1YRGdRQUJBVUZBUWVEd2U1c3laQTRaaGNQZnVYYXhldlJycjFxMGpnN2tsSlNYSXlzb0N4SW1LdGJTMDhPTEZpOFl5bzFucmJVUlRVeE1USmt5QWpZME5YcjkrVFc1c0FXREFnQUV5Z3gvcDZlbmtadGZCd1FHcXFxcm8wNmNQbEpTVU1HZk9ISkp6aHNQaHdOZlhGems1T1NncUtnTEVnMXFTcUllQ2dnS01HemNPRUY4VVhyOStIZHUyYlVOaFlTRWNIUjBoSnljSE16TXpuRHg1RWhrWkdiQzJ0aVlKbmYzOS9URmt5QkJ5Y3k2cG9PWGo0d09JRXo0UEhqd1lFTGNwSXlPakx6ckoxM1BmdEkxY3ZYb1YzYnQzSjFHZExWdTJSSWNPSGFTMktTd3N4TldyVnhFUUVJQ0ZDeGZpK2ZQbk1EUTBsTHJ4a3BPVGc1cWFtdFFGejhTSkUyV1dZRDk1OGdRSERoeW9NcXBZV1ZrWnYvMzJHMXhjWEhEdDJqVmN1M1lObzBlUFJuNStQZ29MQy9IKy9YczBhZElFRlJVVmVQNzhPYnAyN1NyMWZ0cTN5RnE4ZVBGbkI2U1RrcElRR0JpSXZYdjNnc1ZpUVVsSkNidDM3MFpoWVNFS0NncFFYbDZPaW9vS0FDQURuUEh4OFRBek00TzJ0cmJVdjdtNnVqcGlZbUtxL2F6S0Y2WDQzN0pDbFcvUjE3MS8vNTRrS0srSzVLYXhNbGRYVjV3OWV4WlRwMDZGaFlVRnBrMmJCamFiamZqNGVIaDRlTURlM2g1VHBreUJqWTBOVHA4K2phU2tKRmhiVzlkS255b1NpV1J1bUI4L2ZveERodzdoeG8wYkNBZ0lRS2RPbmJCdzRVTE1uajBiNDhlUGg2V2xaYldyQStxcFdqMGZxcWlvd05UVWxFU3RaR1JrU1BWTHBhV2xxS2lva0NyczVPenNqS0ZEaDZLb3FBZ2hJU0V3TkRTRXRiVTFPQndPTWpJeXlIWU13eUErUGg0Ly9mU1R6T2RldlhwVlpvQkJVakYweUpBaDBOYld4cFFwVXhBUUVGQ2ozMlBmdm4xUVVGQWd5M29iK2Zud1A1cytmVHFtVDU4T1cxdGJlSHQ3UTA5UEQyNXVidkR4OFVHWExsMHdhdFFvN04rL0h4b2FHdVNhQlFCbXo1Nk4rL2Z2WTlldVhXUlFOREF3RUNvcUt0aTJiUnNjSEJ6d3h4OS9rS2hNQURoNDhDQisrZVVYdEduVEJna0pDZWpRb1FPaW82TlJWbGFHWThlT1NSM1hsaTFiTUdQR0ROTFhTcng2OVFwNzkrNnRjdkphMHZmR3hNVGcyTEZqTURRMEpNdGlzN096d2VWeVpaYkpCZ1VGZlhMeXFtblRwaVJ5K2xNV0xGaUFTWk1tb1YrL2ZxU0lTTGR1M2RDNmRXdW9xNnNENGtGa3lYNlRrcElnRW9uSTQ4ckoyWjJkbmFzTnBJaU1qTVN6Wjg4K2V6d05TSzFmOTZQU3Y4V1NKVXR3NTg0ZFFId05KTGtIYk5La0NSbThsUlQ1Z0RqYWU5YXNXV1FKYStWSVprblF5dHExYThtLzU3Rmp4ekJreUJBMGJkb1VKMDZjSUNtVTNyNTlpd3NYTHVEV3JWc0FnR25UcGtGSlNRbVJrWkhJemMyRlNDUkNZbUlpZXZic1NZckRzRmdzeE1URUlDY25Cd0F3ZlBod3RHN2RHb2NPSFVLZlBuM1F2SGx6V0ZwYVl1Zk9uU1E2bHk2Qi9ETDFmZ0RzWXl3V0N4d09CeUVoSWJoNzl5NHNMUzNoNStkSFppcjA5ZlhoNys4UFhWM2R6NGJZamh3NUVyMTY5WklwdzEwYnpNM05zWDM3ZHJScDB3YnE2dW95T1M0Z1BybW5wcVkyeEFFd1ZDbzQwNFRGWWswQk1JWE5abjh3TVRFNUQrQVlpOFU2blppWVdQaTFQcTl2Mzc3SXpzN0doUXNYOE1NUFB3RGlNRkVkSFIwTUd6WU01ZVhsa0plWEp5VzV1M1RwZ3JpNE9MRFpiTVRFeEVCZVhoNXhjWEU0Y3VRSTJlZkZpeGVSbVptSmVmUG1WVHVRQ2dEdDJyV0RsNWNYTGx5NGdPVGtaTXlmUHg4eE1URklUVTJWMnU2ZmYvN0JqQmt6OE1jZmYrRHk1Y3ZZc1dNSHVTSDE5L2ZId29VTE1YZnVYTktaSlNZbWtzUy8rdnI2TURJeXdwczNiOUN6WjA5QVBJT1FscFpXN1RyeCtxNjIyNGlCZ1FGWkNxYXZyLy9acGE4OEhnK0RCdzlHNjlhdGNmRGdRVVJFUk1EZDNSMjV1YmtRQ0FUdzkvY25wWlFGQWdGWUxCWmNYVjNoNitzTEl5TWpOR3ZXRER3ZUR4b2FHbFdla0NRem81bVptYmg3OXk1c2JXM1JwMDhma3RDWllSZ01HRENBTEMzUTBkSEIvdjM3Y2VQR0RaaytxN0N3RUxHeHNkaTJiWnZVODF3dUZ3b0tDdi81dTZzcjM3S050R25UQm1GaFliaDc5eTZNakl5cTNDWXFLZ28vL1BBRHpNek0wS05IRDV3K2ZScXVycTZmM2ZkUFAvMkVFeWRPb0xTMEZGT21UQUhFZzZJNU9UblEwOU1qMFROQlFVSG8xYXNYOVBYMTBiVnJWeHc5ZWhRQVlHaG9pT0RnWUhUczJCRlhybHlCdTdzN0lpSWk4T2VmZjhMQXdBQ0xGaTJTK2p6YXQ4aFNVRkQ0Yk50WFZGUUVpOFVpNTErQlFBQk5UVTFvYW1xU2JTUS9Td1pVSk5WZHF6cG5md2sybS8zdVcvUjFtcHFhK09lZmY3N29QVHdlRCtmUG55ZXBHQ1J0cDdDd0VFdVdMQ0VEYXY3Ky9saTVjaVZFSWhGTVRVM0I0WEMrZVo5Njh1UkpxVngwNWVYbFdMTm1EYnAxNjRZLy8veVRSS1NNR2pVSzJ0cmFDQWtKcVRadlZIMVcyK2ZEeXFzYldyZHVMWk1IdFRxdlhyMGlBeWtzRmd2RGhnMkRwNmNuV1FZRThibEtNa256OFdkZXZIanhzNS94cVFIY21taXM1OE52eGNmSEJ5b3FLbmovL2oyV0xGa0NOcHROYnJ3bDFxNWRTNzY3NE9CZy9QUFBQd2dMQzRPY25CeTh2YjFKY1F4YlcxdWtwYVhoOU9uVE9IandJS0tpb3JCbnp4NzA2TkVEZ3djUGxvbG1talJwRXRoc05uNzg4Y2NxajAxSlNVa21ONUxFcFV1WDRPM3REU1VsSmFrb2wwdVhMcUZseTVibzJMRWplYTUxNjlZeUVicFZUVjdWcEgzSXljbEJRVUdCbkFPRVFpR0ozSkhzYS9YcTFlalZxeGNndnZiczA2ZFB0ZEdNMzVQYTd1Y1NFeE1SSHgrUGtTTkhrdWhoa1VpRUNSTW1RRlZWRlJVVkZYQnhjWUdwcVNsNWp5U2lTdUxkdTNld3M3T1RlaTRuSndkc05odEhqeDVGbno1OU1IejRjTVRGeFpFSjFaczNiMkxNbURINDRZY2ZwRktYQkFjSDQ5MjdkMmpmdmoxWkVsdFNVb0tCQXdjaUpDU0ViUGY0OFdPc1hMbFM2amsrbjQrZE8zZGk2TkNoY0hOenc2QkJnOUNtVFp1djlWVjlkeHJNQU5qV3JWdkp6NVZENENGZUFySjA2Vkx5dUZXclZqWGViMTBNZmtGOGdmbTUyZmJxa254K0tYa1dWSTJOaldPL3lzNCtqeVJHcVJ3T0xlNzBsQUZZc1Znc0s0WmhoQ1ltSm5FaWtTaWlpSStxNDM5cjZOU3BVOWl4WXdmNGZENHFLaW93Wk1nUXRHalJBbnA2ZWhneVpBZytmUGlBaUlnSVVwbElFbWI5MTE5L2djZmpvYlMwRktxcXFuajY5S2xVQkVqZnZuM3grdlZyVEo0OEdldlhyMGZuenAzaDZlbUpseTlmSWljbkI4N096aGd4WWdUSlo2S3FxZ291bDB0Ky9saGFXaG80SEE0ZVBYb0VOemMzdkhqeGdrUTRQbnIwQ0M0dUxvaU5qU1d6RFAzNzl5ZXpiWHcrSDk3ZTNsaTNiaDFLUzBzQmNVTFpCUXNXSUNzclN5Wnk1VXMxOWpieUtkVmRrUC84ODgva3hsOURRd1B6NXMzN2JOVlpBRkpMRk5YVTFLcmRmK1VaOThxRDNDNHVMbkJ4Y2FueVBXdzJHK2JtNW9ENFJseENYVjBkZi83NXA4eWcvOWNzOTk3WTJvaXRyUzFldm53Sk96czdEQmt5QkU1T1RqSURQYWRQbnlaUkthTkhqMFpBUUFDY25aMXJsSnZSeU1nSTA2ZFBoN2EyTnBuNUxTMHR4ZUhEaHpGbnpod2NPWElFUjQ0Y3daQWhRNkNxcW9yKy9mdVR2RGJLeXNvb0xDeUVvcUlpWEYxZElSUUtNWExrU0docmErUFhYMytWK2F6NjBMZG82N2JDdS9lUE0ydWpqWncrZlJyYnQyL0gzcjE3VVZwYWlxVkxsNks0dUJnLy9mUVQxcXhaUTI1Q25qeDVBaWNuSjZrbEpnS0JBQzR1TGpKVkF4bUdnYjI5UGNhTUdZTUpFeVpnMnJScEtDb3Fna0Fnd1B2Mzc5RzhlWE9wbndGZzdOaXg1TUs0cUtoSUprZGtaWkxvMEVxZlYrdDlYWFZVVlZVUkZCUWtrOXkvY21KNWlHOGl3OExDUHJ1L3I5Mm5BcERLbjNQNDhPRXFKemhOVFUybGJtVCtyY2JXMTMxTmUvZnVsZnA3c3JDd2tJbHUvRmhWcXlPK3R0bzhINHI3dXF4YWJDUGZsSU9EQXpwMDZJQnAwNlpoK2ZMbGFOS2tDV2JPbkFtSW82bjRmRDdrNWVXaG9hRUJOemMzWkdSazRJOC8vaUFUT1ZwYVdpU3E4K0hEcFZrbmdnQUFJQUJKUkVGVWgyQVlCbHd1RjE1ZVhyaDkrelljSFIyeGRldFdSRVpHeW54MlJVVUZHWFR5OVBURTlldlhwYXJNNXVmblMwV2p2WHYzRHJ0MjdVS1hMbDJRbUppSTRPQmd6SnMzVDJvUVMxbFpHVTJhTkpHSjBLMHBEdzhQSkNVbGtiOUhobUdnb2FGUjVmRmZ2bndaNGVIaDJMUnBFeElTRXNqRVpsNWVIZ0lEQThIbGNwR1hsd2NWRlJVeWtSNFJFUUVWRlJVQVFFaElTTFdyano1OCtJQkJnd2FSeHcyOHZkVkpQeGNZR0VqYXFjUzFhOWRnWUdBQWdVQ0FybDI3NHNTSkUxV2VOeVRIMmFKRkM5S0hyVjI3Rm5aMmRvaU9qb2FhbWhxSjNsdXdZSUZNdE9tNWMrZGtpbkM4ZlBueVgvOHVYQzRYUzVjdXhmdjM3M0h6NWsxczNMZ1JkKy9lSmZjTEh5K0JsSmVYcjlHRXcvZXF3UXlBVVkySHVNT1RBNkFFUUlFQjgvazNmY0xZc1dNeGR1eFlrcmZDMU5RVXNiR3hVdUhVSCtlQlMwbEp3Wk1uVDlDdlh6OVNnU2d1TGc1dWJtNWtHMlZsWlhoNmV1TENoUXRZdm53NURoMDZCRXRMUzl5NWN3Y0pDUW13c2JHQmdvSUNrcEtTTUc3Y09KSUUvL3IxNnlRSmZtVUxGaXpBN3QyN3NXWExGaHcvZmh6UG56OG5nNkJ4Y1hFd05EUWtGMmgzNzk3RmhRc1hTRGhzeDQ0ZFlXaG9pSmt6WjZKejU4N2s5MGxKU2NHcVZhdGtjbkEwZEYrN2pmeGJINTg0NjdQdnJjTFFmMjBqaW9xS1dMOStQU3d0TGJGdDJ6Wk1tREFCUzVjdXhZUUpFd0R4Mzlhelo4OUlsVjhMQ3d0NGUzdmoyclZyWkxuaHA3UnAwd2FyVnExQ2NIQXd1WWpWMHRKQ1pHUWsyR3cyd3NQREVSUVVKRlZoN2U3ZHU0QjRDUmlmejhlb1VhT1FrNU9EUFh2MlFGTlRFOW5aMmJoMDZSSzRYSzVVOWVINjBMZHdsWlFoWWxpbE5mejYvelUrbjQvTm16ZGo2ZEtsYU5teUpYeDhmTkM5ZTNjc1g3NGNHemR1eEpvMWF4QWNIQXlJQjd0YXQyNHRWVEhhMDlPenlnckJMQllMNjlhdGc3T3pNeFFVRkxCLy8zNUFIUEd5YnQwNmhJYUdTdjM4c1NaTm1raEZFSThlUFJxaG9hSGtvdmpqaXA4UzlhV3ZxNjJDTzEralQ2VjlYZDIwRVlqN3BvYmdXN1lSY1YvMzRadDl3RGNTSHgrUHc0Y1BJejA5SFY1ZVhxUlNuYnE2T3JTMHRFZ0ZUUTBORFRJWUhoNGVqdnYzNytQdDI3YzRmdnc0V3JkdWpSVXJWcUNnb0VBcVVyWjU4K1lJRHcvSDZkT25NWERnUUJRWEYyUC8vdjNvMWFzWHhvNGRpL2J0MitQKy9mczRjZUlFNXM2ZFM5NG5FQWlrb3E2V0xGbENxaUJYbFFSL3pwdzU1R2QzZDNjSUJBS1VsSlJJRFNLbHA2ZmoxYXRYZVBUb0VYbXVaOCtlbjYxbUtzSGo4ZURwNlFrek16TkFYTWhqOXV6WlZXNDdjT0JBSkNjbnc4SEJBWC8rK1NlWldGbStmRG1zckt6UXMyZFBxWjgvWm1kblJ5Wk5qeDA3aHFkUG4yTDU4dVhrOFg4Wk1HbG92blkvbDUyZERaRklKRlZoVmlRU0lTZ29DSXNYTDhhQkF3ZlF2WHQzUkVkSEl5VWxSU3BIRno2S0JseThlREZtejU2Tm5Kd2NDQVFDS0NzcjQ4T0gvM1VCcGFXbDRIQTRwTDFJakI4L1htWXB1T1M2cmFDZ2dPUVZsZXluOG5MWFY2OWVvYnk4WE9xNXRtM2JZdlRvMFpnelp3N1dyRmtEVlZWVkdCa1pmVEwxQWxVOU9nRDJIUkF5NENVbEpRMnF3YWIvbWJHeHNTc0FQMVFLZFdXeFdHQ3hXR0FZcGd4QURNTXd4MFVpMGNuNzkrKy9BNEEySFl3bWZzMWp1SC8vUHN6TnpSRWIrNy9Ka3ZMeWNwbmxLbTNhdE1IR2pSdkJZckVRR0JpSTVzMmJvN1MwdE1vUTVhRkRoOExDd2dKc05odkd4c2JnOFhoSVRVMUZyMTY5a0p1Yml5Vkxsc0RLeWtvcWNleVRKMCtRblowdHRSOExDd3RzM3J5WlZEVDkzQVhhNE1HRHlYSXJPVGs1Y0RnYzNMaHhBOWJXMXVqYnR5OXljbkpnWTJPRDNyMTcvK2Z2N0h0ckk5U1hhNnh0cEdmUG5nZ1BEOGV1WGJ2ZzdlMk5IajE2d01EQUFLZE9uUUxETUZJUlYrWGw1ZVFDdnlhR0RCa0NNek16dkhqeEFpRWhJV2phdENrc0xDd1FGQlNFc0xBd21RSWNrcjlsSlNVbEZCUVVnR0VZL1BYWFg5aTZkU3RTVTFOeDh1UkpyRnk1VXFidnFDOTlTeTIwRWViQmd3Y29MUzBsdVg1S1NrcklJSjJ0clMzR2pSdUg3T3pzZjVYN1IwOVBEK0hoNFZCV1ZvYWZueCtpb3FMQVpyTlJYRnlNVWFOR1FTQVFrSi96OHZLd2I5OCt0Ry9mSHRyYTJpVDNXdVc4cFZ3dWw1eDdqaDQ5K25IU2J0clgxVk9OdGEranZwN2FiQ05mQ2RPMmJWdVNyMi9NbURINDZhZWZzR2ZQSGl4ZHVoUUtDZ3JJeWNuQnRHblRTQko4aUZmWUZCUVVZT0xFaVZCVlZZV3pzek9lUFh1R2xTdFhrZ0gvcEtRa3JGeTVFdXZXclNPNWtwT1RrL0g0OFdNY1Bud1liRFliblRwMWdxYW1Kcnk4dkRCZ3dBQlNyS0s4dlB3L0wwdlYxTlNVcWxnY0dCaUluMy8rR1VPR0RQbFArNjJwT1hQbVlQTGt5ZVM4cEsydGpmejhmQ1FtSm9MTlpwT2ZSU0lSdW5UcFFsYWp1TGk0NE5teloxQlVWSVM4dkR3NEhBN2s1ZVhKT2VQWFgzK0ZRQ0FnbjlQQTJwdVV1dWpuZEhSMEVCQVFJRlhRNThDQkExQlZWVVh2M3IxeDRNQUJ5TW5KWWZyMDZkaXdZUU4yN2RvbE5SRlVhYmttUkNJUitkblYxUldHaG9ia1hLK2twQVJ2YjIrWjFXa1JFUkV5cTRFa0ExcTNidDBpZzdibDVlVmtBazZpdExRVWVYbDVVcytGaElRZ0pDUUVSVVZGaUkrUFIyUmtKQndjSEtTV1NWYldxVk1ubWFXYjFQK2pBMkFmaVkyTlJXUmtKTHk4dkxCejUwNHNYYnEwd2N4NDFST2t4eEIzYkR5R1lhSVpoam5PNC9IT3BLU2tGSDM2N2YrZHM3TXpHSVloQTJDWm1aa3l5MkxaYkRZSmVWVlJVWUdibTV2VU10cVBWVGM3cnFpb0NHTmpZNlNscFNFM054ZkZ4Y1ZJUzB1RGtwS1N6R3lUWkhhdG9LQUFoWVdGTXFHeEg1T1hseWZKRlV0S1NpQVNpV0JsWllYUTBGRDA3dDBidnI2K0dEOStmSU9LVWhLcjh6WlNHNHFMaTVHYm00dk16RXowNk5FRGZENGZ4Y1hGNUhVbEpTV3AzRGFVbEZwdkk3YTJ0dGk1Y3lmUzB0TFFxbFVyUkVWRndkWFZWV3F3Ni83OSs2UmExY2NWeUtxU2w1ZUg0T0JnUkVWRm9XZlBudUR4ZUpnMWF4YXVYYnVHQXdjT1lQMzY5VkxMemlTUlN2THk4aEFLaFhCd2NNRFVxVk5oYUdpSW9xSWljTG5jS2lPeXZxZStwYWlvQ0NvcUtsS0poQ1VrZjAvdjNyMzcxOG12azVPVFNSNUpWMWRYYUdwcTR1VEprL0QyOXNiVnExZHg4ZUpGL1A3NzcxS1JDSEp5Y3JoMDZSSVVGUldsRWtIbjVlVkovZnUrZi8rZUhHTnhjWEh6K3RyWFhiMTZGV1ZsWlNTS09TTWpBMmxwYVRBM040ZTF0VFZXckZoUlpXN1N5NWN2bzBXTEZnMnhFbU5kb3VkRGVqNnNGZHJhMnREVzFvYUtpZ3E2ZGVzR1BUMDlEQmd3QUs2dXJ0RFIwWkZLZ3I5Mzc5NVA1cjZGT0RMcWp6Lyt3SzFidDdCbXpScVltSmdBNHNxd3ExYXRncjI5UFpLVGs1R1dsb2FoUTRkQ1YxY1gwNmRQaDVlWEY4TER3eUV2TDQveThuS3B2dHpIeHdlQmdZR0FPRXFHeitkajJMQmg1Qm84THk5UDVqank4dktrK2wwQWVQandvVlJFTHNSVkhpVTVBNzhtSG8rSFo4K2VvVU9IRHREVjFjWEpreWN4YTlZc2VIcDZvazJiTnJDMXRjV21UWnZ3NXMwYnFTcWNiRFliVGs1T2lJdUxJK2NKUHA5UElvTXFiL2U1ZjRzR29FNzZ1Y3A5eXUzYnR4RWFHaXF6NUhUczJMRTRjK1lNTm16WVFBcFFmZmp3b2RxMnNubnpadVRrNU9ENDhlUGt1YXF1UjJiTm1pVlRqTVhYMXhjUUIxWklJdE9Ta3BMZzdlMk5Bd2NPa08wa09jQXFQd2Z4b0Z6Mzd0M1Jva1VMbUpxYXdzREFBRmV1WENFUjZ4TDM3OTlIZkh4OERiNmg3eGNkQVB1SWdvSUNCQUlCTkRRMGtKT1RnOFdMRjJQcjFxMHl1VEdvYXJFWWhua1A0TFJJSkRwZVVGQndQaTB0alYvckI4RmlvVU9IRGxCVFU4T1ZLMWVncmEwTmdVQ0FsaTFieXR3Y0dob2E0dmJ0MjFWV0xhcU9VQ2pFa3lkUDhQRGhRL3o5OTk4QVFLcEFTdkw0Nk9ycWtxVFRmLy85TjJKalkvSCsvWHZvNnVvaU9UbTUyaHh3R1JrWitQdnZ2NUdjbkl5Wk0yY2lQVDBkNWVYbDJMbHpKeXdzTEhEczJESE1talVMTEJhTGxGVnVZT3BGRy9sV0xseTRnUFhyMTBOTFN3c2FHaHBvMXF3WjFOWFZFUnNiaTB1WExrRkxTd3NsSlNYUTF0YVdtcldrcEh6ek5ySmp4dzRZR0JpZ1U2ZE9ZTFBaK091dnY2Q3NySXhPblRyaCt2WHJLQ29xd3BneFk2UUdnWm8zYnc1ZlgxK2NPM2RPS3JIcHgzZzhIaWs1YjI1dWppTkhqaUFyS3d0K2ZuN2djRGp3OGZHQm5aMGRsaTlmamxXclZrRlZWUlg1K2ZtWU8zY3VTa3RMU1FSWWNuSXk0dUxpRUJJU2d2THljcFNVbEpBOFU1Sy8vZSt0YjlIWDEwZGhZU0Z5Y25LZ3JhMHQ5WnBrZHJYeUlPSFRwMCtsSWdGNFBGNjFSUThnamg2UUZDNkErRUwwK3ZYcmVQcjBLWjQrZllySGp4K0R4K1BKdk8vRml4ZGsrYXpFbWpWcnBDYlFtalZyaHFDZ0lPQi9TMHpyN2NCRzgrYk5NWGZ1WExScjF3NEdCZ1k0ZS9Zc1NrcEtTUDdCcWtoeXlXbHJhME5CUVFHMnRyWVFpVVFJQ0FqQTI3ZHZTVDZlZ29JQ3JGKy9IZ01IRGtSRlJRVkNRME1SSFIyTjdPeHNLQ3NyNDlkZmY4WDgrZk5yOGJldGMvUjhTTStIZGFaYnQyN2c4L2xJUzB1RFFDQkFlbm82Q2dvS01HalFJQWlGd21yZmw1R1JBVnRiVzB5YU5BbVJrWkZTa1M3Ly9QTVBrcE9UNGUzdGpaWXRXNkp0Mjdaa2FhQ3RyUzF1M0xpQm5Kd2M2T2pvZ00vbmt3aXdxVk9ud3NuSkNkcmEyamgzN2h4MjdkcUZvcUlpR0JvYXd0ZlhGMXd1Ri9mdjN5ZUp2MHRLU2xCYVdvcVZLMWVTYUdXUlNBUlhWOWNxSzRsV2xadTNPc3VYTHlkOXQwZ2srbVFneE1PSEQrSHI2MHZ5STFaVVZDQWxKUVY3OSs3RnNtWExrSnFhaWx1M2JrRlBUMC9xZmFtcHFmanBwNStrOW4zejVrMlpYSFVPRGc1U3VjQWFxRHJ0NTU0OWV3WnZiMjhzWDc0Y1o4NmN3Y21USjFGVVZJUkhqeDZCeldZak1EQVFIaDRlQ0FzTHcrVEprM0gvL24wa0p5ZWpiZHUyNk5PbkR4NDhlQ0MxUHowOVBieDY5UXBGUlVXSWpZMlZ5bE1uRVJ3Y0xMUDZLRFUxVldiYitQaDRxWUlObjFJNVRVOUJRUUc1RnZuNC9RVUZCWFFBN0RPK3l3R3c0dUxpS21jUklKNUpLQ2twUVVaR0Jod2RIUkVkSFkzMDlIUVlHQmpJNUpHaVpNbkp5ZTFMVEV6Y0NrQlFnODIvcVJrelp1RDgrZlBnOC9rb0tDaUFnNE1EdkwyOXBaYW9QSHIwQ05IUjBmRHk4b0tibXh1Q2dvS2dvNk1EUzB0TG1kSC9rcElTaElTRUlERXhFU1VsSllpTWpNUzBhZE13Y2VML29uUXJMNEg4V09mT25hR3ZydzhQRHc5VVZGVGc1czJiV0xod1laWEh6ZUZ3VUZGUkFYMTlmZGpiMjBOUFQ0OFVheWd1TG9heXNqTGk0K014ZVBCZ2ZQanc0WXVTZTlZSDlhbU5mQXNDZ1FBalI0NlVhUWNYTDE3RWpCa3pNR0hDQkNRbEpVbUZaVlBTYXFPTmFHbHBZYytlUFhqejVnMjRYQzQ2ZE9pQW9LQWdhR2xwNGZUcDB6QTFOWldKZ0dLejJSZ3laQWhPbno3OXlRRXd5VEtRYmR1MmtTcWVXVmxaNUhVZEhSMkVob2JDMGRFUmt5ZFBocSt2TDdLenMyRm9hQ2hWUGJaTGx5NmtIZDIrZlZ1cW1BY0FuRDkvL3J2clc5cTFhd2RUVTFPc1dyVUt5NVl0ZzBna0loTVM2OWV2eDhpUkk2Vm1mVHQxNmlTVlErWlRCQUlCbmoxN2htN2R1dUgrL2ZzUUNvVTRlL1lzWEZ4YzRPL3ZqN3k4UEhUcDBnVWVIaDVTU3lMNGZENXUzYnBGY3RkSWJOdTJyVUhtWjJ6ZnZqMm1UcDJLNE9CZ2JOeTRFVEV4TWVEeGVMaDE2eFpldlhxRlZhdFdrWWlFTVdQR1lPclVxZGl6Wnc4V0xWcUV3WU1IdzlyYUducDZlbWpYcmgzTXpjMWhaV1ZGcWd5NnVycVN2eXMvUHovY3ZIa1RLMWFzZ0o2ZUhyS3pzNUdlbmw2bnYzdHRvK2REZWo2c0MvbjUrY2pMeThPQkF3ZklUWFJSVVJHMmJ0MUtvcTNzN2UzUm8wZVBLdCt2cWFtSmlJZ0lxWE9FcjY4dit2ZnZqNTQ5ZTJMZnZuMzQ2YWVmb0tTa0pQVStMcGRMY2lpS1JDS3BDREJEUTBNd0RJT2dvQ0FrSkNSZzFhcFZDQW9Ld3VqUm8yRnZiNC8xNjllamE5ZXVaRi9SMGRGa3BVZDBkRFR5OC9QeDlPbFRBTUN3WWNOZ1ltSWlGWm16WU1HQ2FpdEtWaWFwYlBtNVFtVVNqeDQ5a2txZmN1SENCUXdZTUFEdjM3K0hqNDhQakl5TUVCb2FLbE9kOXNxVksvanc0UU5FSWhGSld6Qmd3QUNzWGJ1MlJwL2JrTlIxUDJkZ1lJQjE2OWFSaUg0bkp5YzRPVG5CenM2T1hLUHQyYk1IU2twS0pBWENyNy8raW1YTGxrbFZ1QVdBQnc4ZVFGdGJHN201dWNqT3pzYlZxMWVySEFCYnZIaXhUSHY3ZUdJeEl5TURrWkdSTlJyODUvUDVpSTZPeHIxNzkzRHYzajNrNXViVzI0bktodUM3SEFDTGo0K3Z0dW9Hbjg5SFZsWVdDWU1FZ0lTRUJJU0doamFHRU5SdkxqRXhNYmUyUDFNb0ZFSmVYaDdaMmRua3hDMFFDTEJ2M3o2Y1BYc1dPM2Z1UkxObXpiQnQyemJZMnRyQ3o4OFBYYnQyUlU1T0RqdzhQT0RxNm9waHc0WkJUazRPczJiTklpZE9WVlZWdkh2M0Rod09CMEtoRUtxcXFqQTFOY1hNbVRQUnJGa3paR1JrU0ZYeUt5MHRSVVZGQmVMaTRzaHprcG1jRmkxYWtKdzFRVUZCTURJeXFuYUpUb3NXTFRCOCtIQThlUENBUkNyd2VEeWNPSEVDNGVIaE1ERXh3ZkhqeHhFWUdBaExTMHNNR3pZTVU2Wk1JZVhvNjd1NmFDTzFyYVNraEF4NEtDZ29RRXRMQ3k5ZXZLanhCZFgzcmpiYXlLUkprekJwMHFRcVg1T0VxVmZGdzhORDZuRlZWWFkyYk5nQUF3TUR5TXZMbzZDZ0FFcEtTa2hPVHBZNmgranE2dUxnd1lNSURBeEVzMmJORUI4ZkQwZEhSMmhwYVlIRDRTQTZPcnBHa3k3Zlk5L2k2K3VMYmR1MndkSFJrU3dYaVlxS3d0Q2hRNldXd25UcDBxWEdnMThRTDMrc1hEMXM3OTY5Nk5xMUs4YU5HNGU4dkR5eUJIYjE2dFhJeU1nZzd6dHg0Z1IwZEhRUUVoSUNNek96ZWpsdytLVm16cHdKZ1VDQTY5ZXZRMDVPRG9jUEh3YkVTWnRkWFYzSmpMT0NnZ0lTRWhKdzRzUUpiTnk0RWVIaDRXamF0Q2w0UEI0cUtpb1FGUlVGSXlNakZCWVdnc1BoSUMwdGpReFFYcjE2RmRiVzFpUWRnYTZ1THJrWitWN1E4eUZWVzY1Y3VZTG82R2k4ZmZzV08zYnNRTisrZmFYeUZvMGFOUXArZm43Vkx1OS8vZm8xRWhJUzBMbHpaeWdySzh2MGM4K2VQWU9abVJuVTFOVFF1WE5uQ0FRQ3BLU2tJRGs1R1QvOTlKTk1XaERKd0p2a3ZQanc0VVA0K2ZsQlYxY1hJU0VoZVBYcUZTQWV6R3JhdENrY0hSMHhidHc0VEpzMkRjckt5cGd3WVFJbVRKZ0FrVWlFWThlT0lUdzhIRDQrUHZEMTlZV3RyUzFPblRvRloyZG45TzNiOTR1K0o4a1N6SnA2OE9BQkdWZ3BMaTVHVUZBUWdvS0NvS3FxQ2pzN08zaDdlNk9zckF3N2R1d2dLMUQ0ZkQ1T25qd0pWVlZWSERwMENGT25UdjJpejJ4bzZycWY0M0s1bjgzZEtwa01QSDc4T0RnY0R1Yk1tUU5WVlZWY3Zud1pLU2twOFBEd0lNdTRiV3hzWUdKaWduMzc5bFY3dmFXc3JGemxKS3JFNjlldjRlenNqRkdqUmxXWlV1QmpiRFliTjI3Y1FPZk9uVEZ4NGtTMGI5K2VyRTc3dUdKelJVVUZLWEpCVmUyN0hBQ3J2UGIyWTY5ZXZjS2lSWXRrMXQxQ1BNQXhZOFlNOU8vZkgwNU9UZ2dJQ0VCVVZCUTRIQTZtVDU5T3lxRlN0ZXZXclZ0d2RuYUdrcElTT1prN09UbEJVVkVSdTNmdkpwRmN6czdPK1BISEg3Rng0MGJzM3IwYmpvNk9zTEN3SUxQMlE0Y09oWW1KQ2M2Y09ZT2pSNDhpSXlNREJRVUZLQ3NyZzV5Y0hNTER3OUd2WHoveXVhMWJ0eWF6MnA4aXFiWUdBSVdGaFlpTmpjVzJiZHVrdHVGeXVaOU1CSHJnd0FFa0pDUmd6Wm8xcE5LSW41OGZFaElTY09USWtTclhuMU4xSnpFeEVSczJiQURFUzdhTWpJenc1czBiVWdWSVMwc0xhV2xwaUltSmdhR2hJVnEzYmwzSFIweDlUVC8rK0NQNWVkMjZkYmg4K1RLVWxKU3diTmt5cWUxVVZGU3diTmt5dkhyMUNzYkd4bWpTcEFrcUtpcGdaMmVIaW9vS1VzMndKcjZudmtWVlZSWExsaTNEc21YTDRPbnBpWll0VzBwTlJud0tqOGNEajhjRGw4dkZ2WHYzcEpZb1NHN3VKUHIxNndkSFIwZEFIQld3ZXZWcXNGZ3NyRjI3RnBNbVRRS0h3OEdiTjIrd2E5Y3UrUGo0NE1HREI3QzN0NGVycTZ0VUF0M0tKQk0yOVZWeWNqS2lvcUlBQU5PblQwZFpXUm5tenAxTEx1VGw1T1JrTHV6VjFkV2hyYTJOdi83NkN3OGVQSUNKaVFsV3JseUo4ZVBINDlpeFl3Z05EWVc3dXp1U2s1UFJ0MjlmTXFCcVlHQ0FjK2ZPWWRpd1lXVFFrV3A4NlBtd2Z0RFQwNE90clMzV3JWc0hOcHVOVFpzMmtTWDFFT2RPdExHeElSTXYydHJhQ0FzTFExRlJFWXFMaXpGbnpoeTR1N3VEdytFZ0x5K1BMTmVIT0FWSWNuSXlmdnp4UndRRkJlSFNwVXZJek15RXVybzZEQXdNU0ZSeVJrWUdORFEwd09WeUVSc2JpMWF0V2tGZVhoN3IxNi9IcFV1WHNIanhZcGxJS1FBd05UWEYvdjM3NGVQamd4RWpSc0RiMnhzLy9QQURvcUtpRUIwZGpaOS8vaGw3OSs2RnVybzZHUURyMmJNbmZIeDhzRzNiTm93Wk13YjkrdldEdnI0KzJXZFZrMWZWZWZQbURSUVZGVkZXVm9iWHIxK1Q4NFpRS01TZE8zZklzbTFWVlZWNGVYbmhoeDkrUUdabUpxWk9uVXFLM1V5YU5JbWtUQWtKQ1VIcjFxM2g3ZTBOT3pzNzVPZm5WenZoSlJLSjZBcWsvMEJPVHU2THZyLzc5KzlqMWFwVkFJQXBVNllnSnljSEh6NTh3TTgvLzR3T0hUcEFSVVVGQU5DMWExZk1temNQM3Q3ZTVMMGlrUWpqeG8xRFRrNE9YRjFkWmE2OTh2THlrSkNRZ0prelo1SmlhaTR1TGpVNkxqYWJqWTBiTjFiNVduUjB0TlRqNjlldkl6SXlzc2EvTS9VTnRPbGdGR3M5M1k1cEtONi9mODlZV0ZoVStkcmV2WHVaOGVQSE13S0JnQ2tvS0dCTVRFeVkzTnhjNXZYcjE0eTV1VG1UbEpSVTY4ZjdPZGJUN1pnMkhZeGk2N29kZk1xM2FDT0ZoWVhWdmxaUlVjRXdETVBjdm4yYkVZbEVYL1Z6YTBJb0ZOYktlMnJxZTIwajM4clpzMmVaalJzM2tzZWxwYVhNNnRXcm1ZY1BIekpGUlVYa3Yram9hR2IvL3YxTVptWm1uUjV2VGRBMjh0OElCSUphK1p5NjdGdHFvNDFVOWJtclY2OW1Ra0pDYW55Y3QyN2RZa3hNVEJnVEV4T21mLy8rVEhSME5IbHQvZnIxekw1OSt4aUdZUmhmWDEvbTdObXpNdTlmdEdnUjA2OWZQMmI2OU9sTVJVVUY0K3JxeXF4ZXZacThIaE1UdzlqWjJUSDkrdlZqZXZYcXhaaVptVEZtWm1aTXIxNjlHQk1URTJiTGxpME1VOTNvV0Qxb3g2OWV2V0lPSHo3TURCMDZsSG4rL0RremVmSmtxZjk2OSs3TmpCczNUdXE1ek14TVp2WHExY3lkTzNlWUJRc1dNRStlUEdFY0hCeVk4K2ZQTTFldVhHRWVQMzdNeE1YRk1iZHUzWkw2ckRkdjNqQlRwa3hoek16TW1NREFRS2E0dUxqT2ZtOEoydGQ5WGZSOFdELzhsOTgzSmlhR21USmxDdlA2OVd1R0VWOUQyOW5aU2ZWdjV1Ym1URUJBQU1PSXI2MXYzcnpKNU9mbnkreHIxcXhaVFBmdTNSa1RFeFBHd3NLQ2lZbUpZUmlHWWY3NTV4L20vZnYzVXRzK2ZmcVVtVFZybHN3K0hqOSt6UEQ1ZkdidDJyWE1saTFibVBUMGRQSmFSVVVGTTJ6WU1LbnRFeE1UbVpVclZ6TG56NS8vMTkrQnZiMDlZMkppd25UdjNwMnhzN05qK0h3K3c0ajd5NkZEaHpKQ29aQXBLaXBpeG80ZEsvUGVlL2Z1TVlNR0RXTDY5dTNMbkQ5L25rbE9UbWJNek15WTVPUmtoaEhmZDI3YXRJa1pPWElrWTJwcXl2VHAwNGQ4cnoxNjlHQk1UVTJab3FLaWFzOFpqVlZENnVmK2pkcTZMdnkzNnFxZk16WTJqalUyTnY3bW4vdGRSb0FCZ0pXVkZkNjlld2VoVUFpaFVFaEdhY1BEdzhIajhTQVFDR1FxLzEyN2RnMi8vUElMNU9YbFVWSlNBb2hESnBzMWE0YUJBd2ZpNU1tVG4weXVTOVdlVDFWQmsveTdkdS9ldlJhUDZQOUoxdnAvNi9kUWRlZkNoUXNrOHE5ang0NHdORFRFekprejBibHpaeklUbFpLU2dsV3JWalhJSEVIVWw2bXRpQi9hdDN4ZXo1NDlrWmlZV09Wcnk1Y3ZKNUZiYytmT3JiTDZiMEJBQUJpR0lYL0hUazVPME5YVkphOFBHalNJSkN3V0NvVVFpVVFRaVVSa3YvVzlxclMrdmo3MDlmVng5T2hSY0xsY2t2L0UzOThmUC8vOE0wYU1HSUdaTTJkaTFhcFZKSnBDTWlOKzRjSUZaR1ptNHV6WnM4ak96a2EzYnQwUUVCQ0ExTlJVZlBqd0FXdzJHeTFhdEVDWExsMHdmLzU4Nk9qb1lQLysvVGgxNmhSMjdkcUZreWRQSWlBZ29FYkxRYWlHZzU0UEc3WkJnd2JCM055YzlGMXNOcHZrOGFyS3A2NnRKVXZTUDc3SGtrUWZWOWErZmZzcWw3Qkxxc3l1WHIxYTVqVTJteTBURFdOaVlrSXFWUDViSCtlQmt0RFgxeWZwQ2xSVlZhdk1aZGUxYTFmRXhNUklQYmRueng2MGJkc1dBTkMwYVZNc1hicVVWS0lYQ0FUa3ZBSHhPZnBUVWR4VXcxU2ZJOEcvQjkvdEFKaWtmT21wVTZkdytmSmxxY1RDdXJxNnlNaklJSlZHSklxS2lxQ3BxVm5sL3JTMHRQRDgrZk52Zk5RVVJUVUVnd2NQaHF1ckt5QytlT0Z3T0xoeDR3YXNyYTNSdDI5ZjVPVGt3TWJHaGxRdW9panEzL25hQ1lNbE4rU2ZxaGhXZVRuRng5Y0psY25MeXpmNGkxekpVc2VTa2hJMGI5NGNhbXBxa0pPVGc0cUtDdFRVMUhEejVrMnlsTTNTMGhKdjM3N0ZwRW1Ua0pxYWlyZHYzeUk5UFIwQkFRR0lpSWlBaW9vS3hvMGJKNVVMVDE1ZUhsWldWaGd4WWdUYzNOemc3dTZPczJmUDBpVS9qUWc5SHpaOFgzdmd2cXJKaFlaSzBsZXhXQ3lwQWl5ZjhxbGsvSTNwdTZHbyt1cjdtdnF0b1hidDJ1SEpreWN5eit2cjZ5TWxKYVhLOXp4NzlneXRXcldxaGFPaktLcStrNWVYaDZLaUloUVZGVkZlWG82eXNqSllXVmtoTkRRVVFxRVF2cjYrR0Q5K3ZFeUNUSXFpcXNkcVJPcjZ1L3dTaFlXRlNFaElxUEttemQzZEhXVmxaV0FZQmg0ZUhyaDkrellXTFZxRWUvZnVRU2dVd3NuSkNTMWJ0b1NhbWhyVTFkWFJzbVhMS2ljU3VWd3VKazJhaExkdjM1SUllNnB4b09mRHVsZlgvUjMxMzlWMUc2SytqSXVMQzI3ZXZGblhoMEZWZ3c0elY2Rjc5KzZJajQvSGlCRWpBUEd5U0NzcksweWRPaFdPam83bzFxMGJ1UkFzTEN6RThlUEhjZWZPSGJpNXVkWHhrVk1VVlpjeU1qTHc5OTkvSXprNUdUTm56a1I2ZWpyS3k4dXhjK2RPV0ZoWTROaXhZNWcxYXhaWUxCWXRYMHhSVkwzMzl1MWJ1THU3dzl6Y25DejFWRkpTd3VQSGo1R2ZudzlsWldVb0tTa2hQejhmZ1lHQkNBZ0l3T0xGaTdGcDB5WmN2bndabHk1ZEFzVEZCMWdzRmc0ZVBBaUlvKy9YckZtRG9VT0hvbTNidHVEeGVJaU1qRVRIamgwL0dYMUhOUnowZkVoUlZHTVhIeDlQcWlSWDl2anhZK1RsNVNFaUlrTHErU1pObW1EZHVuVzFlSVJVVmI3TEFiRHk4bktrcDZjakt5c0xkKzdjd2ZQbno3Rm8wU0s4ZnYwYXVycTY4UFQweEk0ZE81Q1hsd2QxZFhXRWhJUmcvUGp4TURZMmhyKy9QMEpDUXZEaXhRdEFYRGE0UTRjTzJMVnJGMzc0NFllNi90VW9pcXBESEE0SEZSVVYwTmZYaDcyOVBmVDA5RWhwNWVMaVlpZ3JLeU0rUGg2REJ3L0dodzhmWk1xSVV4UkYxYlhrNUdSa1pXVWhNek1UaHc0ZFF2UG16YkZ5NVVyeStwdzVjM0RvMENFd0RJTWxTNVlBQUhKeWNxQ3RyUzIxSHhzYkd5eGV2QmdBc0hQblRxaXBxY0hHeG9hOHJxQ2dnSTBiTjVKcnJWNjllbFdaMTRkcW1PajVrS0tveHE1ang0NllOMitlelBPYk4yL0dzR0hEcENwTGd5NXhyVGUreTMrRlI0OGVZZEdpUlRBd01JQ0JnUUVzTFMyaHI2OFBQVDA5Nk92clEwVkZCU05Hak1EU3BVc3hldlJvNk9qb2tCbEpNek16bUptWklTc3JDMlBHak1HMWE5ZnErdGVoS0txZWFOR2lCWVlQSDQ0SER4NE1qZUh6QUFBSE4wbEVRVlNRZ2hnOEhnOG5UcHhBZUhnNFRFeE1jUHo0Y1FRR0JzTFMwaExEaGczRGxDbFRZR0JnVU5lSFRsRVVoWUtDQXJpNHVNRFcxaFplWGw0aytxdnlDcHgrL2ZxaFg3OSs1SEZHUmdZNEhBNjRYQzRtVHB5SXBrMmJncy9uZjdiQWdxVFVQTlU0MGZNaFJWR05uYnE2ZXBXRDk2cXFxbWpkdXZVbjg3MVJkZWU3SEFBek5qYkdsU3RYUHJtTmk0c0xmSDE5c1hYclZqZzVPZFhhc1ZFVTFiZ2NPSEFBQ1FrSldMTm1EYWwwNU9mbmg0U0VCQnc1Y2dTS2lvcDFmWWdVUlZFQWdPZlBuMlBnd0lGd2RIU0VpWWtKZ29LQ3NIejVjaWdvS0lERllvSEZZa0VrRWtFZ0VFQWdFQUFBRml4WWdISGp4Z0VBK0h3K3BrMmJCaFVWbFdxTEJsSGZMM28rcENpcXNjbkt5b0tWbFJWMGRIVEljN201dVhqMDZCRXArc0xuODlHdVhUdHMzNzY5RG8rVWt2Z3VCOEJxUWxGUkVTdFhycFFLKzZjb2l2cWNrU05IWXVUSWtlVHhiNy85aHJsejU4cHMxN05uVDFJOWphSW9xajR3TlRXRmlZa0pBS0JYcjE3bzFhc1hSQ0lSeXN2TElSUUt3VEFNV0N3VzVPVGtJQ2NuQjNsNWVha2xIWU1HRGNMQWdRTmxxamc2T0RqVSt1OUMxVDE2UHFRbzZudlFxbFVySER0MmpEeDJjWEhCNU1tVDBhdFhMd0RBN2R1M0VSWVdWb2RIU0ZWR0I4RCtwWll0V3lJeE1iR3VENE9pcUhydWM4dUFLSXFpNnBPUGM1VEl5Y21SV2V5YW9BWExxT3JROHlGRlVSUlYxK2dBR0VWUkZFVlJGRVZSRkVWUjFCZkt5TWpBcUZHakFBQkNvUkE1T1RtNGNlTUdtalp0Q29nTDhORjhZUFVISFFDaktJcWlLSXFpS0lxaUtJcjZBcHFhbXRpeFl3ZDY5T2lCZ29JQ2VIaDRnR0VZY0RnY3VMbTVZY0NBQVNnb0tFQkdSa1pkSHlvbFJtT1JLWXFpS0lxaUtJcWlLSXFpdmdDWHkwV1BIajJRbXBxSzJiTm5ZK3pZc2VqVXFSTmNYVjJ4Zi85KzdObXpCK3JxNnVqY3VYTmRIeW9sUmdmQUtJcWlLSXFpS0lxaUtJcWl2Z0NmejhldVhic3dmLzU4ZUhoNGtNSWZ5c3JLMkw1OU8xSlNVakJqeGd6Y3UzZXZyZytWRXFNRFlCUkZVUlJGVVJSRlVSUkZVVFgwNE1FRFRKZ3dBUThlUE1DK2ZmdGdhbW9xOVRxWHk4V0dEUnN3WmNvVXVMbTV3Y25KQ1NLUnFNNk9sL29mbWdPTW9paUtvaWlLb2lpS29paXFodHEwYVFOM2QzZjA3OS8vazl1TkdERUNnd1lOUWxwYUdxMkdXdy9RQVRDS29paUtvaWlLb2lpS29xZ2FVbE5UcTNMd3k5L2ZYK1k1THBlTERoMDYxTktSVVo5Q2h5QXBpcUlvaXFJb2lxSW9pcUtvUm8wT2dGRVVSVkVVUlZFVVJWRVVSVkdOV3Ewc2dYejg5Qm1tekxDdmpZK2lQdkw0NmJPNlBvUWFvVzJrN3RBMlFuME9iU1BVNXpTVU50SVEwSFpjZHhwS082WnRwTzQwbERaQ1VRMGQ3ZWZxVG1QdjU3NzVBQmdENW5SUkVRODNiaVYrNjQraXFzTmlUdFgxSVh3S2JTUDFBRzBqMU9mUU52Sk5zY0J3QUlBQnE2S3VqK1ZmcStkdHBDRm82TzI0VWFqbjdaaTJrWHFnbnJjUmltcm9hRDlYRDlCK2pxSW9pcUtvYjhYRXhNVEJ5TWhvVGwwZkIwVlJGRVZSRkVYVk5tTmo0MWhqWStQWWIvMDVOQWNZUlZFVVJkVzk4U3dXeTdLdUQ0S2lLSXFpS0lxaUdpczZBRVpSRkVWUmRhaExseTVOQVF4bXNWakRmdnp4Ui9XNlBoNktvaWlLb2lpS2Fvem9BQmhGVVJSRjFTRTVPVGxMQVBJQTVOWFYxY2ZXOWZGUUZFVlJGRVZSVkdORUI4QW9pcUlvcWc3SnljbFpNZ3dEaG1IQVlyR3M2dnA0S0lxaUtJcWlLS294b2dOZ0ZFVlJGRlZIMnJkdnJ3WmdlS1duUm5UdDJsV2xEZytKb2lpS29paUtvaG9sT2dCR1VSUkZVWFZFU1VscERJdkZVcWowRkZkZVhuNUVIUjRTUlZFVVJWRVVSVFZLZEFDTW9paUtvdXFJWlBtamhQaG51Z3lTb2lpS29paUtvcjR5T2dCR1VSUkZVWFdnYmR1MmlnekRqQVFBRm9zRkZvc0Y4YzlqMnJadHExalh4MGRSRkVWUkZFVlJqUWtkQUtNb2lxS29PcUNpb2pLU3hXSlZsZTlMclVtVEprUHI0SkFvaXFJb2lxSW9xdEdpQTJBVVJWRVVWUWZrNWVYSFYxNytLTUV3REVRaTBmZzZPU2lLb2lpS29paUthcVRZZFgwQUZFVlJGUFc5NmQ2OU80ZGhtREdTWlk4U2xSNlBFNStqQlhWeGZCUkZVUlJGVVJUVjJOQUJNSXFpS0lxcVpTS1JTSnZGWWdWSUhqTU1NeFAvR3dBTEUvOGZIVHQyMUhyOCtIRjJYUjRuUlZFVVJWRVVSVFVXZEFEcy85cTVZeHVFWVFDSW9oZUpnZUlOV0kyVllBQTJTRElGYzFEUlVpQVJTNmYzT2hlV3IvNkZBZUJrKzc2L2t0dys1ekhHTlVtMmJidDl2UWdBQVB6RUgyQUFBQUFBVkJQQUFBQUFBS2dtZ0FFQUFBQlFUUUFEQUFBQW9Kb0FCZ0FBQUVBMUFRd0FBQUNBYWdJWUFBQUFBTlVFTUFBQUFBQ3FDV0FBQUFBQVZCUEFBQUFBQUtnbWdBRUFBQUJRVFFBREFBQUFvSm9BQmdBQUFFQTFBUXdBQUFDQWFwZlpBd0NBSk1rNnhuak9IZ0VBQUNkYmt4ei9ma1FBQTRENUhyTUhBQURBSk1leUxQZlpJd0FBQUFBQUFBQUFBQUFBQUFBQUFBQUFBQUFBQUFBQUFBQUFBQUFBQUFBQUFBQUFBQUFBQUFBQUFBQUFBQUFBQUFBQUFBQUFBQUFBQUFBQUFBQUFBQUFBQUFBQUFBQUFBQUFBQUFBQUFBQUFBQUFBQUFBQUFBQUFBQUFBQUFBQUFBQUFBQUFBQUFBQUFBQUFBQUFBQUFBQXp2WUdQUmtIdFBFTnV3Z0FBQUFBU1VWT1JLNUNZSUk9IiwKCSJUaGVtZSIgOiAiIiwKCSJUeXBlIiA6ICJmbG93IiwKCSJVc2VySWQiIDogIjI2NDM4Mjc0NyIsCgkiVmVyc2lvbiIgOiAiMzMiCn0K"/>
    </extobj>
  </extobjs>
</s:customData>
</file>

<file path=customXml/itemProps15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4960</Words>
  <Application>WPS 演示</Application>
  <PresentationFormat>宽屏</PresentationFormat>
  <Paragraphs>386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 振兴</dc:creator>
  <cp:lastModifiedBy>WPS_1487168573</cp:lastModifiedBy>
  <cp:revision>21</cp:revision>
  <dcterms:created xsi:type="dcterms:W3CDTF">2020-02-22T10:39:00Z</dcterms:created>
  <dcterms:modified xsi:type="dcterms:W3CDTF">2025-12-23T04:42:03Z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8BEBAE77B3C24C7295470F4C993004DC_13</vt:lpwstr>
  </property>
  <property fmtid="{D5CDD505-2E9C-101B-9397-08002B2CF9AE}" pid="3" name="KSOProductBuildVer">
    <vt:lpwstr>2052-12.1.0.24034</vt:lpwstr>
  </property>
  <property fmtid="{D5CDD505-2E9C-101B-9397-08002B2CF9AE}" pid="4" name="KSOTemplateUUID">
    <vt:lpwstr>v1.0_mb_b9SCMW4SDOx7JT5ho52Wbg==</vt:lpwstr>
  </property>
</Properties>
</file>