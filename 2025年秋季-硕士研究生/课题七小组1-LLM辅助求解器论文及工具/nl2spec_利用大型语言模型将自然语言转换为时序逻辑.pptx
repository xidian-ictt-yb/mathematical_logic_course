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03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55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7000" y="1234446"/>
            <a:ext cx="5629973" cy="118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294" b="1" dirty="0">
                <a:solidFill>
                  <a:srgbClr val="0A5F6F"/>
                </a:solidFill>
              </a:rPr>
              <a:t>nl2spec: 利用大型语言模型
将自然语言转换为时序逻辑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3200372" y="2594604"/>
            <a:ext cx="27432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基于论文与代码的技术分析</a:t>
            </a:r>
            <a:endParaRPr lang="en-US" sz="1704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8436E17-49B5-F5E7-EB61-AF0B0097F574}"/>
              </a:ext>
            </a:extLst>
          </p:cNvPr>
          <p:cNvSpPr/>
          <p:nvPr/>
        </p:nvSpPr>
        <p:spPr>
          <a:xfrm>
            <a:off x="3154940" y="3154508"/>
            <a:ext cx="2834109" cy="269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zh-CN" altLang="en-US" sz="1704" dirty="0">
                <a:solidFill>
                  <a:srgbClr val="333333"/>
                </a:solidFill>
              </a:rPr>
              <a:t>李汪洋、姚凯、白一凡、孙风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93253" y="2160091"/>
            <a:ext cx="2357465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504" kern="0" spc="2" dirty="0">
                <a:solidFill>
                  <a:srgbClr val="0A5F6F"/>
                </a:solidFill>
              </a:rPr>
              <a:t>背景与动机</a:t>
            </a:r>
            <a:endParaRPr lang="en-US" sz="350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791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1874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17145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面临的问题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72347" y="382191"/>
            <a:ext cx="11430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背景与动机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857250" y="1132284"/>
            <a:ext cx="20574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形式化验证的挑战：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1143000" y="1530186"/>
            <a:ext cx="7429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编写 LTL 规范需要深厚的数学与逻辑专业知识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1143000" y="1907353"/>
            <a:ext cx="7429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自然语言需求与形式化规范之间存在巨大的语义鸿沟</a:t>
            </a:r>
            <a:endParaRPr lang="en-US" sz="1486" dirty="0"/>
          </a:p>
        </p:txBody>
      </p:sp>
      <p:sp>
        <p:nvSpPr>
          <p:cNvPr id="10" name="Text 7"/>
          <p:cNvSpPr/>
          <p:nvPr/>
        </p:nvSpPr>
        <p:spPr>
          <a:xfrm>
            <a:off x="857250" y="2423824"/>
            <a:ext cx="18288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现有方法的局限：</a:t>
            </a:r>
            <a:endParaRPr lang="en-US" sz="1704" dirty="0"/>
          </a:p>
        </p:txBody>
      </p:sp>
      <p:sp>
        <p:nvSpPr>
          <p:cNvPr id="11" name="Text 8"/>
          <p:cNvSpPr/>
          <p:nvPr/>
        </p:nvSpPr>
        <p:spPr>
          <a:xfrm>
            <a:off x="1143000" y="2821725"/>
            <a:ext cx="7429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手工翻译：耗时巨大，且容易引入人为错误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1143000" y="3198893"/>
            <a:ext cx="7429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直接生成：准确率低，缺乏可解释性，难以在工业界落地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571500" y="3733223"/>
            <a:ext cx="8001000" cy="8229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1808" b="1" dirty="0">
                <a:solidFill>
                  <a:srgbClr val="0A5F6F"/>
                </a:solidFill>
              </a:rPr>
              <a:t>核心观点：我们需要一种工具来弥合“非结构化需求”与“形式化规范”之间的 Gap。</a:t>
            </a:r>
            <a:endParaRPr lang="en-US" sz="1808" dirty="0"/>
          </a:p>
        </p:txBody>
      </p:sp>
      <p:sp>
        <p:nvSpPr>
          <p:cNvPr id="14" name="Shape 1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82153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39378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44661"/>
            <a:ext cx="2573815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什么是 nl2spec?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72347" y="310753"/>
            <a:ext cx="11430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背景与动机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964406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定义：</a:t>
            </a:r>
            <a:r>
              <a:rPr lang="en-US" sz="1704" dirty="0">
                <a:solidFill>
                  <a:srgbClr val="333333"/>
                </a:solidFill>
              </a:rPr>
              <a:t>一个交互式框架，利用大型语言模型 (LLM) 将非结构化自然语言需求转换为 </a:t>
            </a:r>
            <a:r>
              <a:rPr lang="en-US" sz="1602" b="1" dirty="0">
                <a:solidFill>
                  <a:srgbClr val="0A5F6F"/>
                </a:solidFill>
              </a:rPr>
              <a:t>LTL (线性时序逻辑)</a:t>
            </a:r>
            <a:r>
              <a:rPr lang="en-US" sz="1704" dirty="0">
                <a:solidFill>
                  <a:srgbClr val="333333"/>
                </a:solidFill>
              </a:rPr>
              <a:t> 规范。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71500" y="1764506"/>
            <a:ext cx="800100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来源：</a:t>
            </a:r>
            <a:r>
              <a:rPr lang="en-US" sz="1595" dirty="0">
                <a:solidFill>
                  <a:srgbClr val="333333"/>
                </a:solidFill>
              </a:rPr>
              <a:t>发表于 </a:t>
            </a:r>
            <a:r>
              <a:rPr lang="en-US" sz="1499" b="1" dirty="0">
                <a:solidFill>
                  <a:srgbClr val="333333"/>
                </a:solidFill>
              </a:rPr>
              <a:t>CAV 2023</a:t>
            </a:r>
            <a:r>
              <a:rPr lang="en-US" sz="1595" dirty="0">
                <a:solidFill>
                  <a:srgbClr val="333333"/>
                </a:solidFill>
              </a:rPr>
              <a:t> 会议，由斯坦福大学等机构研发。</a:t>
            </a:r>
            <a:endParaRPr lang="en-US" sz="1499" dirty="0"/>
          </a:p>
        </p:txBody>
      </p:sp>
      <p:sp>
        <p:nvSpPr>
          <p:cNvPr id="9" name="Shape 6"/>
          <p:cNvSpPr/>
          <p:nvPr/>
        </p:nvSpPr>
        <p:spPr>
          <a:xfrm>
            <a:off x="571500" y="2171700"/>
            <a:ext cx="8001000" cy="11644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171700"/>
            <a:ext cx="35719" cy="1164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" y="2257425"/>
            <a:ext cx="754380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核心能力 (Core Capabilities)：</a:t>
            </a:r>
            <a:endParaRPr lang="en-US" sz="1499" dirty="0"/>
          </a:p>
        </p:txBody>
      </p:sp>
      <p:sp>
        <p:nvSpPr>
          <p:cNvPr id="12" name="Text 9"/>
          <p:cNvSpPr/>
          <p:nvPr/>
        </p:nvSpPr>
        <p:spPr>
          <a:xfrm>
            <a:off x="800100" y="2650331"/>
            <a:ext cx="24193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1. 子翻译分解 (Decomposition)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3362306" y="2650331"/>
            <a:ext cx="241935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2. 交互式歧义解决 (Disambiguation)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5924541" y="2650331"/>
            <a:ext cx="24193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3. 置信度评分 (Confidence Scoring)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571500" y="3464719"/>
            <a:ext cx="107156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应用场景：</a:t>
            </a:r>
            <a:endParaRPr lang="en-US" sz="1499" dirty="0"/>
          </a:p>
        </p:txBody>
      </p:sp>
      <p:sp>
        <p:nvSpPr>
          <p:cNvPr id="16" name="Text 13"/>
          <p:cNvSpPr/>
          <p:nvPr/>
        </p:nvSpPr>
        <p:spPr>
          <a:xfrm>
            <a:off x="742950" y="3814763"/>
            <a:ext cx="38290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333333"/>
                </a:solidFill>
              </a:rPr>
              <a:t>硬件设计验证 (Hardware Verification)</a:t>
            </a:r>
            <a:endParaRPr lang="en-US" sz="1595" dirty="0"/>
          </a:p>
        </p:txBody>
      </p:sp>
      <p:sp>
        <p:nvSpPr>
          <p:cNvPr id="17" name="Text 14"/>
          <p:cNvSpPr/>
          <p:nvPr/>
        </p:nvSpPr>
        <p:spPr>
          <a:xfrm>
            <a:off x="4743450" y="3814763"/>
            <a:ext cx="38290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333333"/>
                </a:solidFill>
              </a:rPr>
              <a:t>智能家居规则控制 (Smart Home)</a:t>
            </a:r>
            <a:endParaRPr lang="en-US" sz="1595" dirty="0"/>
          </a:p>
        </p:txBody>
      </p:sp>
      <p:sp>
        <p:nvSpPr>
          <p:cNvPr id="18" name="Text 15"/>
          <p:cNvSpPr/>
          <p:nvPr/>
        </p:nvSpPr>
        <p:spPr>
          <a:xfrm>
            <a:off x="742950" y="4179094"/>
            <a:ext cx="38290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333333"/>
                </a:solidFill>
              </a:rPr>
              <a:t>机器人控制与软件需求工程</a:t>
            </a:r>
            <a:endParaRPr lang="en-US" sz="1595" dirty="0"/>
          </a:p>
        </p:txBody>
      </p:sp>
      <p:sp>
        <p:nvSpPr>
          <p:cNvPr id="19" name="Shape 16"/>
          <p:cNvSpPr/>
          <p:nvPr/>
        </p:nvSpPr>
        <p:spPr>
          <a:xfrm>
            <a:off x="0" y="4929188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57510" y="2160091"/>
            <a:ext cx="2828953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504" kern="0" spc="2" dirty="0">
                <a:solidFill>
                  <a:srgbClr val="0A5F6F"/>
                </a:solidFill>
              </a:rPr>
              <a:t>核心技术方法</a:t>
            </a:r>
            <a:endParaRPr lang="en-US" sz="350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50006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71525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76808"/>
            <a:ext cx="20574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技术方法概览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42900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核心技术方法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571500" y="982266"/>
            <a:ext cx="8001000" cy="1057275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2950" y="1160859"/>
            <a:ext cx="1657350" cy="700088"/>
          </a:xfrm>
          <a:prstGeom prst="rect">
            <a:avLst/>
          </a:prstGeom>
          <a:solidFill>
            <a:srgbClr val="FFFFFF"/>
          </a:solidFill>
          <a:ln w="18288">
            <a:solidFill>
              <a:srgbClr val="0A5F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2950" y="1160859"/>
            <a:ext cx="1657350" cy="700088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自然语言
需求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433619" y="1344811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→</a:t>
            </a:r>
            <a:endParaRPr lang="en-US" sz="1704" dirty="0"/>
          </a:p>
        </p:txBody>
      </p:sp>
      <p:sp>
        <p:nvSpPr>
          <p:cNvPr id="11" name="Shape 8"/>
          <p:cNvSpPr/>
          <p:nvPr/>
        </p:nvSpPr>
        <p:spPr>
          <a:xfrm>
            <a:off x="2724141" y="1160859"/>
            <a:ext cx="1657350" cy="700088"/>
          </a:xfrm>
          <a:prstGeom prst="rect">
            <a:avLst/>
          </a:prstGeom>
          <a:solidFill>
            <a:srgbClr val="FFFFFF"/>
          </a:solidFill>
          <a:ln w="18288">
            <a:solidFill>
              <a:srgbClr val="0A5F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24141" y="1160859"/>
            <a:ext cx="1657350" cy="700088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子翻译
分解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429041" y="1344811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→</a:t>
            </a:r>
            <a:endParaRPr lang="en-US" sz="1704" dirty="0"/>
          </a:p>
        </p:txBody>
      </p:sp>
      <p:sp>
        <p:nvSpPr>
          <p:cNvPr id="14" name="Shape 11"/>
          <p:cNvSpPr/>
          <p:nvPr/>
        </p:nvSpPr>
        <p:spPr>
          <a:xfrm>
            <a:off x="4724307" y="1160859"/>
            <a:ext cx="1657350" cy="700088"/>
          </a:xfrm>
          <a:prstGeom prst="rect">
            <a:avLst/>
          </a:prstGeom>
          <a:solidFill>
            <a:srgbClr val="FFFFFF"/>
          </a:solidFill>
          <a:ln w="18288">
            <a:solidFill>
              <a:srgbClr val="0A5F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4307" y="1160859"/>
            <a:ext cx="1657350" cy="700088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交互式
消歧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443579" y="1344811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→</a:t>
            </a:r>
            <a:endParaRPr lang="en-US" sz="1704" dirty="0"/>
          </a:p>
        </p:txBody>
      </p:sp>
      <p:sp>
        <p:nvSpPr>
          <p:cNvPr id="17" name="Shape 14"/>
          <p:cNvSpPr/>
          <p:nvPr/>
        </p:nvSpPr>
        <p:spPr>
          <a:xfrm>
            <a:off x="6743616" y="1168896"/>
            <a:ext cx="1657350" cy="684014"/>
          </a:xfrm>
          <a:prstGeom prst="rect">
            <a:avLst/>
          </a:prstGeom>
          <a:solidFill>
            <a:srgbClr val="FFFFFF"/>
          </a:solidFill>
          <a:ln w="18288">
            <a:solidFill>
              <a:srgbClr val="0A5F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3616" y="1168896"/>
            <a:ext cx="1657350" cy="684014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LTL
规范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71500" y="2089547"/>
            <a:ext cx="8001000" cy="332184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三大核心创新点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571500" y="2507456"/>
            <a:ext cx="285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A5F6F"/>
                </a:solidFill>
              </a:rPr>
              <a:t>1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1000125" y="2553891"/>
            <a:ext cx="622960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A5F6F"/>
                </a:solidFill>
              </a:rPr>
              <a:t>子翻译分解 (Decomposition)</a:t>
            </a:r>
            <a:r>
              <a:rPr lang="en-US" sz="1486" dirty="0">
                <a:solidFill>
                  <a:srgbClr val="333333"/>
                </a:solidFill>
              </a:rPr>
              <a:t>
 将复杂的自然语言长句拆解为简单的“自然语言片段 - LTL子公式”映射。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571500" y="3268266"/>
            <a:ext cx="285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A5F6F"/>
                </a:solidFill>
              </a:rPr>
              <a:t>2</a:t>
            </a:r>
            <a:endParaRPr lang="en-US" sz="1808" dirty="0"/>
          </a:p>
        </p:txBody>
      </p:sp>
      <p:sp>
        <p:nvSpPr>
          <p:cNvPr id="23" name="Text 20"/>
          <p:cNvSpPr/>
          <p:nvPr/>
        </p:nvSpPr>
        <p:spPr>
          <a:xfrm>
            <a:off x="1000125" y="3314700"/>
            <a:ext cx="609297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A5F6F"/>
                </a:solidFill>
              </a:rPr>
              <a:t>交互式歧义解决 (Disambiguation)</a:t>
            </a:r>
            <a:r>
              <a:rPr lang="en-US" sz="1486" dirty="0">
                <a:solidFill>
                  <a:srgbClr val="333333"/>
                </a:solidFill>
              </a:rPr>
              <a:t>
 引入 Human-in-the-loop 机制，用户可以锁定、编辑或删除子翻译。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571500" y="4029075"/>
            <a:ext cx="285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A5F6F"/>
                </a:solidFill>
              </a:rPr>
              <a:t>3</a:t>
            </a:r>
            <a:endParaRPr lang="en-US" sz="1808" dirty="0"/>
          </a:p>
        </p:txBody>
      </p:sp>
      <p:sp>
        <p:nvSpPr>
          <p:cNvPr id="25" name="Text 22"/>
          <p:cNvSpPr/>
          <p:nvPr/>
        </p:nvSpPr>
        <p:spPr>
          <a:xfrm>
            <a:off x="1000125" y="4075509"/>
            <a:ext cx="4600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A5F6F"/>
                </a:solidFill>
              </a:rPr>
              <a:t>置信度评分 (Confidence Scoring)</a:t>
            </a:r>
            <a:r>
              <a:rPr lang="en-US" sz="1486" dirty="0">
                <a:solidFill>
                  <a:srgbClr val="333333"/>
                </a:solidFill>
              </a:rPr>
              <a:t>
 通过多次采样统计频率，自动检测潜在的翻译歧义。</a:t>
            </a:r>
            <a:endParaRPr lang="en-US" sz="1397" dirty="0"/>
          </a:p>
        </p:txBody>
      </p:sp>
      <p:sp>
        <p:nvSpPr>
          <p:cNvPr id="26" name="Shape 23"/>
          <p:cNvSpPr/>
          <p:nvPr/>
        </p:nvSpPr>
        <p:spPr>
          <a:xfrm>
            <a:off x="0" y="4875609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072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85813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4613049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子翻译分解 (Decomposition)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82191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核心技术方法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957263"/>
            <a:ext cx="8001000" cy="6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核心思想：</a:t>
            </a:r>
            <a:r>
              <a:rPr lang="en-US" sz="1704" dirty="0">
                <a:solidFill>
                  <a:srgbClr val="333333"/>
                </a:solidFill>
              </a:rPr>
              <a:t>将复杂的自然语言需求拆解为多个独立的 (自然语言片段, LTL 子公式) 映射。</a:t>
            </a:r>
            <a:endParaRPr lang="en-US" sz="1602" dirty="0"/>
          </a:p>
        </p:txBody>
      </p:sp>
      <p:sp>
        <p:nvSpPr>
          <p:cNvPr id="8" name="Shape 5"/>
          <p:cNvSpPr/>
          <p:nvPr/>
        </p:nvSpPr>
        <p:spPr>
          <a:xfrm>
            <a:off x="571500" y="1777343"/>
            <a:ext cx="8001000" cy="193587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777343"/>
            <a:ext cx="35719" cy="1935873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0" name="Text 7"/>
          <p:cNvSpPr/>
          <p:nvPr/>
        </p:nvSpPr>
        <p:spPr>
          <a:xfrm>
            <a:off x="700088" y="1905930"/>
            <a:ext cx="7743825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Input:</a:t>
            </a:r>
            <a:r>
              <a:rPr lang="en-US" sz="1486" dirty="0">
                <a:solidFill>
                  <a:srgbClr val="333333"/>
                </a:solidFill>
              </a:rPr>
              <a:t> "Globally, the arbiter ensures mutual exclusion"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985838" y="2253100"/>
            <a:ext cx="7458075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"Globally" </a:t>
            </a:r>
            <a:r>
              <a:rPr lang="en-US" sz="1397" b="1" dirty="0">
                <a:solidFill>
                  <a:srgbClr val="0A5F6F"/>
                </a:solidFill>
              </a:rPr>
              <a:t>→</a:t>
            </a:r>
            <a:r>
              <a:rPr lang="en-US" sz="1486" dirty="0">
                <a:solidFill>
                  <a:srgbClr val="555555"/>
                </a:solidFill>
              </a:rPr>
              <a:t> G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985838" y="2564550"/>
            <a:ext cx="7458075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"arbiter" </a:t>
            </a:r>
            <a:r>
              <a:rPr lang="en-US" sz="1397" b="1" dirty="0">
                <a:solidFill>
                  <a:srgbClr val="0A5F6F"/>
                </a:solidFill>
              </a:rPr>
              <a:t>→</a:t>
            </a:r>
            <a:r>
              <a:rPr lang="en-US" sz="1486" dirty="0">
                <a:solidFill>
                  <a:srgbClr val="555555"/>
                </a:solidFill>
              </a:rPr>
              <a:t> a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985838" y="2876001"/>
            <a:ext cx="7458075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"mutual exclusion" </a:t>
            </a:r>
            <a:r>
              <a:rPr lang="en-US" sz="1397" b="1" dirty="0">
                <a:solidFill>
                  <a:srgbClr val="0A5F6F"/>
                </a:solidFill>
              </a:rPr>
              <a:t>→</a:t>
            </a:r>
            <a:r>
              <a:rPr lang="en-US" sz="1486" dirty="0">
                <a:solidFill>
                  <a:srgbClr val="555555"/>
                </a:solidFill>
              </a:rPr>
              <a:t> !(g1 &amp; g2)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700088" y="3237458"/>
            <a:ext cx="7743825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Combination:</a:t>
            </a:r>
            <a:r>
              <a:rPr lang="en-US" sz="1486" dirty="0">
                <a:solidFill>
                  <a:srgbClr val="333333"/>
                </a:solidFill>
              </a:rPr>
              <a:t> G (a -&gt; !(g1 &amp; g2))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71500" y="3870378"/>
            <a:ext cx="80010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i="1" dirty="0">
                <a:solidFill>
                  <a:srgbClr val="555555"/>
                </a:solidFill>
              </a:rPr>
              <a:t>优势：降低了翻译的复杂度，同时让非专家用户也能理解和验证翻译的中间步骤，实现了“白盒化”的生成过程。</a:t>
            </a:r>
            <a:endParaRPr lang="en-US" sz="1595" dirty="0"/>
          </a:p>
        </p:txBody>
      </p:sp>
      <p:sp>
        <p:nvSpPr>
          <p:cNvPr id="16" name="Shape 13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24003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交互式歧义解决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82191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核心技术方法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1107281"/>
            <a:ext cx="8001000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解决方案：Human-in-the-loop 机制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714375" y="1661620"/>
            <a:ext cx="1571625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锁定 (Lock)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2286000" y="1661620"/>
            <a:ext cx="5029228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确认正确的子翻译，将其作为后续生成的硬约束。</a:t>
            </a:r>
            <a:endParaRPr lang="en-US" sz="1704" dirty="0"/>
          </a:p>
        </p:txBody>
      </p:sp>
      <p:sp>
        <p:nvSpPr>
          <p:cNvPr id="10" name="Text 7"/>
          <p:cNvSpPr/>
          <p:nvPr/>
        </p:nvSpPr>
        <p:spPr>
          <a:xfrm>
            <a:off x="714375" y="2187383"/>
            <a:ext cx="1571625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编辑 (Edit)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2286000" y="2187383"/>
            <a:ext cx="4824375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直接修正错误的 LTL 片段，人工纠正模型偏差。</a:t>
            </a:r>
            <a:endParaRPr lang="en-US" sz="1704" dirty="0"/>
          </a:p>
        </p:txBody>
      </p:sp>
      <p:sp>
        <p:nvSpPr>
          <p:cNvPr id="12" name="Text 9"/>
          <p:cNvSpPr/>
          <p:nvPr/>
        </p:nvSpPr>
        <p:spPr>
          <a:xfrm>
            <a:off x="714375" y="2713146"/>
            <a:ext cx="1571625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删除 (Delete)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2286000" y="2713146"/>
            <a:ext cx="4343428" cy="35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移除无关或错误的解释，净化上下文信息。</a:t>
            </a:r>
            <a:endParaRPr lang="en-US" sz="1704" dirty="0"/>
          </a:p>
        </p:txBody>
      </p:sp>
      <p:sp>
        <p:nvSpPr>
          <p:cNvPr id="14" name="Shape 11"/>
          <p:cNvSpPr/>
          <p:nvPr/>
        </p:nvSpPr>
        <p:spPr>
          <a:xfrm>
            <a:off x="571500" y="3281772"/>
            <a:ext cx="8001000" cy="84865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281772"/>
            <a:ext cx="35719" cy="848655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281772"/>
            <a:ext cx="8001000" cy="848655"/>
          </a:xfrm>
          <a:prstGeom prst="rect">
            <a:avLst/>
          </a:prstGeom>
          <a:noFill/>
          <a:ln/>
        </p:spPr>
        <p:txBody>
          <a:bodyPr wrap="square" lIns="238125" tIns="136017" rIns="238125" bIns="136017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效果：通过用户的迭代干预，逐步消除歧义，引导模型收敛至完全正确的形式化规范。</a:t>
            </a:r>
            <a:endParaRPr lang="en-US" sz="1486" dirty="0"/>
          </a:p>
        </p:txBody>
      </p:sp>
      <p:sp>
        <p:nvSpPr>
          <p:cNvPr id="17" name="Shape 14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121"/>
            <a:ext cx="91440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62260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5322512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置信度评分 (Confidence Scoring)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82191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核心技术方法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1121569"/>
            <a:ext cx="8001000" cy="3657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方法：</a:t>
            </a:r>
            <a:r>
              <a:rPr lang="en-US" sz="1704" dirty="0">
                <a:solidFill>
                  <a:srgbClr val="333333"/>
                </a:solidFill>
              </a:rPr>
              <a:t>对同一输入进行多次采样（默认 n=3），统计各结果出现的频率。</a:t>
            </a:r>
            <a:endParaRPr lang="en-US" sz="1602" dirty="0"/>
          </a:p>
        </p:txBody>
      </p:sp>
      <p:sp>
        <p:nvSpPr>
          <p:cNvPr id="8" name="Shape 5"/>
          <p:cNvSpPr/>
          <p:nvPr/>
        </p:nvSpPr>
        <p:spPr>
          <a:xfrm>
            <a:off x="1221581" y="1701636"/>
            <a:ext cx="6700838" cy="711501"/>
          </a:xfrm>
          <a:prstGeom prst="rect">
            <a:avLst/>
          </a:prstGeom>
          <a:solidFill>
            <a:srgbClr val="E8E8E8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21581" y="1701636"/>
            <a:ext cx="6700838" cy="71150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924" dirty="0">
                <a:solidFill>
                  <a:srgbClr val="0A5F6F"/>
                </a:solidFill>
              </a:rPr>
              <a:t>confidence = count(result) / n</a:t>
            </a:r>
            <a:endParaRPr lang="en-US" sz="1924" dirty="0"/>
          </a:p>
        </p:txBody>
      </p:sp>
      <p:sp>
        <p:nvSpPr>
          <p:cNvPr id="10" name="Text 7"/>
          <p:cNvSpPr/>
          <p:nvPr/>
        </p:nvSpPr>
        <p:spPr>
          <a:xfrm>
            <a:off x="714375" y="2684599"/>
            <a:ext cx="7858125" cy="73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Confidence &lt; 1.0 :</a:t>
            </a:r>
            <a:r>
              <a:rPr lang="en-US" sz="1704" dirty="0">
                <a:solidFill>
                  <a:srgbClr val="333333"/>
                </a:solidFill>
              </a:rPr>
              <a:t> 标记为“歧义”(Ambiguous)，向用户展示前 k 个候选结果供选择。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714375" y="3558983"/>
            <a:ext cx="7858125" cy="3657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Confidence = 1.0 :</a:t>
            </a:r>
            <a:r>
              <a:rPr lang="en-US" sz="1704" dirty="0">
                <a:solidFill>
                  <a:srgbClr val="333333"/>
                </a:solidFill>
              </a:rPr>
              <a:t> 标记为“置信”(Confident)，系统自动接受该翻译。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571500" y="4210487"/>
            <a:ext cx="8001000" cy="36575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704" i="1" dirty="0">
                <a:solidFill>
                  <a:srgbClr val="555555"/>
                </a:solidFill>
              </a:rPr>
              <a:t>意义：让系统具备“自知之明”，主动提示潜在的不确定性，而非盲目自信。</a:t>
            </a:r>
            <a:endParaRPr lang="en-US" sz="1704" dirty="0"/>
          </a:p>
        </p:txBody>
      </p:sp>
      <p:sp>
        <p:nvSpPr>
          <p:cNvPr id="13" name="Shape 10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57510" y="2160091"/>
            <a:ext cx="2828953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504" kern="0" spc="2" dirty="0">
                <a:solidFill>
                  <a:srgbClr val="0A5F6F"/>
                </a:solidFill>
              </a:rPr>
              <a:t>代码实现架构</a:t>
            </a:r>
            <a:endParaRPr lang="en-US" sz="350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13716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系统架构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82191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代码实现架构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571500" y="935831"/>
            <a:ext cx="8001000" cy="75009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935831"/>
            <a:ext cx="35719" cy="750094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992981"/>
            <a:ext cx="321092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技术栈 (Tech Stack)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857250" y="1285875"/>
            <a:ext cx="32109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Python + Flask + OpenAI API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5601816" y="992981"/>
            <a:ext cx="26849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代码规模 (Code Scale)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601816" y="1285875"/>
            <a:ext cx="26849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~1022 Lines / 8 Modules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571500" y="1857375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核心模块 (Core Modules)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571500" y="2286000"/>
            <a:ext cx="2000250" cy="3500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Filename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2571750" y="2286000"/>
            <a:ext cx="1200150" cy="3500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Lines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3771900" y="2286000"/>
            <a:ext cx="4800600" cy="3500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Description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71500" y="2636044"/>
            <a:ext cx="2000250" cy="417909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models.py</a:t>
            </a:r>
            <a:endParaRPr lang="en-US" sz="1499" dirty="0"/>
          </a:p>
        </p:txBody>
      </p:sp>
      <p:sp>
        <p:nvSpPr>
          <p:cNvPr id="18" name="Text 15"/>
          <p:cNvSpPr/>
          <p:nvPr/>
        </p:nvSpPr>
        <p:spPr>
          <a:xfrm>
            <a:off x="2571750" y="2636044"/>
            <a:ext cx="1200150" cy="41790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330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3771900" y="2636044"/>
            <a:ext cx="4800600" cy="417909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555555"/>
                </a:solidFill>
              </a:rPr>
              <a:t>LLM 接口封装 (支持 Codex, GPT-3.5/4, Bloom)</a:t>
            </a:r>
            <a:endParaRPr lang="en-US" sz="1595" dirty="0"/>
          </a:p>
        </p:txBody>
      </p:sp>
      <p:sp>
        <p:nvSpPr>
          <p:cNvPr id="20" name="Text 17"/>
          <p:cNvSpPr/>
          <p:nvPr/>
        </p:nvSpPr>
        <p:spPr>
          <a:xfrm>
            <a:off x="571500" y="3053953"/>
            <a:ext cx="200025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prompting.py</a:t>
            </a:r>
            <a:endParaRPr lang="en-US" sz="1499" dirty="0"/>
          </a:p>
        </p:txBody>
      </p:sp>
      <p:sp>
        <p:nvSpPr>
          <p:cNvPr id="21" name="Text 18"/>
          <p:cNvSpPr/>
          <p:nvPr/>
        </p:nvSpPr>
        <p:spPr>
          <a:xfrm>
            <a:off x="2571750" y="3053953"/>
            <a:ext cx="1200150" cy="414338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120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3771900" y="3053953"/>
            <a:ext cx="480060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555555"/>
                </a:solidFill>
              </a:rPr>
              <a:t>提示词构建 (Few-shot) 与结果解析</a:t>
            </a:r>
            <a:endParaRPr lang="en-US" sz="1595" dirty="0"/>
          </a:p>
        </p:txBody>
      </p:sp>
      <p:sp>
        <p:nvSpPr>
          <p:cNvPr id="23" name="Text 20"/>
          <p:cNvSpPr/>
          <p:nvPr/>
        </p:nvSpPr>
        <p:spPr>
          <a:xfrm>
            <a:off x="571500" y="3468291"/>
            <a:ext cx="200025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ambiguity.py</a:t>
            </a:r>
            <a:endParaRPr lang="en-US" sz="1499" dirty="0"/>
          </a:p>
        </p:txBody>
      </p:sp>
      <p:sp>
        <p:nvSpPr>
          <p:cNvPr id="24" name="Text 21"/>
          <p:cNvSpPr/>
          <p:nvPr/>
        </p:nvSpPr>
        <p:spPr>
          <a:xfrm>
            <a:off x="2571750" y="3468291"/>
            <a:ext cx="1200150" cy="414338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116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3771900" y="3468291"/>
            <a:ext cx="480060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555555"/>
                </a:solidFill>
              </a:rPr>
              <a:t>置信度计算与锁定机制 (Locking Mechanism)</a:t>
            </a:r>
            <a:endParaRPr lang="en-US" sz="1595" dirty="0"/>
          </a:p>
        </p:txBody>
      </p:sp>
      <p:sp>
        <p:nvSpPr>
          <p:cNvPr id="26" name="Text 23"/>
          <p:cNvSpPr/>
          <p:nvPr/>
        </p:nvSpPr>
        <p:spPr>
          <a:xfrm>
            <a:off x="571500" y="3882628"/>
            <a:ext cx="200025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frontend.py</a:t>
            </a:r>
            <a:endParaRPr lang="en-US" sz="1499" dirty="0"/>
          </a:p>
        </p:txBody>
      </p:sp>
      <p:sp>
        <p:nvSpPr>
          <p:cNvPr id="27" name="Text 24"/>
          <p:cNvSpPr/>
          <p:nvPr/>
        </p:nvSpPr>
        <p:spPr>
          <a:xfrm>
            <a:off x="2571750" y="3882628"/>
            <a:ext cx="1200150" cy="414338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114</a:t>
            </a:r>
            <a:endParaRPr lang="en-US" sz="1269" dirty="0"/>
          </a:p>
        </p:txBody>
      </p:sp>
      <p:sp>
        <p:nvSpPr>
          <p:cNvPr id="28" name="Text 25"/>
          <p:cNvSpPr/>
          <p:nvPr/>
        </p:nvSpPr>
        <p:spPr>
          <a:xfrm>
            <a:off x="3771900" y="3882628"/>
            <a:ext cx="480060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555555"/>
                </a:solidFill>
              </a:rPr>
              <a:t>Web 交互界面实现</a:t>
            </a:r>
            <a:endParaRPr lang="en-US" sz="1595" dirty="0"/>
          </a:p>
        </p:txBody>
      </p:sp>
      <p:sp>
        <p:nvSpPr>
          <p:cNvPr id="29" name="Text 26"/>
          <p:cNvSpPr/>
          <p:nvPr/>
        </p:nvSpPr>
        <p:spPr>
          <a:xfrm>
            <a:off x="571500" y="4296966"/>
            <a:ext cx="200025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backend.py</a:t>
            </a:r>
            <a:endParaRPr lang="en-US" sz="1499" dirty="0"/>
          </a:p>
        </p:txBody>
      </p:sp>
      <p:sp>
        <p:nvSpPr>
          <p:cNvPr id="30" name="Text 27"/>
          <p:cNvSpPr/>
          <p:nvPr/>
        </p:nvSpPr>
        <p:spPr>
          <a:xfrm>
            <a:off x="2571750" y="4296966"/>
            <a:ext cx="1200150" cy="414338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108</a:t>
            </a:r>
            <a:endParaRPr lang="en-US" sz="1269" dirty="0"/>
          </a:p>
        </p:txBody>
      </p:sp>
      <p:sp>
        <p:nvSpPr>
          <p:cNvPr id="31" name="Text 28"/>
          <p:cNvSpPr/>
          <p:nvPr/>
        </p:nvSpPr>
        <p:spPr>
          <a:xfrm>
            <a:off x="3771900" y="4296966"/>
            <a:ext cx="4800600" cy="414338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555555"/>
                </a:solidFill>
              </a:rPr>
              <a:t>后端调用逻辑与路由处理</a:t>
            </a:r>
            <a:endParaRPr lang="en-US" sz="1595" dirty="0"/>
          </a:p>
        </p:txBody>
      </p:sp>
      <p:sp>
        <p:nvSpPr>
          <p:cNvPr id="32" name="Shape 2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30861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代码展示：模型调用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82191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代码实现架构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1107281"/>
            <a:ext cx="800100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333333"/>
                </a:solidFill>
              </a:rPr>
              <a:t>models.py 定义了统一的模型接口，支持多种 LLM 后端（如 GPT-4, Codex）。</a:t>
            </a:r>
            <a:endParaRPr lang="en-US" sz="1595" dirty="0"/>
          </a:p>
        </p:txBody>
      </p:sp>
      <p:sp>
        <p:nvSpPr>
          <p:cNvPr id="8" name="Shape 5"/>
          <p:cNvSpPr/>
          <p:nvPr/>
        </p:nvSpPr>
        <p:spPr>
          <a:xfrm>
            <a:off x="571500" y="1643063"/>
            <a:ext cx="8001000" cy="20716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643063"/>
            <a:ext cx="45719" cy="2071688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643063"/>
            <a:ext cx="8001000" cy="2116990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80"/>
                </a:solidFill>
              </a:rPr>
              <a:t>Class </a:t>
            </a:r>
            <a:r>
              <a:rPr lang="en-US" sz="1269" dirty="0">
                <a:solidFill>
                  <a:srgbClr val="795E26"/>
                </a:solidFill>
              </a:rPr>
              <a:t>Model</a:t>
            </a:r>
            <a:r>
              <a:rPr lang="en-US" sz="1269" dirty="0">
                <a:solidFill>
                  <a:srgbClr val="333333"/>
                </a:solidFill>
              </a:rPr>
              <a:t>: </a:t>
            </a:r>
            <a:br>
              <a:rPr lang="en-US" sz="1269" dirty="0">
                <a:solidFill>
                  <a:srgbClr val="333333"/>
                </a:solidFill>
              </a:rPr>
            </a:br>
            <a:r>
              <a:rPr lang="en-US" sz="1269" dirty="0">
                <a:solidFill>
                  <a:srgbClr val="333333"/>
                </a:solidFill>
              </a:rPr>
              <a:t>	</a:t>
            </a:r>
            <a:r>
              <a:rPr lang="en-US" sz="1193" b="1" dirty="0">
                <a:solidFill>
                  <a:srgbClr val="000080"/>
                </a:solidFill>
              </a:rPr>
              <a:t>def </a:t>
            </a:r>
            <a:r>
              <a:rPr lang="en-US" sz="1269" dirty="0">
                <a:solidFill>
                  <a:srgbClr val="795E26"/>
                </a:solidFill>
              </a:rPr>
              <a:t>complete</a:t>
            </a:r>
            <a:r>
              <a:rPr lang="en-US" sz="1269" dirty="0">
                <a:solidFill>
                  <a:srgbClr val="333333"/>
                </a:solidFill>
              </a:rPr>
              <a:t>(self, prompt, n=3): </a:t>
            </a:r>
            <a:r>
              <a:rPr lang="en-US" sz="1269" i="1" dirty="0">
                <a:solidFill>
                  <a:srgbClr val="808080"/>
                </a:solidFill>
              </a:rPr>
              <a:t># Abstract method for completion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269" b="1" i="1" dirty="0">
                <a:solidFill>
                  <a:srgbClr val="808080"/>
                </a:solidFill>
              </a:rPr>
              <a:t>		</a:t>
            </a:r>
            <a:r>
              <a:rPr lang="en-US" sz="1193" b="1" dirty="0">
                <a:solidFill>
                  <a:srgbClr val="000080"/>
                </a:solidFill>
              </a:rPr>
              <a:t>pass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80"/>
                </a:solidFill>
              </a:rPr>
              <a:t>Class </a:t>
            </a:r>
            <a:r>
              <a:rPr lang="en-US" sz="1269" dirty="0">
                <a:solidFill>
                  <a:srgbClr val="795E26"/>
                </a:solidFill>
              </a:rPr>
              <a:t>GPT4</a:t>
            </a:r>
            <a:r>
              <a:rPr lang="en-US" sz="1269" dirty="0">
                <a:solidFill>
                  <a:srgbClr val="333333"/>
                </a:solidFill>
              </a:rPr>
              <a:t>(Model):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80"/>
                </a:solidFill>
              </a:rPr>
              <a:t>	def </a:t>
            </a:r>
            <a:r>
              <a:rPr lang="en-US" sz="1269" dirty="0">
                <a:solidFill>
                  <a:srgbClr val="795E26"/>
                </a:solidFill>
              </a:rPr>
              <a:t>complete</a:t>
            </a:r>
            <a:r>
              <a:rPr lang="en-US" sz="1269" dirty="0">
                <a:solidFill>
                  <a:srgbClr val="333333"/>
                </a:solidFill>
              </a:rPr>
              <a:t>(self, prompt, n=3): response = openai.ChatCompletion.create( model=</a:t>
            </a:r>
            <a:r>
              <a:rPr lang="en-US" sz="1269" dirty="0">
                <a:solidFill>
                  <a:srgbClr val="008000"/>
                </a:solidFill>
              </a:rPr>
              <a:t>"gpt-4"</a:t>
            </a:r>
            <a:r>
              <a:rPr lang="en-US" sz="1269" dirty="0">
                <a:solidFill>
                  <a:srgbClr val="333333"/>
                </a:solidFill>
              </a:rPr>
              <a:t>, messages=[{</a:t>
            </a:r>
            <a:r>
              <a:rPr lang="en-US" sz="1269" dirty="0">
                <a:solidFill>
                  <a:srgbClr val="008000"/>
                </a:solidFill>
              </a:rPr>
              <a:t>"role"</a:t>
            </a:r>
            <a:r>
              <a:rPr lang="en-US" sz="1269" dirty="0">
                <a:solidFill>
                  <a:srgbClr val="333333"/>
                </a:solidFill>
              </a:rPr>
              <a:t>: </a:t>
            </a:r>
            <a:r>
              <a:rPr lang="en-US" sz="1269" dirty="0">
                <a:solidFill>
                  <a:srgbClr val="008000"/>
                </a:solidFill>
              </a:rPr>
              <a:t>"user"</a:t>
            </a:r>
            <a:r>
              <a:rPr lang="en-US" sz="1269" dirty="0">
                <a:solidFill>
                  <a:srgbClr val="333333"/>
                </a:solidFill>
              </a:rPr>
              <a:t>, </a:t>
            </a:r>
            <a:r>
              <a:rPr lang="en-US" sz="1269" dirty="0">
                <a:solidFill>
                  <a:srgbClr val="008000"/>
                </a:solidFill>
              </a:rPr>
              <a:t>"content"</a:t>
            </a:r>
            <a:r>
              <a:rPr lang="en-US" sz="1269" dirty="0">
                <a:solidFill>
                  <a:srgbClr val="333333"/>
                </a:solidFill>
              </a:rPr>
              <a:t>: prompt}], n=n </a:t>
            </a:r>
            <a:r>
              <a:rPr lang="en-US" sz="1269" i="1" dirty="0">
                <a:solidFill>
                  <a:srgbClr val="808080"/>
                </a:solidFill>
              </a:rPr>
              <a:t># Sampling n candidates for ambiguity check</a:t>
            </a:r>
            <a:r>
              <a:rPr lang="en-US" sz="1269" dirty="0">
                <a:solidFill>
                  <a:srgbClr val="333333"/>
                </a:solidFill>
              </a:rPr>
              <a:t> )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80"/>
                </a:solidFill>
              </a:rPr>
              <a:t>return</a:t>
            </a:r>
            <a:r>
              <a:rPr lang="en-US" sz="1269" dirty="0">
                <a:solidFill>
                  <a:srgbClr val="333333"/>
                </a:solidFill>
              </a:rPr>
              <a:t> [choice.message.content </a:t>
            </a:r>
            <a:r>
              <a:rPr lang="en-US" sz="1193" b="1" dirty="0">
                <a:solidFill>
                  <a:srgbClr val="000080"/>
                </a:solidFill>
              </a:rPr>
              <a:t>for</a:t>
            </a:r>
            <a:r>
              <a:rPr lang="en-US" sz="1269" dirty="0">
                <a:solidFill>
                  <a:srgbClr val="333333"/>
                </a:solidFill>
              </a:rPr>
              <a:t> choice </a:t>
            </a:r>
            <a:r>
              <a:rPr lang="en-US" sz="1193" b="1" dirty="0">
                <a:solidFill>
                  <a:srgbClr val="000080"/>
                </a:solidFill>
              </a:rPr>
              <a:t>in</a:t>
            </a:r>
            <a:r>
              <a:rPr lang="en-US" sz="1269" dirty="0">
                <a:solidFill>
                  <a:srgbClr val="333333"/>
                </a:solidFill>
              </a:rPr>
              <a:t> response.choices]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14375" y="3935622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A5F6F"/>
                </a:solidFill>
              </a:rPr>
              <a:t>▶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992981" y="3903476"/>
            <a:ext cx="591075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统一接口：</a:t>
            </a:r>
            <a:r>
              <a:rPr lang="en-US" sz="1595" dirty="0">
                <a:solidFill>
                  <a:srgbClr val="333333"/>
                </a:solidFill>
              </a:rPr>
              <a:t>所有模型类继承自 Model，实现 complete 方法。</a:t>
            </a:r>
            <a:endParaRPr lang="en-US" sz="1499" dirty="0"/>
          </a:p>
        </p:txBody>
      </p:sp>
      <p:sp>
        <p:nvSpPr>
          <p:cNvPr id="13" name="Text 10"/>
          <p:cNvSpPr/>
          <p:nvPr/>
        </p:nvSpPr>
        <p:spPr>
          <a:xfrm>
            <a:off x="714375" y="4364247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A5F6F"/>
                </a:solidFill>
              </a:rPr>
              <a:t>▶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992981" y="4332101"/>
            <a:ext cx="714090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多次采样：</a:t>
            </a:r>
            <a:r>
              <a:rPr lang="en-US" sz="1595" dirty="0">
                <a:solidFill>
                  <a:srgbClr val="333333"/>
                </a:solidFill>
              </a:rPr>
              <a:t>参数 n=3 是实现置信度评分的关键，一次调用获取多个候选项。</a:t>
            </a:r>
            <a:endParaRPr lang="en-US" sz="1499" dirty="0"/>
          </a:p>
        </p:txBody>
      </p:sp>
      <p:sp>
        <p:nvSpPr>
          <p:cNvPr id="15" name="Shape 12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40630"/>
            <a:ext cx="9144000" cy="7929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30895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86184"/>
            <a:ext cx="34290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代码展示：提示词构建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52276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代码实现架构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571500" y="827336"/>
            <a:ext cx="8001000" cy="266461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827336"/>
            <a:ext cx="45719" cy="2664612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827336"/>
            <a:ext cx="8001000" cy="2278957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80"/>
                </a:solidFill>
              </a:rPr>
              <a:t>Def </a:t>
            </a:r>
            <a:r>
              <a:rPr lang="en-US" sz="1090" b="1" dirty="0" err="1">
                <a:solidFill>
                  <a:srgbClr val="795E26"/>
                </a:solidFill>
              </a:rPr>
              <a:t>build_prompt</a:t>
            </a:r>
            <a:r>
              <a:rPr lang="en-US" sz="1159" dirty="0">
                <a:solidFill>
                  <a:srgbClr val="333333"/>
                </a:solidFill>
              </a:rPr>
              <a:t>(nl_input, locked_translations, examples):
    </a:t>
            </a:r>
            <a:r>
              <a:rPr lang="en-US" sz="1159" i="1" dirty="0">
                <a:solidFill>
                  <a:srgbClr val="0A5F6F"/>
                </a:solidFill>
              </a:rPr>
              <a:t># 1. Add Tutorial (Operator Definitions)</a:t>
            </a:r>
            <a:r>
              <a:rPr lang="en-US" sz="1159" dirty="0">
                <a:solidFill>
                  <a:srgbClr val="333333"/>
                </a:solidFill>
              </a:rPr>
              <a:t>
    prompt = </a:t>
            </a:r>
            <a:r>
              <a:rPr lang="en-US" sz="1159" dirty="0">
                <a:solidFill>
                  <a:srgbClr val="008000"/>
                </a:solidFill>
              </a:rPr>
              <a:t>"# LTL Tutorial\nG: Globally, F: Finally, U: Until\n\n"</a:t>
            </a:r>
            <a:r>
              <a:rPr lang="en-US" sz="1159" i="1" dirty="0">
                <a:solidFill>
                  <a:srgbClr val="0A5F6F"/>
                </a:solidFill>
              </a:rPr>
              <a:t># 2. Add Few-shot Examples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159" b="1" i="1" dirty="0">
                <a:solidFill>
                  <a:srgbClr val="0A5F6F"/>
                </a:solidFill>
              </a:rPr>
              <a:t>    </a:t>
            </a:r>
            <a:r>
              <a:rPr lang="en-US" sz="1090" b="1" dirty="0">
                <a:solidFill>
                  <a:srgbClr val="000080"/>
                </a:solidFill>
              </a:rPr>
              <a:t>for</a:t>
            </a:r>
            <a:r>
              <a:rPr lang="en-US" sz="1159" dirty="0">
                <a:solidFill>
                  <a:srgbClr val="333333"/>
                </a:solidFill>
              </a:rPr>
              <a:t> ex </a:t>
            </a:r>
            <a:r>
              <a:rPr lang="en-US" sz="1090" b="1" dirty="0">
                <a:solidFill>
                  <a:srgbClr val="000080"/>
                </a:solidFill>
              </a:rPr>
              <a:t>in</a:t>
            </a:r>
            <a:r>
              <a:rPr lang="en-US" sz="1159" dirty="0">
                <a:solidFill>
                  <a:srgbClr val="333333"/>
                </a:solidFill>
              </a:rPr>
              <a:t> examples:
        prompt += </a:t>
            </a:r>
            <a:r>
              <a:rPr lang="en-US" sz="1159" dirty="0">
                <a:solidFill>
                  <a:srgbClr val="008000"/>
                </a:solidFill>
              </a:rPr>
              <a:t>f"Input: {ex.nl}\nOutput: {ex.ltl}\n\n"</a:t>
            </a:r>
            <a:r>
              <a:rPr lang="en-US" sz="1159" i="1" dirty="0">
                <a:solidFill>
                  <a:srgbClr val="0A5F6F"/>
                </a:solidFill>
              </a:rPr>
              <a:t># 3. Inject Locked Sub-translations (Constraints)</a:t>
            </a:r>
            <a:r>
              <a:rPr lang="en-US" sz="1090" b="1" dirty="0">
                <a:solidFill>
                  <a:srgbClr val="000080"/>
                </a:solidFill>
              </a:rPr>
              <a:t>if</a:t>
            </a:r>
            <a:r>
              <a:rPr lang="en-US" sz="1159" dirty="0">
                <a:solidFill>
                  <a:srgbClr val="333333"/>
                </a:solidFill>
              </a:rPr>
              <a:t> locked_translations:
        prompt += </a:t>
            </a:r>
            <a:r>
              <a:rPr lang="en-US" sz="1159" dirty="0">
                <a:solidFill>
                  <a:srgbClr val="008000"/>
                </a:solidFill>
              </a:rPr>
              <a:t>"# Locked sub-translations:\n“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80"/>
                </a:solidFill>
              </a:rPr>
              <a:t>        for</a:t>
            </a:r>
            <a:r>
              <a:rPr lang="en-US" sz="1159" dirty="0">
                <a:solidFill>
                  <a:srgbClr val="333333"/>
                </a:solidFill>
              </a:rPr>
              <a:t> sub </a:t>
            </a:r>
            <a:r>
              <a:rPr lang="en-US" sz="1090" b="1" dirty="0">
                <a:solidFill>
                  <a:srgbClr val="000080"/>
                </a:solidFill>
              </a:rPr>
              <a:t>in</a:t>
            </a:r>
            <a:r>
              <a:rPr lang="en-US" sz="1159" dirty="0">
                <a:solidFill>
                  <a:srgbClr val="333333"/>
                </a:solidFill>
              </a:rPr>
              <a:t> locked_translations:
            prompt += </a:t>
            </a:r>
            <a:r>
              <a:rPr lang="en-US" sz="1159" dirty="0">
                <a:solidFill>
                  <a:srgbClr val="008000"/>
                </a:solidFill>
              </a:rPr>
              <a:t>f"{sub.nl} -&gt; {sub.ltl}\n"</a:t>
            </a:r>
            <a:r>
              <a:rPr lang="en-US" sz="1159" dirty="0">
                <a:solidFill>
                  <a:srgbClr val="333333"/>
                </a:solidFill>
              </a:rPr>
              <a:t>
    prompt += </a:t>
            </a:r>
            <a:r>
              <a:rPr lang="en-US" sz="1159" dirty="0">
                <a:solidFill>
                  <a:srgbClr val="008000"/>
                </a:solidFill>
              </a:rPr>
              <a:t>f"\nInput: {nl_input}\</a:t>
            </a:r>
            <a:r>
              <a:rPr lang="en-US" sz="1159" dirty="0" err="1">
                <a:solidFill>
                  <a:srgbClr val="008000"/>
                </a:solidFill>
              </a:rPr>
              <a:t>nOutput</a:t>
            </a:r>
            <a:r>
              <a:rPr lang="en-US" sz="1159" dirty="0">
                <a:solidFill>
                  <a:srgbClr val="008000"/>
                </a:solidFill>
              </a:rPr>
              <a:t>:“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80"/>
                </a:solidFill>
              </a:rPr>
              <a:t>return</a:t>
            </a:r>
            <a:r>
              <a:rPr lang="en-US" sz="1159" dirty="0">
                <a:solidFill>
                  <a:srgbClr val="333333"/>
                </a:solidFill>
              </a:rPr>
              <a:t> prompt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571500" y="3765168"/>
            <a:ext cx="2557463" cy="785813"/>
          </a:xfrm>
          <a:prstGeom prst="rect">
            <a:avLst/>
          </a:prstGeom>
          <a:solidFill>
            <a:srgbClr val="FAFAFA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938" y="3836605"/>
            <a:ext cx="2400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1. 基础教程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42938" y="4093780"/>
            <a:ext cx="2400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定义 LTL 算子，为模型提供基本语法知识。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86125" y="3765168"/>
            <a:ext cx="2557463" cy="785813"/>
          </a:xfrm>
          <a:prstGeom prst="rect">
            <a:avLst/>
          </a:prstGeom>
          <a:solidFill>
            <a:srgbClr val="FAFAFA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64706" y="3836605"/>
            <a:ext cx="2400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2. Few-shot 示例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364706" y="4093780"/>
            <a:ext cx="2400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提供上下文学习 (In-context Learning) 的范例。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15038" y="3765168"/>
            <a:ext cx="2557463" cy="785813"/>
          </a:xfrm>
          <a:prstGeom prst="rect">
            <a:avLst/>
          </a:prstGeom>
          <a:solidFill>
            <a:srgbClr val="FAFAFA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0763" y="3843749"/>
            <a:ext cx="2400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3. 锁定约束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6100763" y="4100924"/>
            <a:ext cx="2400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将用户确认的子翻译作为硬约束注入，引导生成。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937671"/>
            <a:ext cx="9144000" cy="22860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30861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代码展示：歧义检测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43747" y="382191"/>
            <a:ext cx="1371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代码实现架构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1107281"/>
            <a:ext cx="800100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核心逻辑：通过统计采样结果的频率来计算置信度。</a:t>
            </a:r>
            <a:endParaRPr lang="en-US" sz="1499" dirty="0"/>
          </a:p>
        </p:txBody>
      </p:sp>
      <p:sp>
        <p:nvSpPr>
          <p:cNvPr id="8" name="Shape 5"/>
          <p:cNvSpPr/>
          <p:nvPr/>
        </p:nvSpPr>
        <p:spPr>
          <a:xfrm>
            <a:off x="571500" y="1571625"/>
            <a:ext cx="8001000" cy="16320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571625"/>
            <a:ext cx="45719" cy="1632088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571625"/>
            <a:ext cx="8001000" cy="1722138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i="1" dirty="0">
                <a:solidFill>
                  <a:srgbClr val="808080"/>
                </a:solidFill>
              </a:rPr>
              <a:t># ambiguity.py </a:t>
            </a:r>
            <a:r>
              <a:rPr lang="en-US" sz="1159" i="1" dirty="0" err="1">
                <a:solidFill>
                  <a:srgbClr val="808080"/>
                </a:solidFill>
              </a:rPr>
              <a:t>核心逻辑</a:t>
            </a:r>
            <a:endParaRPr lang="en-US" sz="1159" i="1" dirty="0">
              <a:solidFill>
                <a:srgbClr val="808080"/>
              </a:solidFill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80"/>
                </a:solidFill>
              </a:rPr>
              <a:t>Def </a:t>
            </a:r>
            <a:r>
              <a:rPr lang="en-US" sz="1159" dirty="0" err="1">
                <a:solidFill>
                  <a:srgbClr val="795E26"/>
                </a:solidFill>
              </a:rPr>
              <a:t>detect_ambiguity</a:t>
            </a:r>
            <a:r>
              <a:rPr lang="en-US" sz="1159" dirty="0">
                <a:solidFill>
                  <a:srgbClr val="333333"/>
                </a:solidFill>
              </a:rPr>
              <a:t>(nl_input, n=</a:t>
            </a:r>
            <a:r>
              <a:rPr lang="en-US" sz="1159" dirty="0">
                <a:solidFill>
                  <a:srgbClr val="0000FF"/>
                </a:solidFill>
              </a:rPr>
              <a:t>3</a:t>
            </a:r>
            <a:r>
              <a:rPr lang="en-US" sz="1159" dirty="0">
                <a:solidFill>
                  <a:srgbClr val="333333"/>
                </a:solidFill>
              </a:rPr>
              <a:t>): </a:t>
            </a:r>
            <a:r>
              <a:rPr lang="en-US" sz="1159" i="1" dirty="0">
                <a:solidFill>
                  <a:srgbClr val="808080"/>
                </a:solidFill>
              </a:rPr>
              <a:t># 1. 调用模型生成 n </a:t>
            </a:r>
            <a:r>
              <a:rPr lang="en-US" sz="1159" i="1" dirty="0" err="1">
                <a:solidFill>
                  <a:srgbClr val="808080"/>
                </a:solidFill>
              </a:rPr>
              <a:t>个结果</a:t>
            </a:r>
            <a:r>
              <a:rPr lang="en-US" sz="1159" dirty="0">
                <a:solidFill>
                  <a:srgbClr val="333333"/>
                </a:solidFill>
              </a:rPr>
              <a:t>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	results = model.complete(build_prompt(nl_input), n=n) </a:t>
            </a:r>
            <a:r>
              <a:rPr lang="en-US" sz="1159" i="1" dirty="0">
                <a:solidFill>
                  <a:srgbClr val="808080"/>
                </a:solidFill>
              </a:rPr>
              <a:t># 2. </a:t>
            </a:r>
            <a:r>
              <a:rPr lang="en-US" sz="1159" i="1" dirty="0" err="1">
                <a:solidFill>
                  <a:srgbClr val="808080"/>
                </a:solidFill>
              </a:rPr>
              <a:t>统计频率</a:t>
            </a:r>
            <a:r>
              <a:rPr lang="en-US" sz="1159" dirty="0">
                <a:solidFill>
                  <a:srgbClr val="333333"/>
                </a:solidFill>
              </a:rPr>
              <a:t>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	counter = Counter(results) most_common = counter.most_common(</a:t>
            </a:r>
            <a:r>
              <a:rPr lang="en-US" sz="1159" dirty="0">
                <a:solidFill>
                  <a:srgbClr val="0000FF"/>
                </a:solidFill>
              </a:rPr>
              <a:t>1</a:t>
            </a:r>
            <a:r>
              <a:rPr lang="en-US" sz="1159" dirty="0">
                <a:solidFill>
                  <a:srgbClr val="333333"/>
                </a:solidFill>
              </a:rPr>
              <a:t>)[</a:t>
            </a:r>
            <a:r>
              <a:rPr lang="en-US" sz="1159" dirty="0">
                <a:solidFill>
                  <a:srgbClr val="0000FF"/>
                </a:solidFill>
              </a:rPr>
              <a:t>0</a:t>
            </a:r>
            <a:r>
              <a:rPr lang="en-US" sz="1159" dirty="0">
                <a:solidFill>
                  <a:srgbClr val="333333"/>
                </a:solidFill>
              </a:rPr>
              <a:t>] </a:t>
            </a:r>
            <a:r>
              <a:rPr lang="en-US" sz="1159" i="1" dirty="0">
                <a:solidFill>
                  <a:srgbClr val="808080"/>
                </a:solidFill>
              </a:rPr>
              <a:t># 3. </a:t>
            </a:r>
            <a:r>
              <a:rPr lang="en-US" sz="1159" i="1" dirty="0" err="1">
                <a:solidFill>
                  <a:srgbClr val="808080"/>
                </a:solidFill>
              </a:rPr>
              <a:t>计算置信度</a:t>
            </a:r>
            <a:endParaRPr lang="en-US" sz="1159" i="1" dirty="0">
              <a:solidFill>
                <a:srgbClr val="808080"/>
              </a:solidFill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1159" i="1" dirty="0">
                <a:solidFill>
                  <a:srgbClr val="808080"/>
                </a:solidFill>
              </a:rPr>
              <a:t>	</a:t>
            </a:r>
            <a:r>
              <a:rPr lang="en-US" sz="1159" dirty="0">
                <a:solidFill>
                  <a:srgbClr val="333333"/>
                </a:solidFill>
              </a:rPr>
              <a:t> confidence = most_common[</a:t>
            </a:r>
            <a:r>
              <a:rPr lang="en-US" sz="1159" dirty="0">
                <a:solidFill>
                  <a:srgbClr val="0000FF"/>
                </a:solidFill>
              </a:rPr>
              <a:t>1</a:t>
            </a:r>
            <a:r>
              <a:rPr lang="en-US" sz="1159" dirty="0">
                <a:solidFill>
                  <a:srgbClr val="333333"/>
                </a:solidFill>
              </a:rPr>
              <a:t>] / n </a:t>
            </a:r>
            <a:r>
              <a:rPr lang="en-US" sz="1090" b="1" dirty="0">
                <a:solidFill>
                  <a:srgbClr val="000080"/>
                </a:solidFill>
              </a:rPr>
              <a:t>if</a:t>
            </a:r>
            <a:r>
              <a:rPr lang="en-US" sz="1159" dirty="0">
                <a:solidFill>
                  <a:srgbClr val="333333"/>
                </a:solidFill>
              </a:rPr>
              <a:t> confidence &lt; </a:t>
            </a:r>
            <a:r>
              <a:rPr lang="en-US" sz="1159" dirty="0">
                <a:solidFill>
                  <a:srgbClr val="0000FF"/>
                </a:solidFill>
              </a:rPr>
              <a:t>1.0</a:t>
            </a:r>
            <a:r>
              <a:rPr lang="en-US" sz="1159" dirty="0">
                <a:solidFill>
                  <a:srgbClr val="333333"/>
                </a:solidFill>
              </a:rPr>
              <a:t>: </a:t>
            </a:r>
            <a:r>
              <a:rPr lang="en-US" sz="1090" b="1" dirty="0">
                <a:solidFill>
                  <a:srgbClr val="000080"/>
                </a:solidFill>
              </a:rPr>
              <a:t>return</a:t>
            </a:r>
            <a:r>
              <a:rPr lang="en-US" sz="1159" dirty="0">
                <a:solidFill>
                  <a:srgbClr val="333333"/>
                </a:solidFill>
              </a:rPr>
              <a:t> { </a:t>
            </a:r>
            <a:r>
              <a:rPr lang="en-US" sz="1159" dirty="0">
                <a:solidFill>
                  <a:srgbClr val="008000"/>
                </a:solidFill>
              </a:rPr>
              <a:t>"status"</a:t>
            </a:r>
            <a:r>
              <a:rPr lang="en-US" sz="1159" dirty="0">
                <a:solidFill>
                  <a:srgbClr val="333333"/>
                </a:solidFill>
              </a:rPr>
              <a:t>: </a:t>
            </a:r>
            <a:r>
              <a:rPr lang="en-US" sz="1159" dirty="0">
                <a:solidFill>
                  <a:srgbClr val="008000"/>
                </a:solidFill>
              </a:rPr>
              <a:t>"ambiguous"</a:t>
            </a:r>
            <a:r>
              <a:rPr lang="en-US" sz="1159" dirty="0">
                <a:solidFill>
                  <a:srgbClr val="333333"/>
                </a:solidFill>
              </a:rPr>
              <a:t>, </a:t>
            </a:r>
            <a:r>
              <a:rPr lang="en-US" sz="1159" dirty="0">
                <a:solidFill>
                  <a:srgbClr val="008000"/>
                </a:solidFill>
              </a:rPr>
              <a:t>"confidence"</a:t>
            </a:r>
            <a:r>
              <a:rPr lang="en-US" sz="1159" dirty="0">
                <a:solidFill>
                  <a:srgbClr val="333333"/>
                </a:solidFill>
              </a:rPr>
              <a:t>: confidence, </a:t>
            </a:r>
            <a:r>
              <a:rPr lang="en-US" sz="1159" dirty="0">
                <a:solidFill>
                  <a:srgbClr val="008000"/>
                </a:solidFill>
              </a:rPr>
              <a:t>"candidates"</a:t>
            </a:r>
            <a:r>
              <a:rPr lang="en-US" sz="1159" dirty="0">
                <a:solidFill>
                  <a:srgbClr val="333333"/>
                </a:solidFill>
              </a:rPr>
              <a:t>: list(counter.keys()) } </a:t>
            </a:r>
            <a:r>
              <a:rPr lang="en-US" sz="1090" b="1" dirty="0">
                <a:solidFill>
                  <a:srgbClr val="000080"/>
                </a:solidFill>
              </a:rPr>
              <a:t>else</a:t>
            </a:r>
            <a:r>
              <a:rPr lang="en-US" sz="1159" dirty="0">
                <a:solidFill>
                  <a:srgbClr val="333333"/>
                </a:solidFill>
              </a:rPr>
              <a:t>: </a:t>
            </a:r>
            <a:r>
              <a:rPr lang="en-US" sz="1090" b="1" dirty="0">
                <a:solidFill>
                  <a:srgbClr val="000080"/>
                </a:solidFill>
              </a:rPr>
              <a:t>return</a:t>
            </a:r>
            <a:r>
              <a:rPr lang="en-US" sz="1159" dirty="0">
                <a:solidFill>
                  <a:srgbClr val="333333"/>
                </a:solidFill>
              </a:rPr>
              <a:t> { </a:t>
            </a:r>
            <a:r>
              <a:rPr lang="en-US" sz="1159" dirty="0">
                <a:solidFill>
                  <a:srgbClr val="008000"/>
                </a:solidFill>
              </a:rPr>
              <a:t>"status"</a:t>
            </a:r>
            <a:r>
              <a:rPr lang="en-US" sz="1159" dirty="0">
                <a:solidFill>
                  <a:srgbClr val="333333"/>
                </a:solidFill>
              </a:rPr>
              <a:t>: </a:t>
            </a:r>
            <a:r>
              <a:rPr lang="en-US" sz="1159" dirty="0">
                <a:solidFill>
                  <a:srgbClr val="008000"/>
                </a:solidFill>
              </a:rPr>
              <a:t>"confident"</a:t>
            </a:r>
            <a:r>
              <a:rPr lang="en-US" sz="1159" dirty="0">
                <a:solidFill>
                  <a:srgbClr val="333333"/>
                </a:solidFill>
              </a:rPr>
              <a:t>, </a:t>
            </a:r>
            <a:r>
              <a:rPr lang="en-US" sz="1159" dirty="0">
                <a:solidFill>
                  <a:srgbClr val="008000"/>
                </a:solidFill>
              </a:rPr>
              <a:t>"result"</a:t>
            </a:r>
            <a:r>
              <a:rPr lang="en-US" sz="1159" dirty="0">
                <a:solidFill>
                  <a:srgbClr val="333333"/>
                </a:solidFill>
              </a:rPr>
              <a:t>: most_common[</a:t>
            </a:r>
            <a:r>
              <a:rPr lang="en-US" sz="1159" dirty="0">
                <a:solidFill>
                  <a:srgbClr val="0000FF"/>
                </a:solidFill>
              </a:rPr>
              <a:t>0</a:t>
            </a:r>
            <a:r>
              <a:rPr lang="en-US" sz="1159" dirty="0">
                <a:solidFill>
                  <a:srgbClr val="333333"/>
                </a:solidFill>
              </a:rPr>
              <a:t>] }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28997" y="2160091"/>
            <a:ext cx="1885978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504" kern="0" spc="2" dirty="0">
                <a:solidFill>
                  <a:srgbClr val="0A5F6F"/>
                </a:solidFill>
              </a:rPr>
              <a:t>实验评估</a:t>
            </a:r>
            <a:endParaRPr lang="en-US" sz="350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24003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实验设置与结果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00947" y="382191"/>
            <a:ext cx="9144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实验评估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571500" y="1021556"/>
            <a:ext cx="8001000" cy="8358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021556"/>
            <a:ext cx="35719" cy="835819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9" name="Text 6"/>
          <p:cNvSpPr/>
          <p:nvPr/>
        </p:nvSpPr>
        <p:spPr>
          <a:xfrm>
            <a:off x="1119253" y="1121569"/>
            <a:ext cx="24478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Dataset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119253" y="1414463"/>
            <a:ext cx="244785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~40 Challenging Pairs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233983" y="1121569"/>
            <a:ext cx="14413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Participants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233983" y="1414463"/>
            <a:ext cx="14413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Expert Users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6342199" y="1121569"/>
            <a:ext cx="168252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Models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6342199" y="1414463"/>
            <a:ext cx="168252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GPT-3.5 / GPT-4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571500" y="2028825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主要发现 (Key Findings)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571500" y="2433145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▶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814388" y="2411713"/>
            <a:ext cx="223769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A5F6F"/>
                </a:solidFill>
              </a:rPr>
              <a:t>Interactive &gt; One-shot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814388" y="2768901"/>
            <a:ext cx="7758113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交互式方法（分解+消歧）在准确率上显著优于一次性生成，特别是在处理复杂逻辑和长句时。</a:t>
            </a:r>
            <a:endParaRPr lang="en-US" sz="1486" dirty="0"/>
          </a:p>
        </p:txBody>
      </p:sp>
      <p:sp>
        <p:nvSpPr>
          <p:cNvPr id="19" name="Text 16"/>
          <p:cNvSpPr/>
          <p:nvPr/>
        </p:nvSpPr>
        <p:spPr>
          <a:xfrm>
            <a:off x="571500" y="3478978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A5F6F"/>
                </a:solidFill>
              </a:rPr>
              <a:t>▶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814388" y="3457547"/>
            <a:ext cx="238191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A5F6F"/>
                </a:solidFill>
              </a:rPr>
              <a:t>Importance of Few-shot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814388" y="3814735"/>
            <a:ext cx="7758113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领域特定的 Few-shot 示例（In-context Learning）对于提升翻译质量至关重要，通用提示词效果较差。</a:t>
            </a:r>
            <a:endParaRPr lang="en-US" sz="1486" dirty="0"/>
          </a:p>
        </p:txBody>
      </p:sp>
      <p:sp>
        <p:nvSpPr>
          <p:cNvPr id="22" name="Shape 1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20574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失败案例分析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00947" y="382191"/>
            <a:ext cx="9144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实验评估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964406"/>
            <a:ext cx="800100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333333"/>
                </a:solidFill>
              </a:rPr>
              <a:t>尽管表现优异，但在以下特定场景中模型仍面临挑战：</a:t>
            </a:r>
            <a:endParaRPr lang="en-US" sz="1499" dirty="0"/>
          </a:p>
        </p:txBody>
      </p:sp>
      <p:sp>
        <p:nvSpPr>
          <p:cNvPr id="8" name="Shape 5"/>
          <p:cNvSpPr/>
          <p:nvPr/>
        </p:nvSpPr>
        <p:spPr>
          <a:xfrm>
            <a:off x="571500" y="1357313"/>
            <a:ext cx="8001000" cy="107156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357313"/>
            <a:ext cx="57150" cy="1071563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0" name="Text 7"/>
          <p:cNvSpPr/>
          <p:nvPr/>
        </p:nvSpPr>
        <p:spPr>
          <a:xfrm>
            <a:off x="785813" y="1443038"/>
            <a:ext cx="7572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9534F"/>
                </a:solidFill>
              </a:rPr>
              <a:t>1. 低频操作符 (Low-frequency Operators)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785813" y="1785938"/>
            <a:ext cx="7572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模型在训练数据中很少见到如 </a:t>
            </a:r>
            <a:r>
              <a:rPr lang="en-US" sz="1269" dirty="0">
                <a:solidFill>
                  <a:srgbClr val="333333"/>
                </a:solidFill>
              </a:rPr>
              <a:t>release (V)</a:t>
            </a:r>
            <a:r>
              <a:rPr lang="en-US" sz="1377" dirty="0">
                <a:solidFill>
                  <a:srgbClr val="555555"/>
                </a:solidFill>
              </a:rPr>
              <a:t> 等高级算子，导致生成错误或倾向于使用更常见的算子替代。</a:t>
            </a:r>
            <a:endParaRPr lang="en-US" sz="1377" dirty="0"/>
          </a:p>
        </p:txBody>
      </p:sp>
      <p:sp>
        <p:nvSpPr>
          <p:cNvPr id="12" name="Shape 9"/>
          <p:cNvSpPr/>
          <p:nvPr/>
        </p:nvSpPr>
        <p:spPr>
          <a:xfrm>
            <a:off x="571500" y="2514600"/>
            <a:ext cx="8001000" cy="107156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514600"/>
            <a:ext cx="57150" cy="1071563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4" name="Text 11"/>
          <p:cNvSpPr/>
          <p:nvPr/>
        </p:nvSpPr>
        <p:spPr>
          <a:xfrm>
            <a:off x="785813" y="2600325"/>
            <a:ext cx="7572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9534F"/>
                </a:solidFill>
              </a:rPr>
              <a:t>2. 复杂计数 (Complex Counting)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785813" y="2943225"/>
            <a:ext cx="7572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涉及具体次数的约束（如“事件发生3次”）难以直接转换为标准 LTL，通常需要复杂的嵌套结构。</a:t>
            </a:r>
            <a:endParaRPr lang="en-US" sz="1377" dirty="0"/>
          </a:p>
        </p:txBody>
      </p:sp>
      <p:sp>
        <p:nvSpPr>
          <p:cNvPr id="16" name="Shape 13"/>
          <p:cNvSpPr/>
          <p:nvPr/>
        </p:nvSpPr>
        <p:spPr>
          <a:xfrm>
            <a:off x="571500" y="3671888"/>
            <a:ext cx="8001000" cy="107156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671888"/>
            <a:ext cx="57150" cy="1071563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8" name="Text 15"/>
          <p:cNvSpPr/>
          <p:nvPr/>
        </p:nvSpPr>
        <p:spPr>
          <a:xfrm>
            <a:off x="785813" y="3757613"/>
            <a:ext cx="7572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9534F"/>
                </a:solidFill>
              </a:rPr>
              <a:t>3. 隐含语义 (Implicit Semantics)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785813" y="4100513"/>
            <a:ext cx="7572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自然语言中常省略显而易见的假设（如公平性 Fairness），模型难以推断这些未显式表达的约束。</a:t>
            </a:r>
            <a:endParaRPr lang="en-US" sz="1377" dirty="0"/>
          </a:p>
        </p:txBody>
      </p:sp>
      <p:sp>
        <p:nvSpPr>
          <p:cNvPr id="20" name="Shape 1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93253" y="2160091"/>
            <a:ext cx="2357465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504" kern="0" spc="2" dirty="0">
                <a:solidFill>
                  <a:srgbClr val="0A5F6F"/>
                </a:solidFill>
              </a:rPr>
              <a:t>总结与展望</a:t>
            </a:r>
            <a:endParaRPr lang="en-US" sz="350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20574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核心贡献总结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72347" y="382191"/>
            <a:ext cx="11430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总结与展望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457200" y="1020859"/>
            <a:ext cx="8229600" cy="111727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20859"/>
            <a:ext cx="57150" cy="111727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9" name="Text 6"/>
          <p:cNvSpPr/>
          <p:nvPr/>
        </p:nvSpPr>
        <p:spPr>
          <a:xfrm>
            <a:off x="628650" y="1106584"/>
            <a:ext cx="7886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1. 方法创新 (Methodology)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628650" y="1492346"/>
            <a:ext cx="78867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提出了“分解-消歧-评分”的完整框架，有效解决了 LLM 生成形式化规范时的不确定性与幻觉问题。</a:t>
            </a:r>
            <a:endParaRPr lang="en-US" sz="1486" dirty="0"/>
          </a:p>
        </p:txBody>
      </p:sp>
      <p:sp>
        <p:nvSpPr>
          <p:cNvPr id="11" name="Shape 8"/>
          <p:cNvSpPr/>
          <p:nvPr/>
        </p:nvSpPr>
        <p:spPr>
          <a:xfrm>
            <a:off x="457200" y="2281005"/>
            <a:ext cx="8229600" cy="111727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281005"/>
            <a:ext cx="57150" cy="111727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366730"/>
            <a:ext cx="7886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2. 工程实现 (Engineering)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628650" y="2752492"/>
            <a:ext cx="78867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构建了模块化、可扩展的 Python 系统，支持多种模型后端接入，并提供了完整的 Web 交互界面。</a:t>
            </a:r>
            <a:endParaRPr lang="en-US" sz="1486" dirty="0"/>
          </a:p>
        </p:txBody>
      </p:sp>
      <p:sp>
        <p:nvSpPr>
          <p:cNvPr id="15" name="Shape 12"/>
          <p:cNvSpPr/>
          <p:nvPr/>
        </p:nvSpPr>
        <p:spPr>
          <a:xfrm>
            <a:off x="457200" y="3541151"/>
            <a:ext cx="8229600" cy="111727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3541151"/>
            <a:ext cx="57150" cy="111727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17" name="Text 14"/>
          <p:cNvSpPr/>
          <p:nvPr/>
        </p:nvSpPr>
        <p:spPr>
          <a:xfrm>
            <a:off x="628650" y="3626876"/>
            <a:ext cx="7886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A5F6F"/>
                </a:solidFill>
              </a:rPr>
              <a:t>3. 实验验证 (Validation)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28650" y="4012639"/>
            <a:ext cx="78867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555555"/>
                </a:solidFill>
              </a:rPr>
              <a:t>通过专家用户研究，证明了交互式方法和领域特定 Few-shot 学习在处理复杂需求时的显著优越性。</a:t>
            </a:r>
            <a:endParaRPr lang="en-US" sz="1486" dirty="0"/>
          </a:p>
        </p:txBody>
      </p:sp>
      <p:sp>
        <p:nvSpPr>
          <p:cNvPr id="19" name="Shape 16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1531"/>
            <a:ext cx="9144000" cy="21431"/>
          </a:xfrm>
          <a:prstGeom prst="rect">
            <a:avLst/>
          </a:prstGeom>
          <a:solidFill>
            <a:srgbClr val="0A5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6098"/>
            <a:ext cx="20574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5F6F"/>
                </a:solidFill>
              </a:rPr>
              <a:t>未来研究方向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72347" y="382191"/>
            <a:ext cx="11430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AAAAA"/>
                </a:solidFill>
              </a:rPr>
              <a:t>总结与展望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571500" y="1107281"/>
            <a:ext cx="3900488" cy="1632347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8663" y="1264444"/>
            <a:ext cx="35861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1. 提示词自动优化</a:t>
            </a:r>
            <a:endParaRPr lang="en-US" sz="1499" dirty="0"/>
          </a:p>
        </p:txBody>
      </p:sp>
      <p:sp>
        <p:nvSpPr>
          <p:cNvPr id="9" name="Text 6"/>
          <p:cNvSpPr/>
          <p:nvPr/>
        </p:nvSpPr>
        <p:spPr>
          <a:xfrm>
            <a:off x="728663" y="1684139"/>
            <a:ext cx="3586163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利用检索增强生成 (RAG) 技术，根据输入动态检索最相关的 Few-shot 示例，而非使用固定模板。</a:t>
            </a:r>
            <a:endParaRPr lang="en-US" sz="1377" dirty="0"/>
          </a:p>
        </p:txBody>
      </p:sp>
      <p:sp>
        <p:nvSpPr>
          <p:cNvPr id="10" name="Shape 7"/>
          <p:cNvSpPr/>
          <p:nvPr/>
        </p:nvSpPr>
        <p:spPr>
          <a:xfrm>
            <a:off x="4672013" y="1107281"/>
            <a:ext cx="3900488" cy="1632347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9175" y="1264444"/>
            <a:ext cx="35861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2. 多模态输入</a:t>
            </a:r>
            <a:endParaRPr lang="en-US" sz="1499" dirty="0"/>
          </a:p>
        </p:txBody>
      </p:sp>
      <p:sp>
        <p:nvSpPr>
          <p:cNvPr id="12" name="Text 9"/>
          <p:cNvSpPr/>
          <p:nvPr/>
        </p:nvSpPr>
        <p:spPr>
          <a:xfrm>
            <a:off x="4829175" y="1684139"/>
            <a:ext cx="35861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结合系统架构图、时序图或波形图作为输入上下文，弥补纯文本描述的不足。</a:t>
            </a:r>
            <a:endParaRPr lang="en-US" sz="1377" dirty="0"/>
          </a:p>
        </p:txBody>
      </p:sp>
      <p:sp>
        <p:nvSpPr>
          <p:cNvPr id="13" name="Shape 10"/>
          <p:cNvSpPr/>
          <p:nvPr/>
        </p:nvSpPr>
        <p:spPr>
          <a:xfrm>
            <a:off x="571500" y="2939653"/>
            <a:ext cx="3900488" cy="1632347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8663" y="3096816"/>
            <a:ext cx="35861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3. 双向翻译 (LTL ↔ NL)</a:t>
            </a:r>
            <a:endParaRPr lang="en-US" sz="1499" dirty="0"/>
          </a:p>
        </p:txBody>
      </p:sp>
      <p:sp>
        <p:nvSpPr>
          <p:cNvPr id="15" name="Text 12"/>
          <p:cNvSpPr/>
          <p:nvPr/>
        </p:nvSpPr>
        <p:spPr>
          <a:xfrm>
            <a:off x="728663" y="3516511"/>
            <a:ext cx="35861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实现 LTL 到自然语言的反向解释，帮助用户理解和验证生成的复杂逻辑公式。</a:t>
            </a:r>
            <a:endParaRPr lang="en-US" sz="1377" dirty="0"/>
          </a:p>
        </p:txBody>
      </p:sp>
      <p:sp>
        <p:nvSpPr>
          <p:cNvPr id="16" name="Shape 13"/>
          <p:cNvSpPr/>
          <p:nvPr/>
        </p:nvSpPr>
        <p:spPr>
          <a:xfrm>
            <a:off x="4672013" y="2939653"/>
            <a:ext cx="3900488" cy="1632347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9175" y="3096816"/>
            <a:ext cx="35861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A5F6F"/>
                </a:solidFill>
              </a:rPr>
              <a:t>4. IDE 集成</a:t>
            </a:r>
            <a:endParaRPr lang="en-US" sz="1499" dirty="0"/>
          </a:p>
        </p:txBody>
      </p:sp>
      <p:sp>
        <p:nvSpPr>
          <p:cNvPr id="18" name="Text 15"/>
          <p:cNvSpPr/>
          <p:nvPr/>
        </p:nvSpPr>
        <p:spPr>
          <a:xfrm>
            <a:off x="4829175" y="3516511"/>
            <a:ext cx="35861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555555"/>
                </a:solidFill>
              </a:rPr>
              <a:t>开发 VS Code 等编辑器插件，在代码编写过程中实时生成规范，实现“规范即代码”。</a:t>
            </a:r>
            <a:endParaRPr lang="en-US" sz="1377" dirty="0"/>
          </a:p>
        </p:txBody>
      </p:sp>
      <p:sp>
        <p:nvSpPr>
          <p:cNvPr id="19" name="Shape 16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A5F6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1282" y="1799373"/>
            <a:ext cx="2321405" cy="6596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145" b="1" kern="0" spc="3" dirty="0">
                <a:solidFill>
                  <a:srgbClr val="0A5F6F"/>
                </a:solidFill>
              </a:rPr>
              <a:t>Thank You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2597562" y="3434190"/>
            <a:ext cx="3948847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Project: nl2spec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597562" y="3708499"/>
            <a:ext cx="3948847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Code: </a:t>
            </a:r>
            <a:r>
              <a:rPr lang="en-US" sz="1269" dirty="0">
                <a:solidFill>
                  <a:srgbClr val="0A5F6F"/>
                </a:solidFill>
              </a:rPr>
              <a:t>https://github.com/Stanford-ILIAD/nl2spec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1127</Words>
  <Application>Microsoft Office PowerPoint</Application>
  <PresentationFormat>全屏显示(16:9)</PresentationFormat>
  <Paragraphs>194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汪洋 李</cp:lastModifiedBy>
  <cp:revision>16</cp:revision>
  <dcterms:created xsi:type="dcterms:W3CDTF">2025-12-01T08:53:17Z</dcterms:created>
  <dcterms:modified xsi:type="dcterms:W3CDTF">2025-12-03T07:43:54Z</dcterms:modified>
</cp:coreProperties>
</file>