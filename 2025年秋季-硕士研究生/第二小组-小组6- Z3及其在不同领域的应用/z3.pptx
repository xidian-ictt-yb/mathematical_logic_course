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0" r:id="rId4"/>
    <p:sldId id="264" r:id="rId5"/>
    <p:sldId id="265" r:id="rId6"/>
    <p:sldId id="292" r:id="rId7"/>
    <p:sldId id="293" r:id="rId8"/>
    <p:sldId id="294" r:id="rId9"/>
    <p:sldId id="271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262" r:id="rId18"/>
    <p:sldId id="303" r:id="rId19"/>
    <p:sldId id="304" r:id="rId20"/>
    <p:sldId id="306" r:id="rId21"/>
    <p:sldId id="307" r:id="rId22"/>
    <p:sldId id="308" r:id="rId23"/>
    <p:sldId id="309" r:id="rId24"/>
    <p:sldId id="310" r:id="rId25"/>
    <p:sldId id="295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4065" userDrawn="1">
          <p15:clr>
            <a:srgbClr val="A4A3A4"/>
          </p15:clr>
        </p15:guide>
        <p15:guide id="5" orient="horz" pos="3793" userDrawn="1">
          <p15:clr>
            <a:srgbClr val="A4A3A4"/>
          </p15:clr>
        </p15:guide>
        <p15:guide id="6" pos="7151" userDrawn="1">
          <p15:clr>
            <a:srgbClr val="A4A3A4"/>
          </p15:clr>
        </p15:guide>
        <p15:guide id="7" orient="horz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0504"/>
    <a:srgbClr val="F87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6"/>
    <p:restoredTop sz="94724"/>
  </p:normalViewPr>
  <p:slideViewPr>
    <p:cSldViewPr snapToGrid="0" snapToObjects="1">
      <p:cViewPr varScale="1">
        <p:scale>
          <a:sx n="53" d="100"/>
          <a:sy n="53" d="100"/>
        </p:scale>
        <p:origin x="72" y="364"/>
      </p:cViewPr>
      <p:guideLst>
        <p:guide orient="horz" pos="527"/>
        <p:guide pos="529"/>
        <p:guide orient="horz" pos="845"/>
        <p:guide orient="horz" pos="4065"/>
        <p:guide orient="horz" pos="3793"/>
        <p:guide pos="7151"/>
        <p:guide orient="horz"/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8DF2C-48CD-2F47-94CA-CD8AC056331B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A7046-F370-CA44-A09C-93B5FDE043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572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1081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2106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407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959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1A0B-211A-FB74-83AC-189685EF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CDFED1-CEE1-CE1C-267B-47BBBEEE4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2BEA58-B82E-217F-90CA-AF32D6620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7B82D-FDFD-41D6-B7A9-B39393257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918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305E-146E-D2AA-457F-A645795D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ED1A9C-3A92-EC7B-897F-6024BA442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CA146D-F604-B15D-1B45-73816E5EA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7BB41-196F-2B5F-271A-8B7251B21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8061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2106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5422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703F-A7DF-DA0E-F4DB-93C0B28E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53521E-65A4-664C-9E44-02DE708FF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7879E2-BFD1-35AA-E4D4-37A1559EC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73BF7F-5B03-2E22-759B-1BAFD0FF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3323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959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5976-C2FF-C85C-87C6-961C142C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A6007A-9EA6-D481-9429-C32E18516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B937A6-8A26-F642-FC15-4D96E6551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9E1F7-E279-D409-004E-418C66F47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73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3BF5-37DB-8E91-255E-2BECEA6E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B9BC95-4FF0-88BC-3EF5-34DD942D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8D7C22-668F-E250-0803-1BA4E693E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81363-65EE-56BD-13AB-65B8A92D4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8464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3579-975C-B6C8-A4D2-0A27438C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552576-8851-21BD-70C1-0D45485B5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CA661B-E9CF-5436-57D5-F4A51814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F50754-207B-D372-7ADB-C6950EB29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362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2106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5422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407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C64A1-C2D2-5E16-C503-F0EF642C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FCA4BF-5E56-904B-05FD-3641105BF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20E53A-825C-05F2-C760-B44D6F906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0B1A9C-0E4D-B575-F28D-EA8674B6D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201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90E6-7FE4-8342-AD54-C958E900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A8B171-827C-12D2-CCA9-783A511E6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EEB7C6-9D0E-817C-5456-D8412B2D3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886CD6-7E61-BBC1-6AB1-F67564BAD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82811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4B53-164D-DEAB-3F75-1E233BEE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C65C19-1D6B-1C70-EECB-27F01635C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5DE729-90CD-007C-8E40-71D8ECBD3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42ABEB-1157-112C-9531-BF27274EB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11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89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01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D0B50F8-6F71-244C-9CD0-8D90C1B78A8F}"/>
              </a:ext>
            </a:extLst>
          </p:cNvPr>
          <p:cNvSpPr txBox="1"/>
          <p:nvPr/>
        </p:nvSpPr>
        <p:spPr>
          <a:xfrm>
            <a:off x="1906390" y="2967335"/>
            <a:ext cx="8379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5400" b="1" spc="300" dirty="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5400" b="1" spc="300" dirty="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及其在不同领域的应用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158E0F3-6256-F644-A58F-EDD0735AF62A}"/>
              </a:ext>
            </a:extLst>
          </p:cNvPr>
          <p:cNvGrpSpPr/>
          <p:nvPr/>
        </p:nvGrpSpPr>
        <p:grpSpPr>
          <a:xfrm>
            <a:off x="0" y="181311"/>
            <a:ext cx="12192000" cy="3911656"/>
            <a:chOff x="0" y="79577"/>
            <a:chExt cx="12192000" cy="391165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0E6364D-C504-CE4D-A624-29D321C40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7713" y="1011739"/>
              <a:ext cx="1276573" cy="1125400"/>
            </a:xfrm>
            <a:prstGeom prst="rect">
              <a:avLst/>
            </a:prstGeom>
          </p:spPr>
        </p:pic>
        <p:pic>
          <p:nvPicPr>
            <p:cNvPr id="12" name="图片 11" descr="图片包含 游戏机, 物体, 钟表, 标志&#10;&#10;描述已自动生成">
              <a:extLst>
                <a:ext uri="{FF2B5EF4-FFF2-40B4-BE49-F238E27FC236}">
                  <a16:creationId xmlns:a16="http://schemas.microsoft.com/office/drawing/2014/main" id="{D4F94894-DA20-9B4C-921C-C088965E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686" y="79577"/>
              <a:ext cx="3046628" cy="615185"/>
            </a:xfrm>
            <a:prstGeom prst="rect">
              <a:avLst/>
            </a:prstGeom>
          </p:spPr>
        </p:pic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7F2D4315-2ADC-FF40-B7CA-36135AB34BA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91233"/>
              <a:ext cx="121920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accent1">
                      <a:lumMod val="0"/>
                      <a:lumOff val="100000"/>
                      <a:alpha val="0"/>
                    </a:schemeClr>
                  </a:gs>
                  <a:gs pos="51000">
                    <a:srgbClr val="C00000">
                      <a:alpha val="88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215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3BC5EAF-E44A-9C47-A4CE-586B80772A1A}"/>
              </a:ext>
            </a:extLst>
          </p:cNvPr>
          <p:cNvGrpSpPr/>
          <p:nvPr/>
        </p:nvGrpSpPr>
        <p:grpSpPr>
          <a:xfrm>
            <a:off x="0" y="-2"/>
            <a:ext cx="12192000" cy="6858003"/>
            <a:chOff x="0" y="-2"/>
            <a:chExt cx="12192000" cy="685800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BD02133-8632-214A-8C6D-079EA05E9E17}"/>
                </a:ext>
              </a:extLst>
            </p:cNvPr>
            <p:cNvSpPr/>
            <p:nvPr/>
          </p:nvSpPr>
          <p:spPr>
            <a:xfrm>
              <a:off x="0" y="-2"/>
              <a:ext cx="12192000" cy="1062679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EC4C330-09CF-5748-9739-AD0CD2F5FBA4}"/>
                </a:ext>
              </a:extLst>
            </p:cNvPr>
            <p:cNvSpPr/>
            <p:nvPr/>
          </p:nvSpPr>
          <p:spPr>
            <a:xfrm>
              <a:off x="0" y="106267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47BC503-A19D-C94A-8143-369DB0C6F717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alpha val="80000"/>
                    <a:lumMod val="94000"/>
                    <a:lumOff val="6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34E94A-3C86-DC4C-AA6F-6F686887FC65}"/>
              </a:ext>
            </a:extLst>
          </p:cNvPr>
          <p:cNvGrpSpPr/>
          <p:nvPr/>
        </p:nvGrpSpPr>
        <p:grpSpPr>
          <a:xfrm>
            <a:off x="623392" y="260058"/>
            <a:ext cx="2162740" cy="693697"/>
            <a:chOff x="623392" y="260058"/>
            <a:chExt cx="2162740" cy="69369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847803D-B9BB-3042-9C9F-3AE5DAE98141}"/>
                </a:ext>
              </a:extLst>
            </p:cNvPr>
            <p:cNvSpPr txBox="1"/>
            <p:nvPr/>
          </p:nvSpPr>
          <p:spPr>
            <a:xfrm>
              <a:off x="857591" y="553645"/>
              <a:ext cx="192854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spc="300" dirty="0">
                  <a:solidFill>
                    <a:schemeClr val="bg1">
                      <a:alpha val="38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CONTENTS</a:t>
              </a:r>
              <a:endParaRPr kumimoji="1" lang="zh-CN" altLang="en-US" sz="2000" b="1" spc="300" dirty="0">
                <a:solidFill>
                  <a:schemeClr val="bg1">
                    <a:alpha val="38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8713944-CFF2-C847-949E-B7125A265952}"/>
                </a:ext>
              </a:extLst>
            </p:cNvPr>
            <p:cNvSpPr txBox="1"/>
            <p:nvPr/>
          </p:nvSpPr>
          <p:spPr>
            <a:xfrm>
              <a:off x="623392" y="260058"/>
              <a:ext cx="1159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3200" b="1" spc="600" dirty="0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目录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50A90FD-3A3E-C54D-B4E6-261C9863BE87}"/>
              </a:ext>
            </a:extLst>
          </p:cNvPr>
          <p:cNvGrpSpPr/>
          <p:nvPr/>
        </p:nvGrpSpPr>
        <p:grpSpPr>
          <a:xfrm>
            <a:off x="133400" y="303140"/>
            <a:ext cx="11901234" cy="6632796"/>
            <a:chOff x="133400" y="303140"/>
            <a:chExt cx="11901234" cy="663279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C47248B-C5FF-9047-8E30-C7A825C25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303140"/>
              <a:ext cx="2031325" cy="40312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C577222-289B-8241-9401-F98A4C7EC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12" name="图片 11" descr="图片包含 游戏机, 画, 钟表&#10;&#10;描述已自动生成">
              <a:extLst>
                <a:ext uri="{FF2B5EF4-FFF2-40B4-BE49-F238E27FC236}">
                  <a16:creationId xmlns:a16="http://schemas.microsoft.com/office/drawing/2014/main" id="{1B807BCE-00EF-5B4E-A249-D671B3CC9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3E9BC69-FE5E-A14B-B895-A6A54C87C0EF}"/>
              </a:ext>
            </a:extLst>
          </p:cNvPr>
          <p:cNvGrpSpPr/>
          <p:nvPr/>
        </p:nvGrpSpPr>
        <p:grpSpPr>
          <a:xfrm>
            <a:off x="2141487" y="2566024"/>
            <a:ext cx="3447319" cy="700553"/>
            <a:chOff x="1782684" y="1907512"/>
            <a:chExt cx="3447319" cy="700553"/>
          </a:xfrm>
        </p:grpSpPr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5C88B0F8-9215-1D42-AE2D-C452A627CBB3}"/>
                </a:ext>
              </a:extLst>
            </p:cNvPr>
            <p:cNvCxnSpPr>
              <a:cxnSpLocks/>
            </p:cNvCxnSpPr>
            <p:nvPr/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0CFC7F9-079B-284A-82C1-5ED2F6B9837F}"/>
                </a:ext>
              </a:extLst>
            </p:cNvPr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08F89ADC-A191-464B-A24A-119E7B18CE42}"/>
                  </a:ext>
                </a:extLst>
              </p:cNvPr>
              <p:cNvSpPr/>
              <p:nvPr/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3" name="圆角矩形 62">
                <a:extLst>
                  <a:ext uri="{FF2B5EF4-FFF2-40B4-BE49-F238E27FC236}">
                    <a16:creationId xmlns:a16="http://schemas.microsoft.com/office/drawing/2014/main" id="{338C81F9-7DE5-9C41-B809-47E98CB52398}"/>
                  </a:ext>
                </a:extLst>
              </p:cNvPr>
              <p:cNvSpPr/>
              <p:nvPr/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F661169-A98A-874E-9FA9-09B6C73C61FD}"/>
                  </a:ext>
                </a:extLst>
              </p:cNvPr>
              <p:cNvSpPr txBox="1"/>
              <p:nvPr/>
            </p:nvSpPr>
            <p:spPr>
              <a:xfrm>
                <a:off x="1800411" y="2020525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01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26AA8C0-D8BF-E64A-91E5-07F740CE07F5}"/>
                </a:ext>
              </a:extLst>
            </p:cNvPr>
            <p:cNvSpPr txBox="1"/>
            <p:nvPr/>
          </p:nvSpPr>
          <p:spPr>
            <a:xfrm>
              <a:off x="2472988" y="1907512"/>
              <a:ext cx="2757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Z3</a:t>
              </a:r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简介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3073815-07D9-9649-BB99-CF92E811318F}"/>
              </a:ext>
            </a:extLst>
          </p:cNvPr>
          <p:cNvGrpSpPr/>
          <p:nvPr/>
        </p:nvGrpSpPr>
        <p:grpSpPr>
          <a:xfrm>
            <a:off x="2141487" y="3876558"/>
            <a:ext cx="3447319" cy="700553"/>
            <a:chOff x="1782684" y="1907512"/>
            <a:chExt cx="3447319" cy="700553"/>
          </a:xfrm>
        </p:grpSpPr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3A3B7E3A-16AC-DE4B-8727-D5865AFC0B3F}"/>
                </a:ext>
              </a:extLst>
            </p:cNvPr>
            <p:cNvCxnSpPr>
              <a:cxnSpLocks/>
            </p:cNvCxnSpPr>
            <p:nvPr/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88427284-797A-3844-8F8F-A54F0A07D06C}"/>
                </a:ext>
              </a:extLst>
            </p:cNvPr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77" name="圆角矩形 76">
                <a:extLst>
                  <a:ext uri="{FF2B5EF4-FFF2-40B4-BE49-F238E27FC236}">
                    <a16:creationId xmlns:a16="http://schemas.microsoft.com/office/drawing/2014/main" id="{6CFFAE41-7E4A-7B48-A31C-3C6599D2A39D}"/>
                  </a:ext>
                </a:extLst>
              </p:cNvPr>
              <p:cNvSpPr/>
              <p:nvPr/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8" name="圆角矩形 77">
                <a:extLst>
                  <a:ext uri="{FF2B5EF4-FFF2-40B4-BE49-F238E27FC236}">
                    <a16:creationId xmlns:a16="http://schemas.microsoft.com/office/drawing/2014/main" id="{C6790460-5BDD-4745-BC65-46C448AC4589}"/>
                  </a:ext>
                </a:extLst>
              </p:cNvPr>
              <p:cNvSpPr/>
              <p:nvPr/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D58ACABE-07D6-6448-BBBA-49498C3AA954}"/>
                  </a:ext>
                </a:extLst>
              </p:cNvPr>
              <p:cNvSpPr txBox="1"/>
              <p:nvPr/>
            </p:nvSpPr>
            <p:spPr>
              <a:xfrm>
                <a:off x="1800411" y="2020525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03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71C7755-5C7B-E948-BC39-15C3578E0437}"/>
                </a:ext>
              </a:extLst>
            </p:cNvPr>
            <p:cNvSpPr txBox="1"/>
            <p:nvPr/>
          </p:nvSpPr>
          <p:spPr>
            <a:xfrm>
              <a:off x="2472988" y="1907512"/>
              <a:ext cx="2757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安全分析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63FE7CC-5959-894D-82CA-FF1C0B167D02}"/>
              </a:ext>
            </a:extLst>
          </p:cNvPr>
          <p:cNvGrpSpPr/>
          <p:nvPr/>
        </p:nvGrpSpPr>
        <p:grpSpPr>
          <a:xfrm>
            <a:off x="6815367" y="2566024"/>
            <a:ext cx="3447319" cy="700553"/>
            <a:chOff x="1782684" y="1907512"/>
            <a:chExt cx="3447319" cy="700553"/>
          </a:xfrm>
        </p:grpSpPr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C6B78C72-37F7-6140-BB58-AB98EA38093B}"/>
                </a:ext>
              </a:extLst>
            </p:cNvPr>
            <p:cNvCxnSpPr>
              <a:cxnSpLocks/>
            </p:cNvCxnSpPr>
            <p:nvPr/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1D0683FF-9480-0349-AE36-D074AA27EFAA}"/>
                </a:ext>
              </a:extLst>
            </p:cNvPr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109" name="圆角矩形 108">
                <a:extLst>
                  <a:ext uri="{FF2B5EF4-FFF2-40B4-BE49-F238E27FC236}">
                    <a16:creationId xmlns:a16="http://schemas.microsoft.com/office/drawing/2014/main" id="{E7259CD3-68F4-AB4C-9951-648337676B08}"/>
                  </a:ext>
                </a:extLst>
              </p:cNvPr>
              <p:cNvSpPr/>
              <p:nvPr/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0" name="圆角矩形 109">
                <a:extLst>
                  <a:ext uri="{FF2B5EF4-FFF2-40B4-BE49-F238E27FC236}">
                    <a16:creationId xmlns:a16="http://schemas.microsoft.com/office/drawing/2014/main" id="{0230AFA5-B83E-FC41-A04F-4B529A4A69F3}"/>
                  </a:ext>
                </a:extLst>
              </p:cNvPr>
              <p:cNvSpPr/>
              <p:nvPr/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BF8D883-081A-7C49-954F-3603F55E224D}"/>
                  </a:ext>
                </a:extLst>
              </p:cNvPr>
              <p:cNvSpPr txBox="1"/>
              <p:nvPr/>
            </p:nvSpPr>
            <p:spPr>
              <a:xfrm>
                <a:off x="1800411" y="2020525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02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8588AF32-1BB0-1E46-8C46-41C216AF7AEB}"/>
                </a:ext>
              </a:extLst>
            </p:cNvPr>
            <p:cNvSpPr txBox="1"/>
            <p:nvPr/>
          </p:nvSpPr>
          <p:spPr>
            <a:xfrm>
              <a:off x="2472988" y="1907512"/>
              <a:ext cx="2757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软件验证</a:t>
              </a: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374FEFC0-CFAE-F247-9FB0-3184403BF62F}"/>
              </a:ext>
            </a:extLst>
          </p:cNvPr>
          <p:cNvGrpSpPr/>
          <p:nvPr/>
        </p:nvGrpSpPr>
        <p:grpSpPr>
          <a:xfrm>
            <a:off x="6815367" y="3876558"/>
            <a:ext cx="3447319" cy="700553"/>
            <a:chOff x="1782684" y="1907512"/>
            <a:chExt cx="3447319" cy="700553"/>
          </a:xfrm>
        </p:grpSpPr>
        <p:cxnSp>
          <p:nvCxnSpPr>
            <p:cNvPr id="114" name="直线连接符 113">
              <a:extLst>
                <a:ext uri="{FF2B5EF4-FFF2-40B4-BE49-F238E27FC236}">
                  <a16:creationId xmlns:a16="http://schemas.microsoft.com/office/drawing/2014/main" id="{52B20EF4-26B8-D945-9025-478574F00E4F}"/>
                </a:ext>
              </a:extLst>
            </p:cNvPr>
            <p:cNvCxnSpPr>
              <a:cxnSpLocks/>
            </p:cNvCxnSpPr>
            <p:nvPr/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6362B162-4B97-054A-97D4-CD1BCDFD5A74}"/>
                </a:ext>
              </a:extLst>
            </p:cNvPr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117" name="圆角矩形 116">
                <a:extLst>
                  <a:ext uri="{FF2B5EF4-FFF2-40B4-BE49-F238E27FC236}">
                    <a16:creationId xmlns:a16="http://schemas.microsoft.com/office/drawing/2014/main" id="{4CA12C3B-FFF5-9047-9FAB-77DECDC7F39A}"/>
                  </a:ext>
                </a:extLst>
              </p:cNvPr>
              <p:cNvSpPr/>
              <p:nvPr/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8" name="圆角矩形 117">
                <a:extLst>
                  <a:ext uri="{FF2B5EF4-FFF2-40B4-BE49-F238E27FC236}">
                    <a16:creationId xmlns:a16="http://schemas.microsoft.com/office/drawing/2014/main" id="{CA019BA5-EFF0-4949-84DF-C976ED516DC3}"/>
                  </a:ext>
                </a:extLst>
              </p:cNvPr>
              <p:cNvSpPr/>
              <p:nvPr/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3BFE4688-FBE8-F549-AC91-8EC4CCCF6505}"/>
                  </a:ext>
                </a:extLst>
              </p:cNvPr>
              <p:cNvSpPr txBox="1"/>
              <p:nvPr/>
            </p:nvSpPr>
            <p:spPr>
              <a:xfrm>
                <a:off x="1800411" y="2020525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04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DA22ED13-39E8-B24F-A5CE-41E4B2886B5A}"/>
                </a:ext>
              </a:extLst>
            </p:cNvPr>
            <p:cNvSpPr txBox="1"/>
            <p:nvPr/>
          </p:nvSpPr>
          <p:spPr>
            <a:xfrm>
              <a:off x="2472988" y="1907512"/>
              <a:ext cx="2757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调度优化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C0406F8-3394-B445-AD52-85DBE200EFE7}"/>
              </a:ext>
            </a:extLst>
          </p:cNvPr>
          <p:cNvSpPr txBox="1"/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8000" b="1" dirty="0">
                <a:ln w="47625" cap="rnd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ZhenyanGB" panose="02010600030101010101" pitchFamily="2" charset="-122"/>
                <a:cs typeface="Arial" panose="020B0604020202020204" pitchFamily="34" charset="0"/>
              </a:rPr>
              <a:t>01</a:t>
            </a:r>
            <a:endParaRPr kumimoji="1" lang="zh-CN" altLang="en-US" sz="18000" b="1" dirty="0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ZhenyanGB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F4AD50-E506-874D-8531-8E1985F0F039}"/>
              </a:ext>
            </a:extLst>
          </p:cNvPr>
          <p:cNvSpPr txBox="1"/>
          <p:nvPr/>
        </p:nvSpPr>
        <p:spPr>
          <a:xfrm>
            <a:off x="4997119" y="3573006"/>
            <a:ext cx="2531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简介</a:t>
            </a:r>
          </a:p>
        </p:txBody>
      </p:sp>
    </p:spTree>
    <p:extLst>
      <p:ext uri="{BB962C8B-B14F-4D97-AF65-F5344CB8AC3E}">
        <p14:creationId xmlns:p14="http://schemas.microsoft.com/office/powerpoint/2010/main" val="337963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374E659-06E0-4042-A6BE-6D6977EDB906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CC1B4B5-E5B8-2A43-9A48-2F89B549D080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4F07EFB-540A-724B-9E1F-F818ED17200A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ED7E07-E277-2E45-9597-D2C1BF897BF5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13B0796-67A9-7A4F-99B7-6AB9E5A66374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B7E1B58-9D91-E647-98E1-D1BA4C6BE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093D6A0-9471-534D-8074-6AD08E47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93EED181-B044-3040-8B50-7E365D6E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796594-9244-D142-B9A6-80F69C2EF2C2}"/>
              </a:ext>
            </a:extLst>
          </p:cNvPr>
          <p:cNvSpPr/>
          <p:nvPr/>
        </p:nvSpPr>
        <p:spPr>
          <a:xfrm>
            <a:off x="1101072" y="1953449"/>
            <a:ext cx="9989856" cy="3654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Z3 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是微软研究院开发的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SMT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Satisfiability Modulo Theories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）求解器</a:t>
            </a:r>
            <a:endParaRPr lang="en-US" altLang="zh-CN" sz="2000" spc="300" dirty="0">
              <a:solidFill>
                <a:srgbClr val="31313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作用：给定一组逻辑约束，判断是否存在满足所有约束的解（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SAT / UNSAT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spc="300" dirty="0">
              <a:solidFill>
                <a:srgbClr val="31313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支持多种理论：</a:t>
            </a:r>
            <a:endParaRPr lang="en-US" altLang="zh-CN" sz="2000" spc="300" dirty="0">
              <a:solidFill>
                <a:srgbClr val="31313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布尔逻辑线性 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非线性算术</a:t>
            </a:r>
            <a:endParaRPr lang="en-US" altLang="zh-CN" sz="2000" spc="300" dirty="0">
              <a:solidFill>
                <a:srgbClr val="31313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位向量 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(Bit-vector)</a:t>
            </a: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数组、代数数据类型</a:t>
            </a:r>
            <a:endParaRPr lang="en-US" altLang="zh-CN" sz="2000" spc="300" dirty="0">
              <a:solidFill>
                <a:srgbClr val="31313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未解释函数 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(EUF)</a:t>
            </a:r>
          </a:p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广泛应用：程序验证、形式化方法、安全分析、优化求解、</a:t>
            </a:r>
            <a:r>
              <a:rPr lang="en-US" altLang="zh-CN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AI/</a:t>
            </a:r>
            <a:r>
              <a:rPr lang="zh-CN" altLang="en-US" sz="2000" spc="300" dirty="0">
                <a:solidFill>
                  <a:srgbClr val="31313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自动推理</a:t>
            </a:r>
            <a:endParaRPr lang="zh-CN" altLang="en-US" sz="2000" spc="3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7E8ED8-D2DB-574E-92F9-BC2F3809A74D}"/>
              </a:ext>
            </a:extLst>
          </p:cNvPr>
          <p:cNvSpPr txBox="1"/>
          <p:nvPr/>
        </p:nvSpPr>
        <p:spPr>
          <a:xfrm>
            <a:off x="1415480" y="1372218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1F09C35-1E72-AF4C-B181-D991BC7A2FB8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31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A7824B1-D31B-B249-B2AD-2D3A1EE8BF02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C26AA11-D0CF-B542-A3F3-05573CE7EC26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EDC1930-A11A-3048-BD77-8FE5366AC50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41D4E01-AC3D-7348-BC67-0C9D9C61F627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0E065E9-2892-8143-B710-D03108BCA23A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7E02588-0200-9B4C-AD66-3FFD77D2E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CD231B8D-55CC-A249-8FE4-F7AA52934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088885D7-6C21-2B48-9D2D-A1C5DE4BB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整体架构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108BF8-1491-1C43-8EF9-7D0576B2DF39}"/>
              </a:ext>
            </a:extLst>
          </p:cNvPr>
          <p:cNvSpPr/>
          <p:nvPr/>
        </p:nvSpPr>
        <p:spPr>
          <a:xfrm>
            <a:off x="7689850" y="1219998"/>
            <a:ext cx="4038600" cy="4985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前端：多语言接口 →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API → SMTLIB2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Optimization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：优化模块。用于处理：最大化变量、最小化变量、优化约束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Tactics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：策略系统，用来决定 如何处理问题。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Preprocessing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：预处理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Cube &amp; Conquer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：分治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Tacticals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：组合策略。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Probe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Parallel / Or-Then</a:t>
            </a:r>
          </a:p>
          <a:p>
            <a:pPr marL="342900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Solvers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：核心求解器。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Z3总体">
            <a:extLst>
              <a:ext uri="{FF2B5EF4-FFF2-40B4-BE49-F238E27FC236}">
                <a16:creationId xmlns:a16="http://schemas.microsoft.com/office/drawing/2014/main" id="{97CC3719-3892-2F7B-716F-D2B5C15B0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0" y="1428653"/>
            <a:ext cx="7404100" cy="416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08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9554D-918D-134B-9027-CC0FAE96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CBD10179-79E2-BAA7-C362-A05DA1851384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1A1202D-8F0D-288F-1053-1DEFD47DF05F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FCE4AE-71DB-6F00-DD3C-E5A8CBA9B80B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BCF093A-8485-51D9-C332-26BEE6109A96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551D5B9-F31C-82A8-7D0D-232E6624AF85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6AF47B46-0823-A930-19FA-E3664740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DBED3A8-6F09-0557-23DC-8BCDD4A85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76F50DBF-1371-8351-E099-35011F29D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AC60E4-6DE3-B670-7F89-1052A1D2B360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03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A19C0308-03E6-7DE5-B3D3-4C57D27E1657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36C213E-D42E-C81C-67BD-17BC65530D4C}"/>
              </a:ext>
            </a:extLst>
          </p:cNvPr>
          <p:cNvSpPr txBox="1"/>
          <p:nvPr/>
        </p:nvSpPr>
        <p:spPr>
          <a:xfrm>
            <a:off x="1008331" y="124472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源码结构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BECE93-3AF5-92F6-8027-9DD133888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011698"/>
              </p:ext>
            </p:extLst>
          </p:nvPr>
        </p:nvGraphicFramePr>
        <p:xfrm>
          <a:off x="3343757" y="868487"/>
          <a:ext cx="7121043" cy="5506914"/>
        </p:xfrm>
        <a:graphic>
          <a:graphicData uri="http://schemas.openxmlformats.org/drawingml/2006/table">
            <a:tbl>
              <a:tblPr/>
              <a:tblGrid>
                <a:gridCol w="1263172">
                  <a:extLst>
                    <a:ext uri="{9D8B030D-6E8A-4147-A177-3AD203B41FA5}">
                      <a16:colId xmlns:a16="http://schemas.microsoft.com/office/drawing/2014/main" val="1322737116"/>
                    </a:ext>
                  </a:extLst>
                </a:gridCol>
                <a:gridCol w="5857871">
                  <a:extLst>
                    <a:ext uri="{9D8B030D-6E8A-4147-A177-3AD203B41FA5}">
                      <a16:colId xmlns:a16="http://schemas.microsoft.com/office/drawing/2014/main" val="995719616"/>
                    </a:ext>
                  </a:extLst>
                </a:gridCol>
              </a:tblGrid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Z3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 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API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及各语言绑定接口。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481495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实现公式的抽象语法树（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Z3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内部一切表达式的核心表示）。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168881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SMT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求解器核心逻辑（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CDCL(T)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、理论求解、冲突分析）。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84816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实现底层布尔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SAT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求解器（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CDCL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25325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各种数学理论支持（如算术、代数、几何等内部算法）。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258172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model/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负责生成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SAT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情况下的模型（变量的具体值）。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72884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tactic/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Z3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的策略系统（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simplify、split、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组合策略等）。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136462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MaxSAT / Optimize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等优化求解功能。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330813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muz/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Datalog / Fixedpoint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求解器（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Horn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子句、程序分析）。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335804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nlsat/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实现非线性实数算术求解器（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NLSAT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765442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qbf/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QSAT/QBF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求解模块（处理 ∀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/∃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量化布尔公式）。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276536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Gröbner Basis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算法模块（代数推理）。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623960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实现插值生成器（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interpolation）。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84922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solver/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高层 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Solver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包装：管理 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push/pop、check-sat、unsat core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064866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通用基础设施（数据结构、内存管理、工具函数）。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21588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cmd_context/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SMT-LIB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命令、上下文、断言、环境状态。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407091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parsers/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SMT-LIB2、LISP、JSON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等格式的解析器。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171320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proofs/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UNSAT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情况下生成证明（</a:t>
                      </a:r>
                      <a:r>
                        <a:rPr 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proof objects）。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83745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rewriter/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重写规则引擎（表达式化简、变量替换、等式转换）。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70351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library/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高层常用库（便利封装，非核心求解器）。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74625"/>
                  </a:ext>
                </a:extLst>
              </a:tr>
              <a:tr h="26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shell/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Z3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命令行工具 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z3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的逻辑。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523218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FE1330F-3ADA-0EBB-A8F3-C3AD557789F7}"/>
              </a:ext>
            </a:extLst>
          </p:cNvPr>
          <p:cNvSpPr/>
          <p:nvPr/>
        </p:nvSpPr>
        <p:spPr>
          <a:xfrm>
            <a:off x="2006600" y="750078"/>
            <a:ext cx="905528" cy="450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2000" b="1" spc="3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src</a:t>
            </a:r>
            <a:r>
              <a:rPr lang="en-US" altLang="zh-CN" sz="2000" b="1" spc="3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endParaRPr lang="zh-CN" altLang="en-US" sz="2000" b="1" spc="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9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AAEFB-4DC1-E5E3-CDC4-95DFCD13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94CD8057-BD8A-757E-7046-80FED79B5591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F35C137-17C2-B0D4-D29D-275B94303BC5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6A9272-D19F-2A7D-1847-9A856D7F4D43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105A6D5-23B0-4EC5-E7A1-5EBDE351A78A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CFAFF5A-AB03-53E3-ED3F-2E820A1B7821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1CA42DE1-F68C-8299-6960-ECACB8555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55520383-6942-F586-569D-7FBEEE530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8BEA9B6B-29E9-1C7B-83F2-A05A853E0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B5D78D3-4E69-C4C2-C27A-57C2F7CDB640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03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C8722F5-9940-D2CE-9D4A-FE29D0A6C397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9B5D78D-9E07-7902-E479-AC686EB8C30D}"/>
              </a:ext>
            </a:extLst>
          </p:cNvPr>
          <p:cNvSpPr txBox="1"/>
          <p:nvPr/>
        </p:nvSpPr>
        <p:spPr>
          <a:xfrm>
            <a:off x="1008331" y="124472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核心求解器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4EB010-698D-ECC6-7860-65DD1F673BDC}"/>
              </a:ext>
            </a:extLst>
          </p:cNvPr>
          <p:cNvSpPr/>
          <p:nvPr/>
        </p:nvSpPr>
        <p:spPr>
          <a:xfrm>
            <a:off x="732408" y="1279104"/>
            <a:ext cx="10727184" cy="4694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2400" dirty="0"/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并不只是单一求解器，而是包含多个内核 ，根据公式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逻辑类型选择最合适的引擎 。默认的是基于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CDCL(T)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SMT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引擎 ，但也有专门针对某些特定类公式 的专用引擎。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CDCL(T)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：将经典的冲突驱动子句学习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(CDCL) SAT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求解与各种理论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(theories)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求解器结合。也就是先把公式近似为布尔形式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调用相应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theory solver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NLSAT (MC-SAT)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：用于非线性算术的处理。用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CAD +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模型构造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SAT (MC-SAT)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的混合方法。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SPACER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：用于解决约束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Horn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子句的专门引擎。基于类似于模型检测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不变性验证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(IC3)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的思想。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QSAT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引擎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：用于带量词 的，对于支持量词消除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量化理论的理论有两个不同版本：一个针对线性算术、代数数据类型、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bit-vector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、数组等；另一个针对非线性多项式算术。</a:t>
            </a:r>
            <a:endParaRPr lang="zh-CN" altLang="en-US" sz="2000" spc="3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8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C0406F8-3394-B445-AD52-85DBE200EFE7}"/>
              </a:ext>
            </a:extLst>
          </p:cNvPr>
          <p:cNvSpPr txBox="1"/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8000" b="1" dirty="0">
                <a:ln w="47625" cap="rnd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ZhenyanGB" panose="02010600030101010101" pitchFamily="2" charset="-122"/>
                <a:cs typeface="Arial" panose="020B0604020202020204" pitchFamily="34" charset="0"/>
              </a:rPr>
              <a:t>02</a:t>
            </a:r>
            <a:endParaRPr kumimoji="1" lang="zh-CN" altLang="en-US" sz="18000" b="1" dirty="0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ZhenyanGB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F4AD50-E506-874D-8531-8E1985F0F039}"/>
              </a:ext>
            </a:extLst>
          </p:cNvPr>
          <p:cNvSpPr txBox="1"/>
          <p:nvPr/>
        </p:nvSpPr>
        <p:spPr>
          <a:xfrm>
            <a:off x="4657143" y="3648420"/>
            <a:ext cx="3108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软件验证</a:t>
            </a:r>
          </a:p>
        </p:txBody>
      </p:sp>
    </p:spTree>
    <p:extLst>
      <p:ext uri="{BB962C8B-B14F-4D97-AF65-F5344CB8AC3E}">
        <p14:creationId xmlns:p14="http://schemas.microsoft.com/office/powerpoint/2010/main" val="7381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6F3D8F-FAAA-2140-B796-1157B4BE68D0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1AEFDA7-4F58-8342-A9E1-CBBEDB06E01B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519A2E4-7654-7049-8574-E43694ED98FB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A78FB99-47D7-DA43-90CB-EBB967406AA4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7B7BD4A-0299-7142-A299-2C8531632FCA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5F8EFFCB-99B0-654F-8FED-048519017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93080F77-5917-384C-AFD1-66264B40D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47" name="图片 46" descr="图片包含 游戏机, 画, 钟表&#10;&#10;描述已自动生成">
              <a:extLst>
                <a:ext uri="{FF2B5EF4-FFF2-40B4-BE49-F238E27FC236}">
                  <a16:creationId xmlns:a16="http://schemas.microsoft.com/office/drawing/2014/main" id="{FE29D0C4-9C03-A64C-8458-ED23D8D76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2893281-9E63-4745-90A4-1FDBFD5D5EDA}"/>
              </a:ext>
            </a:extLst>
          </p:cNvPr>
          <p:cNvGrpSpPr/>
          <p:nvPr/>
        </p:nvGrpSpPr>
        <p:grpSpPr>
          <a:xfrm>
            <a:off x="1038116" y="1230602"/>
            <a:ext cx="10229924" cy="881076"/>
            <a:chOff x="1038116" y="1230602"/>
            <a:chExt cx="10229924" cy="88107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2E54EB-307D-7D45-A26F-0BA43DCFD1B2}"/>
                </a:ext>
              </a:extLst>
            </p:cNvPr>
            <p:cNvSpPr txBox="1"/>
            <p:nvPr/>
          </p:nvSpPr>
          <p:spPr>
            <a:xfrm>
              <a:off x="1038116" y="1230602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01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24A3600-F159-B64D-BF63-4388A1F5289C}"/>
                </a:ext>
              </a:extLst>
            </p:cNvPr>
            <p:cNvSpPr txBox="1"/>
            <p:nvPr/>
          </p:nvSpPr>
          <p:spPr>
            <a:xfrm>
              <a:off x="1745304" y="1331333"/>
              <a:ext cx="136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 dirty="0">
                  <a:gradFill>
                    <a:gsLst>
                      <a:gs pos="0">
                        <a:srgbClr val="C00000"/>
                      </a:gs>
                      <a:gs pos="100000">
                        <a:srgbClr val="770504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断言验证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9466586-F310-9842-BA43-4A3C75333F27}"/>
                </a:ext>
              </a:extLst>
            </p:cNvPr>
            <p:cNvSpPr txBox="1"/>
            <p:nvPr/>
          </p:nvSpPr>
          <p:spPr>
            <a:xfrm>
              <a:off x="1745304" y="1730868"/>
              <a:ext cx="9522736" cy="380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静态分析器把程序属性转成一系列约束交给 </a:t>
              </a:r>
              <a:r>
                <a:rPr lang="en-US" altLang="zh-CN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Z3</a:t>
              </a: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；若</a:t>
              </a:r>
              <a:r>
                <a:rPr lang="en-US" altLang="zh-CN" sz="1600" spc="300" dirty="0" err="1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unsat</a:t>
              </a: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则断言成立，否则返回反例。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8648111-DA66-0C4F-8D4E-74F9F9E79346}"/>
              </a:ext>
            </a:extLst>
          </p:cNvPr>
          <p:cNvCxnSpPr>
            <a:cxnSpLocks/>
          </p:cNvCxnSpPr>
          <p:nvPr/>
        </p:nvCxnSpPr>
        <p:spPr>
          <a:xfrm>
            <a:off x="1745304" y="2206275"/>
            <a:ext cx="9230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6606DF7B-4110-AE4F-95BF-E90F6A885CE4}"/>
              </a:ext>
            </a:extLst>
          </p:cNvPr>
          <p:cNvCxnSpPr>
            <a:cxnSpLocks/>
          </p:cNvCxnSpPr>
          <p:nvPr/>
        </p:nvCxnSpPr>
        <p:spPr>
          <a:xfrm>
            <a:off x="1745304" y="3394377"/>
            <a:ext cx="9230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256CF7E-79CE-8548-963F-F522E21318B1}"/>
              </a:ext>
            </a:extLst>
          </p:cNvPr>
          <p:cNvGrpSpPr/>
          <p:nvPr/>
        </p:nvGrpSpPr>
        <p:grpSpPr>
          <a:xfrm>
            <a:off x="1040283" y="2148318"/>
            <a:ext cx="10208903" cy="1217021"/>
            <a:chOff x="1059137" y="2893036"/>
            <a:chExt cx="10208903" cy="1217021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28C79B6-87B9-F64D-82BA-0F8633D102DF}"/>
                </a:ext>
              </a:extLst>
            </p:cNvPr>
            <p:cNvSpPr txBox="1"/>
            <p:nvPr/>
          </p:nvSpPr>
          <p:spPr>
            <a:xfrm>
              <a:off x="1745304" y="3009624"/>
              <a:ext cx="136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 dirty="0">
                  <a:gradFill>
                    <a:gsLst>
                      <a:gs pos="0">
                        <a:srgbClr val="C00000"/>
                      </a:gs>
                      <a:gs pos="100000">
                        <a:srgbClr val="770504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符号执行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4D527AE-F715-484B-AD8A-811DE4F7D1C3}"/>
                </a:ext>
              </a:extLst>
            </p:cNvPr>
            <p:cNvSpPr txBox="1"/>
            <p:nvPr/>
          </p:nvSpPr>
          <p:spPr>
            <a:xfrm>
              <a:off x="1745304" y="3409159"/>
              <a:ext cx="9522736" cy="700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符号执行沿路径积累路径约束，</a:t>
              </a:r>
              <a:r>
                <a:rPr lang="en-US" altLang="zh-CN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Z3 </a:t>
              </a: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用于判断路径是否可达及生成具体输入以触发该路径（常用于测试生成或 </a:t>
              </a:r>
              <a:r>
                <a:rPr lang="en-US" altLang="zh-CN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bug </a:t>
              </a: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重现）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DBD1493-6D77-B24D-B8FC-640CF78B2E7B}"/>
                </a:ext>
              </a:extLst>
            </p:cNvPr>
            <p:cNvSpPr txBox="1"/>
            <p:nvPr/>
          </p:nvSpPr>
          <p:spPr>
            <a:xfrm>
              <a:off x="1059137" y="2893036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02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FE14A62-07FD-8E45-8F19-49C426C9BA69}"/>
              </a:ext>
            </a:extLst>
          </p:cNvPr>
          <p:cNvGrpSpPr/>
          <p:nvPr/>
        </p:nvGrpSpPr>
        <p:grpSpPr>
          <a:xfrm>
            <a:off x="1030856" y="3308129"/>
            <a:ext cx="10224344" cy="1212450"/>
            <a:chOff x="1030856" y="3308129"/>
            <a:chExt cx="10224344" cy="1212450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27E14A6-C072-8544-A580-F0C814B7AA02}"/>
                </a:ext>
              </a:extLst>
            </p:cNvPr>
            <p:cNvSpPr txBox="1"/>
            <p:nvPr/>
          </p:nvSpPr>
          <p:spPr>
            <a:xfrm>
              <a:off x="1732464" y="3420146"/>
              <a:ext cx="1659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 dirty="0">
                  <a:gradFill>
                    <a:gsLst>
                      <a:gs pos="0">
                        <a:srgbClr val="C00000"/>
                      </a:gs>
                      <a:gs pos="100000">
                        <a:srgbClr val="770504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等价性验证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97EB1E8-FE08-2741-BFD9-E3A405DAA814}"/>
                </a:ext>
              </a:extLst>
            </p:cNvPr>
            <p:cNvSpPr txBox="1"/>
            <p:nvPr/>
          </p:nvSpPr>
          <p:spPr>
            <a:xfrm>
              <a:off x="1732464" y="3819681"/>
              <a:ext cx="9522736" cy="700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把两个实现的输出表达式差异建模为存在性查询（是否存在使两方输出不同的输入），</a:t>
              </a:r>
              <a:r>
                <a:rPr lang="en-US" altLang="zh-CN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sat = </a:t>
              </a:r>
              <a:r>
                <a:rPr lang="zh-CN" altLang="en-US" sz="1600" spc="3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找到反例。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7DD2102-36D4-124D-80D3-56C45A420E79}"/>
                </a:ext>
              </a:extLst>
            </p:cNvPr>
            <p:cNvSpPr txBox="1"/>
            <p:nvPr/>
          </p:nvSpPr>
          <p:spPr>
            <a:xfrm>
              <a:off x="1030856" y="3308129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4B07380-8AF3-CC4D-427C-38E07FFF48EF}"/>
              </a:ext>
            </a:extLst>
          </p:cNvPr>
          <p:cNvSpPr txBox="1"/>
          <p:nvPr/>
        </p:nvSpPr>
        <p:spPr>
          <a:xfrm>
            <a:off x="1709939" y="4661016"/>
            <a:ext cx="1659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spc="300" dirty="0">
                <a:gradFill>
                  <a:gsLst>
                    <a:gs pos="0">
                      <a:srgbClr val="C00000"/>
                    </a:gs>
                    <a:gs pos="100000">
                      <a:srgbClr val="770504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小规模穷举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159162-5ECB-AB1B-E945-56DC934604F1}"/>
              </a:ext>
            </a:extLst>
          </p:cNvPr>
          <p:cNvSpPr txBox="1"/>
          <p:nvPr/>
        </p:nvSpPr>
        <p:spPr>
          <a:xfrm>
            <a:off x="1709939" y="5060551"/>
            <a:ext cx="9522736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30000"/>
              </a:lnSpc>
            </a:pPr>
            <a:r>
              <a:rPr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循环做有界展开并交给 </a:t>
            </a:r>
            <a:r>
              <a:rPr lang="en-US" altLang="zh-CN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 </a:t>
            </a:r>
            <a:r>
              <a:rPr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搜索是否存在反例（适合 </a:t>
            </a:r>
            <a:r>
              <a:rPr lang="en-US" altLang="zh-CN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bug </a:t>
            </a:r>
            <a:r>
              <a:rPr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查找而非完全证明）。</a:t>
            </a:r>
            <a:endParaRPr kumimoji="1" lang="zh-CN" altLang="en-US" sz="1600" spc="3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346CAE-35FF-B358-FABD-C7FFD8B3BCF7}"/>
              </a:ext>
            </a:extLst>
          </p:cNvPr>
          <p:cNvSpPr txBox="1"/>
          <p:nvPr/>
        </p:nvSpPr>
        <p:spPr>
          <a:xfrm>
            <a:off x="1008331" y="4548999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4000" b="1" dirty="0">
              <a:gradFill>
                <a:gsLst>
                  <a:gs pos="0">
                    <a:srgbClr val="C00000">
                      <a:alpha val="73000"/>
                    </a:srgbClr>
                  </a:gs>
                  <a:gs pos="100000">
                    <a:srgbClr val="C00000">
                      <a:alpha val="91000"/>
                    </a:srgbClr>
                  </a:gs>
                </a:gsLst>
                <a:lin ang="540000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" name="直线连接符 15">
            <a:extLst>
              <a:ext uri="{FF2B5EF4-FFF2-40B4-BE49-F238E27FC236}">
                <a16:creationId xmlns:a16="http://schemas.microsoft.com/office/drawing/2014/main" id="{1450A20C-6D4B-30E9-9CBB-65F455B7F51B}"/>
              </a:ext>
            </a:extLst>
          </p:cNvPr>
          <p:cNvCxnSpPr>
            <a:cxnSpLocks/>
          </p:cNvCxnSpPr>
          <p:nvPr/>
        </p:nvCxnSpPr>
        <p:spPr>
          <a:xfrm>
            <a:off x="1737446" y="4592825"/>
            <a:ext cx="9230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92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6FEF-0BF6-71D0-6D82-0B58E930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41AB0F79-7589-8D61-D34F-B87995D77626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8FB7B3F-08DC-E295-2CEB-22C87C485832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69F6C8F-2B2F-FE88-31B5-18942BC967A2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CCA6A6-84AC-64A6-6DBD-C2AD950F444D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7B82571-4FEE-B6C5-06CB-5344ECA9B486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DE7C1F5-C460-E033-E675-4D7CEDBF5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C4F5785-2A5B-5FE5-856C-A6DEB1614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8E279227-AF4D-1D00-34C7-4D34245D3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37072A-E8B8-BF0D-881C-6E0E749C48E6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5EA8DAD2-A5B7-5520-DE80-16CD120E2C9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2E59788A-36E5-F02B-4745-0B1014E634E7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85F3BE-7C19-20AE-1E23-681714594388}"/>
              </a:ext>
            </a:extLst>
          </p:cNvPr>
          <p:cNvSpPr/>
          <p:nvPr/>
        </p:nvSpPr>
        <p:spPr>
          <a:xfrm>
            <a:off x="5622754" y="3440921"/>
            <a:ext cx="5729459" cy="205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通过把程序语义直接转成约束（这里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 = x-y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），并断言要找使断言失败的条件（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z&lt;0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），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能返回满足该条件的输入。此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model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表明：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x=-1,y=0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会使断言失败。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186FD3-2A6D-548F-1138-20293076E6B1}"/>
              </a:ext>
            </a:extLst>
          </p:cNvPr>
          <p:cNvSpPr txBox="1"/>
          <p:nvPr/>
        </p:nvSpPr>
        <p:spPr>
          <a:xfrm>
            <a:off x="1415480" y="1372218"/>
            <a:ext cx="33009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简单案例：</a:t>
            </a:r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770504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断言验证</a:t>
            </a:r>
          </a:p>
          <a:p>
            <a:pPr algn="l"/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圆角矩形 14">
            <a:extLst>
              <a:ext uri="{FF2B5EF4-FFF2-40B4-BE49-F238E27FC236}">
                <a16:creationId xmlns:a16="http://schemas.microsoft.com/office/drawing/2014/main" id="{E49F0129-94BF-2F3A-197F-4A6951F5BB59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FF1EBE06-66F6-25A9-07ED-BAC6BC90D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500" y="2049315"/>
            <a:ext cx="3296110" cy="3943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8A4170-4D9D-F792-46AE-895B26C9E6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451" y="2049315"/>
            <a:ext cx="2819794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5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A7824B1-D31B-B249-B2AD-2D3A1EE8BF02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C26AA11-D0CF-B542-A3F3-05573CE7EC26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EDC1930-A11A-3048-BD77-8FE5366AC50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41D4E01-AC3D-7348-BC67-0C9D9C61F627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0E065E9-2892-8143-B710-D03108BCA23A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7E02588-0200-9B4C-AD66-3FFD77D2E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CD231B8D-55CC-A249-8FE4-F7AA52934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088885D7-6C21-2B48-9D2D-A1C5DE4BB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108BF8-1491-1C43-8EF9-7D0576B2DF39}"/>
              </a:ext>
            </a:extLst>
          </p:cNvPr>
          <p:cNvSpPr/>
          <p:nvPr/>
        </p:nvSpPr>
        <p:spPr>
          <a:xfrm>
            <a:off x="5622754" y="3440921"/>
            <a:ext cx="5729459" cy="1253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把等价性问题转换为存在性查询：是否存在输入使输出不同？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给出</a:t>
            </a:r>
            <a:r>
              <a:rPr lang="en-US" altLang="zh-CN" sz="2000" spc="30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unsat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则说明等价；若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sat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则模型即为反例。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64E5D7-F0CA-33E3-0F15-CE1F2C6B062E}"/>
              </a:ext>
            </a:extLst>
          </p:cNvPr>
          <p:cNvSpPr txBox="1"/>
          <p:nvPr/>
        </p:nvSpPr>
        <p:spPr>
          <a:xfrm>
            <a:off x="1415480" y="1372218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简单案例：</a:t>
            </a:r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770504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等价性验证</a:t>
            </a:r>
          </a:p>
          <a:p>
            <a:pPr algn="l"/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圆角矩形 14">
            <a:extLst>
              <a:ext uri="{FF2B5EF4-FFF2-40B4-BE49-F238E27FC236}">
                <a16:creationId xmlns:a16="http://schemas.microsoft.com/office/drawing/2014/main" id="{063AA598-C064-4217-FB13-AE58843DFCBC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E7651F6F-79A5-6057-418D-782618805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977" y="2049315"/>
            <a:ext cx="3534268" cy="3686689"/>
          </a:xfrm>
          <a:prstGeom prst="rect">
            <a:avLst/>
          </a:prstGeom>
        </p:spPr>
      </p:pic>
      <p:pic>
        <p:nvPicPr>
          <p:cNvPr id="19" name="图片 18" descr="图片包含 文本&#10;&#10;AI 生成的内容可能不正确。">
            <a:extLst>
              <a:ext uri="{FF2B5EF4-FFF2-40B4-BE49-F238E27FC236}">
                <a16:creationId xmlns:a16="http://schemas.microsoft.com/office/drawing/2014/main" id="{C160981E-BC1B-9D0E-20B5-352F6D7336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049315"/>
            <a:ext cx="2524477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7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D41E-3DD7-C11D-0CC5-26494820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9770FA00-FC07-4311-EF66-40483F921D48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A7E22F6-DA58-B2AB-D7D9-8282F74EB48E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F5FDE3F-DB14-7AD1-861D-5BDE02F5730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908D285-4F15-7F8D-2C6E-5E8647AA7D98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5DB4C87-31EB-4BA0-0353-12FA5637B2C9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7CC93513-BD32-A0E9-A7BC-7EA18E883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217558CC-66E3-76A2-AA9B-8F726A845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06757861-6717-55F7-2247-8DAFB1F1D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0AFC71-769C-FEC7-A1F7-1B8A03026472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79BA9BA-EA68-06B3-F4E6-935DF3D03FE5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9F4674D-F76C-A8C3-FD0A-BC6A5B5CF4FD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83E800-1B9A-5344-F97C-BEC619277BE9}"/>
              </a:ext>
            </a:extLst>
          </p:cNvPr>
          <p:cNvSpPr/>
          <p:nvPr/>
        </p:nvSpPr>
        <p:spPr>
          <a:xfrm>
            <a:off x="5622754" y="3440921"/>
            <a:ext cx="5729459" cy="1653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用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32-bit </a:t>
            </a:r>
            <a:r>
              <a:rPr lang="en-US" altLang="zh-CN" sz="2000" spc="30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bitvectors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来精确模拟无符号加法溢出行为。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ULT(</a:t>
            </a:r>
            <a:r>
              <a:rPr lang="en-US" altLang="zh-CN" sz="2000" spc="30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x+y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, x)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表示无符号地 </a:t>
            </a:r>
            <a:r>
              <a:rPr lang="en-US" altLang="zh-CN" sz="2000" spc="30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x+y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小于 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（发生进位覆盖），求解器给出实例说明溢出如何出现。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BD79E6-37C8-E33E-43C1-08208E7119DC}"/>
              </a:ext>
            </a:extLst>
          </p:cNvPr>
          <p:cNvSpPr txBox="1"/>
          <p:nvPr/>
        </p:nvSpPr>
        <p:spPr>
          <a:xfrm>
            <a:off x="1415480" y="1372218"/>
            <a:ext cx="33009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简单案例：整数溢出</a:t>
            </a:r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770504"/>
                  </a:gs>
                </a:gsLst>
                <a:lin ang="540000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圆角矩形 14">
            <a:extLst>
              <a:ext uri="{FF2B5EF4-FFF2-40B4-BE49-F238E27FC236}">
                <a16:creationId xmlns:a16="http://schemas.microsoft.com/office/drawing/2014/main" id="{21C5C432-A405-3AED-789A-145BBC6A4A62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AC9E8EA9-3A48-70D2-7C5D-763340F2B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567" y="2465516"/>
            <a:ext cx="4582164" cy="2629267"/>
          </a:xfrm>
          <a:prstGeom prst="rect">
            <a:avLst/>
          </a:prstGeom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5CB3FB7-8E5F-FD4D-1B48-63775F645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9" y="2465653"/>
            <a:ext cx="3953427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3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9FE0-D33A-17E5-7A6C-04E2468F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244D26A0-0B23-949C-9268-955DE219547B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CA7C6B2-9BA7-3587-B33F-502883602925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FF13146-80F1-8042-C54D-9FFD19D4122F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EDEDF49-7974-086F-B231-5B913EE4DDE1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51F36F3-C41D-86DD-648E-3FCEF5B63CF7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4B055A-B3BF-5ABA-31D9-531A9351E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BE60333-0AB8-4041-B5C6-2FFB6795D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3F9F7D32-2A95-6A05-DD6F-5627F0331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7B0D8C3-5BBB-F4BE-EF2E-AAF7A191B772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43D14D95-3004-598C-34B0-8E69C018D203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061D5DD-31AD-AD71-810B-3D410751DFA3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507118-977E-9C33-E36C-D9EEA894CCA4}"/>
              </a:ext>
            </a:extLst>
          </p:cNvPr>
          <p:cNvSpPr/>
          <p:nvPr/>
        </p:nvSpPr>
        <p:spPr>
          <a:xfrm>
            <a:off x="7419273" y="2294394"/>
            <a:ext cx="4185124" cy="2051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对于有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bug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的二分查找算法代码，将算法改写为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的约束，并让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给出反例，并代入原算法，总而发现算法有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bug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并获得测试案例。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501FD0-8DF0-4A53-E9B1-038E5D1FDCAE}"/>
              </a:ext>
            </a:extLst>
          </p:cNvPr>
          <p:cNvSpPr txBox="1"/>
          <p:nvPr/>
        </p:nvSpPr>
        <p:spPr>
          <a:xfrm>
            <a:off x="1415480" y="1372218"/>
            <a:ext cx="3978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案例：有</a:t>
            </a:r>
            <a:r>
              <a:rPr kumimoji="1" lang="en-US" altLang="zh-CN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bug</a:t>
            </a:r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的二分查找</a:t>
            </a:r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770504"/>
                  </a:gs>
                </a:gsLst>
                <a:lin ang="540000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圆角矩形 14">
            <a:extLst>
              <a:ext uri="{FF2B5EF4-FFF2-40B4-BE49-F238E27FC236}">
                <a16:creationId xmlns:a16="http://schemas.microsoft.com/office/drawing/2014/main" id="{7A755DEA-8A52-A83E-FD6F-0F9F7422089A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屏幕上有字&#10;&#10;AI 生成的内容可能不正确。">
            <a:extLst>
              <a:ext uri="{FF2B5EF4-FFF2-40B4-BE49-F238E27FC236}">
                <a16:creationId xmlns:a16="http://schemas.microsoft.com/office/drawing/2014/main" id="{FA50854D-563B-CFA1-005F-593700805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693" y="2090349"/>
            <a:ext cx="6744641" cy="31627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E4324F-EEA6-9BE8-28F3-43F0847640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93" y="5461746"/>
            <a:ext cx="896427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4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554F-75A0-F42E-3C19-6E87D145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CE2D3FDC-CFF1-6D9F-6D43-8775332EBAFA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6C10894-686E-FFCC-0E45-95340D065A16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E3DD02B-BFEC-03FD-03EA-E66B832C0D78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BD38947-2C02-32FC-EA3B-BD594AD39E6F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DB75A61-AF78-A151-2C5F-3E28152BD72F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F1621C5F-7EB4-7628-E401-210A6A1CC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D58010DE-6742-C81E-3A8E-4C018B423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3" name="图片 32" descr="图片包含 游戏机, 画, 钟表&#10;&#10;描述已自动生成">
              <a:extLst>
                <a:ext uri="{FF2B5EF4-FFF2-40B4-BE49-F238E27FC236}">
                  <a16:creationId xmlns:a16="http://schemas.microsoft.com/office/drawing/2014/main" id="{F42A6709-A3E4-336F-4A48-8208DC8CB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E33B13-FCB0-55FC-8B21-54EB7721F84A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9E70C262-BB9D-F155-145C-021B546E847C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1D1741F-3EC0-FD56-032C-7B655B36E3B1}"/>
              </a:ext>
            </a:extLst>
          </p:cNvPr>
          <p:cNvSpPr txBox="1"/>
          <p:nvPr/>
        </p:nvSpPr>
        <p:spPr>
          <a:xfrm>
            <a:off x="1008331" y="124472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在软件验证领域的应用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CDD391-15E1-A9A9-6452-B425F4728445}"/>
              </a:ext>
            </a:extLst>
          </p:cNvPr>
          <p:cNvSpPr/>
          <p:nvPr/>
        </p:nvSpPr>
        <p:spPr>
          <a:xfrm>
            <a:off x="6481353" y="4194647"/>
            <a:ext cx="4185124" cy="1251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模拟线程死锁，将线程获取锁的时间作为约束，让</a:t>
            </a:r>
            <a:r>
              <a:rPr lang="en-US" altLang="zh-CN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</a:t>
            </a:r>
            <a:r>
              <a:rPr lang="zh-CN" altLang="en-US" sz="20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求解可能死锁的调度。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EB96F-111F-9BD6-F7AE-C93FF0104D34}"/>
              </a:ext>
            </a:extLst>
          </p:cNvPr>
          <p:cNvSpPr txBox="1"/>
          <p:nvPr/>
        </p:nvSpPr>
        <p:spPr>
          <a:xfrm>
            <a:off x="1415480" y="1372218"/>
            <a:ext cx="2608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gradFill>
                  <a:gsLst>
                    <a:gs pos="0">
                      <a:srgbClr val="C00000"/>
                    </a:gs>
                    <a:gs pos="100000">
                      <a:srgbClr val="C00000">
                        <a:lumMod val="5900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案例：死锁判断</a:t>
            </a:r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770504"/>
                  </a:gs>
                </a:gsLst>
                <a:lin ang="540000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kumimoji="1" lang="zh-CN" altLang="en-US" sz="2400" b="1" spc="300" dirty="0">
              <a:gradFill>
                <a:gsLst>
                  <a:gs pos="0">
                    <a:srgbClr val="C00000"/>
                  </a:gs>
                  <a:gs pos="100000">
                    <a:srgbClr val="C00000">
                      <a:lumMod val="5900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圆角矩形 14">
            <a:extLst>
              <a:ext uri="{FF2B5EF4-FFF2-40B4-BE49-F238E27FC236}">
                <a16:creationId xmlns:a16="http://schemas.microsoft.com/office/drawing/2014/main" id="{C9FF47A4-3B62-BEC8-3419-92C13983E048}"/>
              </a:ext>
            </a:extLst>
          </p:cNvPr>
          <p:cNvSpPr/>
          <p:nvPr/>
        </p:nvSpPr>
        <p:spPr>
          <a:xfrm>
            <a:off x="1128483" y="1487477"/>
            <a:ext cx="214989" cy="214989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5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CB6E48-E2AB-DB72-B6E6-B641213D5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353" y="1776209"/>
            <a:ext cx="4582164" cy="2000529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D68BB8FD-F1D4-D8D1-CC5F-50BB6BF82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023" y="2256356"/>
            <a:ext cx="4334480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2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886513" y="1587570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8000" b="1" dirty="0">
                <a:ln w="47625" cap="rnd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ZhenyanGB" panose="02010600030101010101" pitchFamily="2" charset="-122"/>
                <a:cs typeface="Arial" panose="020B0604020202020204" pitchFamily="34" charset="0"/>
              </a:rPr>
              <a:t>03</a:t>
            </a:r>
            <a:endParaRPr kumimoji="1" lang="zh-CN" altLang="en-US" sz="18000" b="1" dirty="0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ZhenyanGB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30901" y="3528060"/>
            <a:ext cx="326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安全分析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634"/>
            <a:ext cx="12192000" cy="6858002"/>
            <a:chOff x="0" y="-1"/>
            <a:chExt cx="12192000" cy="6858002"/>
          </a:xfrm>
        </p:grpSpPr>
        <p:sp>
          <p:nvSpPr>
            <p:cNvPr id="30" name="矩形 29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6" name="图片 35" descr="图片包含 游戏机, 画, 钟表&#10;&#10;描述已自动生成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30657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核心应用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符号执行</a:t>
            </a: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6" cstate="screen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781803" y="1126317"/>
            <a:ext cx="1171842" cy="1046288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25500" y="1626870"/>
            <a:ext cx="10532110" cy="288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hangingPunct="0">
              <a:lnSpc>
                <a:spcPct val="150000"/>
              </a:lnSpc>
            </a:pPr>
            <a:r>
              <a:rPr kumimoji="1" lang="zh-CN" altLang="en-US" sz="28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kumimoji="1"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在符号执行中，程序路径上的所有条件语句（如</a:t>
            </a:r>
            <a:r>
              <a:rPr kumimoji="1"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if</a:t>
            </a:r>
            <a:r>
              <a:rPr kumimoji="1"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kumimoji="1"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while</a:t>
            </a:r>
            <a:r>
              <a:rPr kumimoji="1"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）都被收集起来，形成一个路径约束公式</a:t>
            </a:r>
          </a:p>
          <a:p>
            <a:pPr algn="just" hangingPunct="0">
              <a:lnSpc>
                <a:spcPct val="150000"/>
              </a:lnSpc>
            </a:pPr>
            <a:r>
              <a:rPr kumimoji="1"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Z3 </a:t>
            </a:r>
            <a:r>
              <a:rPr kumimoji="1"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用于判断路径约束公式的可满足性。如果公式可满足，则说明该路径可达，</a:t>
            </a:r>
            <a:r>
              <a:rPr kumimoji="1"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Z3 </a:t>
            </a:r>
            <a:r>
              <a:rPr kumimoji="1"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提供的模型就是导致程序执行到该路径的具体输入，这些输入常用于寻找漏洞。</a:t>
            </a:r>
          </a:p>
        </p:txBody>
      </p:sp>
      <p:cxnSp>
        <p:nvCxnSpPr>
          <p:cNvPr id="23" name="直线连接符 22"/>
          <p:cNvCxnSpPr/>
          <p:nvPr/>
        </p:nvCxnSpPr>
        <p:spPr>
          <a:xfrm>
            <a:off x="2891724" y="5323273"/>
            <a:ext cx="609054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2914584" y="1334038"/>
            <a:ext cx="609054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80646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80" y="140335"/>
            <a:ext cx="399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场景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1-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漏洞挖掘和利用</a:t>
            </a:r>
          </a:p>
        </p:txBody>
      </p:sp>
      <p:sp>
        <p:nvSpPr>
          <p:cNvPr id="13" name="任意形状 12"/>
          <p:cNvSpPr/>
          <p:nvPr/>
        </p:nvSpPr>
        <p:spPr>
          <a:xfrm>
            <a:off x="1755775" y="1097280"/>
            <a:ext cx="9082405" cy="3277870"/>
          </a:xfrm>
          <a:custGeom>
            <a:avLst/>
            <a:gdLst>
              <a:gd name="connsiteX0" fmla="*/ 7477246 w 7892778"/>
              <a:gd name="connsiteY0" fmla="*/ 0 h 3278037"/>
              <a:gd name="connsiteX1" fmla="*/ 7892778 w 7892778"/>
              <a:gd name="connsiteY1" fmla="*/ 0 h 3278037"/>
              <a:gd name="connsiteX2" fmla="*/ 7892778 w 7892778"/>
              <a:gd name="connsiteY2" fmla="*/ 2781482 h 3278037"/>
              <a:gd name="connsiteX3" fmla="*/ 7892778 w 7892778"/>
              <a:gd name="connsiteY3" fmla="*/ 3278037 h 3278037"/>
              <a:gd name="connsiteX4" fmla="*/ 7396223 w 7892778"/>
              <a:gd name="connsiteY4" fmla="*/ 2781482 h 3278037"/>
              <a:gd name="connsiteX5" fmla="*/ 0 w 7892778"/>
              <a:gd name="connsiteY5" fmla="*/ 2781482 h 3278037"/>
              <a:gd name="connsiteX6" fmla="*/ 0 w 7892778"/>
              <a:gd name="connsiteY6" fmla="*/ 2384385 h 3278037"/>
              <a:gd name="connsiteX7" fmla="*/ 7477246 w 7892778"/>
              <a:gd name="connsiteY7" fmla="*/ 2384385 h 327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2778" h="3278037">
                <a:moveTo>
                  <a:pt x="7477246" y="0"/>
                </a:moveTo>
                <a:lnTo>
                  <a:pt x="7892778" y="0"/>
                </a:lnTo>
                <a:lnTo>
                  <a:pt x="7892778" y="2781482"/>
                </a:lnTo>
                <a:lnTo>
                  <a:pt x="7892778" y="3278037"/>
                </a:lnTo>
                <a:lnTo>
                  <a:pt x="7396223" y="2781482"/>
                </a:lnTo>
                <a:lnTo>
                  <a:pt x="0" y="2781482"/>
                </a:lnTo>
                <a:lnTo>
                  <a:pt x="0" y="2384385"/>
                </a:lnTo>
                <a:lnTo>
                  <a:pt x="7477246" y="2384385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66000" y="881948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任意形状 19"/>
          <p:cNvSpPr/>
          <p:nvPr/>
        </p:nvSpPr>
        <p:spPr>
          <a:xfrm rot="5400000">
            <a:off x="4423410" y="-1875790"/>
            <a:ext cx="3392170" cy="8747125"/>
          </a:xfrm>
          <a:custGeom>
            <a:avLst/>
            <a:gdLst>
              <a:gd name="connsiteX0" fmla="*/ 85637 w 3473735"/>
              <a:gd name="connsiteY0" fmla="*/ 7897037 h 7982674"/>
              <a:gd name="connsiteX1" fmla="*/ 2774639 w 3473735"/>
              <a:gd name="connsiteY1" fmla="*/ 7897037 h 7982674"/>
              <a:gd name="connsiteX2" fmla="*/ 2774639 w 3473735"/>
              <a:gd name="connsiteY2" fmla="*/ 85637 h 7982674"/>
              <a:gd name="connsiteX3" fmla="*/ 85637 w 3473735"/>
              <a:gd name="connsiteY3" fmla="*/ 85637 h 7982674"/>
              <a:gd name="connsiteX4" fmla="*/ 0 w 3473735"/>
              <a:gd name="connsiteY4" fmla="*/ 7982674 h 7982674"/>
              <a:gd name="connsiteX5" fmla="*/ 0 w 3473735"/>
              <a:gd name="connsiteY5" fmla="*/ 0 h 7982674"/>
              <a:gd name="connsiteX6" fmla="*/ 2860276 w 3473735"/>
              <a:gd name="connsiteY6" fmla="*/ 0 h 7982674"/>
              <a:gd name="connsiteX7" fmla="*/ 2860276 w 3473735"/>
              <a:gd name="connsiteY7" fmla="*/ 7369215 h 7982674"/>
              <a:gd name="connsiteX8" fmla="*/ 3473735 w 3473735"/>
              <a:gd name="connsiteY8" fmla="*/ 7982674 h 7982674"/>
              <a:gd name="connsiteX9" fmla="*/ 2860276 w 3473735"/>
              <a:gd name="connsiteY9" fmla="*/ 7982674 h 798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3735" h="7982674">
                <a:moveTo>
                  <a:pt x="85637" y="7897037"/>
                </a:moveTo>
                <a:lnTo>
                  <a:pt x="2774639" y="7897037"/>
                </a:lnTo>
                <a:lnTo>
                  <a:pt x="2774639" y="85637"/>
                </a:lnTo>
                <a:lnTo>
                  <a:pt x="85637" y="85637"/>
                </a:lnTo>
                <a:close/>
                <a:moveTo>
                  <a:pt x="0" y="7982674"/>
                </a:moveTo>
                <a:lnTo>
                  <a:pt x="0" y="0"/>
                </a:lnTo>
                <a:lnTo>
                  <a:pt x="2860276" y="0"/>
                </a:lnTo>
                <a:lnTo>
                  <a:pt x="2860276" y="7369215"/>
                </a:lnTo>
                <a:lnTo>
                  <a:pt x="3473735" y="7982674"/>
                </a:lnTo>
                <a:lnTo>
                  <a:pt x="2860276" y="7982674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100000">
                <a:srgbClr val="C00000">
                  <a:lumMod val="8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47850" y="710565"/>
            <a:ext cx="8544560" cy="195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hangingPunct="0">
              <a:lnSpc>
                <a:spcPct val="130000"/>
              </a:lnSpc>
            </a:pPr>
            <a:endParaRPr kumimoji="1" lang="en-US" altLang="zh-CN" sz="1400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Z3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可以帮助安全研究人员构造触发漏洞的恶意输入。</a:t>
            </a:r>
            <a:endParaRPr kumimoji="1" lang="zh-CN" altLang="en-US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endParaRPr kumimoji="1" lang="zh-CN" altLang="en-US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约束求解：</a:t>
            </a: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将触发特定漏洞（例如，使得一个敏感变量达到某个危险值）所需的所有前置条件转化为一个</a:t>
            </a: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SMT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约束公式。</a:t>
            </a:r>
            <a:endParaRPr kumimoji="1" lang="en-US" altLang="zh-CN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求解触发条件：</a:t>
            </a: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Z3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求解这个公式，如果可解，</a:t>
            </a:r>
            <a:r>
              <a:rPr kumimoji="1" lang="en-US" altLang="zh-CN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Z3 </a:t>
            </a:r>
            <a:r>
              <a:rPr kumimoji="1" lang="zh-CN" altLang="en-US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提供的模型就是触发漏洞的精确输入数据。下面是一个具体的漏洞场景：</a:t>
            </a:r>
          </a:p>
        </p:txBody>
      </p:sp>
      <p:sp>
        <p:nvSpPr>
          <p:cNvPr id="5" name="矩形 4"/>
          <p:cNvSpPr/>
          <p:nvPr/>
        </p:nvSpPr>
        <p:spPr>
          <a:xfrm>
            <a:off x="3482340" y="5551170"/>
            <a:ext cx="75565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" y="4414520"/>
            <a:ext cx="11900535" cy="181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80" y="140335"/>
            <a:ext cx="399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场景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2-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恶意软件分析</a:t>
            </a:r>
          </a:p>
        </p:txBody>
      </p:sp>
      <p:sp>
        <p:nvSpPr>
          <p:cNvPr id="13" name="任意形状 12"/>
          <p:cNvSpPr/>
          <p:nvPr/>
        </p:nvSpPr>
        <p:spPr>
          <a:xfrm>
            <a:off x="1858010" y="2346325"/>
            <a:ext cx="9178925" cy="3277870"/>
          </a:xfrm>
          <a:custGeom>
            <a:avLst/>
            <a:gdLst>
              <a:gd name="connsiteX0" fmla="*/ 7477246 w 7892778"/>
              <a:gd name="connsiteY0" fmla="*/ 0 h 3278037"/>
              <a:gd name="connsiteX1" fmla="*/ 7892778 w 7892778"/>
              <a:gd name="connsiteY1" fmla="*/ 0 h 3278037"/>
              <a:gd name="connsiteX2" fmla="*/ 7892778 w 7892778"/>
              <a:gd name="connsiteY2" fmla="*/ 2781482 h 3278037"/>
              <a:gd name="connsiteX3" fmla="*/ 7892778 w 7892778"/>
              <a:gd name="connsiteY3" fmla="*/ 3278037 h 3278037"/>
              <a:gd name="connsiteX4" fmla="*/ 7396223 w 7892778"/>
              <a:gd name="connsiteY4" fmla="*/ 2781482 h 3278037"/>
              <a:gd name="connsiteX5" fmla="*/ 0 w 7892778"/>
              <a:gd name="connsiteY5" fmla="*/ 2781482 h 3278037"/>
              <a:gd name="connsiteX6" fmla="*/ 0 w 7892778"/>
              <a:gd name="connsiteY6" fmla="*/ 2384385 h 3278037"/>
              <a:gd name="connsiteX7" fmla="*/ 7477246 w 7892778"/>
              <a:gd name="connsiteY7" fmla="*/ 2384385 h 327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2778" h="3278037">
                <a:moveTo>
                  <a:pt x="7477246" y="0"/>
                </a:moveTo>
                <a:lnTo>
                  <a:pt x="7892778" y="0"/>
                </a:lnTo>
                <a:lnTo>
                  <a:pt x="7892778" y="2781482"/>
                </a:lnTo>
                <a:lnTo>
                  <a:pt x="7892778" y="3278037"/>
                </a:lnTo>
                <a:lnTo>
                  <a:pt x="7396223" y="2781482"/>
                </a:lnTo>
                <a:lnTo>
                  <a:pt x="0" y="2781482"/>
                </a:lnTo>
                <a:lnTo>
                  <a:pt x="0" y="2384385"/>
                </a:lnTo>
                <a:lnTo>
                  <a:pt x="7477246" y="2384385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10450" y="200526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任意形状 19"/>
          <p:cNvSpPr/>
          <p:nvPr/>
        </p:nvSpPr>
        <p:spPr>
          <a:xfrm rot="5400000">
            <a:off x="4296410" y="-842645"/>
            <a:ext cx="3473450" cy="9008745"/>
          </a:xfrm>
          <a:custGeom>
            <a:avLst/>
            <a:gdLst>
              <a:gd name="connsiteX0" fmla="*/ 85637 w 3473735"/>
              <a:gd name="connsiteY0" fmla="*/ 7897037 h 7982674"/>
              <a:gd name="connsiteX1" fmla="*/ 2774639 w 3473735"/>
              <a:gd name="connsiteY1" fmla="*/ 7897037 h 7982674"/>
              <a:gd name="connsiteX2" fmla="*/ 2774639 w 3473735"/>
              <a:gd name="connsiteY2" fmla="*/ 85637 h 7982674"/>
              <a:gd name="connsiteX3" fmla="*/ 85637 w 3473735"/>
              <a:gd name="connsiteY3" fmla="*/ 85637 h 7982674"/>
              <a:gd name="connsiteX4" fmla="*/ 0 w 3473735"/>
              <a:gd name="connsiteY4" fmla="*/ 7982674 h 7982674"/>
              <a:gd name="connsiteX5" fmla="*/ 0 w 3473735"/>
              <a:gd name="connsiteY5" fmla="*/ 0 h 7982674"/>
              <a:gd name="connsiteX6" fmla="*/ 2860276 w 3473735"/>
              <a:gd name="connsiteY6" fmla="*/ 0 h 7982674"/>
              <a:gd name="connsiteX7" fmla="*/ 2860276 w 3473735"/>
              <a:gd name="connsiteY7" fmla="*/ 7369215 h 7982674"/>
              <a:gd name="connsiteX8" fmla="*/ 3473735 w 3473735"/>
              <a:gd name="connsiteY8" fmla="*/ 7982674 h 7982674"/>
              <a:gd name="connsiteX9" fmla="*/ 2860276 w 3473735"/>
              <a:gd name="connsiteY9" fmla="*/ 7982674 h 798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3735" h="7982674">
                <a:moveTo>
                  <a:pt x="85637" y="7897037"/>
                </a:moveTo>
                <a:lnTo>
                  <a:pt x="2774639" y="7897037"/>
                </a:lnTo>
                <a:lnTo>
                  <a:pt x="2774639" y="85637"/>
                </a:lnTo>
                <a:lnTo>
                  <a:pt x="85637" y="85637"/>
                </a:lnTo>
                <a:close/>
                <a:moveTo>
                  <a:pt x="0" y="7982674"/>
                </a:moveTo>
                <a:lnTo>
                  <a:pt x="0" y="0"/>
                </a:lnTo>
                <a:lnTo>
                  <a:pt x="2860276" y="0"/>
                </a:lnTo>
                <a:lnTo>
                  <a:pt x="2860276" y="7369215"/>
                </a:lnTo>
                <a:lnTo>
                  <a:pt x="3473735" y="7982674"/>
                </a:lnTo>
                <a:lnTo>
                  <a:pt x="2860276" y="7982674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100000">
                <a:srgbClr val="C00000">
                  <a:lumMod val="8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24330" y="2005330"/>
            <a:ext cx="8779510" cy="255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hangingPunct="0">
              <a:lnSpc>
                <a:spcPct val="130000"/>
              </a:lnSpc>
            </a:pPr>
            <a:endParaRPr kumimoji="1" lang="en-US" altLang="zh-CN" sz="1400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在分析复杂的恶意软件时，</a:t>
            </a:r>
            <a:r>
              <a:rPr kumimoji="1" lang="en-US" altLang="zh-CN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Z3 </a:t>
            </a: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可用于自动解密或绕过混淆。</a:t>
            </a:r>
            <a:endParaRPr kumimoji="1" lang="zh-CN" altLang="en-US" sz="1400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endParaRPr kumimoji="1" lang="zh-CN" altLang="en-US" sz="1400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密码分析：</a:t>
            </a:r>
            <a:r>
              <a:rPr kumimoji="1" lang="en-US" altLang="zh-CN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恶意软件常将敏感数据（如</a:t>
            </a:r>
            <a:r>
              <a:rPr kumimoji="1" lang="en-US" altLang="zh-CN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C2 </a:t>
            </a: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服务器地址）加密存储。分析人员可以构造一个包含加密算法逻辑的公式，将密文和密钥特征作为约束，然后用</a:t>
            </a:r>
            <a:r>
              <a:rPr kumimoji="1" lang="en-US" altLang="zh-CN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Z3 </a:t>
            </a: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求解出密钥或明文。</a:t>
            </a:r>
          </a:p>
          <a:p>
            <a:pPr algn="just" hangingPunct="0">
              <a:lnSpc>
                <a:spcPct val="130000"/>
              </a:lnSpc>
            </a:pPr>
            <a:endParaRPr kumimoji="1" lang="en-US" altLang="zh-CN" sz="1400" b="1" spc="3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hangingPunct="0">
              <a:lnSpc>
                <a:spcPct val="130000"/>
              </a:lnSpc>
            </a:pP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去混淆：</a:t>
            </a:r>
            <a:r>
              <a:rPr kumimoji="1" lang="en-US" altLang="zh-CN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1400" b="1" spc="3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用于分析和简化恶意软件中复杂的算术和位运算混淆代码，从而更清晰地理解其真实逻辑。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80" y="140335"/>
            <a:ext cx="5434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场景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2-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恶意软件分析具体案例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840740"/>
            <a:ext cx="6875145" cy="45472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场景设定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假设我们从一个恶意软件样本中提取到以下信息：</a:t>
            </a:r>
          </a:p>
          <a:p>
            <a:pPr algn="l">
              <a:lnSpc>
                <a:spcPct val="130000"/>
              </a:lnSpc>
            </a:pP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密文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一个已知的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32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位整数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algn="l">
              <a:lnSpc>
                <a:spcPct val="130000"/>
              </a:lnSpc>
            </a:pP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混淆函数：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一个复杂的位运算函数，它使用一个未知的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32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位密钥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algn="l">
              <a:lnSpc>
                <a:spcPct val="130000"/>
              </a:lnSpc>
            </a:pP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目标明文片段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我们知道混淆后的结果应该是某个特定的值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algn="l">
              <a:lnSpc>
                <a:spcPct val="130000"/>
              </a:lnSpc>
            </a:pP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求解未知变量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K$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的值。我们将整个混淆过程建模为一个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SMT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约束。</a:t>
            </a:r>
          </a:p>
          <a:p>
            <a:pPr algn="l">
              <a:lnSpc>
                <a:spcPct val="130000"/>
              </a:lnSpc>
            </a:pP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SMT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约束公式，将混淆函数转化为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Z3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的表达式。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 ^ K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循环左移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(Rotate Left)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Z3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RotateLeft(expr, n)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对应于循环左移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位。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最终等式约束：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混淆函数的输出必须等于目标明文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algn="l">
              <a:lnSpc>
                <a:spcPct val="130000"/>
              </a:lnSpc>
            </a:pP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110" y="842645"/>
            <a:ext cx="4864735" cy="4959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5260" y="5290185"/>
            <a:ext cx="6677025" cy="9842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Z3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，我们成功地自动化地反转了一个复杂的位运算混淆过程。其中我们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不需要手动尝试或逆向推导，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Z3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精确地找到了满足所有约束的唯一密钥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，从而实现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了自动化、高效的去混淆。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C0406F8-3394-B445-AD52-85DBE200EFE7}"/>
              </a:ext>
            </a:extLst>
          </p:cNvPr>
          <p:cNvSpPr txBox="1"/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8000" b="1" dirty="0">
                <a:ln w="47625" cap="rnd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ZhenyanGB" panose="02010600030101010101" pitchFamily="2" charset="-122"/>
                <a:cs typeface="Arial" panose="020B0604020202020204" pitchFamily="34" charset="0"/>
              </a:rPr>
              <a:t>04</a:t>
            </a:r>
            <a:endParaRPr kumimoji="1" lang="zh-CN" altLang="en-US" sz="18000" b="1" dirty="0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ZhenyanGB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E953790-736C-7440-9767-B47AD7618FB7}"/>
              </a:ext>
            </a:extLst>
          </p:cNvPr>
          <p:cNvGrpSpPr/>
          <p:nvPr/>
        </p:nvGrpSpPr>
        <p:grpSpPr>
          <a:xfrm>
            <a:off x="3461776" y="3669387"/>
            <a:ext cx="5602147" cy="1398975"/>
            <a:chOff x="1138766" y="2959911"/>
            <a:chExt cx="5602147" cy="139897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AF4AD50-E506-874D-8531-8E1985F0F039}"/>
                </a:ext>
              </a:extLst>
            </p:cNvPr>
            <p:cNvSpPr txBox="1"/>
            <p:nvPr/>
          </p:nvSpPr>
          <p:spPr>
            <a:xfrm>
              <a:off x="2437002" y="2959911"/>
              <a:ext cx="31085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5400" b="1" spc="300">
                  <a:gradFill>
                    <a:gsLst>
                      <a:gs pos="0">
                        <a:srgbClr val="C00000"/>
                      </a:gs>
                      <a:gs pos="100000">
                        <a:srgbClr val="F87768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调度优化</a:t>
              </a:r>
              <a:endPara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C0E5DED-670B-9B4B-8992-1993170D0E66}"/>
                </a:ext>
              </a:extLst>
            </p:cNvPr>
            <p:cNvSpPr txBox="1"/>
            <p:nvPr/>
          </p:nvSpPr>
          <p:spPr>
            <a:xfrm>
              <a:off x="1138766" y="3835666"/>
              <a:ext cx="56021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en-US" altLang="zh-CN" sz="28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Microsoft YaHei Light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181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6F3D8F-FAAA-2140-B796-1157B4BE68D0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1AEFDA7-4F58-8342-A9E1-CBBEDB06E01B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519A2E4-7654-7049-8574-E43694ED98FB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A78FB99-47D7-DA43-90CB-EBB967406AA4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7B7BD4A-0299-7142-A299-2C8531632FCA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5F8EFFCB-99B0-654F-8FED-048519017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93080F77-5917-384C-AFD1-66264B40D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47" name="图片 46" descr="图片包含 游戏机, 画, 钟表&#10;&#10;描述已自动生成">
              <a:extLst>
                <a:ext uri="{FF2B5EF4-FFF2-40B4-BE49-F238E27FC236}">
                  <a16:creationId xmlns:a16="http://schemas.microsoft.com/office/drawing/2014/main" id="{FE29D0C4-9C03-A64C-8458-ED23D8D76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6949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基于 </a:t>
            </a:r>
            <a:r>
              <a:rPr kumimoji="1" lang="en-US" alt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Z3 SMT </a:t>
            </a:r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求解器的智能调度与优化应用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2893281-9E63-4745-90A4-1FDBFD5D5EDA}"/>
              </a:ext>
            </a:extLst>
          </p:cNvPr>
          <p:cNvGrpSpPr/>
          <p:nvPr/>
        </p:nvGrpSpPr>
        <p:grpSpPr>
          <a:xfrm>
            <a:off x="1038116" y="1230602"/>
            <a:ext cx="10229924" cy="1521764"/>
            <a:chOff x="1038116" y="1230602"/>
            <a:chExt cx="10229924" cy="1521764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2E54EB-307D-7D45-A26F-0BA43DCFD1B2}"/>
                </a:ext>
              </a:extLst>
            </p:cNvPr>
            <p:cNvSpPr txBox="1"/>
            <p:nvPr/>
          </p:nvSpPr>
          <p:spPr>
            <a:xfrm>
              <a:off x="1038116" y="1230602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01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24A3600-F159-B64D-BF63-4388A1F5289C}"/>
                </a:ext>
              </a:extLst>
            </p:cNvPr>
            <p:cNvSpPr txBox="1"/>
            <p:nvPr/>
          </p:nvSpPr>
          <p:spPr>
            <a:xfrm>
              <a:off x="1745304" y="1331333"/>
              <a:ext cx="60837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核心范式：从“过程式”到“声明式”的转变</a:t>
              </a:r>
              <a:endParaRPr kumimoji="1" lang="zh-CN" altLang="en-US" sz="2000" b="1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9466586-F310-9842-BA43-4A3C75333F27}"/>
                </a:ext>
              </a:extLst>
            </p:cNvPr>
            <p:cNvSpPr txBox="1"/>
            <p:nvPr/>
          </p:nvSpPr>
          <p:spPr>
            <a:xfrm>
              <a:off x="1745304" y="1730868"/>
              <a:ext cx="9522736" cy="1021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   摒弃传统算法（如遗传算法）关注“</a:t>
              </a:r>
              <a:r>
                <a:rPr lang="zh-CN" altLang="en-US" sz="1600" spc="300">
                  <a:highlight>
                    <a:srgbClr val="FFFF00"/>
                  </a:highligh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搜索过程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”的复杂性，转向 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Z3 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的“声明式”逻辑。我们只需精确描述“</a:t>
              </a:r>
              <a:r>
                <a:rPr lang="zh-CN" altLang="en-US" sz="1600" spc="300">
                  <a:highlight>
                    <a:srgbClr val="FFFF00"/>
                  </a:highligh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业务规则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”（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What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），繁琐的解空间遍历与剪枝完全由底层引擎自动完成，实现算法与业务逻辑的解耦。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8648111-DA66-0C4F-8D4E-74F9F9E79346}"/>
              </a:ext>
            </a:extLst>
          </p:cNvPr>
          <p:cNvCxnSpPr>
            <a:cxnSpLocks/>
          </p:cNvCxnSpPr>
          <p:nvPr/>
        </p:nvCxnSpPr>
        <p:spPr>
          <a:xfrm>
            <a:off x="1745304" y="2866153"/>
            <a:ext cx="9230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6606DF7B-4110-AE4F-95BF-E90F6A885CE4}"/>
              </a:ext>
            </a:extLst>
          </p:cNvPr>
          <p:cNvCxnSpPr>
            <a:cxnSpLocks/>
          </p:cNvCxnSpPr>
          <p:nvPr/>
        </p:nvCxnSpPr>
        <p:spPr>
          <a:xfrm>
            <a:off x="1745304" y="4544444"/>
            <a:ext cx="9230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256CF7E-79CE-8548-963F-F522E21318B1}"/>
              </a:ext>
            </a:extLst>
          </p:cNvPr>
          <p:cNvGrpSpPr/>
          <p:nvPr/>
        </p:nvGrpSpPr>
        <p:grpSpPr>
          <a:xfrm>
            <a:off x="1059137" y="2893036"/>
            <a:ext cx="10208903" cy="1537621"/>
            <a:chOff x="1059137" y="2893036"/>
            <a:chExt cx="10208903" cy="1537621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28C79B6-87B9-F64D-82BA-0F8633D102DF}"/>
                </a:ext>
              </a:extLst>
            </p:cNvPr>
            <p:cNvSpPr txBox="1"/>
            <p:nvPr/>
          </p:nvSpPr>
          <p:spPr>
            <a:xfrm>
              <a:off x="1745304" y="3009624"/>
              <a:ext cx="54938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建模框架：变量、约束与目标的数学映射</a:t>
              </a:r>
              <a:endParaRPr kumimoji="1" lang="zh-CN" altLang="en-US" sz="2000" b="1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4D527AE-F715-484B-AD8A-811DE4F7D1C3}"/>
                </a:ext>
              </a:extLst>
            </p:cNvPr>
            <p:cNvSpPr txBox="1"/>
            <p:nvPr/>
          </p:nvSpPr>
          <p:spPr>
            <a:xfrm>
              <a:off x="1745304" y="3409159"/>
              <a:ext cx="9522736" cy="1021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   构建“变量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-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硬约束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-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软约束”三层架构。利用布尔逻辑处理资源互斥与时序关系，确保方案的物理可行性；利用 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Optimize 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接口定义目标函数（如最小化 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Makespan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），驱动求解器</a:t>
              </a:r>
              <a:r>
                <a:rPr lang="zh-CN" altLang="en-US" sz="1600" spc="300">
                  <a:highlight>
                    <a:srgbClr val="FFFF00"/>
                  </a:highligh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收敛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至数学上的全局最优解。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DBD1493-6D77-B24D-B8FC-640CF78B2E7B}"/>
                </a:ext>
              </a:extLst>
            </p:cNvPr>
            <p:cNvSpPr txBox="1"/>
            <p:nvPr/>
          </p:nvSpPr>
          <p:spPr>
            <a:xfrm>
              <a:off x="1059137" y="2893036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02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FE14A62-07FD-8E45-8F19-49C426C9BA69}"/>
              </a:ext>
            </a:extLst>
          </p:cNvPr>
          <p:cNvGrpSpPr/>
          <p:nvPr/>
        </p:nvGrpSpPr>
        <p:grpSpPr>
          <a:xfrm>
            <a:off x="1059137" y="4561898"/>
            <a:ext cx="10224344" cy="1533050"/>
            <a:chOff x="1059137" y="4561898"/>
            <a:chExt cx="10224344" cy="1533050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27E14A6-C072-8544-A580-F0C814B7AA02}"/>
                </a:ext>
              </a:extLst>
            </p:cNvPr>
            <p:cNvSpPr txBox="1"/>
            <p:nvPr/>
          </p:nvSpPr>
          <p:spPr>
            <a:xfrm>
              <a:off x="1760745" y="4673915"/>
              <a:ext cx="40190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000" b="1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技术优势：完备性与动态适应</a:t>
              </a:r>
              <a:endParaRPr kumimoji="1" lang="zh-CN" altLang="en-US" sz="2000" b="1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97EB1E8-FE08-2741-BFD9-E3A405DAA814}"/>
                </a:ext>
              </a:extLst>
            </p:cNvPr>
            <p:cNvSpPr txBox="1"/>
            <p:nvPr/>
          </p:nvSpPr>
          <p:spPr>
            <a:xfrm>
              <a:off x="1760745" y="5073450"/>
              <a:ext cx="9522736" cy="1021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hangingPunct="0">
                <a:lnSpc>
                  <a:spcPct val="130000"/>
                </a:lnSpc>
              </a:pP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  相比启发式算法的“近似解”，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Z3 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能提供可证明的</a:t>
              </a:r>
              <a:r>
                <a:rPr lang="zh-CN" altLang="en-US" sz="1600" spc="300">
                  <a:highlight>
                    <a:srgbClr val="FFFF00"/>
                  </a:highligh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全局最优解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Provably  Optimal</a:t>
              </a:r>
              <a:r>
                <a:rPr lang="zh-CN" altLang="en-US" sz="1600" spc="30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）。同时具备极高的灵活性，面对设备故障或急单插入等突发扰动，无需重构算法，仅需增量添加约束即可实现毫秒级实时重排。</a:t>
              </a:r>
              <a:endParaRPr kumimoji="1" lang="zh-CN" altLang="en-US" sz="1600" spc="3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7DD2102-36D4-124D-80D3-56C45A420E79}"/>
                </a:ext>
              </a:extLst>
            </p:cNvPr>
            <p:cNvSpPr txBox="1"/>
            <p:nvPr/>
          </p:nvSpPr>
          <p:spPr>
            <a:xfrm>
              <a:off x="1059137" y="4561898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4000" b="1" dirty="0">
                  <a:gradFill>
                    <a:gsLst>
                      <a:gs pos="0">
                        <a:srgbClr val="C00000">
                          <a:alpha val="73000"/>
                        </a:srgbClr>
                      </a:gs>
                      <a:gs pos="100000">
                        <a:srgbClr val="C00000">
                          <a:alpha val="91000"/>
                        </a:srgb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4000" b="1" dirty="0">
                <a:gradFill>
                  <a:gsLst>
                    <a:gs pos="0">
                      <a:srgbClr val="C00000">
                        <a:alpha val="73000"/>
                      </a:srgbClr>
                    </a:gs>
                    <a:gs pos="100000">
                      <a:srgbClr val="C00000">
                        <a:alpha val="9100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76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374E659-06E0-4042-A6BE-6D6977EDB906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CC1B4B5-E5B8-2A43-9A48-2F89B549D080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4F07EFB-540A-724B-9E1F-F818ED17200A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ED7E07-E277-2E45-9597-D2C1BF897BF5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13B0796-67A9-7A4F-99B7-6AB9E5A66374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B7E1B58-9D91-E647-98E1-D1BA4C6BE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093D6A0-9471-534D-8074-6AD08E47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93EED181-B044-3040-8B50-7E365D6E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6070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具体案例</a:t>
            </a:r>
            <a:r>
              <a:rPr kumimoji="1" lang="en-US" alt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——</a:t>
            </a:r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设备故障下的动态再调度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E9015C-970C-6518-E8BF-108DA9AF64D3}"/>
              </a:ext>
            </a:extLst>
          </p:cNvPr>
          <p:cNvSpPr txBox="1"/>
          <p:nvPr/>
        </p:nvSpPr>
        <p:spPr>
          <a:xfrm>
            <a:off x="265643" y="1178325"/>
            <a:ext cx="10960559" cy="5630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场景设定：突发扰动下的车间危机</a:t>
            </a:r>
            <a:endParaRPr lang="en-US" altLang="zh-CN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背景：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一个柔性车间，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台机器 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(M1, M2, M3)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个工件。在 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T=10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时刻，机器 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M2 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主轴损坏，维修需要 </a:t>
            </a:r>
            <a:r>
              <a:rPr kumimoji="1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个时间单位。</a:t>
            </a: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在不改变完成任务的前提下，重新安排</a:t>
            </a:r>
            <a:endParaRPr kumimoji="1"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后续任务，使</a:t>
            </a:r>
            <a:r>
              <a:rPr kumimoji="1" lang="zh-CN" altLang="en-US" sz="240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总延误最小</a:t>
            </a:r>
            <a:r>
              <a:rPr kumimoji="1" lang="zh-CN" altLang="en-US" sz="2400"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。</a:t>
            </a: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E3FE86-EA5B-DC1F-6D53-6F16C3C4C763}"/>
              </a:ext>
            </a:extLst>
          </p:cNvPr>
          <p:cNvSpPr txBox="1"/>
          <p:nvPr/>
        </p:nvSpPr>
        <p:spPr>
          <a:xfrm>
            <a:off x="5732300" y="2802781"/>
            <a:ext cx="646331" cy="85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96599C-F8AB-786F-3142-9BCA5B1D9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582" y="4805501"/>
            <a:ext cx="4831499" cy="115834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7DD082F-F81E-B349-67CD-015CB8723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31" y="2939513"/>
            <a:ext cx="9444801" cy="17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03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48D49-C27B-6753-9FAD-960FB0BF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4C054818-B98E-0AE5-7C8E-7B3E60BB048F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53BE9CB-3CF8-3B31-5454-8689B2BEE56E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2C0373F-6292-2986-9401-3C9D087ADF94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9D9A2E-8EA1-7B5E-5A6C-B219F62756DA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A634441-2E4B-ECA0-4ACC-AAC50BDF1512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A3DA954-D9AF-E676-DCE1-AC7D1B3F6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3CF334C-5A8C-2D43-50CD-0586FC40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80F24848-E64C-7F5E-5125-F24B6B1BA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5949B3-9FC8-F2A4-E71B-85C938B3BAD5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7AA9120E-18CF-13AF-BF3C-149C86E2983C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EF15B3C-E69E-793D-B030-C7C03B48206C}"/>
              </a:ext>
            </a:extLst>
          </p:cNvPr>
          <p:cNvSpPr txBox="1"/>
          <p:nvPr/>
        </p:nvSpPr>
        <p:spPr>
          <a:xfrm>
            <a:off x="1008331" y="124472"/>
            <a:ext cx="6070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具体案例</a:t>
            </a:r>
            <a:r>
              <a:rPr kumimoji="1" lang="en-US" alt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——</a:t>
            </a:r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设备故障下的动态再调度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48F85E-3128-156D-AE25-C1F807A4FF1F}"/>
              </a:ext>
            </a:extLst>
          </p:cNvPr>
          <p:cNvSpPr txBox="1"/>
          <p:nvPr/>
        </p:nvSpPr>
        <p:spPr>
          <a:xfrm>
            <a:off x="265644" y="1178325"/>
            <a:ext cx="6813580" cy="6356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建模映射：从物理故障到逻辑约束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固定历史：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将所有结束时间小于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的任务状态设为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，确保过去发生的生产事实不被回滚。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扰动约束：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植入逻辑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s.add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(Or(end &lt;= 10, start &gt;= 15))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，强制任务避开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M2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的维修窗口。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优化目标：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定义函数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opt.minimize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Makespan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，驱动求解器在压缩的时间窗内寻找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最紧凑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</a:t>
            </a:r>
            <a:r>
              <a:rPr kumimoji="1" lang="zh-CN" altLang="en-US" sz="1600" dirty="0">
                <a:latin typeface="Times New Roman" panose="02020603050405020304" pitchFamily="18" charset="0"/>
                <a:ea typeface="Source Han Sans SC Normal" panose="020B0400000000000000" pitchFamily="34" charset="-128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30000"/>
              </a:lnSpc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E6BAB4-1A19-FB1F-EBE5-BA8C0E7759D9}"/>
              </a:ext>
            </a:extLst>
          </p:cNvPr>
          <p:cNvSpPr txBox="1"/>
          <p:nvPr/>
        </p:nvSpPr>
        <p:spPr>
          <a:xfrm>
            <a:off x="5732300" y="2802781"/>
            <a:ext cx="646331" cy="85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1DFFCF-0C8A-0B93-315B-B79316EC4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9620" y="1413489"/>
            <a:ext cx="4526672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41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C497-0F33-6941-0DDF-BFD2270F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4CFD5F-DF12-DF34-4218-48ACCD36275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39DE627-C944-C5B6-71EB-484740199680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01BDEFC-A6DF-3575-ACE5-CC00EF276BCA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2044B97-73BA-EE47-D0EC-B81D063DA9DC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B8A32A-9200-4A5B-7A36-E5BAF51ADC18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2930B3C-216A-21F8-53CD-D025EF309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0DC4FC2-FD9E-7B70-37D2-40EC81857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B5C9DB1C-719D-0BB5-7A8F-898D4C6AF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7F4FB7E-5434-CBA9-17D8-E9078E754446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9B5DBC77-DB80-F289-0B3D-7D15C15F1E49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BFDF091-854A-582A-98E1-A2E1E5DF0B25}"/>
              </a:ext>
            </a:extLst>
          </p:cNvPr>
          <p:cNvSpPr txBox="1"/>
          <p:nvPr/>
        </p:nvSpPr>
        <p:spPr>
          <a:xfrm>
            <a:off x="1008331" y="124472"/>
            <a:ext cx="6070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具体案例</a:t>
            </a:r>
            <a:r>
              <a:rPr kumimoji="1" lang="en-US" alt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——</a:t>
            </a:r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设备故障下的动态再调度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40D653-3702-7D8B-F94D-CFCF8BEE0FA9}"/>
              </a:ext>
            </a:extLst>
          </p:cNvPr>
          <p:cNvSpPr txBox="1"/>
          <p:nvPr/>
        </p:nvSpPr>
        <p:spPr>
          <a:xfrm>
            <a:off x="265644" y="1178325"/>
            <a:ext cx="11792956" cy="428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求解机制：自动化的分支定界搜索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约束注入后，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Z3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引擎即刻触发底层的 分支定界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(Branch &amp; Bound)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算法对解空间进行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全遍历搜索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。系统能够智能评估 “任务迁移” 的可行性，自动尝试将故障机器的积压任务改派至其他空闲资源，最终在 毫秒级 内收敛，输出一个既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严格规避故障时间窗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、又实现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总工期最短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 全局最优解。</a:t>
            </a:r>
          </a:p>
          <a:p>
            <a:pPr>
              <a:lnSpc>
                <a:spcPct val="130000"/>
              </a:lnSpc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984FCF-0AB1-B9BD-00D8-B8B2E432BBCD}"/>
              </a:ext>
            </a:extLst>
          </p:cNvPr>
          <p:cNvSpPr txBox="1"/>
          <p:nvPr/>
        </p:nvSpPr>
        <p:spPr>
          <a:xfrm>
            <a:off x="5732300" y="2802781"/>
            <a:ext cx="646331" cy="85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54ABF2-0248-C836-FDA1-7731E326F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125" y="4267200"/>
            <a:ext cx="3577777" cy="19703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685C22-BF84-473E-940A-6708B3B0F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15" y="4399292"/>
            <a:ext cx="5675815" cy="183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20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1B97-648B-F6EF-C386-F01AFB9F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B113A6FB-0F49-F8C6-CEEB-D20EF6981428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00F9227-A018-2A12-D4C1-4FDAB39279B4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03C3888-80BD-2F2A-8A1C-9B900BC0FB33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6AC45A0-6DB1-E5A1-786B-2F760E94AD80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5401FC3-9095-CBBD-6A9C-291B9D844449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9E420AB-5C79-1773-E495-16CFA7F50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33AB69E-8E44-C34F-F179-18BB68725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4B588BCB-E5A4-E512-B86F-898FE6EDC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FEE38B-4BDD-9144-245E-586D8E54E3C7}"/>
              </a:ext>
            </a:extLst>
          </p:cNvPr>
          <p:cNvSpPr txBox="1"/>
          <p:nvPr/>
        </p:nvSpPr>
        <p:spPr>
          <a:xfrm>
            <a:off x="175107" y="1168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04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A754C16-C342-95BF-3271-66A660D55E6C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BB1F17C-1317-90A6-633D-B3942C463215}"/>
              </a:ext>
            </a:extLst>
          </p:cNvPr>
          <p:cNvSpPr txBox="1"/>
          <p:nvPr/>
        </p:nvSpPr>
        <p:spPr>
          <a:xfrm>
            <a:off x="1008331" y="124472"/>
            <a:ext cx="6070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具体案例</a:t>
            </a:r>
            <a:r>
              <a:rPr kumimoji="1" lang="en-US" alt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——</a:t>
            </a:r>
            <a:r>
              <a:rPr kumimoji="1" lang="zh-CN" altLang="en-US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设备故障下的动态再调度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BF0023-8049-F3FE-708B-50A9D6501E62}"/>
              </a:ext>
            </a:extLst>
          </p:cNvPr>
          <p:cNvSpPr txBox="1"/>
          <p:nvPr/>
        </p:nvSpPr>
        <p:spPr>
          <a:xfrm>
            <a:off x="265644" y="1178325"/>
            <a:ext cx="11606097" cy="3512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结果分析：优化效果对比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在朴素顺延策略 下，机器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M2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的故障导致了“多米诺骨牌”效应，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M3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出现大段空白</a:t>
            </a:r>
            <a:r>
              <a:rPr kumimoji="1"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闲置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，完工时间高达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小时。 而引入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Z3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 后，算法自动识别出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M3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的闲置产能，通过</a:t>
            </a:r>
            <a:r>
              <a:rPr kumimoji="1"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动态改派和工序重组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填补了维修期间的产能空缺。最终在不增加额外资源的情况下，将总工期缩短为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46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小时，实现了真正的智能止损。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600E40-C8BC-EBFA-9876-B168436340F1}"/>
              </a:ext>
            </a:extLst>
          </p:cNvPr>
          <p:cNvSpPr txBox="1"/>
          <p:nvPr/>
        </p:nvSpPr>
        <p:spPr>
          <a:xfrm>
            <a:off x="5732300" y="2802781"/>
            <a:ext cx="646331" cy="85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ctr">
              <a:lnSpc>
                <a:spcPct val="130000"/>
              </a:lnSpc>
              <a:buAutoNum type="arabicPeriod"/>
            </a:pP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C8F417-C6B6-4DFE-17E4-13C8A25C9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500" y="4111143"/>
            <a:ext cx="9304252" cy="209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4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675363A-0911-7349-A790-22877BA5C207}"/>
              </a:ext>
            </a:extLst>
          </p:cNvPr>
          <p:cNvSpPr/>
          <p:nvPr/>
        </p:nvSpPr>
        <p:spPr>
          <a:xfrm>
            <a:off x="346285" y="346157"/>
            <a:ext cx="11462658" cy="6077693"/>
          </a:xfrm>
          <a:prstGeom prst="rect">
            <a:avLst/>
          </a:prstGeom>
          <a:gradFill>
            <a:gsLst>
              <a:gs pos="0">
                <a:schemeClr val="bg1">
                  <a:alpha val="7000"/>
                </a:schemeClr>
              </a:gs>
              <a:gs pos="38000">
                <a:schemeClr val="bg1">
                  <a:alpha val="0"/>
                </a:schemeClr>
              </a:gs>
              <a:gs pos="62000">
                <a:schemeClr val="bg1">
                  <a:alpha val="0"/>
                </a:schemeClr>
              </a:gs>
              <a:gs pos="100000">
                <a:schemeClr val="bg1">
                  <a:alpha val="700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bg1"/>
                </a:gs>
                <a:gs pos="38000">
                  <a:schemeClr val="bg1">
                    <a:alpha val="0"/>
                  </a:schemeClr>
                </a:gs>
                <a:gs pos="62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图片包含 游戏机, 画, 钟表&#10;&#10;描述已自动生成">
            <a:extLst>
              <a:ext uri="{FF2B5EF4-FFF2-40B4-BE49-F238E27FC236}">
                <a16:creationId xmlns:a16="http://schemas.microsoft.com/office/drawing/2014/main" id="{A1AD7DCB-39D2-A84B-9C99-0071993CE6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145" y="122295"/>
            <a:ext cx="3019710" cy="6169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94D919-8A2D-A84C-BAF8-4EC45AF87A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2435" y="6220399"/>
            <a:ext cx="2050361" cy="406902"/>
          </a:xfrm>
          <a:prstGeom prst="rect">
            <a:avLst/>
          </a:prstGeom>
        </p:spPr>
      </p:pic>
      <p:pic>
        <p:nvPicPr>
          <p:cNvPr id="10" name="图片 9" descr="图片包含 游戏机, 画&#10;&#10;描述已自动生成">
            <a:extLst>
              <a:ext uri="{FF2B5EF4-FFF2-40B4-BE49-F238E27FC236}">
                <a16:creationId xmlns:a16="http://schemas.microsoft.com/office/drawing/2014/main" id="{BC032A8A-9A5B-E04A-8688-CFB6EABBDEE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33960" y="690867"/>
            <a:ext cx="9887309" cy="3229854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2D31072-9148-A448-94A2-250D1731788C}"/>
              </a:ext>
            </a:extLst>
          </p:cNvPr>
          <p:cNvCxnSpPr/>
          <p:nvPr/>
        </p:nvCxnSpPr>
        <p:spPr>
          <a:xfrm>
            <a:off x="2854036" y="3541855"/>
            <a:ext cx="6483928" cy="0"/>
          </a:xfrm>
          <a:prstGeom prst="line">
            <a:avLst/>
          </a:prstGeom>
          <a:ln w="19050">
            <a:gradFill>
              <a:gsLst>
                <a:gs pos="50000">
                  <a:schemeClr val="bg1"/>
                </a:gs>
                <a:gs pos="0">
                  <a:schemeClr val="bg1">
                    <a:lumMod val="100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AF98CBD-D89A-2E47-8A78-304CDD28127D}"/>
              </a:ext>
            </a:extLst>
          </p:cNvPr>
          <p:cNvSpPr txBox="1"/>
          <p:nvPr/>
        </p:nvSpPr>
        <p:spPr>
          <a:xfrm>
            <a:off x="3389667" y="2433859"/>
            <a:ext cx="5493812" cy="110799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spc="300" dirty="0">
                <a:ln w="952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感谢大家观看</a:t>
            </a:r>
          </a:p>
        </p:txBody>
      </p:sp>
    </p:spTree>
    <p:extLst>
      <p:ext uri="{BB962C8B-B14F-4D97-AF65-F5344CB8AC3E}">
        <p14:creationId xmlns:p14="http://schemas.microsoft.com/office/powerpoint/2010/main" val="257009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lnSpc>
            <a:spcPct val="130000"/>
          </a:lnSpc>
          <a:defRPr kumimoji="1" sz="1200" dirty="0">
            <a:latin typeface="Source Han Sans SC Normal" panose="020B0400000000000000" pitchFamily="34" charset="-128"/>
            <a:ea typeface="Source Han Sans SC Normal" panose="020B04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</TotalTime>
  <Words>2139</Words>
  <Application>Microsoft Office PowerPoint</Application>
  <PresentationFormat>宽屏</PresentationFormat>
  <Paragraphs>228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Source Han Sans SC Normal</vt:lpstr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 PT模 板 网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于 正洋</dc:creator>
  <cp:keywords>我给母校送模板 第二届</cp:keywords>
  <dc:description>www.51 ppt moban.co m</dc:description>
  <cp:lastModifiedBy>文博 张</cp:lastModifiedBy>
  <cp:revision>144</cp:revision>
  <dcterms:created xsi:type="dcterms:W3CDTF">2020-04-17T07:43:44Z</dcterms:created>
  <dcterms:modified xsi:type="dcterms:W3CDTF">2025-12-13T15:14:40Z</dcterms:modified>
</cp:coreProperties>
</file>