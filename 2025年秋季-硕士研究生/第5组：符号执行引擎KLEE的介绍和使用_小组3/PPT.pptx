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2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3.xml" ContentType="application/vnd.openxmlformats-officedocument.presentationml.tags+xml"/>
  <Override PartName="/ppt/notesSlides/notesSlide1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1.xml" ContentType="application/vnd.openxmlformats-officedocument.presentationml.notesSlide+xml"/>
  <Override PartName="/ppt/tags/tag8.xml" ContentType="application/vnd.openxmlformats-officedocument.presentationml.tags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3536" r:id="rId2"/>
    <p:sldId id="278" r:id="rId3"/>
    <p:sldId id="3601" r:id="rId4"/>
    <p:sldId id="3632" r:id="rId5"/>
    <p:sldId id="3653" r:id="rId6"/>
    <p:sldId id="3634" r:id="rId7"/>
    <p:sldId id="3635" r:id="rId8"/>
    <p:sldId id="3636" r:id="rId9"/>
    <p:sldId id="3638" r:id="rId10"/>
    <p:sldId id="3639" r:id="rId11"/>
    <p:sldId id="3640" r:id="rId12"/>
    <p:sldId id="3641" r:id="rId13"/>
    <p:sldId id="3655" r:id="rId14"/>
    <p:sldId id="3642" r:id="rId15"/>
    <p:sldId id="3643" r:id="rId16"/>
    <p:sldId id="3644" r:id="rId17"/>
    <p:sldId id="3646" r:id="rId18"/>
    <p:sldId id="3647" r:id="rId19"/>
    <p:sldId id="3648" r:id="rId20"/>
    <p:sldId id="3649" r:id="rId21"/>
    <p:sldId id="3650" r:id="rId22"/>
    <p:sldId id="3652" r:id="rId23"/>
    <p:sldId id="3579" r:id="rId24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96969"/>
    <a:srgbClr val="E29B63"/>
    <a:srgbClr val="7E1711"/>
    <a:srgbClr val="D1B48C"/>
    <a:srgbClr val="870000"/>
    <a:srgbClr val="D14937"/>
    <a:srgbClr val="D9494E"/>
    <a:srgbClr val="B72E26"/>
    <a:srgbClr val="760000"/>
    <a:srgbClr val="BF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49B392A-4DE0-4B6B-B5FE-0A119BDBA036}" styleName="补充样式1">
    <a:wholeTbl>
      <a:tcTxStyle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chemeClr val="accent1"/>
              </a:solidFill>
              <a:prstDash val="solid"/>
            </a:ln>
          </a:top>
          <a:bottom>
            <a:ln w="1905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2H>
    <a:band1V>
      <a:tcStyle>
        <a:tcBdr/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1V>
    <a:lastCol>
      <a:tcTxStyle b="on">
        <a:fontRef idx="none">
          <a:schemeClr val="accent1"/>
        </a:fontRef>
      </a:tcTxStyle>
      <a:tcStyle>
        <a:tcBdr/>
        <a:fill>
          <a:solidFill>
            <a:schemeClr val="accent1">
              <a:lumMod val="40000"/>
              <a:lumOff val="60000"/>
              <a:alpha val="40000"/>
            </a:schemeClr>
          </a:solidFill>
        </a:fill>
      </a:tcStyle>
    </a:lastCol>
    <a:firstCol>
      <a:tcTxStyle b="on">
        <a:fontRef idx="none">
          <a:schemeClr val="accent1"/>
        </a:fontRef>
      </a:tcTxStyle>
      <a:tcStyle>
        <a:tcBdr/>
        <a:fill>
          <a:solidFill>
            <a:schemeClr val="accent1">
              <a:lumMod val="40000"/>
              <a:lumOff val="60000"/>
              <a:alpha val="4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fir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firstRow>
  </a:tblStyle>
  <a:tblStyle styleId="{7A31EFBF-73E7-4715-97E1-24C57E64FEB9}" styleName="补充样式1">
    <a:wholeTbl>
      <a:tcTxStyle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chemeClr val="accent1"/>
              </a:solidFill>
              <a:prstDash val="solid"/>
            </a:ln>
          </a:top>
          <a:bottom>
            <a:ln w="1905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2H>
    <a:band1V>
      <a:tcStyle>
        <a:tcBdr/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1V>
    <a:lastCol>
      <a:tcTxStyle b="on">
        <a:fontRef idx="none">
          <a:schemeClr val="accent1"/>
        </a:fontRef>
      </a:tcTxStyle>
      <a:tcStyle>
        <a:tcBdr/>
        <a:fill>
          <a:solidFill>
            <a:schemeClr val="accent1">
              <a:lumMod val="40000"/>
              <a:lumOff val="60000"/>
              <a:alpha val="40000"/>
            </a:schemeClr>
          </a:solidFill>
        </a:fill>
      </a:tcStyle>
    </a:lastCol>
    <a:firstCol>
      <a:tcTxStyle b="on">
        <a:fontRef idx="none">
          <a:schemeClr val="accent1"/>
        </a:fontRef>
      </a:tcTxStyle>
      <a:tcStyle>
        <a:tcBdr/>
        <a:fill>
          <a:solidFill>
            <a:schemeClr val="accent1">
              <a:lumMod val="40000"/>
              <a:lumOff val="60000"/>
              <a:alpha val="4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fir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firstRow>
  </a:tblStyle>
  <a:tblStyle styleId="{BB5C0C3C-297D-4B6C-B1F4-6D4792D39178}" styleName="补充样式1">
    <a:wholeTbl>
      <a:tcTxStyle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chemeClr val="accent1"/>
              </a:solidFill>
              <a:prstDash val="solid"/>
            </a:ln>
          </a:top>
          <a:bottom>
            <a:ln w="1905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2H>
    <a:band1V>
      <a:tcStyle>
        <a:tcBdr/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1V>
    <a:lastCol>
      <a:tcTxStyle b="on">
        <a:fontRef idx="none">
          <a:schemeClr val="accent1"/>
        </a:fontRef>
      </a:tcTxStyle>
      <a:tcStyle>
        <a:tcBdr/>
        <a:fill>
          <a:solidFill>
            <a:schemeClr val="accent1">
              <a:lumMod val="40000"/>
              <a:lumOff val="60000"/>
              <a:alpha val="40000"/>
            </a:schemeClr>
          </a:solidFill>
        </a:fill>
      </a:tcStyle>
    </a:lastCol>
    <a:firstCol>
      <a:tcTxStyle b="on">
        <a:fontRef idx="none">
          <a:schemeClr val="accent1"/>
        </a:fontRef>
      </a:tcTxStyle>
      <a:tcStyle>
        <a:tcBdr/>
        <a:fill>
          <a:solidFill>
            <a:schemeClr val="accent1">
              <a:lumMod val="40000"/>
              <a:lumOff val="60000"/>
              <a:alpha val="4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fir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firstRow>
  </a:tblStyle>
  <a:tblStyle styleId="{24828357-6E04-45C0-B2E7-271066B5A542}" styleName="补充样式1">
    <a:wholeTbl>
      <a:tcTxStyle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chemeClr val="accent1"/>
              </a:solidFill>
              <a:prstDash val="solid"/>
            </a:ln>
          </a:top>
          <a:bottom>
            <a:ln w="1905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lastCol>
      <a:tcTxStyle b="on">
        <a:fontRef idx="none">
          <a:schemeClr val="accent1"/>
        </a:fontRef>
      </a:tcTxStyle>
      <a:tcStyle>
        <a:tcBdr/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accent1"/>
        </a:fontRef>
      </a:tcTxStyle>
      <a:tcStyle>
        <a:tcBdr/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fir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7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64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4A7F67-F846-46EA-8082-9F67FA8D1C07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334C8A-2AB3-44AC-84FE-44DD1F17321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38200" y="342209"/>
            <a:ext cx="11029950" cy="662780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10800000" scaled="1"/>
          </a:grad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344484" y="295599"/>
            <a:ext cx="756000" cy="756000"/>
          </a:xfrm>
          <a:prstGeom prst="ellipse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BA34-7A7E-4808-AB87-0F41496EB64D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9" name="标题 18"/>
          <p:cNvSpPr>
            <a:spLocks noGrp="1"/>
          </p:cNvSpPr>
          <p:nvPr>
            <p:ph type="title"/>
          </p:nvPr>
        </p:nvSpPr>
        <p:spPr>
          <a:xfrm>
            <a:off x="1211398" y="350383"/>
            <a:ext cx="9674317" cy="662780"/>
          </a:xfrm>
        </p:spPr>
        <p:txBody>
          <a:bodyPr>
            <a:normAutofit/>
          </a:bodyPr>
          <a:lstStyle>
            <a:lvl1pPr>
              <a:defRPr sz="3000" b="1" spc="100" baseline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椭圆 2"/>
          <p:cNvSpPr/>
          <p:nvPr userDrawn="1"/>
        </p:nvSpPr>
        <p:spPr>
          <a:xfrm>
            <a:off x="344484" y="295599"/>
            <a:ext cx="756000" cy="756000"/>
          </a:xfrm>
          <a:prstGeom prst="ellipse">
            <a:avLst/>
          </a:prstGeom>
          <a:gradFill>
            <a:gsLst>
              <a:gs pos="0">
                <a:schemeClr val="accent1">
                  <a:alpha val="70000"/>
                </a:schemeClr>
              </a:gs>
              <a:gs pos="100000">
                <a:schemeClr val="accent1"/>
              </a:gs>
            </a:gsLst>
            <a:lin ang="10800000" scaled="1"/>
          </a:gradFill>
          <a:ln w="508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CDBA34-7A7E-4808-AB87-0F41496EB64D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059E5-3D9A-4CB3-B922-6CA2C0162B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2159000"/>
            <a:ext cx="12192000" cy="2667000"/>
          </a:xfrm>
          <a:prstGeom prst="rect">
            <a:avLst/>
          </a:prstGeom>
          <a:gradFill>
            <a:gsLst>
              <a:gs pos="0">
                <a:schemeClr val="accent1">
                  <a:alpha val="40000"/>
                </a:schemeClr>
              </a:gs>
              <a:gs pos="100000">
                <a:schemeClr val="accent1"/>
              </a:gs>
            </a:gsLst>
            <a:lin ang="10800000" scaled="1"/>
          </a:grad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328160" y="5400675"/>
            <a:ext cx="3535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汇报小组：王陈偲，方斌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0" y="4971730"/>
            <a:ext cx="12192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0" y="3033395"/>
            <a:ext cx="12191365" cy="9201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5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符号执行引擎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KLEE</a:t>
            </a:r>
            <a:r>
              <a:rPr lang="en-US" altLang="zh-CN"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5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的介绍和使用</a:t>
            </a:r>
            <a:endParaRPr lang="zh-CN" altLang="en-US" sz="5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5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0" y="1999930"/>
            <a:ext cx="12192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微信图片_20240506144810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45" y="8890"/>
            <a:ext cx="5779135" cy="96647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" name="文本框 5"/>
          <p:cNvSpPr txBox="1"/>
          <p:nvPr/>
        </p:nvSpPr>
        <p:spPr>
          <a:xfrm>
            <a:off x="6486525" y="16014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211398" y="388483"/>
            <a:ext cx="9674317" cy="662780"/>
          </a:xfrm>
        </p:spPr>
        <p:txBody>
          <a:bodyPr/>
          <a:lstStyle/>
          <a:p>
            <a:r>
              <a:rPr lang="en-US" altLang="zh-CN"/>
              <a:t>KLEE </a:t>
            </a:r>
            <a:r>
              <a:rPr lang="zh-CN" altLang="en-US"/>
              <a:t>概述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397658" y="348776"/>
            <a:ext cx="655413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: 圆角 14"/>
          <p:cNvSpPr/>
          <p:nvPr/>
        </p:nvSpPr>
        <p:spPr>
          <a:xfrm>
            <a:off x="397510" y="1125538"/>
            <a:ext cx="11475720" cy="5648960"/>
          </a:xfrm>
          <a:prstGeom prst="roundRect">
            <a:avLst>
              <a:gd name="adj" fmla="val 5828"/>
            </a:avLst>
          </a:prstGeom>
          <a:solidFill>
            <a:schemeClr val="bg1"/>
          </a:solidFill>
          <a:ln w="15875">
            <a:solidFill>
              <a:schemeClr val="accent1">
                <a:alpha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01015" y="1042988"/>
            <a:ext cx="11289030" cy="57327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2400" b="1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一、背景与动机：为什么需要</a:t>
            </a:r>
            <a:r>
              <a:rPr lang="en-US" altLang="zh-CN" sz="2400" b="1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KLEE</a:t>
            </a:r>
            <a:r>
              <a:rPr lang="zh-CN" altLang="en-US" sz="2400" b="1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？</a:t>
            </a: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2000" b="1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000" b="1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000" b="1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）软件测试的挑战</a:t>
            </a:r>
          </a:p>
          <a:p>
            <a:pPr marL="53975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现代系统软件（如编译器、</a:t>
            </a:r>
            <a:r>
              <a:rPr lang="en-US" altLang="zh-CN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Coreutils</a:t>
            </a:r>
            <a:r>
              <a:rPr lang="zh-CN" altLang="en-US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、系统库）具有复杂控制流、大量边界条件及多样化输入环境；</a:t>
            </a:r>
          </a:p>
          <a:p>
            <a:pPr marL="53975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手工测试与随机测试往往难以覆盖深层路径，容易遗漏关键</a:t>
            </a:r>
            <a:r>
              <a:rPr lang="en-US" altLang="zh-CN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bug</a:t>
            </a:r>
            <a:r>
              <a:rPr lang="zh-CN" altLang="en-US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（2）符号执行的提出</a:t>
            </a: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将输入抽象为符号变量，通过约束描述程序在不同路径上的行为。结合</a:t>
            </a:r>
            <a:r>
              <a:rPr lang="en-US" altLang="zh-CN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SMT solver</a:t>
            </a:r>
            <a:r>
              <a:rPr lang="zh-CN" altLang="en-US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，可自动求解满足路径条件的具体输入，从而探索大量潜在执行路径。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（3）KLEE 诞生的动机</a:t>
            </a:r>
          </a:p>
          <a:p>
            <a:pPr indent="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旨在构建一套自动化、可扩展、高覆盖率的系统软件测试框架。通过动态符号执行，自动探索深层路径，生成高质量测试用例。在</a:t>
            </a:r>
            <a:r>
              <a:rPr lang="en-US" altLang="zh-CN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OSDI 2008 </a:t>
            </a:r>
            <a:r>
              <a:rPr lang="zh-CN" altLang="en-US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的实验中，</a:t>
            </a:r>
            <a:r>
              <a:rPr lang="en-US" altLang="zh-CN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KLEE </a:t>
            </a:r>
            <a:r>
              <a:rPr lang="zh-CN" altLang="en-US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altLang="zh-CN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GNU Coreutils </a:t>
            </a:r>
            <a:r>
              <a:rPr lang="zh-CN" altLang="en-US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上取得极高的覆盖率，并发现多个真实缺陷。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211398" y="388483"/>
            <a:ext cx="9674317" cy="662780"/>
          </a:xfrm>
        </p:spPr>
        <p:txBody>
          <a:bodyPr/>
          <a:lstStyle/>
          <a:p>
            <a:r>
              <a:rPr lang="en-US" altLang="zh-CN">
                <a:sym typeface="+mn-ea"/>
              </a:rPr>
              <a:t>KLEE </a:t>
            </a:r>
            <a:r>
              <a:rPr lang="zh-CN" altLang="en-US">
                <a:sym typeface="+mn-ea"/>
              </a:rPr>
              <a:t>概述</a:t>
            </a:r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397658" y="348776"/>
            <a:ext cx="655413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: 圆角 14"/>
          <p:cNvSpPr/>
          <p:nvPr/>
        </p:nvSpPr>
        <p:spPr>
          <a:xfrm>
            <a:off x="317500" y="1144270"/>
            <a:ext cx="11774170" cy="5639435"/>
          </a:xfrm>
          <a:prstGeom prst="roundRect">
            <a:avLst>
              <a:gd name="adj" fmla="val 5828"/>
            </a:avLst>
          </a:prstGeom>
          <a:solidFill>
            <a:schemeClr val="bg1"/>
          </a:solidFill>
          <a:ln w="15875">
            <a:solidFill>
              <a:schemeClr val="accent1">
                <a:alpha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22910" y="1080135"/>
            <a:ext cx="11614150" cy="56807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二、</a:t>
            </a:r>
            <a:r>
              <a:rPr lang="en-US" altLang="zh-CN" sz="2400" b="1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KLEE </a:t>
            </a:r>
            <a:r>
              <a:rPr lang="zh-CN" altLang="en-US" sz="2400" b="1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是什么：定位与整体目标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000" b="1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000" b="1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）定位</a:t>
            </a:r>
            <a:endParaRPr lang="en-US" altLang="zh-CN" sz="2000" b="1" i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KLEE </a:t>
            </a:r>
            <a:r>
              <a:rPr lang="zh-CN" altLang="en-US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是一个基于</a:t>
            </a:r>
            <a:r>
              <a:rPr lang="en-US" altLang="zh-CN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LLVM </a:t>
            </a:r>
            <a:r>
              <a:rPr lang="zh-CN" altLang="en-US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的动态符号执行引擎。作为符号虚拟机，通过解释执行</a:t>
            </a:r>
            <a:r>
              <a:rPr lang="en-US" altLang="zh-CN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LLVM bitcode </a:t>
            </a:r>
            <a:r>
              <a:rPr lang="zh-CN" altLang="en-US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来分析程序行为。支持将程序输入、文件</a:t>
            </a:r>
            <a:r>
              <a:rPr lang="en-US" altLang="zh-CN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</a:t>
            </a:r>
            <a:r>
              <a:rPr lang="zh-CN" altLang="en-US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、系统调用等环境元素符号化。</a:t>
            </a:r>
            <a:endParaRPr lang="en-US" altLang="zh-CN" sz="2000" i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（2）支持对象与执行基础</a:t>
            </a:r>
          </a:p>
          <a:p>
            <a:pPr marL="53975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</a:pPr>
            <a:r>
              <a:rPr lang="zh-CN" altLang="en-US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面向 LLVM IR（bitcode），通常用于 C/C++ 程序；</a:t>
            </a:r>
            <a:endParaRPr lang="en-US" altLang="zh-CN" sz="2000" i="0"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3975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</a:pPr>
            <a:r>
              <a:rPr lang="en-US" altLang="zh-CN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内置 POSIX / Linux 模拟环境（uClibc、文件系统、fcntl、read/write 等），可</a:t>
            </a:r>
            <a:r>
              <a:rPr lang="zh-CN" altLang="en-US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符号化</a:t>
            </a:r>
            <a:r>
              <a:rPr lang="en-US" altLang="zh-CN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外部</a:t>
            </a:r>
            <a:r>
              <a:rPr lang="zh-CN" altLang="en-US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环境；</a:t>
            </a:r>
          </a:p>
          <a:p>
            <a:pPr marL="53975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</a:pPr>
            <a:r>
              <a:rPr lang="zh-CN" altLang="en-US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 SMT 求解器（STP / Z3）解决路径约束。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000" b="1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（3）核心目标</a:t>
            </a:r>
          </a:p>
          <a:p>
            <a:pPr marL="53975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</a:pPr>
            <a:r>
              <a:rPr lang="zh-CN" altLang="en-US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自动生成高覆盖率测试用例；</a:t>
            </a:r>
          </a:p>
          <a:p>
            <a:pPr marL="53975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</a:pPr>
            <a:r>
              <a:rPr lang="zh-CN" altLang="en-US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系统性探索深层路径, 发现传统方法难以触达的复杂 bug；</a:t>
            </a:r>
          </a:p>
          <a:p>
            <a:pPr marL="539750" indent="-34290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</a:pPr>
            <a:r>
              <a:rPr lang="zh-CN" altLang="en-US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为系统软件、嵌入式软件与安全分析提供可扩展的程序验证与错误检测能力。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211398" y="388483"/>
            <a:ext cx="9674317" cy="662780"/>
          </a:xfrm>
        </p:spPr>
        <p:txBody>
          <a:bodyPr/>
          <a:lstStyle/>
          <a:p>
            <a:r>
              <a:rPr lang="en-US" altLang="zh-CN">
                <a:sym typeface="+mn-ea"/>
              </a:rPr>
              <a:t>KLEE </a:t>
            </a:r>
            <a:r>
              <a:rPr lang="zh-CN" altLang="en-US">
                <a:sym typeface="+mn-ea"/>
              </a:rPr>
              <a:t>概述</a:t>
            </a:r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397658" y="348776"/>
            <a:ext cx="655413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: 圆角 14"/>
          <p:cNvSpPr/>
          <p:nvPr/>
        </p:nvSpPr>
        <p:spPr>
          <a:xfrm>
            <a:off x="263525" y="1268095"/>
            <a:ext cx="6431915" cy="5349875"/>
          </a:xfrm>
          <a:prstGeom prst="roundRect">
            <a:avLst>
              <a:gd name="adj" fmla="val 5828"/>
            </a:avLst>
          </a:prstGeom>
          <a:solidFill>
            <a:schemeClr val="bg1"/>
          </a:solidFill>
          <a:ln w="15875">
            <a:solidFill>
              <a:schemeClr val="accent1">
                <a:alpha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73380" y="1231900"/>
            <a:ext cx="6321425" cy="535051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三、</a:t>
            </a:r>
            <a:r>
              <a:rPr lang="en-US" altLang="zh-CN" sz="2400" b="1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KLEE </a:t>
            </a:r>
            <a:r>
              <a:rPr lang="zh-CN" altLang="en-US" sz="2400" b="1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的核心工作原理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en-US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en-US" sz="2000" b="1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</a:t>
            </a:r>
            <a:r>
              <a:rPr lang="en-US" altLang="zh-CN" sz="2000" b="1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LLVM bitcode </a:t>
            </a:r>
            <a:r>
              <a:rPr lang="zh-CN" altLang="en-US" sz="2000" b="1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</a:t>
            </a:r>
            <a:r>
              <a:rPr lang="zh-CN" altLang="en-US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：将待测</a:t>
            </a:r>
            <a:r>
              <a:rPr lang="en-US" altLang="zh-CN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C/C++ </a:t>
            </a:r>
            <a:r>
              <a:rPr lang="zh-CN" altLang="en-US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程序编译为</a:t>
            </a:r>
            <a:r>
              <a:rPr lang="en-US" altLang="zh-CN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LLVM bitcode</a:t>
            </a:r>
            <a:r>
              <a:rPr lang="zh-CN" altLang="en-US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，由</a:t>
            </a:r>
            <a:r>
              <a:rPr lang="en-US" altLang="zh-CN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KLEE </a:t>
            </a:r>
            <a:r>
              <a:rPr lang="zh-CN" altLang="en-US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逐条解释执行。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en-US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en-US" sz="2000" b="1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 符号执行与路径探索</a:t>
            </a:r>
            <a:r>
              <a:rPr lang="zh-CN" altLang="en-US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：将输入建模为符号变量；遇到分支时生成多条执行路径并维护路径约束；支持符号化的</a:t>
            </a:r>
            <a:r>
              <a:rPr lang="en-US" altLang="zh-CN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POSIX/Linux </a:t>
            </a:r>
            <a:r>
              <a:rPr lang="zh-CN" altLang="en-US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环境（文件系统、系统调用等）。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en-US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en-US" sz="2000" b="1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③ 约束求解与测试生成</a:t>
            </a:r>
            <a:r>
              <a:rPr lang="zh-CN" altLang="en-US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：将路径约束交给</a:t>
            </a:r>
            <a:r>
              <a:rPr lang="en-US" altLang="zh-CN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SMT </a:t>
            </a:r>
            <a:r>
              <a:rPr lang="zh-CN" altLang="en-US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求解器（</a:t>
            </a:r>
            <a:r>
              <a:rPr lang="en-US" altLang="zh-CN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STP / Z3</a:t>
            </a:r>
            <a:r>
              <a:rPr lang="zh-CN" altLang="en-US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）求解，获得具体输入值；自动生成覆盖不同路径的测试用例。</a:t>
            </a:r>
          </a:p>
          <a:p>
            <a:pPr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en-US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en-US" sz="2000" b="1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④ 输出结果</a:t>
            </a:r>
            <a:r>
              <a:rPr lang="zh-CN" altLang="en-US" sz="2000" i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：生成高覆盖率、可复现的测试集，用于错误发现与程序验证。</a:t>
            </a:r>
          </a:p>
        </p:txBody>
      </p:sp>
      <p:pic>
        <p:nvPicPr>
          <p:cNvPr id="5" name="图片 4" descr="klee-ar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230" y="2200910"/>
            <a:ext cx="5364000" cy="348374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288415" y="5855335"/>
            <a:ext cx="237363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KLEE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工作原理流程图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211398" y="388483"/>
            <a:ext cx="9674317" cy="662780"/>
          </a:xfrm>
        </p:spPr>
        <p:txBody>
          <a:bodyPr/>
          <a:lstStyle/>
          <a:p>
            <a:r>
              <a:rPr lang="en-US" altLang="zh-CN">
                <a:sym typeface="+mn-ea"/>
              </a:rPr>
              <a:t>KLEE </a:t>
            </a:r>
            <a:r>
              <a:rPr lang="zh-CN" altLang="en-US">
                <a:sym typeface="+mn-ea"/>
              </a:rPr>
              <a:t>概述</a:t>
            </a:r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397658" y="348776"/>
            <a:ext cx="655413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 descr="Architecture-diagram-for-KLEE-CL (1)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80770" y="1051560"/>
            <a:ext cx="9936000" cy="57161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211398" y="388483"/>
            <a:ext cx="9674317" cy="662780"/>
          </a:xfrm>
        </p:spPr>
        <p:txBody>
          <a:bodyPr/>
          <a:lstStyle/>
          <a:p>
            <a:r>
              <a:rPr lang="en-US" altLang="zh-CN">
                <a:sym typeface="+mn-ea"/>
              </a:rPr>
              <a:t>KLEE </a:t>
            </a:r>
            <a:r>
              <a:rPr lang="zh-CN" altLang="en-US">
                <a:sym typeface="+mn-ea"/>
              </a:rPr>
              <a:t>概述</a:t>
            </a:r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397658" y="348776"/>
            <a:ext cx="655413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1"/>
          <p:cNvSpPr/>
          <p:nvPr/>
        </p:nvSpPr>
        <p:spPr>
          <a:xfrm>
            <a:off x="490220" y="1249045"/>
            <a:ext cx="5419725" cy="5311775"/>
          </a:xfrm>
          <a:prstGeom prst="roundRect">
            <a:avLst>
              <a:gd name="adj" fmla="val 2281"/>
            </a:avLst>
          </a:prstGeom>
          <a:noFill/>
          <a:ln>
            <a:solidFill>
              <a:schemeClr val="accent1">
                <a:alpha val="40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30860" y="1249045"/>
            <a:ext cx="5339080" cy="53117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algn="ctr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优势</a:t>
            </a:r>
          </a:p>
          <a:p>
            <a:pPr indent="0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）高覆盖率测试：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自动探索大量路径，生成高质量、高覆盖率测试用例。</a:t>
            </a:r>
          </a:p>
          <a:p>
            <a:pPr indent="0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）能发现深层缺陷：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符号执行可触达传统测试难覆盖的深层逻辑路径。</a:t>
            </a:r>
          </a:p>
          <a:p>
            <a:pPr indent="0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）支持系统级分析：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符号化文件系统和系统调用，适用于系统工具与库函数。</a:t>
            </a:r>
          </a:p>
          <a:p>
            <a:pPr indent="0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）基于 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LLVM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，易扩展：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LLVM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工具链兼容，便于研究和二次开发。</a:t>
            </a:r>
          </a:p>
          <a:p>
            <a:pPr indent="0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）开源且实践丰富：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应用于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Coreutils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NASA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等真实项目，可靠性高。</a:t>
            </a:r>
          </a:p>
        </p:txBody>
      </p:sp>
      <p:sp>
        <p:nvSpPr>
          <p:cNvPr id="11" name="矩形: 圆角 1"/>
          <p:cNvSpPr/>
          <p:nvPr/>
        </p:nvSpPr>
        <p:spPr>
          <a:xfrm>
            <a:off x="6086475" y="1249045"/>
            <a:ext cx="5419725" cy="5311775"/>
          </a:xfrm>
          <a:prstGeom prst="roundRect">
            <a:avLst>
              <a:gd name="adj" fmla="val 2281"/>
            </a:avLst>
          </a:prstGeom>
          <a:noFill/>
          <a:ln>
            <a:solidFill>
              <a:schemeClr val="accent1">
                <a:alpha val="40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127115" y="1249045"/>
            <a:ext cx="5339080" cy="53117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algn="ctr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局限</a:t>
            </a:r>
          </a:p>
          <a:p>
            <a:pPr indent="0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）路径爆炸严重：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分支多时路径数指数增长，影响可扩展性。</a:t>
            </a:r>
          </a:p>
          <a:p>
            <a:pPr indent="0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（2）约束求解成本高：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复杂表达式会导致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SMT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求解时间过长。</a:t>
            </a:r>
          </a:p>
          <a:p>
            <a:pPr indent="0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（3）环境模型有限：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对线程、网络、特殊硬件等场景支持不足。</a:t>
            </a:r>
          </a:p>
          <a:p>
            <a:pPr indent="0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（4）语言与平台受限：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主要支持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C/C++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LLVM bitcode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，其他语言支持较弱。</a:t>
            </a:r>
          </a:p>
        </p:txBody>
      </p:sp>
      <p:pic>
        <p:nvPicPr>
          <p:cNvPr id="2" name="图片 1" descr="优势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75205" y="1292225"/>
            <a:ext cx="576000" cy="576000"/>
          </a:xfrm>
          <a:prstGeom prst="rect">
            <a:avLst/>
          </a:prstGeom>
        </p:spPr>
      </p:pic>
      <p:pic>
        <p:nvPicPr>
          <p:cNvPr id="3" name="图片 2" descr="劣势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01330" y="1292225"/>
            <a:ext cx="576000" cy="57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211398" y="388483"/>
            <a:ext cx="9674317" cy="662780"/>
          </a:xfrm>
        </p:spPr>
        <p:txBody>
          <a:bodyPr/>
          <a:lstStyle/>
          <a:p>
            <a:r>
              <a:rPr lang="zh-CN" altLang="en-US"/>
              <a:t>测试</a:t>
            </a:r>
            <a:r>
              <a:rPr lang="en-US" altLang="zh-CN"/>
              <a:t> KLEE </a:t>
            </a:r>
            <a:r>
              <a:rPr lang="zh-CN" altLang="en-US"/>
              <a:t>功能：归并排序示例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397658" y="348776"/>
            <a:ext cx="655413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1"/>
          <p:cNvSpPr/>
          <p:nvPr/>
        </p:nvSpPr>
        <p:spPr>
          <a:xfrm>
            <a:off x="490220" y="1249045"/>
            <a:ext cx="11272520" cy="5220335"/>
          </a:xfrm>
          <a:prstGeom prst="roundRect">
            <a:avLst>
              <a:gd name="adj" fmla="val 2281"/>
            </a:avLst>
          </a:prstGeom>
          <a:noFill/>
          <a:ln>
            <a:solidFill>
              <a:schemeClr val="accent1">
                <a:alpha val="40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30860" y="1213485"/>
            <a:ext cx="10973435" cy="52558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2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）示例程序设计</a:t>
            </a:r>
            <a:endParaRPr lang="en-US" altLang="zh-CN" sz="22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C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语言实现归并排序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mergeSort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main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中定义长度为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3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的数组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int arr[3];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klee_make_symbolic(arr, sizeof(arr), "arr")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将数组元素设为符号变量；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klee_assume(arr[i] &gt;= 0 &amp;&amp; arr[i] &lt;= 10)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约束每个元素在【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0,10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】区间；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排序后用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klee_assert(arr[i] &lt;= arr[i+1])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检查数组是否单调不降，从而验证排序正确性。</a:t>
            </a:r>
          </a:p>
          <a:p>
            <a:pPr algn="l" fontAlgn="auto">
              <a:lnSpc>
                <a:spcPct val="150000"/>
              </a:lnSpc>
              <a:spcAft>
                <a:spcPts val="0"/>
              </a:spcAft>
              <a:buClrTx/>
              <a:buSzTx/>
              <a:buFontTx/>
            </a:pP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（2）编译为 LLVM bitcode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clang -I ../../include -emit-llvm -c -g \  -O0 -Xclang -disable-O0-optnone merge.c</a:t>
            </a:r>
          </a:p>
          <a:p>
            <a:pPr marL="539750" indent="-34290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-I ../../include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：让编译器找到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klee/klee.h</a:t>
            </a:r>
          </a:p>
          <a:p>
            <a:pPr marL="539750" indent="-34290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-emit-llvm -c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：只生成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LLVM bitcode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目标文件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merge.bc</a:t>
            </a:r>
          </a:p>
          <a:p>
            <a:pPr marL="539750" indent="-34290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-g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：保留调试信息，便于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KLEE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报告源码位置</a:t>
            </a:r>
          </a:p>
          <a:p>
            <a:pPr marL="539750" indent="-34290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-O0 -Xclang -disable-O0-optnone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：关闭优化，避免影响符号执行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211398" y="388483"/>
            <a:ext cx="9674317" cy="662780"/>
          </a:xfrm>
        </p:spPr>
        <p:txBody>
          <a:bodyPr/>
          <a:lstStyle/>
          <a:p>
            <a:r>
              <a:rPr lang="zh-CN" altLang="en-US"/>
              <a:t>测试</a:t>
            </a:r>
            <a:r>
              <a:rPr lang="en-US" altLang="zh-CN"/>
              <a:t> KLEE </a:t>
            </a:r>
            <a:r>
              <a:rPr lang="zh-CN" altLang="en-US"/>
              <a:t>功能：归并排序示例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397658" y="348776"/>
            <a:ext cx="655413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1"/>
          <p:cNvSpPr/>
          <p:nvPr/>
        </p:nvSpPr>
        <p:spPr>
          <a:xfrm>
            <a:off x="490220" y="1249045"/>
            <a:ext cx="11272520" cy="2508885"/>
          </a:xfrm>
          <a:prstGeom prst="roundRect">
            <a:avLst>
              <a:gd name="adj" fmla="val 2281"/>
            </a:avLst>
          </a:prstGeom>
          <a:noFill/>
          <a:ln>
            <a:solidFill>
              <a:schemeClr val="accent1">
                <a:alpha val="40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30860" y="1213485"/>
            <a:ext cx="10973435" cy="250888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fontAlgn="auto">
              <a:lnSpc>
                <a:spcPct val="150000"/>
              </a:lnSpc>
              <a:spcAft>
                <a:spcPts val="0"/>
              </a:spcAft>
              <a:buClrTx/>
              <a:buSzTx/>
              <a:buFontTx/>
            </a:pP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（3）运行 KLEE 并查看结果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klee merge.bc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total instructions = 1535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completed paths = 6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generated tests = 6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结果含义：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KLEE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探索了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6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条不同的执行路径，为每条路径各生成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个测试用例，且未触发断言失败，说明在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KLEE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覆盖到的输入范围内，归并排序的实现满足排序正确性。</a:t>
            </a:r>
          </a:p>
        </p:txBody>
      </p:sp>
      <p:pic>
        <p:nvPicPr>
          <p:cNvPr id="1686828695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95" y="4050665"/>
            <a:ext cx="11016000" cy="17480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/>
          <p:cNvSpPr txBox="1"/>
          <p:nvPr/>
        </p:nvSpPr>
        <p:spPr>
          <a:xfrm>
            <a:off x="397658" y="348776"/>
            <a:ext cx="655413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1"/>
          <p:cNvSpPr/>
          <p:nvPr/>
        </p:nvSpPr>
        <p:spPr>
          <a:xfrm>
            <a:off x="490220" y="1169035"/>
            <a:ext cx="11272520" cy="2818765"/>
          </a:xfrm>
          <a:prstGeom prst="roundRect">
            <a:avLst>
              <a:gd name="adj" fmla="val 2281"/>
            </a:avLst>
          </a:prstGeom>
          <a:noFill/>
          <a:ln>
            <a:solidFill>
              <a:schemeClr val="accent1">
                <a:alpha val="40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10540" y="1120140"/>
            <a:ext cx="11231880" cy="28498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fontAlgn="auto">
              <a:lnSpc>
                <a:spcPct val="150000"/>
              </a:lnSpc>
              <a:spcAft>
                <a:spcPts val="0"/>
              </a:spcAft>
              <a:buClrTx/>
              <a:buSzTx/>
              <a:buFontTx/>
            </a:pP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（4）反面案例：错误使用 klee_mark_global() 导致 KLEE 崩溃</a:t>
            </a:r>
          </a:p>
          <a:p>
            <a:pPr marL="342900" indent="-34290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在原归并排序示例的基础上，为了演示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KLEE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的错误检测能力，我们故意加入错误：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</a:p>
          <a:p>
            <a:pPr indent="0" algn="ctr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klee_mark_global(arr); </a:t>
            </a:r>
          </a:p>
          <a:p>
            <a:pPr marL="342900" indent="-34290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运行结果：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KLEE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报错并终止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Assertion !mo-&gt;isLocal failed.  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→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KLEE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检测到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klee_mark_global( )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被用于局部对象；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LLVM symbolizer error / abort (core dumped)  </a:t>
            </a:r>
            <a:r>
              <a:rPr lang="en-US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→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程序被立即终止，无法继续符号执行。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1211398" y="388483"/>
            <a:ext cx="9674317" cy="662780"/>
          </a:xfrm>
        </p:spPr>
        <p:txBody>
          <a:bodyPr/>
          <a:lstStyle/>
          <a:p>
            <a:r>
              <a:rPr lang="zh-CN" altLang="en-US"/>
              <a:t>测试</a:t>
            </a:r>
            <a:r>
              <a:rPr lang="en-US" altLang="zh-CN"/>
              <a:t> KLEE </a:t>
            </a:r>
            <a:r>
              <a:rPr lang="zh-CN" altLang="en-US"/>
              <a:t>功能：归并排序示例</a:t>
            </a:r>
          </a:p>
        </p:txBody>
      </p:sp>
      <p:pic>
        <p:nvPicPr>
          <p:cNvPr id="850586466" name="图片 1"/>
          <p:cNvPicPr>
            <a:picLocks noChangeAspect="1"/>
          </p:cNvPicPr>
          <p:nvPr/>
        </p:nvPicPr>
        <p:blipFill>
          <a:blip r:embed="rId4"/>
          <a:srcRect b="1301"/>
          <a:stretch>
            <a:fillRect/>
          </a:stretch>
        </p:blipFill>
        <p:spPr>
          <a:xfrm>
            <a:off x="510540" y="4032250"/>
            <a:ext cx="6216015" cy="2667635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6803390" y="4102100"/>
            <a:ext cx="4959350" cy="2521585"/>
            <a:chOff x="10714" y="6476"/>
            <a:chExt cx="7810" cy="3971"/>
          </a:xfrm>
        </p:grpSpPr>
        <p:sp>
          <p:nvSpPr>
            <p:cNvPr id="39" name="矩形: 圆顶角 38"/>
            <p:cNvSpPr/>
            <p:nvPr>
              <p:custDataLst>
                <p:tags r:id="rId1"/>
              </p:custDataLst>
            </p:nvPr>
          </p:nvSpPr>
          <p:spPr>
            <a:xfrm>
              <a:off x="10714" y="6476"/>
              <a:ext cx="7810" cy="3971"/>
            </a:xfrm>
            <a:prstGeom prst="round2SameRect">
              <a:avLst>
                <a:gd name="adj1" fmla="val 6772"/>
                <a:gd name="adj2" fmla="val 0"/>
              </a:avLst>
            </a:prstGeom>
            <a:solidFill>
              <a:schemeClr val="accent1">
                <a:alpha val="10000"/>
              </a:schemeClr>
            </a:solidFill>
            <a:ln w="1016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10731" y="6572"/>
              <a:ext cx="7777" cy="3779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indent="0" algn="just" fontAlgn="auto">
                <a:lnSpc>
                  <a:spcPct val="150000"/>
                </a:lnSpc>
                <a:spcAft>
                  <a:spcPts val="0"/>
                </a:spcAft>
                <a:buFont typeface="Wingdings" panose="05000000000000000000" charset="0"/>
                <a:buNone/>
              </a:pPr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   </a:t>
              </a:r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原因分析：</a:t>
              </a:r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klee_mark_global( ) </a:t>
              </a:r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仅适用于静态区或全局区的对象，用它标记局部变量会破坏</a:t>
              </a:r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KLEE </a:t>
              </a:r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内部</a:t>
              </a:r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MemoryObject </a:t>
              </a:r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的一致性，</a:t>
              </a:r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KLEE </a:t>
              </a:r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检测到异常后即刻中止运行，防止错误传播。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/>
          <p:cNvSpPr txBox="1"/>
          <p:nvPr/>
        </p:nvSpPr>
        <p:spPr>
          <a:xfrm>
            <a:off x="397658" y="348776"/>
            <a:ext cx="655413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5" name="矩形: 圆角 1"/>
          <p:cNvSpPr/>
          <p:nvPr/>
        </p:nvSpPr>
        <p:spPr>
          <a:xfrm>
            <a:off x="490220" y="1363345"/>
            <a:ext cx="11272520" cy="4748530"/>
          </a:xfrm>
          <a:prstGeom prst="roundRect">
            <a:avLst>
              <a:gd name="adj" fmla="val 2281"/>
            </a:avLst>
          </a:prstGeom>
          <a:noFill/>
          <a:ln>
            <a:solidFill>
              <a:schemeClr val="accent1">
                <a:alpha val="40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10540" y="1314450"/>
            <a:ext cx="11231880" cy="47974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 fontAlgn="auto">
              <a:lnSpc>
                <a:spcPct val="150000"/>
              </a:lnSpc>
              <a:spcAft>
                <a:spcPts val="0"/>
              </a:spcAft>
              <a:buClrTx/>
              <a:buSzTx/>
              <a:buFontTx/>
            </a:pP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（1）问题背景：基于《森林冰火人》机制的迷宫协作模型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程序中存在两个角色：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两位角色需要协作完成关卡，并最终分别到达自己的出口才能成功。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为了成功通关，角色必须满足以下条件：两名角色必须安全地在迷宫中移动；不能触碰对应的死亡区域（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W/f/g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）；至少一名角色需要先触碰开关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，才能打开大门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；只有在机关已激活的情况下，另一角色才能穿过大门；最终白火人到达出口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，冰人到达出口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，关卡才算成功。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1211398" y="388483"/>
            <a:ext cx="9674317" cy="662780"/>
          </a:xfrm>
        </p:spPr>
        <p:txBody>
          <a:bodyPr/>
          <a:lstStyle/>
          <a:p>
            <a:r>
              <a:rPr lang="zh-CN" altLang="en-US"/>
              <a:t>一个具有协作约束的迷宫闯关程序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08605" y="2444115"/>
            <a:ext cx="6480000" cy="13993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/>
          <p:cNvSpPr txBox="1"/>
          <p:nvPr/>
        </p:nvSpPr>
        <p:spPr>
          <a:xfrm>
            <a:off x="397658" y="348776"/>
            <a:ext cx="655413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39115" y="1257300"/>
            <a:ext cx="6179185" cy="54362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游戏环境由一个二维迷宫组成，包含多种交互元素：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1211398" y="388483"/>
            <a:ext cx="9674317" cy="662780"/>
          </a:xfrm>
        </p:spPr>
        <p:txBody>
          <a:bodyPr/>
          <a:lstStyle/>
          <a:p>
            <a:r>
              <a:rPr lang="zh-CN" altLang="en-US"/>
              <a:t>一个具有协作约束的迷宫闯关程序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134" y="1948448"/>
            <a:ext cx="5148000" cy="3779604"/>
          </a:xfrm>
          <a:prstGeom prst="rect">
            <a:avLst/>
          </a:prstGeom>
        </p:spPr>
      </p:pic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036003" y="1927225"/>
          <a:ext cx="5185410" cy="4089400"/>
        </p:xfrm>
        <a:graphic>
          <a:graphicData uri="http://schemas.openxmlformats.org/drawingml/2006/table">
            <a:tbl>
              <a:tblPr firstRow="1">
                <a:tableStyleId>{349B392A-4DE0-4B6B-B5FE-0A119BDBA036}</a:tableStyleId>
              </a:tblPr>
              <a:tblGrid>
                <a:gridCol w="807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77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686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 b="1" spc="12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符号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 b="1" spc="12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含义</a:t>
                      </a: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8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 b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F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 b="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火人起点</a:t>
                      </a: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 b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 b="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冰人出口</a:t>
                      </a: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 b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 b="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火人出口</a:t>
                      </a: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8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 b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R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 b="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红钻（火人收集）</a:t>
                      </a: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 b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B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 b="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蓝钻（冰人收集）</a:t>
                      </a: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 b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S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 b="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开关，一旦踩下将永久开启机关</a:t>
                      </a: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 b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D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 b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门 </a:t>
                      </a:r>
                      <a:r>
                        <a:rPr lang="en-US" altLang="zh-CN" sz="1800" b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—— </a:t>
                      </a:r>
                      <a:r>
                        <a:rPr lang="zh-CN" altLang="en-US" sz="1800" b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只有当开关 </a:t>
                      </a:r>
                      <a:r>
                        <a:rPr lang="en-US" altLang="zh-CN" sz="1800" b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S </a:t>
                      </a:r>
                      <a:r>
                        <a:rPr lang="zh-CN" altLang="en-US" sz="1800" b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被触发后才能通过</a:t>
                      </a: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68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 b="0" dirty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W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 b="0" dirty="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水池（火人死亡）</a:t>
                      </a: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 b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f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 b="0" dirty="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火池（冰人死亡）</a:t>
                      </a: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 b="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g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 b="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绿色毒液（角色均死亡）</a:t>
                      </a: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 b="0" spc="12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.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 b="0" spc="12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可通行区域</a:t>
                      </a: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800" b="0" spc="12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#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 b="0" spc="120" dirty="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墙体</a:t>
                      </a: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矩形: 圆角 1"/>
          <p:cNvSpPr/>
          <p:nvPr/>
        </p:nvSpPr>
        <p:spPr>
          <a:xfrm>
            <a:off x="579120" y="1320165"/>
            <a:ext cx="6099175" cy="5220335"/>
          </a:xfrm>
          <a:prstGeom prst="roundRect">
            <a:avLst>
              <a:gd name="adj" fmla="val 2281"/>
            </a:avLst>
          </a:prstGeom>
          <a:noFill/>
          <a:ln>
            <a:solidFill>
              <a:schemeClr val="accent1">
                <a:alpha val="40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/>
          <p:cNvSpPr txBox="1"/>
          <p:nvPr/>
        </p:nvSpPr>
        <p:spPr>
          <a:xfrm>
            <a:off x="397658" y="348776"/>
            <a:ext cx="655413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5" name="矩形: 圆角 1"/>
          <p:cNvSpPr/>
          <p:nvPr/>
        </p:nvSpPr>
        <p:spPr>
          <a:xfrm>
            <a:off x="490220" y="1195705"/>
            <a:ext cx="11470005" cy="5240655"/>
          </a:xfrm>
          <a:prstGeom prst="roundRect">
            <a:avLst>
              <a:gd name="adj" fmla="val 2281"/>
            </a:avLst>
          </a:prstGeom>
          <a:noFill/>
          <a:ln>
            <a:solidFill>
              <a:schemeClr val="accent1">
                <a:alpha val="40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10540" y="1146810"/>
            <a:ext cx="11450320" cy="52285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与一般单人线路式程序不同，这个案例具备：双角色状态（路径组合指数级增长）、环境条件依赖（如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开关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→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开门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→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）、死亡判定与非法状态回溯、成功条件依赖路径顺序，而非单一结果。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代码中每一次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移动决策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，都可能导致：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1211398" y="388483"/>
            <a:ext cx="9674317" cy="662780"/>
          </a:xfrm>
        </p:spPr>
        <p:txBody>
          <a:bodyPr/>
          <a:lstStyle/>
          <a:p>
            <a:r>
              <a:rPr lang="zh-CN" altLang="en-US"/>
              <a:t>一个具有协作约束的迷宫闯关程序</a:t>
            </a: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947420" y="2710180"/>
          <a:ext cx="4079240" cy="3425825"/>
        </p:xfrm>
        <a:graphic>
          <a:graphicData uri="http://schemas.openxmlformats.org/drawingml/2006/table">
            <a:tbl>
              <a:tblPr firstRow="1">
                <a:tableStyleId>{7A31EFBF-73E7-4715-97E1-24C57E64FEB9}</a:tableStyleId>
              </a:tblPr>
              <a:tblGrid>
                <a:gridCol w="1624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16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 spc="6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结果类型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 spc="6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含义</a:t>
                      </a: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16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合法继续路径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 dirty="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继续探索迷宫</a:t>
                      </a: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16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分支锁死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无法前进、死循环风险</a:t>
                      </a: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16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失败路径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角色死亡或门未开启</a:t>
                      </a: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16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成功路径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 dirty="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满足规则并到达出口</a:t>
                      </a: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5610860" y="2840355"/>
            <a:ext cx="6090920" cy="3089910"/>
            <a:chOff x="10714" y="6476"/>
            <a:chExt cx="9592" cy="3971"/>
          </a:xfrm>
        </p:grpSpPr>
        <p:sp>
          <p:nvSpPr>
            <p:cNvPr id="39" name="矩形: 圆顶角 38"/>
            <p:cNvSpPr/>
            <p:nvPr>
              <p:custDataLst>
                <p:tags r:id="rId2"/>
              </p:custDataLst>
            </p:nvPr>
          </p:nvSpPr>
          <p:spPr>
            <a:xfrm>
              <a:off x="10714" y="6476"/>
              <a:ext cx="9592" cy="3971"/>
            </a:xfrm>
            <a:prstGeom prst="round2SameRect">
              <a:avLst>
                <a:gd name="adj1" fmla="val 6772"/>
                <a:gd name="adj2" fmla="val 0"/>
              </a:avLst>
            </a:prstGeom>
            <a:solidFill>
              <a:schemeClr val="accent1">
                <a:alpha val="10000"/>
              </a:schemeClr>
            </a:solidFill>
            <a:ln w="1016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0731" y="6572"/>
              <a:ext cx="9520" cy="3875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indent="0" algn="just" fontAlgn="auto">
                <a:lnSpc>
                  <a:spcPct val="150000"/>
                </a:lnSpc>
                <a:spcAft>
                  <a:spcPts val="0"/>
                </a:spcAft>
                <a:buFont typeface="Wingdings" panose="05000000000000000000" charset="0"/>
                <a:buNone/>
              </a:pP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   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本实验目的：通过将角色移动输入抽象为符号变量，并利用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 KLEE 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自动探索所有可能路径，我们希望自动回答：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marL="342900" indent="-342900" algn="just" fontAlgn="auto">
                <a:lnSpc>
                  <a:spcPct val="150000"/>
                </a:lnSpc>
                <a:spcAft>
                  <a:spcPts val="0"/>
                </a:spcAft>
                <a:buFont typeface="Wingdings" panose="05000000000000000000" charset="0"/>
                <a:buChar char="Ø"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在给定步数限制内，是否存在一条能够成功通关的指令序列？</a:t>
              </a:r>
            </a:p>
            <a:p>
              <a:pPr marL="342900" indent="-342900" algn="just" fontAlgn="auto">
                <a:lnSpc>
                  <a:spcPct val="150000"/>
                </a:lnSpc>
                <a:spcAft>
                  <a:spcPts val="0"/>
                </a:spcAft>
                <a:buFont typeface="Wingdings" panose="05000000000000000000" charset="0"/>
                <a:buChar char="Ø"/>
              </a:pP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如果存在，</a:t>
              </a:r>
              <a:r>
                <a: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KLEE 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能否自动生成输入示例？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/>
          <p:cNvSpPr txBox="1"/>
          <p:nvPr/>
        </p:nvSpPr>
        <p:spPr>
          <a:xfrm>
            <a:off x="397658" y="348776"/>
            <a:ext cx="655413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5" name="矩形: 圆角 1"/>
          <p:cNvSpPr/>
          <p:nvPr/>
        </p:nvSpPr>
        <p:spPr>
          <a:xfrm>
            <a:off x="490220" y="1363345"/>
            <a:ext cx="11272520" cy="4748530"/>
          </a:xfrm>
          <a:prstGeom prst="roundRect">
            <a:avLst>
              <a:gd name="adj" fmla="val 2281"/>
            </a:avLst>
          </a:prstGeom>
          <a:noFill/>
          <a:ln>
            <a:solidFill>
              <a:schemeClr val="accent1">
                <a:alpha val="40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10540" y="1314450"/>
            <a:ext cx="11231880" cy="64452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  <a:buClrTx/>
              <a:buSzTx/>
              <a:buFontTx/>
            </a:pP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（2）原程序模型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1211398" y="388483"/>
            <a:ext cx="9674317" cy="662780"/>
          </a:xfrm>
        </p:spPr>
        <p:txBody>
          <a:bodyPr/>
          <a:lstStyle/>
          <a:p>
            <a:r>
              <a:rPr lang="zh-CN" altLang="en-US"/>
              <a:t>一个具有协作约束的迷宫闯关程序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b="13268"/>
          <a:stretch>
            <a:fillRect/>
          </a:stretch>
        </p:blipFill>
        <p:spPr>
          <a:xfrm>
            <a:off x="6090920" y="3741420"/>
            <a:ext cx="4572635" cy="168529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6048375" y="2112010"/>
            <a:ext cx="5694045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  <a:buClrTx/>
              <a:buSzTx/>
              <a:buFont typeface="Wingdings" panose="05000000000000000000" charset="0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路径状态爆炸：同时产生了2万多个执行状态，内存直接被打满</a:t>
            </a:r>
          </a:p>
          <a:p>
            <a:pPr algn="just">
              <a:lnSpc>
                <a:spcPct val="150000"/>
              </a:lnSpc>
              <a:spcAft>
                <a:spcPts val="0"/>
              </a:spcAft>
              <a:buClrTx/>
              <a:buSzTx/>
              <a:buFont typeface="Wingdings" panose="05000000000000000000" charset="0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KLEE 被迫疯狂杀状态 ➜ 最终卡死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350" y="2112010"/>
            <a:ext cx="5220000" cy="33144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/>
          <p:cNvSpPr txBox="1"/>
          <p:nvPr/>
        </p:nvSpPr>
        <p:spPr>
          <a:xfrm>
            <a:off x="397658" y="348776"/>
            <a:ext cx="655413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5" name="矩形: 圆角 1"/>
          <p:cNvSpPr/>
          <p:nvPr/>
        </p:nvSpPr>
        <p:spPr>
          <a:xfrm>
            <a:off x="687070" y="1475105"/>
            <a:ext cx="10663555" cy="4301490"/>
          </a:xfrm>
          <a:prstGeom prst="roundRect">
            <a:avLst>
              <a:gd name="adj" fmla="val 2281"/>
            </a:avLst>
          </a:prstGeom>
          <a:noFill/>
          <a:ln>
            <a:solidFill>
              <a:schemeClr val="accent1">
                <a:alpha val="40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 descr="7b0a202020202262756c6c6574223a20227b5c2263617465676f727949645c223a5c225c222c5c2274656d706c61746549645c223a32303233313639367d220a7d0a"/>
          <p:cNvSpPr txBox="1"/>
          <p:nvPr/>
        </p:nvSpPr>
        <p:spPr>
          <a:xfrm>
            <a:off x="707390" y="1426210"/>
            <a:ext cx="10642600" cy="435102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（3）优化程序模型与代码结构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状态表示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地图：二维字符数组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const char map[H][W] = { "#########", "#F.S.2###", "#1.DI###", "#########" };</a:t>
            </a:r>
          </a:p>
          <a:p>
            <a:pPr marL="342900" indent="-34290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角色位置：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int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fx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fy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 // Fire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坐标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int ix,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iy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 // Ice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坐标</a:t>
            </a:r>
          </a:p>
          <a:p>
            <a:pPr marL="342900" indent="-34290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环境开关：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int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switch_on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0; //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开关是否已被触发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代码中所有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格子含义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（墙、门、出口）都通过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map[y][x]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的字符来区分。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1211398" y="388483"/>
            <a:ext cx="9674317" cy="662780"/>
          </a:xfrm>
        </p:spPr>
        <p:txBody>
          <a:bodyPr/>
          <a:lstStyle/>
          <a:p>
            <a:r>
              <a:rPr lang="zh-CN" altLang="en-US"/>
              <a:t>一个具有协作约束的迷宫闯关程序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/>
          <p:cNvSpPr txBox="1"/>
          <p:nvPr/>
        </p:nvSpPr>
        <p:spPr>
          <a:xfrm>
            <a:off x="397658" y="348776"/>
            <a:ext cx="655413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5" name="矩形: 圆角 1"/>
          <p:cNvSpPr/>
          <p:nvPr/>
        </p:nvSpPr>
        <p:spPr>
          <a:xfrm>
            <a:off x="612140" y="1406208"/>
            <a:ext cx="10967720" cy="3997325"/>
          </a:xfrm>
          <a:prstGeom prst="roundRect">
            <a:avLst>
              <a:gd name="adj" fmla="val 2281"/>
            </a:avLst>
          </a:prstGeom>
          <a:noFill/>
          <a:ln>
            <a:solidFill>
              <a:schemeClr val="accent1">
                <a:alpha val="40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 descr="7b0a202020202262756c6c6574223a20227b5c2263617465676f727949645c223a5c225c222c5c2274656d706c61746549645c223a32303233313639367d220a7d0a"/>
          <p:cNvSpPr txBox="1"/>
          <p:nvPr/>
        </p:nvSpPr>
        <p:spPr>
          <a:xfrm>
            <a:off x="622300" y="1416050"/>
            <a:ext cx="10947400" cy="39154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（3）优化程序模型与代码结构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动作输入的符号化</a:t>
            </a:r>
          </a:p>
          <a:p>
            <a:pPr marL="342900" indent="-34290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每一步只决定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谁动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 = Fire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向右走一步，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 = Ice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向左走一步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KLEE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将整条操作序列建模为符号数组：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unsigned char moves[STEPS];   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klee_make_symbolic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(moves,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sizeof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(moves), "moves");</a:t>
            </a:r>
          </a:p>
          <a:p>
            <a:pPr marL="342900" indent="-34290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用约束限制取值范围，避免无效输入：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klee_assume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(moves[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 == 0 || moves[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 == 1);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KLEE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实际搜索的是：所有长度为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STEPS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的二进制串，哪一串能让两人成功通关。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1211398" y="388483"/>
            <a:ext cx="9674317" cy="662780"/>
          </a:xfrm>
        </p:spPr>
        <p:txBody>
          <a:bodyPr/>
          <a:lstStyle/>
          <a:p>
            <a:r>
              <a:rPr lang="zh-CN" altLang="en-US"/>
              <a:t>一个具有协作约束的迷宫闯关程序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/>
          <p:cNvSpPr txBox="1"/>
          <p:nvPr/>
        </p:nvSpPr>
        <p:spPr>
          <a:xfrm>
            <a:off x="397658" y="348776"/>
            <a:ext cx="655413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5" name="矩形: 圆角 1"/>
          <p:cNvSpPr/>
          <p:nvPr/>
        </p:nvSpPr>
        <p:spPr>
          <a:xfrm>
            <a:off x="497840" y="1219200"/>
            <a:ext cx="11205845" cy="5302250"/>
          </a:xfrm>
          <a:prstGeom prst="roundRect">
            <a:avLst>
              <a:gd name="adj" fmla="val 2281"/>
            </a:avLst>
          </a:prstGeom>
          <a:noFill/>
          <a:ln>
            <a:solidFill>
              <a:schemeClr val="accent1">
                <a:alpha val="40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 descr="7b0a202020202262756c6c6574223a20227b5c2263617465676f727949645c223a5c225c222c5c2274656d706c61746549645c223a32303233313639367d220a7d0a"/>
          <p:cNvSpPr txBox="1"/>
          <p:nvPr/>
        </p:nvSpPr>
        <p:spPr>
          <a:xfrm>
            <a:off x="503238" y="1239838"/>
            <a:ext cx="11195050" cy="52609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（3）优化程序模型与代码结构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③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规则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→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约束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/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断言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位置更新：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if (m == 0)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fx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++;   // Fire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右移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else ix--;   // Ice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左移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边界与墙体：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klee_assert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fx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&gt;= 0 &amp;&amp;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fx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&lt; W &amp;&amp;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fy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&gt;= 0 &amp;&amp;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fy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&lt; H);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klee_assert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(map[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fy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][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fx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 != '#');   //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撞墙路径被剪枝</a:t>
            </a:r>
          </a:p>
          <a:p>
            <a:pPr marL="342900" indent="-34290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开关与门：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if (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fcell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== 'S' ||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icell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== 'S')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switch_on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1;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if (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fcell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== 'D' ||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icell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== 'D')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klee_assert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switch_on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);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不合法走法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（越界、撞墙、没开门就过门）都会触发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klee_assert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，被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KLEE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自动丢弃。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1211398" y="388483"/>
            <a:ext cx="9674317" cy="662780"/>
          </a:xfrm>
        </p:spPr>
        <p:txBody>
          <a:bodyPr/>
          <a:lstStyle/>
          <a:p>
            <a:r>
              <a:rPr lang="zh-CN" altLang="en-US"/>
              <a:t>一个具有协作约束的迷宫闯关程序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/>
          <p:cNvSpPr txBox="1"/>
          <p:nvPr/>
        </p:nvSpPr>
        <p:spPr>
          <a:xfrm>
            <a:off x="397658" y="348776"/>
            <a:ext cx="655413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5" name="矩形: 圆角 1"/>
          <p:cNvSpPr/>
          <p:nvPr/>
        </p:nvSpPr>
        <p:spPr>
          <a:xfrm>
            <a:off x="497840" y="1391920"/>
            <a:ext cx="11205845" cy="4343400"/>
          </a:xfrm>
          <a:prstGeom prst="roundRect">
            <a:avLst>
              <a:gd name="adj" fmla="val 2281"/>
            </a:avLst>
          </a:prstGeom>
          <a:noFill/>
          <a:ln>
            <a:solidFill>
              <a:schemeClr val="accent1">
                <a:alpha val="40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 descr="7b0a202020202262756c6c6574223a20227b5c2263617465676f727949645c223a5c225c222c5c2274656d706c61746549645c223a32303233313639367d220a7d0a"/>
          <p:cNvSpPr txBox="1"/>
          <p:nvPr/>
        </p:nvSpPr>
        <p:spPr>
          <a:xfrm>
            <a:off x="526098" y="1391920"/>
            <a:ext cx="11149330" cy="42811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（3）优化程序模型与代码结构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④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通关条件</a:t>
            </a:r>
          </a:p>
          <a:p>
            <a:pPr marL="342900" indent="-34290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成功路径判定：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if (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switch_on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&amp;&amp;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fcell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== '2' &amp;&amp;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icell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== '1')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return 0;   //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找到一条可行解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其它路径在循环结束后统一：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klee_assert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(0 &amp;&amp; "level not solved");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KLEE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来说，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能否到达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return 0”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就是一个可达性问题；若可达，它会自动给出一组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moves[]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作为通关输入示例。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1211398" y="388483"/>
            <a:ext cx="9674317" cy="662780"/>
          </a:xfrm>
        </p:spPr>
        <p:txBody>
          <a:bodyPr/>
          <a:lstStyle/>
          <a:p>
            <a:r>
              <a:rPr lang="zh-CN" altLang="en-US"/>
              <a:t>一个具有协作约束的迷宫闯关程序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/>
          <p:cNvSpPr txBox="1"/>
          <p:nvPr/>
        </p:nvSpPr>
        <p:spPr>
          <a:xfrm>
            <a:off x="397658" y="348776"/>
            <a:ext cx="655413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5" name="矩形: 圆角 1"/>
          <p:cNvSpPr/>
          <p:nvPr/>
        </p:nvSpPr>
        <p:spPr>
          <a:xfrm>
            <a:off x="497840" y="1417320"/>
            <a:ext cx="11205845" cy="4438650"/>
          </a:xfrm>
          <a:prstGeom prst="roundRect">
            <a:avLst>
              <a:gd name="adj" fmla="val 2281"/>
            </a:avLst>
          </a:prstGeom>
          <a:noFill/>
          <a:ln>
            <a:solidFill>
              <a:schemeClr val="accent1">
                <a:alpha val="40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 descr="7b0a202020202262756c6c6574223a20227b5c2263617465676f727949645c223a5c225c222c5c2274656d706c61746549645c223a32303233313639367d220a7d0a"/>
          <p:cNvSpPr txBox="1"/>
          <p:nvPr/>
        </p:nvSpPr>
        <p:spPr>
          <a:xfrm>
            <a:off x="526415" y="1426210"/>
            <a:ext cx="11177270" cy="43681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（4）KLEE 测试流程与符号执行思路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整体流程</a:t>
            </a:r>
          </a:p>
          <a:p>
            <a:pPr marL="342900" indent="-34290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Step 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：源码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→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LLVM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Bitcode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clang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编译为中间表示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.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clang -I /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klee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/include -emit-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llvm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-c -g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fire_ice_klee.c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-o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fire_ice_klee.bc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Step 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KLEE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符号执行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载入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bitcode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，自动探索所有可能的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moves[]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取值：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klee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--search=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dfs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fire_ice_klee.bc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Step 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：结果输出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每条可行路径生成一个测试用例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testXXXX.ktest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，统计信息保存在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run.stats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/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run.istats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None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1211398" y="388483"/>
            <a:ext cx="9674317" cy="662780"/>
          </a:xfrm>
        </p:spPr>
        <p:txBody>
          <a:bodyPr/>
          <a:lstStyle/>
          <a:p>
            <a:r>
              <a:rPr lang="zh-CN" altLang="en-US"/>
              <a:t>一个具有协作约束的迷宫闯关程序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/>
          <p:cNvSpPr txBox="1"/>
          <p:nvPr/>
        </p:nvSpPr>
        <p:spPr>
          <a:xfrm>
            <a:off x="397658" y="348776"/>
            <a:ext cx="655413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5" name="矩形: 圆角 1"/>
          <p:cNvSpPr/>
          <p:nvPr/>
        </p:nvSpPr>
        <p:spPr>
          <a:xfrm>
            <a:off x="497840" y="1417320"/>
            <a:ext cx="11205845" cy="4438650"/>
          </a:xfrm>
          <a:prstGeom prst="roundRect">
            <a:avLst>
              <a:gd name="adj" fmla="val 2281"/>
            </a:avLst>
          </a:prstGeom>
          <a:noFill/>
          <a:ln>
            <a:solidFill>
              <a:schemeClr val="accent1">
                <a:alpha val="40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 descr="7b0a202020202262756c6c6574223a20227b5c2263617465676f727949645c223a5c225c222c5c2274656d706c61746549645c223a32303233313639367d220a7d0a"/>
          <p:cNvSpPr txBox="1"/>
          <p:nvPr/>
        </p:nvSpPr>
        <p:spPr>
          <a:xfrm>
            <a:off x="526415" y="1448435"/>
            <a:ext cx="11177270" cy="43681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（4）KLEE 测试流程与符号执行思路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符号执行的含义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moves[0…STEPS-1]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设为符号变量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对每条路径执行：</a:t>
            </a:r>
          </a:p>
          <a:p>
            <a:pPr marL="342900" indent="-34290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更新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Fire / Ice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位置与开关状态</a:t>
            </a:r>
          </a:p>
          <a:p>
            <a:pPr marL="342900" indent="-34290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遇到：撞墙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/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死亡区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/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未开门却过门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→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klee_assert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剪枝</a:t>
            </a:r>
          </a:p>
          <a:p>
            <a:pPr marL="342900" indent="-342900" algn="l" fontAlgn="auto">
              <a:lnSpc>
                <a:spcPct val="150000"/>
              </a:lnSpc>
              <a:spcAft>
                <a:spcPts val="0"/>
              </a:spcAft>
              <a:buFont typeface="Wingdings" panose="05000000000000000000" charset="0"/>
              <a:buChar char="l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满足：开关已开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＋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Fire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在出口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＋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Ice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在出口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 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→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记录为成功路径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1211398" y="388483"/>
            <a:ext cx="9674317" cy="662780"/>
          </a:xfrm>
        </p:spPr>
        <p:txBody>
          <a:bodyPr/>
          <a:lstStyle/>
          <a:p>
            <a:r>
              <a:rPr lang="zh-CN" altLang="en-US"/>
              <a:t>一个具有协作约束的迷宫闯关程序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/>
          <p:cNvSpPr txBox="1"/>
          <p:nvPr/>
        </p:nvSpPr>
        <p:spPr>
          <a:xfrm>
            <a:off x="397658" y="348776"/>
            <a:ext cx="655413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5" name="矩形: 圆角 1"/>
          <p:cNvSpPr/>
          <p:nvPr/>
        </p:nvSpPr>
        <p:spPr>
          <a:xfrm>
            <a:off x="497840" y="1214755"/>
            <a:ext cx="11205845" cy="3750945"/>
          </a:xfrm>
          <a:prstGeom prst="roundRect">
            <a:avLst>
              <a:gd name="adj" fmla="val 2281"/>
            </a:avLst>
          </a:prstGeom>
          <a:noFill/>
          <a:ln>
            <a:solidFill>
              <a:schemeClr val="accent1">
                <a:alpha val="40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 descr="7b0a202020202262756c6c6574223a20227b5c2263617465676f727949645c223a5c225c222c5c2274656d706c61746549645c223a32303233313639367d220a7d0a"/>
          <p:cNvSpPr txBox="1"/>
          <p:nvPr/>
        </p:nvSpPr>
        <p:spPr>
          <a:xfrm>
            <a:off x="526415" y="1179195"/>
            <a:ext cx="11177270" cy="372872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（5）实验结果——KLEE 自动生成通关路径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ktest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-tool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输出说明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test000001.ktest 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对象个数：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num objects = 1 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对象名称：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name: "moves"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长度：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size: 8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（共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8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步）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data: b'\x01\x00\x00\x00\x01\x00\x00\x00'    ——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这表示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KLEE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给出了一条长度为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8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的动作序列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moves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数组的含义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moves[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 ∈ {0, 1}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，由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KLEE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自动求解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约定编码：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Fire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（火人）向右移动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格，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Ice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（冰人）向左移动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格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1211398" y="388483"/>
            <a:ext cx="9674317" cy="662780"/>
          </a:xfrm>
        </p:spPr>
        <p:txBody>
          <a:bodyPr/>
          <a:lstStyle/>
          <a:p>
            <a:r>
              <a:rPr lang="zh-CN" altLang="en-US"/>
              <a:t>一个具有协作约束的迷宫闯关程序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t="3044" b="809"/>
          <a:stretch>
            <a:fillRect/>
          </a:stretch>
        </p:blipFill>
        <p:spPr>
          <a:xfrm>
            <a:off x="2089150" y="5035550"/>
            <a:ext cx="7920000" cy="172444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/>
          <p:cNvSpPr txBox="1"/>
          <p:nvPr/>
        </p:nvSpPr>
        <p:spPr>
          <a:xfrm>
            <a:off x="397658" y="348776"/>
            <a:ext cx="655413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5" name="矩形: 圆角 1"/>
          <p:cNvSpPr/>
          <p:nvPr/>
        </p:nvSpPr>
        <p:spPr>
          <a:xfrm>
            <a:off x="497840" y="1237615"/>
            <a:ext cx="11205845" cy="5307330"/>
          </a:xfrm>
          <a:prstGeom prst="roundRect">
            <a:avLst>
              <a:gd name="adj" fmla="val 2281"/>
            </a:avLst>
          </a:prstGeom>
          <a:noFill/>
          <a:ln>
            <a:solidFill>
              <a:schemeClr val="accent1">
                <a:alpha val="40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1211398" y="388483"/>
            <a:ext cx="9674317" cy="662780"/>
          </a:xfrm>
        </p:spPr>
        <p:txBody>
          <a:bodyPr/>
          <a:lstStyle/>
          <a:p>
            <a:r>
              <a:rPr lang="zh-CN" altLang="en-US"/>
              <a:t>一个具有协作约束的迷宫闯关程序</a:t>
            </a: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211580" y="2839085"/>
          <a:ext cx="4598670" cy="3576955"/>
        </p:xfrm>
        <a:graphic>
          <a:graphicData uri="http://schemas.openxmlformats.org/drawingml/2006/table">
            <a:tbl>
              <a:tblPr firstRow="1">
                <a:tableStyleId>{BB5C0C3C-297D-4B6C-B1F4-6D4792D39178}</a:tableStyleId>
              </a:tblPr>
              <a:tblGrid>
                <a:gridCol w="1153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3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4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2000" spc="6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步骤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 spc="6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moves[i]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2000" spc="6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执行动作</a:t>
                      </a: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Ice </a:t>
                      </a:r>
                      <a:r>
                        <a:rPr lang="zh-CN" altLang="en-US" sz="2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向左一步</a:t>
                      </a: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941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Fire </a:t>
                      </a:r>
                      <a:r>
                        <a:rPr lang="zh-CN" altLang="en-US" sz="2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向右一步</a:t>
                      </a: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941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3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Fire </a:t>
                      </a:r>
                      <a:r>
                        <a:rPr lang="zh-CN" altLang="en-US" sz="2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向右一步</a:t>
                      </a: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68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4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Fire </a:t>
                      </a:r>
                      <a:r>
                        <a:rPr lang="zh-CN" altLang="en-US" sz="2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向右一步</a:t>
                      </a: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941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5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1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Ice </a:t>
                      </a:r>
                      <a:r>
                        <a:rPr lang="zh-CN" altLang="en-US" sz="2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向左一步</a:t>
                      </a: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6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Fire </a:t>
                      </a:r>
                      <a:r>
                        <a:rPr lang="zh-CN" altLang="en-US" sz="2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向右一步</a:t>
                      </a: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941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7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Fire </a:t>
                      </a:r>
                      <a:r>
                        <a:rPr lang="zh-CN" altLang="en-US" sz="2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向右一步</a:t>
                      </a: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8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0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2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Fire </a:t>
                      </a:r>
                      <a:r>
                        <a:rPr lang="zh-CN" altLang="en-US" sz="20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向右一步</a:t>
                      </a: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文本框 9" descr="7b0a202020202262756c6c6574223a20227b5c2263617465676f727949645c223a5c225c222c5c2274656d706c61746549645c223a32303233313639367d220a7d0a"/>
          <p:cNvSpPr txBox="1"/>
          <p:nvPr/>
        </p:nvSpPr>
        <p:spPr>
          <a:xfrm>
            <a:off x="526415" y="1233170"/>
            <a:ext cx="11025505" cy="14135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（5）实验结果——KLEE 自动生成通关路径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③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本用例对应的动作序列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原始数据：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b'\x01\x00\x00\x00\x01\x00\x00\x00' →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解码为序列：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[1, 0, 0, 0, 1, 0, 0, 0]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292850" y="3664585"/>
            <a:ext cx="4724400" cy="1613535"/>
            <a:chOff x="10714" y="6476"/>
            <a:chExt cx="7810" cy="2541"/>
          </a:xfrm>
        </p:grpSpPr>
        <p:sp>
          <p:nvSpPr>
            <p:cNvPr id="39" name="矩形: 圆顶角 38"/>
            <p:cNvSpPr/>
            <p:nvPr>
              <p:custDataLst>
                <p:tags r:id="rId2"/>
              </p:custDataLst>
            </p:nvPr>
          </p:nvSpPr>
          <p:spPr>
            <a:xfrm>
              <a:off x="10714" y="6476"/>
              <a:ext cx="7810" cy="2475"/>
            </a:xfrm>
            <a:prstGeom prst="round2SameRect">
              <a:avLst>
                <a:gd name="adj1" fmla="val 6772"/>
                <a:gd name="adj2" fmla="val 0"/>
              </a:avLst>
            </a:prstGeom>
            <a:solidFill>
              <a:schemeClr val="accent1">
                <a:alpha val="10000"/>
              </a:schemeClr>
            </a:solidFill>
            <a:ln w="1016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731" y="6572"/>
              <a:ext cx="7777" cy="2445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lstStyle/>
            <a:p>
              <a:pPr indent="0" algn="ctr" fontAlgn="auto">
                <a:lnSpc>
                  <a:spcPct val="150000"/>
                </a:lnSpc>
                <a:spcAft>
                  <a:spcPts val="0"/>
                </a:spcAft>
                <a:buFont typeface="Wingdings" panose="05000000000000000000" charset="0"/>
                <a:buNone/>
              </a:pPr>
              <a:r>
                <a:rPr lang="zh-CN" altLang="en-US" sz="20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KLEE 在 2⁸ = 256 条路径中自动找到了满足“开关已开 + 两人到达对应出口”的合法输入序列。</a:t>
              </a:r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indent="0" algn="ctr" fontAlgn="auto">
                <a:lnSpc>
                  <a:spcPct val="150000"/>
                </a:lnSpc>
                <a:spcAft>
                  <a:spcPts val="0"/>
                </a:spcAft>
                <a:buFont typeface="Wingdings" panose="05000000000000000000" charset="0"/>
                <a:buNone/>
              </a:pPr>
              <a:endPara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/>
          <p:cNvSpPr txBox="1"/>
          <p:nvPr/>
        </p:nvSpPr>
        <p:spPr>
          <a:xfrm>
            <a:off x="397658" y="348776"/>
            <a:ext cx="655413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5" name="矩形: 圆角 1"/>
          <p:cNvSpPr/>
          <p:nvPr/>
        </p:nvSpPr>
        <p:spPr>
          <a:xfrm>
            <a:off x="497840" y="1237615"/>
            <a:ext cx="11205845" cy="5546090"/>
          </a:xfrm>
          <a:prstGeom prst="roundRect">
            <a:avLst>
              <a:gd name="adj" fmla="val 2281"/>
            </a:avLst>
          </a:prstGeom>
          <a:noFill/>
          <a:ln>
            <a:solidFill>
              <a:schemeClr val="accent1">
                <a:alpha val="40000"/>
              </a:schemeClr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95000"/>
                  </a:schemeClr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1211398" y="388483"/>
            <a:ext cx="9674317" cy="662780"/>
          </a:xfrm>
        </p:spPr>
        <p:txBody>
          <a:bodyPr/>
          <a:lstStyle/>
          <a:p>
            <a:r>
              <a:rPr lang="zh-CN" altLang="en-US">
                <a:sym typeface="+mn-ea"/>
              </a:rPr>
              <a:t>一个具有协作约束的迷宫闯关程序</a:t>
            </a:r>
            <a:endParaRPr lang="zh-CN" altLang="en-US"/>
          </a:p>
        </p:txBody>
      </p:sp>
      <p:sp>
        <p:nvSpPr>
          <p:cNvPr id="10" name="文本框 9" descr="7b0a202020202262756c6c6574223a20227b5c2263617465676f727949645c223a5c225c222c5c2274656d706c61746549645c223a32303233313639367d220a7d0a"/>
          <p:cNvSpPr txBox="1"/>
          <p:nvPr/>
        </p:nvSpPr>
        <p:spPr>
          <a:xfrm>
            <a:off x="526415" y="1215390"/>
            <a:ext cx="11025505" cy="50444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（6）方法价值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符号执行的核心价值：从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试运行代码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转向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探索所有可能执行路径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自动识别非法输入、不可达状态、安全漏洞或逻辑缺陷，提供可复现的输入示例，而不是抽象错误信息，让程序验证从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猜测式调试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 </a:t>
            </a:r>
            <a:r>
              <a:rPr lang="en-US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→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证据式验证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本案例体现的能力</a:t>
            </a:r>
          </a:p>
          <a:p>
            <a:pPr indent="0" algn="l" fontAlgn="auto">
              <a:lnSpc>
                <a:spcPct val="150000"/>
              </a:lnSpc>
              <a:spcAft>
                <a:spcPts val="0"/>
              </a:spcAft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2487930" y="3725545"/>
          <a:ext cx="7328535" cy="2777617"/>
        </p:xfrm>
        <a:graphic>
          <a:graphicData uri="http://schemas.openxmlformats.org/drawingml/2006/table">
            <a:tbl>
              <a:tblPr firstRow="1">
                <a:tableStyleId>{24828357-6E04-45C0-B2E7-271066B5A542}</a:tableStyleId>
              </a:tblPr>
              <a:tblGrid>
                <a:gridCol w="22028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5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43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能力</a:t>
                      </a:r>
                    </a:p>
                  </a:txBody>
                  <a:tcPr marL="254000" marR="254000" marT="127000" marB="127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在本例中的体现</a:t>
                      </a:r>
                    </a:p>
                  </a:txBody>
                  <a:tcPr marL="254000" marR="254000" marT="127000" marB="127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路径覆盖</a:t>
                      </a:r>
                    </a:p>
                  </a:txBody>
                  <a:tcPr marL="254000" marR="254000" marT="127000" marB="127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自动探索 </a:t>
                      </a:r>
                      <a:r>
                        <a:rPr lang="en-US" altLang="zh-CN" sz="18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256 </a:t>
                      </a:r>
                      <a:r>
                        <a:rPr lang="zh-CN" altLang="en-US" sz="18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条动作序列</a:t>
                      </a:r>
                    </a:p>
                  </a:txBody>
                  <a:tcPr marL="254000" marR="254000" marT="127000" marB="127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逻辑约束求解</a:t>
                      </a:r>
                    </a:p>
                  </a:txBody>
                  <a:tcPr marL="254000" marR="254000" marT="127000" marB="127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推导“开关 </a:t>
                      </a:r>
                      <a:r>
                        <a:rPr lang="en-US" altLang="zh-CN" sz="18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→ </a:t>
                      </a:r>
                      <a:r>
                        <a:rPr lang="zh-CN" altLang="en-US" sz="18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开门 </a:t>
                      </a:r>
                      <a:r>
                        <a:rPr lang="en-US" altLang="zh-CN" sz="18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→ </a:t>
                      </a:r>
                      <a:r>
                        <a:rPr lang="zh-CN" altLang="en-US" sz="1800">
                          <a:latin typeface="Times New Roman" panose="02020603050405020304" charset="0"/>
                          <a:ea typeface="微软雅黑" panose="020B0503020204020204" pitchFamily="34" charset="-122"/>
                          <a:cs typeface="Times New Roman" panose="02020603050405020304" charset="0"/>
                        </a:rPr>
                        <a:t>通关”的行为顺序</a:t>
                      </a:r>
                    </a:p>
                  </a:txBody>
                  <a:tcPr marL="254000" marR="254000" marT="127000" marB="127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错误路径剪枝</a:t>
                      </a:r>
                    </a:p>
                  </a:txBody>
                  <a:tcPr marL="254000" marR="254000" marT="127000" marB="127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撞墙、死亡、顺序错误自动排除</a:t>
                      </a:r>
                    </a:p>
                  </a:txBody>
                  <a:tcPr marL="254000" marR="254000" marT="127000" marB="127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562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成功输入生成</a:t>
                      </a:r>
                    </a:p>
                  </a:txBody>
                  <a:tcPr marL="254000" marR="254000" marT="127000" marB="1270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>
                          <a:latin typeface="Times New Roman" panose="02020603050405020304" charset="0"/>
                          <a:ea typeface="微软雅黑" panose="020B0503020204020204" pitchFamily="34" charset="-122"/>
                        </a:rPr>
                        <a:t>可直接复现用于测试或回放</a:t>
                      </a:r>
                    </a:p>
                  </a:txBody>
                  <a:tcPr marL="254000" marR="254000" marT="127000" marB="127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2159000"/>
            <a:ext cx="12192000" cy="2667000"/>
          </a:xfrm>
          <a:prstGeom prst="rect">
            <a:avLst/>
          </a:prstGeom>
          <a:solidFill>
            <a:schemeClr val="accent1"/>
          </a:solidFill>
          <a:ln w="1016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0" y="4971730"/>
            <a:ext cx="12192000" cy="0"/>
          </a:xfrm>
          <a:prstGeom prst="line">
            <a:avLst/>
          </a:prstGeom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/>
        </p:nvCxnSpPr>
        <p:spPr>
          <a:xfrm>
            <a:off x="0" y="1999930"/>
            <a:ext cx="12192000" cy="0"/>
          </a:xfrm>
          <a:prstGeom prst="line">
            <a:avLst/>
          </a:prstGeom>
          <a:ln w="222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1579379" y="2875002"/>
            <a:ext cx="903324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600" b="1" spc="3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敬请各位老师批评指正</a:t>
            </a:r>
          </a:p>
        </p:txBody>
      </p:sp>
      <p:pic>
        <p:nvPicPr>
          <p:cNvPr id="8" name="图片 7" descr="微信图片_20240506144810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45" y="8890"/>
            <a:ext cx="5779135" cy="96647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1" name="文本框 10"/>
          <p:cNvSpPr txBox="1"/>
          <p:nvPr/>
        </p:nvSpPr>
        <p:spPr>
          <a:xfrm>
            <a:off x="4328160" y="5349875"/>
            <a:ext cx="35356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汇报小组：王陈偲，方斌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481354,3481357],&quot;29&quot;:[50053160,50053024,50053052,50053121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2.495905511811,&quot;left&quot;:40.28677165354331,&quot;top&quot;:101.72031496062992,&quot;width&quot;:888.222047244094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08*349"/>
  <p:tag name="TABLE_ENDDRAG_RECT" val="82*197*408*34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21*269"/>
  <p:tag name="TABLE_ENDDRAG_RECT" val="53*206*321*26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2.495905511811,&quot;left&quot;:40.28677165354331,&quot;top&quot;:101.72031496062992,&quot;width&quot;:888.222047244094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04*278"/>
  <p:tag name="TABLE_ENDDRAG_RECT" val="105*231*404*27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2.495905511811,&quot;left&quot;:40.28677165354331,&quot;top&quot;:101.72031496062992,&quot;width&quot;:888.222047244094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07*244"/>
  <p:tag name="TABLE_ENDDRAG_RECT" val="159*267*607*244"/>
</p:tagLst>
</file>

<file path=ppt/theme/theme1.xml><?xml version="1.0" encoding="utf-8"?>
<a:theme xmlns:a="http://schemas.openxmlformats.org/drawingml/2006/main" name="Office 主题​​">
  <a:themeElements>
    <a:clrScheme name="自定义 85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9A0000"/>
      </a:accent1>
      <a:accent2>
        <a:srgbClr val="C72525"/>
      </a:accent2>
      <a:accent3>
        <a:srgbClr val="E15D5D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2726</Words>
  <Application>Microsoft Office PowerPoint</Application>
  <PresentationFormat>宽屏</PresentationFormat>
  <Paragraphs>264</Paragraphs>
  <Slides>23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0" baseType="lpstr">
      <vt:lpstr>等线</vt:lpstr>
      <vt:lpstr>等线 Light</vt:lpstr>
      <vt:lpstr>微软雅黑</vt:lpstr>
      <vt:lpstr>Arial</vt:lpstr>
      <vt:lpstr>Times New Roman</vt:lpstr>
      <vt:lpstr>Wingdings</vt:lpstr>
      <vt:lpstr>Office 主题​​</vt:lpstr>
      <vt:lpstr>PowerPoint 演示文稿</vt:lpstr>
      <vt:lpstr>KLEE 概述</vt:lpstr>
      <vt:lpstr>KLEE 概述</vt:lpstr>
      <vt:lpstr>KLEE 概述</vt:lpstr>
      <vt:lpstr>KLEE 概述</vt:lpstr>
      <vt:lpstr>KLEE 概述</vt:lpstr>
      <vt:lpstr>测试 KLEE 功能：归并排序示例</vt:lpstr>
      <vt:lpstr>测试 KLEE 功能：归并排序示例</vt:lpstr>
      <vt:lpstr>测试 KLEE 功能：归并排序示例</vt:lpstr>
      <vt:lpstr>一个具有协作约束的迷宫闯关程序</vt:lpstr>
      <vt:lpstr>一个具有协作约束的迷宫闯关程序</vt:lpstr>
      <vt:lpstr>一个具有协作约束的迷宫闯关程序</vt:lpstr>
      <vt:lpstr>一个具有协作约束的迷宫闯关程序</vt:lpstr>
      <vt:lpstr>一个具有协作约束的迷宫闯关程序</vt:lpstr>
      <vt:lpstr>一个具有协作约束的迷宫闯关程序</vt:lpstr>
      <vt:lpstr>一个具有协作约束的迷宫闯关程序</vt:lpstr>
      <vt:lpstr>一个具有协作约束的迷宫闯关程序</vt:lpstr>
      <vt:lpstr>一个具有协作约束的迷宫闯关程序</vt:lpstr>
      <vt:lpstr>一个具有协作约束的迷宫闯关程序</vt:lpstr>
      <vt:lpstr>一个具有协作约束的迷宫闯关程序</vt:lpstr>
      <vt:lpstr>一个具有协作约束的迷宫闯关程序</vt:lpstr>
      <vt:lpstr>一个具有协作约束的迷宫闯关程序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SYS</dc:creator>
  <cp:lastModifiedBy>714-51</cp:lastModifiedBy>
  <cp:revision>448</cp:revision>
  <dcterms:created xsi:type="dcterms:W3CDTF">2025-05-12T09:52:00Z</dcterms:created>
  <dcterms:modified xsi:type="dcterms:W3CDTF">2025-11-28T10:53:52Z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F2D2371DFD6B4504B224C4B67CE07F85_12</vt:lpwstr>
  </property>
  <property fmtid="{D5CDD505-2E9C-101B-9397-08002B2CF9AE}" pid="3" name="KSOProductBuildVer">
    <vt:lpwstr>2052-12.1.0.23542</vt:lpwstr>
  </property>
</Properties>
</file>