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16" r:id="rId2"/>
    <p:sldId id="283" r:id="rId3"/>
    <p:sldId id="257" r:id="rId4"/>
    <p:sldId id="284" r:id="rId5"/>
    <p:sldId id="319" r:id="rId6"/>
    <p:sldId id="320" r:id="rId7"/>
    <p:sldId id="311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17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1D1B"/>
    <a:srgbClr val="FFFFFF"/>
    <a:srgbClr val="7D1B1C"/>
    <a:srgbClr val="C42B2E"/>
    <a:srgbClr val="A92121"/>
    <a:srgbClr val="981A1B"/>
    <a:srgbClr val="750909"/>
    <a:srgbClr val="C52A2E"/>
    <a:srgbClr val="953735"/>
    <a:srgbClr val="D99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8" autoAdjust="0"/>
    <p:restoredTop sz="94660"/>
  </p:normalViewPr>
  <p:slideViewPr>
    <p:cSldViewPr showGuides="1">
      <p:cViewPr varScale="1">
        <p:scale>
          <a:sx n="100" d="100"/>
          <a:sy n="100" d="100"/>
        </p:scale>
        <p:origin x="104" y="152"/>
      </p:cViewPr>
      <p:guideLst>
        <p:guide orient="horz" pos="2160"/>
        <p:guide pos="37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CDC21-02B5-4DA2-9E37-54A8FA2BF56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A76C2-5A4E-40EC-A96D-2FB86DA810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AEBE5-D780-ADD6-4CE2-F353C663A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F77436-9483-8581-0A86-CD8C2378B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15A758-EF3A-EF50-63B8-EFF3A6BED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AD74E-88A9-A939-E071-C74AF401A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28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BD21-7383-3C7F-BA02-9E660D1DE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0D878D-25B2-187A-7D55-3C568627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E2EEF4-12E8-04C9-1FB6-5A73E2B54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4E1F5-7F7E-3D9B-4611-F6D83295D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BF6F-CB15-18A2-606C-53448C2FC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6ABF90-671B-8046-F108-B54323E5B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80644A-46C6-9B17-4033-F3C6C3295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24A98-80EB-1130-C15A-C85FED1E9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220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6596-3B6D-8D3F-9D16-5C3A7B90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3EEE0D-23F5-6E9D-AA97-D776A51AF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1C5F56-61B3-357B-D786-CEF58F1C5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8FE91-7DF4-CEB6-A4F5-0FEDF909B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871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E354D-6720-C6E2-2D0A-70449113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C2BBF4-12D7-F72F-9045-94AC20A20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AF6F63-F199-FAD3-060F-0F59CB8FE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DC8839-0612-8A7F-6519-E021B53DC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791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EB22-32D9-4B8E-362C-4BC283BB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ABED1E-D889-2B1F-1FE6-7A35F7C5E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0AC4CA-1FCB-5A73-EA9C-9109ED5A2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76147-C55C-5E2D-6896-451E14467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430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7E04-FB1A-9880-F80B-387CF254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993063-2DDA-0D92-E682-9B40910F8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B602AF-D81E-3AEC-646B-34DA44A7C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691A2-DEAB-9FCE-5D5D-4BE4153A7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117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F328-A754-52A1-009F-73D14B85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6CCF7E-9F7A-EC4B-7408-4F345A84B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F0E7C3-740C-D991-48D4-06E1930C4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B670B5-3B63-EFF0-5BAC-5DB5D31BB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109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4DD8-30CA-1B1F-E547-4183C6962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E5E48E-558C-8F5E-8B1D-5BF44017A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3B331B-65CB-D83C-4ED8-8BBEDEB7B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1EE3-CA7B-AADB-6DED-95F59B730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641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852E-23A1-D5A6-45D2-964AA66F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E9D574-E069-9376-FCA6-881584D0C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ADCCE8-7E9A-F674-A5D0-AAB01C030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606FC3-0EC5-696D-1D83-7BF2E6499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61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8945-9A2D-B138-5235-52DD163B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2D0C1D-1E7E-A61E-812F-D832DF6AA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08D58A-8666-7A8E-D9E0-DAB133039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7EFCFF-01F4-97D3-26AD-58821353A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108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C52A0-BC50-B812-B92A-52BE69B7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C439BA-9486-8838-6F96-3E984276E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ACDAE8-0FD5-FF27-A127-9E4AD460F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786316-405D-C113-8686-0BAEEB57D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787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-24680" y="-21908"/>
            <a:ext cx="12216130" cy="690181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2"/>
          <p:cNvSpPr txBox="1"/>
          <p:nvPr userDrawn="1"/>
        </p:nvSpPr>
        <p:spPr>
          <a:xfrm>
            <a:off x="5339" y="6321366"/>
            <a:ext cx="3600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厚德、求真、砺学、笃行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E301923-05B8-B13E-5E95-E7DB7347B7D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00" y="115116"/>
            <a:ext cx="2351584" cy="6380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5793" y="1"/>
            <a:ext cx="12190588" cy="687965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51928" y="-21659"/>
            <a:ext cx="12243928" cy="6879658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442058" y="2672178"/>
            <a:ext cx="9621008" cy="3407583"/>
            <a:chOff x="1442058" y="2754794"/>
            <a:chExt cx="9621008" cy="3407583"/>
          </a:xfrm>
        </p:grpSpPr>
        <p:sp>
          <p:nvSpPr>
            <p:cNvPr id="4" name="文本框 7"/>
            <p:cNvSpPr txBox="1"/>
            <p:nvPr/>
          </p:nvSpPr>
          <p:spPr>
            <a:xfrm>
              <a:off x="2541176" y="2754794"/>
              <a:ext cx="7109639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</a:t>
              </a:r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定理证明器：</a:t>
              </a:r>
              <a:endParaRPr lang="en-US" altLang="zh-CN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核心原理与多领域应用</a:t>
              </a:r>
            </a:p>
          </p:txBody>
        </p:sp>
        <p:sp>
          <p:nvSpPr>
            <p:cNvPr id="5" name="文本框 9"/>
            <p:cNvSpPr txBox="1"/>
            <p:nvPr/>
          </p:nvSpPr>
          <p:spPr>
            <a:xfrm>
              <a:off x="4872757" y="4872472"/>
              <a:ext cx="2446503" cy="1289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学生：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唐小倩</a:t>
              </a:r>
              <a:endPara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学号：</a:t>
              </a:r>
              <a:r>
                <a:rPr lang="en-US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25031212051</a:t>
              </a:r>
            </a:p>
            <a:p>
              <a:pPr algn="ctr">
                <a:lnSpc>
                  <a:spcPct val="150000"/>
                </a:lnSpc>
              </a:pPr>
              <a:endPara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442058" y="4735752"/>
              <a:ext cx="9621008" cy="0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</p:cxnSp>
      </p:grpSp>
      <p:sp>
        <p:nvSpPr>
          <p:cNvPr id="11" name="文本框 5"/>
          <p:cNvSpPr txBox="1"/>
          <p:nvPr/>
        </p:nvSpPr>
        <p:spPr>
          <a:xfrm>
            <a:off x="100420" y="6222503"/>
            <a:ext cx="3789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 求真 砺学 笃行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EC3B219-9882-24C0-4764-9FA64101A9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19" y="1332545"/>
            <a:ext cx="4857753" cy="1317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92F1E79-BE44-7E6A-EB6F-8A3614A46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-14835"/>
            <a:ext cx="12192000" cy="2623448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3359696" y="3212976"/>
            <a:ext cx="5716580" cy="2847390"/>
            <a:chOff x="2731093" y="3024422"/>
            <a:chExt cx="5716580" cy="2847390"/>
          </a:xfrm>
        </p:grpSpPr>
        <p:sp>
          <p:nvSpPr>
            <p:cNvPr id="26" name="矩形 25"/>
            <p:cNvSpPr/>
            <p:nvPr/>
          </p:nvSpPr>
          <p:spPr bwMode="auto">
            <a:xfrm>
              <a:off x="2731093" y="3024422"/>
              <a:ext cx="684076" cy="684076"/>
            </a:xfrm>
            <a:prstGeom prst="rect">
              <a:avLst/>
            </a:prstGeom>
            <a:solidFill>
              <a:srgbClr val="003E87"/>
            </a:solidFill>
            <a:ln w="28575" cap="flat" cmpd="sng" algn="ctr">
              <a:solidFill>
                <a:srgbClr val="003E87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44" name="Rectangle 73"/>
            <p:cNvSpPr/>
            <p:nvPr/>
          </p:nvSpPr>
          <p:spPr>
            <a:xfrm>
              <a:off x="3415166" y="3139707"/>
              <a:ext cx="2874644" cy="213517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800" b="1" dirty="0">
                  <a:solidFill>
                    <a:srgbClr val="5B9BD5"/>
                  </a:solidFill>
                  <a:latin typeface="Calibri" panose="020F0502020204030204"/>
                  <a:sym typeface="+mn-lt"/>
                </a:rPr>
                <a:t>Z3</a:t>
              </a:r>
              <a:r>
                <a:rPr lang="zh-CN" altLang="en-US" sz="2800" b="1" dirty="0">
                  <a:solidFill>
                    <a:srgbClr val="5B9BD5"/>
                  </a:solidFill>
                  <a:latin typeface="Calibri" panose="020F0502020204030204"/>
                  <a:sym typeface="+mn-lt"/>
                </a:rPr>
                <a:t>简介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0" name="Rectangle 73"/>
            <p:cNvSpPr/>
            <p:nvPr/>
          </p:nvSpPr>
          <p:spPr>
            <a:xfrm>
              <a:off x="3415166" y="5199300"/>
              <a:ext cx="2996385" cy="285977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4472C4"/>
                  </a:solidFill>
                  <a:cs typeface="+mn-ea"/>
                  <a:sym typeface="+mn-lt"/>
                </a:rPr>
                <a:t>思考与展望</a:t>
              </a:r>
            </a:p>
          </p:txBody>
        </p:sp>
        <p:sp>
          <p:nvSpPr>
            <p:cNvPr id="38" name="Rectangle 73"/>
            <p:cNvSpPr/>
            <p:nvPr/>
          </p:nvSpPr>
          <p:spPr>
            <a:xfrm>
              <a:off x="3415166" y="4163246"/>
              <a:ext cx="5032507" cy="299229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en-US" altLang="zh-CN" sz="2800" b="1" dirty="0">
                  <a:solidFill>
                    <a:srgbClr val="ED7D31"/>
                  </a:solidFill>
                  <a:cs typeface="+mn-ea"/>
                  <a:sym typeface="+mn-lt"/>
                </a:rPr>
                <a:t>Z3 </a:t>
              </a:r>
              <a:r>
                <a:rPr lang="zh-CN" altLang="en-US" sz="2800" b="1" dirty="0">
                  <a:solidFill>
                    <a:srgbClr val="ED7D31"/>
                  </a:solidFill>
                  <a:cs typeface="+mn-ea"/>
                  <a:sym typeface="+mn-lt"/>
                </a:rPr>
                <a:t>典型应用领域及具体使用</a:t>
              </a: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2731093" y="5187736"/>
              <a:ext cx="684076" cy="684076"/>
            </a:xfrm>
            <a:prstGeom prst="rect">
              <a:avLst/>
            </a:prstGeom>
            <a:solidFill>
              <a:schemeClr val="accent5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b="1" dirty="0">
                  <a:solidFill>
                    <a:prstClr val="white">
                      <a:lumMod val="100000"/>
                    </a:prstClr>
                  </a:solidFill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2731093" y="4079916"/>
              <a:ext cx="684076" cy="684076"/>
            </a:xfrm>
            <a:prstGeom prst="rect">
              <a:avLst/>
            </a:prstGeom>
            <a:solidFill>
              <a:srgbClr val="ED7D3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19336" y="2188276"/>
            <a:ext cx="2982770" cy="952692"/>
            <a:chOff x="119336" y="1725785"/>
            <a:chExt cx="2982770" cy="952692"/>
          </a:xfrm>
        </p:grpSpPr>
        <p:grpSp>
          <p:nvGrpSpPr>
            <p:cNvPr id="48" name="组合 47"/>
            <p:cNvGrpSpPr/>
            <p:nvPr/>
          </p:nvGrpSpPr>
          <p:grpSpPr>
            <a:xfrm>
              <a:off x="119336" y="1797769"/>
              <a:ext cx="2982770" cy="880708"/>
              <a:chOff x="78885" y="1794976"/>
              <a:chExt cx="2833598" cy="621427"/>
            </a:xfrm>
          </p:grpSpPr>
          <p:sp>
            <p:nvSpPr>
              <p:cNvPr id="51" name="矩形 50"/>
              <p:cNvSpPr/>
              <p:nvPr/>
            </p:nvSpPr>
            <p:spPr bwMode="auto">
              <a:xfrm>
                <a:off x="78885" y="1794976"/>
                <a:ext cx="2459596" cy="621427"/>
              </a:xfrm>
              <a:prstGeom prst="rect">
                <a:avLst/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平行四边形 49"/>
              <p:cNvSpPr/>
              <p:nvPr/>
            </p:nvSpPr>
            <p:spPr bwMode="auto">
              <a:xfrm>
                <a:off x="181603" y="2044662"/>
                <a:ext cx="2730880" cy="360040"/>
              </a:xfrm>
              <a:prstGeom prst="parallelogram">
                <a:avLst>
                  <a:gd name="adj" fmla="val 76283"/>
                </a:avLst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396058" y="1725785"/>
              <a:ext cx="192552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目 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6EAEBA1-2492-D623-A19F-AAD0665D30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17"/>
          <a:stretch/>
        </p:blipFill>
        <p:spPr>
          <a:xfrm>
            <a:off x="1868863" y="692696"/>
            <a:ext cx="2063552" cy="20297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D87D8-327F-66F9-9331-E5B76A7CCD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17"/>
          <a:stretch/>
        </p:blipFill>
        <p:spPr>
          <a:xfrm>
            <a:off x="7365380" y="3998957"/>
            <a:ext cx="2063552" cy="2029723"/>
          </a:xfrm>
          <a:prstGeom prst="rect">
            <a:avLst/>
          </a:prstGeom>
        </p:spPr>
      </p:pic>
      <p:sp>
        <p:nvSpPr>
          <p:cNvPr id="6" name="任意多边形: 形状 5"/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rgbClr val="750909"/>
              </a:gs>
              <a:gs pos="42000">
                <a:srgbClr val="981A1B"/>
              </a:gs>
              <a:gs pos="74000">
                <a:srgbClr val="A92121"/>
              </a:gs>
              <a:gs pos="100000">
                <a:srgbClr val="C42B2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64830" y="206149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6000" b="1" dirty="0">
                  <a:solidFill>
                    <a:srgbClr val="750909"/>
                  </a:solidFill>
                  <a:latin typeface="AvantGarde Md BT" pitchFamily="34" charset="0"/>
                  <a:ea typeface="微软雅黑" panose="020B0503020204020204" pitchFamily="34" charset="-122"/>
                </a:rPr>
                <a:t>第一章</a:t>
              </a:r>
              <a:endParaRPr lang="en-US" altLang="zh-CN" sz="6000" b="1" dirty="0">
                <a:solidFill>
                  <a:srgbClr val="750909"/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1117919" y="2982885"/>
            <a:ext cx="2206373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Z3</a:t>
            </a:r>
            <a:r>
              <a:rPr lang="zh-CN" altLang="en-US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简介</a:t>
            </a:r>
            <a:endParaRPr lang="en-US" altLang="zh-CN" sz="5400" b="1" dirty="0">
              <a:solidFill>
                <a:schemeClr val="bg1"/>
              </a:solidFill>
              <a:latin typeface="AvantGarde Md BT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1480213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6671945" y="1778000"/>
            <a:ext cx="4910455" cy="3955415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45720" rIns="180000" bIns="45720" rtlCol="0" anchor="ctr"/>
          <a:lstStyle/>
          <a:p>
            <a:pPr indent="288290" algn="just"/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Z3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 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 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求解器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，通过符号执行求解模理论可满足性。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Z3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Microsoft Research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开发的定理证明器，其目的是解决各种形式的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数学和逻辑约束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问题，当问题有多个解时，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z3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求解器只会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输出一个解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Z3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支持算术、固定大小位向量等多种类型，它的主要应用领域包括软件验证、形式化验证、程序分析、人工智能和自动定理证明等。</a:t>
            </a:r>
            <a:endParaRPr lang="en-US" altLang="zh-CN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88290" defTabSz="914400"/>
            <a:endParaRPr lang="en-US" altLang="zh-CN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88290" defTabSz="914400"/>
            <a:endParaRPr lang="zh-CN" altLang="en-US" sz="1065" dirty="0">
              <a:solidFill>
                <a:prstClr val="white"/>
              </a:solidFill>
              <a:latin typeface="AvantGarde Md BT" pitchFamily="34" charset="0"/>
              <a:ea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590887" y="5301208"/>
            <a:ext cx="1152278" cy="1008112"/>
            <a:chOff x="10590887" y="5019961"/>
            <a:chExt cx="1152278" cy="1008112"/>
          </a:xfrm>
        </p:grpSpPr>
        <p:sp>
          <p:nvSpPr>
            <p:cNvPr id="36" name="矩形 35"/>
            <p:cNvSpPr/>
            <p:nvPr/>
          </p:nvSpPr>
          <p:spPr>
            <a:xfrm>
              <a:off x="10878957" y="5019961"/>
              <a:ext cx="864208" cy="864096"/>
            </a:xfrm>
            <a:prstGeom prst="rect">
              <a:avLst/>
            </a:prstGeom>
            <a:solidFill>
              <a:srgbClr val="95373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90887" y="5452009"/>
              <a:ext cx="576139" cy="576064"/>
            </a:xfrm>
            <a:prstGeom prst="rect">
              <a:avLst/>
            </a:prstGeom>
            <a:solidFill>
              <a:srgbClr val="D9969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400"/>
              <a:endParaRPr lang="zh-CN" altLang="en-US" sz="2800">
                <a:solidFill>
                  <a:prstClr val="white"/>
                </a:solidFill>
                <a:latin typeface="AvantGarde Md BT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BEA04D40-7317-78B2-313D-877FCE6BB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6" y="1844824"/>
            <a:ext cx="6116244" cy="3744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9686-2A80-008C-35EF-914474E0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E28ABE6-7411-2A2D-24D1-4AB5EACBC736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1853A05-B954-54AA-2006-F9C42B22DCB9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0A184D9-FC77-4DA6-EF8E-D84A59A87AF7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5C5ACA8-11F5-791C-8D60-D9BB83505369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786E903-1DA1-5EB1-C576-4CA6634DC40C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938E0EF9-6396-F822-68D0-21C625AA03F9}"/>
                </a:ext>
              </a:extLst>
            </p:cNvPr>
            <p:cNvSpPr txBox="1"/>
            <p:nvPr/>
          </p:nvSpPr>
          <p:spPr>
            <a:xfrm>
              <a:off x="1163452" y="260648"/>
              <a:ext cx="1480213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3E08C357-797C-2302-B9A7-C5561A9C87E0}"/>
              </a:ext>
            </a:extLst>
          </p:cNvPr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3CCA8D71-C08D-45FC-F362-4032935EAC82}"/>
              </a:ext>
            </a:extLst>
          </p:cNvPr>
          <p:cNvSpPr txBox="1"/>
          <p:nvPr/>
        </p:nvSpPr>
        <p:spPr>
          <a:xfrm>
            <a:off x="370598" y="1628799"/>
            <a:ext cx="10858500" cy="452437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Z3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定理证明器采用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三层核心架构设计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最上层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为输入与优化层，提供多语言编程接口并支持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SMTLIB2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标准输入格式，同时包含优化求解组件；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中间层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为策略层，负责约束预处理和求解策略调度，通过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Cube &amp; Conquer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及战术组合器优化求解流程；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底层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为求解器层，集成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SMT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dirty="0" err="1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Fixedpoint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dirty="0" err="1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NLSat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SAT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QSAT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等专用求解器，分别处理算术、递归、非线性、布尔及量化约束等不同类型问题。</a:t>
            </a:r>
            <a:endParaRPr lang="en-US" altLang="zh-CN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核心算法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包括四类关键机制。</a:t>
            </a:r>
            <a:r>
              <a:rPr lang="en-US" altLang="zh-CN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CDCL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冲突驱动子句学习算法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构成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SAT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求解基础，通过试探赋值、冲突分析与子句学习实现高效布尔推理；</a:t>
            </a:r>
            <a:r>
              <a:rPr lang="en-US" altLang="zh-CN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DPLL(T)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框架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支撑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SMT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求解，采用理论求解器与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SAT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引擎协作的方式处理多类型约束组合；</a:t>
            </a:r>
            <a:r>
              <a:rPr lang="en-US" altLang="zh-CN" b="1" dirty="0" err="1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NLSat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算法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专门针对非线性约束，结合区间传播与多项式分解技术进行精确求解；</a:t>
            </a:r>
            <a:r>
              <a:rPr lang="en-US" altLang="zh-CN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Cube &amp; Conquer</a:t>
            </a:r>
            <a:r>
              <a:rPr lang="zh-CN" altLang="en-US" b="1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策略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则应对大规模问题，通过启发式分治与并行求解提升可扩展性。</a:t>
            </a: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B4C91394-F220-7299-F917-9E5DFF6C64EA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架构解析</a:t>
            </a: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0BE23661-BA58-37CB-A935-E35974915007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55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5A7D-639C-EE1A-EFB3-50CCFFDE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BF1E1EB9-1EE1-80D6-B42F-A5E2CD19CDAE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55BE532-3A9A-4301-AEC3-CA4C8CE49158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2D7CAA1-EB9A-2957-EC2D-B08CDA16E8F7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DB87A56-4A90-FDCF-124D-E71163CB976A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207F4C1-5CB2-5107-799D-E5FC1F0B7208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8BD69AEA-EAF3-C9A2-1341-DBF4288D70C6}"/>
                </a:ext>
              </a:extLst>
            </p:cNvPr>
            <p:cNvSpPr txBox="1"/>
            <p:nvPr/>
          </p:nvSpPr>
          <p:spPr>
            <a:xfrm>
              <a:off x="1163452" y="260648"/>
              <a:ext cx="1480213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简介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12F0CF1F-1A1F-7A36-8A6A-59FAB9EFCF4F}"/>
              </a:ext>
            </a:extLst>
          </p:cNvPr>
          <p:cNvSpPr txBox="1"/>
          <p:nvPr/>
        </p:nvSpPr>
        <p:spPr>
          <a:xfrm>
            <a:off x="14102" y="1664104"/>
            <a:ext cx="2880320" cy="5075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pip install z3-solver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32CEAF7B-BAB8-04D2-75A8-7CA3E53CEA2C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环境搭建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基本操作</a:t>
            </a: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53F94D77-AF5D-2FD7-2C97-291FEC546A5A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 descr="文本&#10;&#10;AI 生成的内容可能不正确。">
            <a:extLst>
              <a:ext uri="{FF2B5EF4-FFF2-40B4-BE49-F238E27FC236}">
                <a16:creationId xmlns:a16="http://schemas.microsoft.com/office/drawing/2014/main" id="{EEBE8E14-6EAA-3414-EE6E-2412E3280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2" y="2218964"/>
            <a:ext cx="5274310" cy="92964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BC5D69-E7EB-272E-F182-6D3B217E7F0F}"/>
              </a:ext>
            </a:extLst>
          </p:cNvPr>
          <p:cNvSpPr txBox="1"/>
          <p:nvPr/>
        </p:nvSpPr>
        <p:spPr>
          <a:xfrm>
            <a:off x="6240016" y="2300595"/>
            <a:ext cx="2880320" cy="5075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创建声明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B231BBE4-3272-4103-80F9-763B42C84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32" y="2823757"/>
            <a:ext cx="5274310" cy="390398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E9396B0-4D61-D04D-6334-27F0916544B6}"/>
              </a:ext>
            </a:extLst>
          </p:cNvPr>
          <p:cNvSpPr txBox="1"/>
          <p:nvPr/>
        </p:nvSpPr>
        <p:spPr>
          <a:xfrm>
            <a:off x="14102" y="3274110"/>
            <a:ext cx="2880320" cy="5075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常用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API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47568BBE-D470-5F96-CD32-DC6BAC6E8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58" y="3768846"/>
            <a:ext cx="4817656" cy="293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9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9E98C7-CB50-04BA-D48C-6931CD00FA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17"/>
          <a:stretch/>
        </p:blipFill>
        <p:spPr>
          <a:xfrm>
            <a:off x="1868863" y="692696"/>
            <a:ext cx="2063552" cy="20297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256BEC7-5488-D65F-EAE8-95418BD22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17"/>
          <a:stretch/>
        </p:blipFill>
        <p:spPr>
          <a:xfrm>
            <a:off x="7365380" y="3998957"/>
            <a:ext cx="2063552" cy="2029723"/>
          </a:xfrm>
          <a:prstGeom prst="rect">
            <a:avLst/>
          </a:prstGeom>
        </p:spPr>
      </p:pic>
      <p:sp>
        <p:nvSpPr>
          <p:cNvPr id="6" name="任意多边形: 形状 5"/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rgbClr val="750909"/>
              </a:gs>
              <a:gs pos="42000">
                <a:srgbClr val="981A1B"/>
              </a:gs>
              <a:gs pos="74000">
                <a:srgbClr val="A92121"/>
              </a:gs>
              <a:gs pos="100000">
                <a:srgbClr val="C42B2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6000" b="1" dirty="0">
                  <a:solidFill>
                    <a:srgbClr val="750909"/>
                  </a:solidFill>
                  <a:latin typeface="AvantGarde Md BT" pitchFamily="34" charset="0"/>
                  <a:ea typeface="微软雅黑" panose="020B0503020204020204" pitchFamily="34" charset="-122"/>
                </a:rPr>
                <a:t>第二章</a:t>
              </a:r>
              <a:endParaRPr lang="en-US" altLang="zh-CN" sz="6000" b="1" dirty="0">
                <a:solidFill>
                  <a:srgbClr val="750909"/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83804" y="3005878"/>
            <a:ext cx="7656583" cy="80791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Z3 </a:t>
            </a:r>
            <a:r>
              <a:rPr lang="zh-CN" altLang="en-US" sz="48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典型应用领域及具体使用</a:t>
            </a:r>
            <a:endParaRPr lang="en-US" altLang="zh-CN" sz="4800" b="1" dirty="0">
              <a:solidFill>
                <a:schemeClr val="bg1"/>
              </a:solidFill>
              <a:latin typeface="AvantGarde Md BT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FE85-27F9-FAB7-628C-860B37AB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322A52B-E7EE-96F7-7D93-EFBC0E0E58B6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147E63B-5D6F-799E-1FBF-4E0377CDC18C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DC1C980-13AA-9A8E-44F9-9E6E2F107B9C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8B44394-2C31-BBA7-BB26-F7487A0488F9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9CFE5F-9EE2-1720-1B06-50D616795893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C602D066-F800-819D-0E8E-023B400EE92C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243B50ED-0A21-243D-603C-C08DAA0ADCC3}"/>
              </a:ext>
            </a:extLst>
          </p:cNvPr>
          <p:cNvSpPr txBox="1"/>
          <p:nvPr/>
        </p:nvSpPr>
        <p:spPr>
          <a:xfrm>
            <a:off x="278986" y="2210246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zh-CN" dirty="0"/>
              <a:t>已知三个整数变量</a:t>
            </a:r>
            <a:r>
              <a:rPr lang="en-US" altLang="zh-CN" dirty="0"/>
              <a:t> square</a:t>
            </a:r>
            <a:r>
              <a:rPr lang="zh-CN" altLang="zh-CN" dirty="0"/>
              <a:t>（正方形）、</a:t>
            </a:r>
            <a:r>
              <a:rPr lang="en-US" altLang="zh-CN" dirty="0"/>
              <a:t>triangle</a:t>
            </a:r>
            <a:r>
              <a:rPr lang="zh-CN" altLang="zh-CN" dirty="0"/>
              <a:t>（三角形）、</a:t>
            </a:r>
            <a:r>
              <a:rPr lang="en-US" altLang="zh-CN" dirty="0"/>
              <a:t>circle</a:t>
            </a:r>
            <a:r>
              <a:rPr lang="zh-CN" altLang="zh-CN" dirty="0"/>
              <a:t>（圆形）满足以下约束条件，需求解变量的具体取值，并计算表达式</a:t>
            </a:r>
            <a:r>
              <a:rPr lang="en-US" altLang="zh-CN" dirty="0"/>
              <a:t> square * circle * triangle </a:t>
            </a:r>
            <a:r>
              <a:rPr lang="zh-CN" altLang="zh-CN" dirty="0"/>
              <a:t>的结果：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正方形的平方与圆形的和等于</a:t>
            </a:r>
            <a:r>
              <a:rPr lang="en-US" altLang="zh-CN" dirty="0"/>
              <a:t> 16</a:t>
            </a:r>
            <a:r>
              <a:rPr lang="zh-CN" altLang="zh-CN" dirty="0"/>
              <a:t>：</a:t>
            </a:r>
            <a:r>
              <a:rPr lang="en-US" altLang="zh-CN" dirty="0"/>
              <a:t>square² + circle = 16</a:t>
            </a:r>
            <a:r>
              <a:rPr lang="zh-CN" altLang="zh-CN" dirty="0"/>
              <a:t>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三角形的立方等于</a:t>
            </a:r>
            <a:r>
              <a:rPr lang="en-US" altLang="zh-CN" dirty="0"/>
              <a:t> 27</a:t>
            </a:r>
            <a:r>
              <a:rPr lang="zh-CN" altLang="zh-CN" dirty="0"/>
              <a:t>：</a:t>
            </a:r>
            <a:r>
              <a:rPr lang="en-US" altLang="zh-CN" dirty="0"/>
              <a:t>triangle³ = 27</a:t>
            </a:r>
            <a:r>
              <a:rPr lang="zh-CN" altLang="zh-CN" dirty="0"/>
              <a:t>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三角形与正方形的乘积等于</a:t>
            </a:r>
            <a:r>
              <a:rPr lang="en-US" altLang="zh-CN" dirty="0"/>
              <a:t> 6</a:t>
            </a:r>
            <a:r>
              <a:rPr lang="zh-CN" altLang="zh-CN" dirty="0"/>
              <a:t>：</a:t>
            </a:r>
            <a:r>
              <a:rPr lang="en-US" altLang="zh-CN" dirty="0"/>
              <a:t>triangle * square = 6</a:t>
            </a:r>
            <a:r>
              <a:rPr lang="zh-CN" altLang="zh-CN" dirty="0"/>
              <a:t>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b="1" dirty="0"/>
              <a:t>待求目标</a:t>
            </a:r>
            <a:r>
              <a:rPr lang="zh-CN" altLang="zh-CN" dirty="0"/>
              <a:t>：</a:t>
            </a:r>
            <a:r>
              <a:rPr lang="en-US" altLang="zh-CN" dirty="0"/>
              <a:t>square * circle * triangle </a:t>
            </a:r>
            <a:r>
              <a:rPr lang="zh-CN" altLang="zh-CN" dirty="0"/>
              <a:t>的数值。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66B2227B-6B23-B7F2-B655-755D7FCB1000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数学方程求解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5C1A584E-BE99-5C20-DA52-02FB1D5D265D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18E4FF-A5C7-D269-FBB1-0705502E61D8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92194267-C904-E978-4C55-C966565F94F1}"/>
              </a:ext>
            </a:extLst>
          </p:cNvPr>
          <p:cNvSpPr/>
          <p:nvPr/>
        </p:nvSpPr>
        <p:spPr>
          <a:xfrm>
            <a:off x="963936" y="3309686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4" name="Shape 558">
            <a:extLst>
              <a:ext uri="{FF2B5EF4-FFF2-40B4-BE49-F238E27FC236}">
                <a16:creationId xmlns:a16="http://schemas.microsoft.com/office/drawing/2014/main" id="{6042C225-9BF2-65FB-0506-C0BF4104B6D0}"/>
              </a:ext>
            </a:extLst>
          </p:cNvPr>
          <p:cNvSpPr/>
          <p:nvPr/>
        </p:nvSpPr>
        <p:spPr>
          <a:xfrm>
            <a:off x="963936" y="3878309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5" name="Shape 558">
            <a:extLst>
              <a:ext uri="{FF2B5EF4-FFF2-40B4-BE49-F238E27FC236}">
                <a16:creationId xmlns:a16="http://schemas.microsoft.com/office/drawing/2014/main" id="{FBED0B17-6DC4-0E3C-9032-EA1FA9D1A96E}"/>
              </a:ext>
            </a:extLst>
          </p:cNvPr>
          <p:cNvSpPr/>
          <p:nvPr/>
        </p:nvSpPr>
        <p:spPr>
          <a:xfrm>
            <a:off x="963936" y="4409126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209400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757C-33CC-D3AA-4F65-5C0C9362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47C1ABC0-0D90-7E4A-25AF-8DAF1A322AAA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5433CEE-D162-FC8A-5E94-27D6559CAE4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E93BBDD-94D3-30E1-1351-7BF9A2571A52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503DF03-6754-AB06-B5F8-EA6C7898825C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43DAB7D-09D6-E3E2-DF60-5C769DE684BE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0775596C-ED26-25AD-3DDA-56A097409EBB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9E41CFEE-7DFF-62F1-D189-06FFD38EC75C}"/>
              </a:ext>
            </a:extLst>
          </p:cNvPr>
          <p:cNvSpPr txBox="1"/>
          <p:nvPr/>
        </p:nvSpPr>
        <p:spPr>
          <a:xfrm>
            <a:off x="278986" y="2210246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zh-CN" dirty="0"/>
              <a:t>为使用</a:t>
            </a:r>
            <a:r>
              <a:rPr lang="en-US" altLang="zh-CN" dirty="0"/>
              <a:t> Z3 </a:t>
            </a:r>
            <a:r>
              <a:rPr lang="zh-CN" altLang="zh-CN" dirty="0"/>
              <a:t>求解该问题，需将数学约束转化为</a:t>
            </a:r>
            <a:r>
              <a:rPr lang="en-US" altLang="zh-CN" dirty="0"/>
              <a:t> Z3 </a:t>
            </a:r>
            <a:r>
              <a:rPr lang="zh-CN" altLang="zh-CN" dirty="0"/>
              <a:t>可识别的逻辑表达式，建模过程如下：</a:t>
            </a:r>
          </a:p>
          <a:p>
            <a:pPr lvl="0"/>
            <a:r>
              <a:rPr lang="en-US" altLang="zh-CN" b="1" dirty="0"/>
              <a:t>     </a:t>
            </a:r>
            <a:r>
              <a:rPr lang="zh-CN" altLang="zh-CN" b="1" dirty="0"/>
              <a:t>变量定义</a:t>
            </a:r>
            <a:r>
              <a:rPr lang="zh-CN" altLang="zh-CN" dirty="0"/>
              <a:t>：由于问题明确变量为整数，因此使用</a:t>
            </a:r>
            <a:r>
              <a:rPr lang="en-US" altLang="zh-CN" dirty="0"/>
              <a:t> Z3 </a:t>
            </a:r>
            <a:r>
              <a:rPr lang="zh-CN" altLang="zh-CN" dirty="0"/>
              <a:t>的</a:t>
            </a:r>
            <a:r>
              <a:rPr lang="en-US" altLang="zh-CN" dirty="0"/>
              <a:t> Int() </a:t>
            </a:r>
            <a:r>
              <a:rPr lang="zh-CN" altLang="zh-CN" dirty="0"/>
              <a:t>类型定义三个变量</a:t>
            </a:r>
            <a:r>
              <a:rPr lang="en-US" altLang="zh-CN" dirty="0"/>
              <a:t> square</a:t>
            </a:r>
            <a:r>
              <a:rPr lang="zh-CN" altLang="zh-CN" dirty="0"/>
              <a:t>、</a:t>
            </a:r>
            <a:r>
              <a:rPr lang="en-US" altLang="zh-CN" dirty="0"/>
              <a:t>triangle</a:t>
            </a:r>
            <a:r>
              <a:rPr lang="zh-CN" altLang="zh-CN" dirty="0"/>
              <a:t>、</a:t>
            </a:r>
            <a:r>
              <a:rPr lang="en-US" altLang="zh-CN" dirty="0"/>
              <a:t>circle</a:t>
            </a:r>
            <a:r>
              <a:rPr lang="zh-CN" altLang="zh-CN" dirty="0"/>
              <a:t>，对应数学中的三个未知整数；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b="1" dirty="0"/>
              <a:t>约束转化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/>
              <a:t>	square * square + circle == 16</a:t>
            </a:r>
            <a:endParaRPr lang="zh-CN" altLang="zh-CN" dirty="0"/>
          </a:p>
          <a:p>
            <a:pPr lvl="1"/>
            <a:r>
              <a:rPr lang="en-US" altLang="zh-CN" dirty="0"/>
              <a:t>	triangle * triangle * triangle == 27</a:t>
            </a:r>
            <a:endParaRPr lang="zh-CN" altLang="zh-CN" dirty="0"/>
          </a:p>
          <a:p>
            <a:pPr lvl="1"/>
            <a:r>
              <a:rPr lang="en-US" altLang="zh-CN" dirty="0"/>
              <a:t>	triangle * square == 6</a:t>
            </a:r>
            <a:endParaRPr lang="zh-CN" altLang="zh-CN" dirty="0"/>
          </a:p>
          <a:p>
            <a:pPr lvl="0"/>
            <a:r>
              <a:rPr lang="en-US" altLang="zh-CN" b="1" dirty="0"/>
              <a:t>	</a:t>
            </a:r>
            <a:r>
              <a:rPr lang="zh-CN" altLang="zh-CN" b="1" dirty="0"/>
              <a:t>求解目标</a:t>
            </a:r>
            <a:r>
              <a:rPr lang="zh-CN" altLang="zh-CN" dirty="0"/>
              <a:t>：通过</a:t>
            </a:r>
            <a:r>
              <a:rPr lang="en-US" altLang="zh-CN" dirty="0"/>
              <a:t> Z3 </a:t>
            </a:r>
            <a:r>
              <a:rPr lang="zh-CN" altLang="zh-CN" dirty="0"/>
              <a:t>求解变量的整数解，再代入表达式</a:t>
            </a:r>
            <a:r>
              <a:rPr lang="en-US" altLang="zh-CN" dirty="0"/>
              <a:t> square * circle * triangle </a:t>
            </a:r>
            <a:r>
              <a:rPr lang="zh-CN" altLang="zh-CN" dirty="0"/>
              <a:t>计算结果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1A502B81-AA79-BF46-1F05-23F25B7ED903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数学方程求解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26088D17-4F89-4EED-4BF4-6F9416D9F429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AB2303-BD5D-6E8C-9E7D-B2B6EC8BC5BD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约束建模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E392C9C3-2B47-CC96-357E-960A23D52AAD}"/>
              </a:ext>
            </a:extLst>
          </p:cNvPr>
          <p:cNvSpPr/>
          <p:nvPr/>
        </p:nvSpPr>
        <p:spPr>
          <a:xfrm>
            <a:off x="966225" y="4314220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4" name="Shape 558">
            <a:extLst>
              <a:ext uri="{FF2B5EF4-FFF2-40B4-BE49-F238E27FC236}">
                <a16:creationId xmlns:a16="http://schemas.microsoft.com/office/drawing/2014/main" id="{7819D3EE-D736-B953-EF9D-CAB801A5C1B4}"/>
              </a:ext>
            </a:extLst>
          </p:cNvPr>
          <p:cNvSpPr/>
          <p:nvPr/>
        </p:nvSpPr>
        <p:spPr>
          <a:xfrm>
            <a:off x="979181" y="4662370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5" name="Shape 558">
            <a:extLst>
              <a:ext uri="{FF2B5EF4-FFF2-40B4-BE49-F238E27FC236}">
                <a16:creationId xmlns:a16="http://schemas.microsoft.com/office/drawing/2014/main" id="{43338A7F-669A-744F-E334-F3920D9A7084}"/>
              </a:ext>
            </a:extLst>
          </p:cNvPr>
          <p:cNvSpPr/>
          <p:nvPr/>
        </p:nvSpPr>
        <p:spPr>
          <a:xfrm>
            <a:off x="983432" y="5098337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9417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5751C-9AC5-908A-9045-35188878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20EA79EF-87CD-384C-D3AF-07C61AB48393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BFC7A7F-D4CD-9334-855F-7DA9D8017AE3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73E5E4-363F-0E7D-E706-AB198FBD6087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4EFD7A3-D436-540C-DF81-BBD13A68C06D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A800AF4-A8E9-3504-E609-927D68F2F46D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FE5FB954-1E3D-685D-CF1A-99E6AF993DB6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8E3B7222-3254-E51C-50F5-23F1CFCCCF4D}"/>
              </a:ext>
            </a:extLst>
          </p:cNvPr>
          <p:cNvSpPr txBox="1"/>
          <p:nvPr/>
        </p:nvSpPr>
        <p:spPr>
          <a:xfrm>
            <a:off x="278986" y="2210246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zh-CN" dirty="0"/>
              <a:t>本题源自</a:t>
            </a:r>
            <a:r>
              <a:rPr lang="en-US" altLang="zh-CN" dirty="0"/>
              <a:t> </a:t>
            </a:r>
            <a:r>
              <a:rPr lang="en-US" altLang="zh-CN" b="1" dirty="0"/>
              <a:t>HNCTF 2022 WEEK2</a:t>
            </a:r>
            <a:r>
              <a:rPr lang="en-US" altLang="zh-CN" dirty="0"/>
              <a:t> </a:t>
            </a:r>
            <a:r>
              <a:rPr lang="zh-CN" altLang="zh-CN" dirty="0"/>
              <a:t>赛事的</a:t>
            </a:r>
            <a:r>
              <a:rPr lang="en-US" altLang="zh-CN" dirty="0"/>
              <a:t>“</a:t>
            </a:r>
            <a:r>
              <a:rPr lang="zh-CN" altLang="zh-CN" dirty="0"/>
              <a:t>来解个方程？</a:t>
            </a:r>
            <a:r>
              <a:rPr lang="en-US" altLang="zh-CN" dirty="0"/>
              <a:t>”</a:t>
            </a:r>
            <a:r>
              <a:rPr lang="zh-CN" altLang="zh-CN" dirty="0"/>
              <a:t>题目，核心是通过求解大规模整数线性方程组，获取隐藏的</a:t>
            </a:r>
            <a:r>
              <a:rPr lang="en-US" altLang="zh-CN" dirty="0"/>
              <a:t> flag </a:t>
            </a:r>
            <a:r>
              <a:rPr lang="zh-CN" altLang="zh-CN" dirty="0"/>
              <a:t>信息。具体问题定义如下：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存在</a:t>
            </a:r>
            <a:r>
              <a:rPr lang="en-US" altLang="zh-CN" dirty="0"/>
              <a:t> 24 </a:t>
            </a:r>
            <a:r>
              <a:rPr lang="zh-CN" altLang="zh-CN" dirty="0"/>
              <a:t>个变量</a:t>
            </a:r>
            <a:r>
              <a:rPr lang="en-US" altLang="zh-CN" dirty="0"/>
              <a:t> x[0]~x[23]</a:t>
            </a:r>
            <a:r>
              <a:rPr lang="zh-CN" altLang="zh-CN" dirty="0"/>
              <a:t>（记为</a:t>
            </a:r>
            <a:r>
              <a:rPr lang="en-US" altLang="zh-CN" dirty="0"/>
              <a:t>s0~s23</a:t>
            </a:r>
            <a:r>
              <a:rPr lang="zh-CN" altLang="zh-CN" dirty="0"/>
              <a:t>），所有变量均为整数且隐含</a:t>
            </a:r>
            <a:r>
              <a:rPr lang="en-US" altLang="zh-CN" dirty="0"/>
              <a:t> “ASCII </a:t>
            </a:r>
            <a:r>
              <a:rPr lang="zh-CN" altLang="zh-CN" dirty="0"/>
              <a:t>可打印字符</a:t>
            </a:r>
            <a:r>
              <a:rPr lang="en-US" altLang="zh-CN" dirty="0"/>
              <a:t>”</a:t>
            </a:r>
            <a:r>
              <a:rPr lang="zh-CN" altLang="zh-CN" dirty="0"/>
              <a:t>约束；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变量需满足</a:t>
            </a:r>
            <a:r>
              <a:rPr lang="en-US" altLang="zh-CN" dirty="0"/>
              <a:t> 22 </a:t>
            </a:r>
            <a:r>
              <a:rPr lang="zh-CN" altLang="zh-CN" dirty="0"/>
              <a:t>个线性约束方程；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b="1" dirty="0"/>
              <a:t>任务目标：</a:t>
            </a:r>
            <a:r>
              <a:rPr lang="zh-CN" altLang="zh-CN" dirty="0"/>
              <a:t>求解所有变量的整数取值，将其转换为对应</a:t>
            </a:r>
            <a:r>
              <a:rPr lang="en-US" altLang="zh-CN" dirty="0"/>
              <a:t> ASCII </a:t>
            </a:r>
            <a:r>
              <a:rPr lang="zh-CN" altLang="zh-CN" dirty="0"/>
              <a:t>字符，拼接得到最终</a:t>
            </a:r>
            <a:r>
              <a:rPr lang="en-US" altLang="zh-CN" dirty="0"/>
              <a:t> flag</a:t>
            </a:r>
            <a:r>
              <a:rPr lang="zh-CN" altLang="zh-CN" dirty="0"/>
              <a:t>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FB6E1578-0511-589D-FAC5-1B418E695B35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zh-CN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HNCTF 2022 WEEK2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90630C49-1B71-AEE3-0D56-7C8A43EB2BE9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0578729-F204-FF12-D724-FF7269056ECB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98A78CEF-C436-382A-EDA3-2AEA2AE81E7E}"/>
              </a:ext>
            </a:extLst>
          </p:cNvPr>
          <p:cNvSpPr/>
          <p:nvPr/>
        </p:nvSpPr>
        <p:spPr>
          <a:xfrm>
            <a:off x="963936" y="3335558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4" name="Shape 558">
            <a:extLst>
              <a:ext uri="{FF2B5EF4-FFF2-40B4-BE49-F238E27FC236}">
                <a16:creationId xmlns:a16="http://schemas.microsoft.com/office/drawing/2014/main" id="{7B9DFC6B-5CB9-6058-AD3F-05A5784B974A}"/>
              </a:ext>
            </a:extLst>
          </p:cNvPr>
          <p:cNvSpPr/>
          <p:nvPr/>
        </p:nvSpPr>
        <p:spPr>
          <a:xfrm>
            <a:off x="963936" y="4293096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89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4562-AB10-6F94-88A2-BC342A24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A1A8B31B-5AA1-D252-CFAE-A24BBA9946AB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93E2D16-BD13-0E11-8BBA-38F9054D7D8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6A36FA9-80BD-06A6-3623-D0C4B5E03A38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4BCD64F-D7D5-F744-5786-648876B8FCE7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76EC778-D229-8741-836F-7F5DB7F86077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758C7E32-10FC-849B-E56E-4AE6E7EDA96A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A50A8216-40B3-97B6-C836-535C98C28B6F}"/>
              </a:ext>
            </a:extLst>
          </p:cNvPr>
          <p:cNvSpPr txBox="1"/>
          <p:nvPr/>
        </p:nvSpPr>
        <p:spPr>
          <a:xfrm>
            <a:off x="299356" y="2096232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zh-CN" dirty="0"/>
              <a:t>为使用</a:t>
            </a:r>
            <a:r>
              <a:rPr lang="en-US" altLang="zh-CN" dirty="0"/>
              <a:t> Z3 </a:t>
            </a:r>
            <a:r>
              <a:rPr lang="zh-CN" altLang="zh-CN" dirty="0"/>
              <a:t>高效求解该大规模线性方程组，需将题目约束转化为</a:t>
            </a:r>
            <a:r>
              <a:rPr lang="en-US" altLang="zh-CN" dirty="0"/>
              <a:t> Z3 </a:t>
            </a:r>
            <a:r>
              <a:rPr lang="zh-CN" altLang="zh-CN" dirty="0"/>
              <a:t>可识别的逻辑表达式，建模过程如下：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dirty="0"/>
              <a:t>由于变量为整数且需对应</a:t>
            </a:r>
            <a:r>
              <a:rPr lang="en-US" altLang="zh-CN" dirty="0"/>
              <a:t> ASCII </a:t>
            </a:r>
            <a:r>
              <a:rPr lang="zh-CN" altLang="zh-CN" dirty="0"/>
              <a:t>字符，使用</a:t>
            </a:r>
            <a:r>
              <a:rPr lang="en-US" altLang="zh-CN" dirty="0"/>
              <a:t> Z3 </a:t>
            </a:r>
            <a:r>
              <a:rPr lang="zh-CN" altLang="zh-CN" dirty="0"/>
              <a:t>的</a:t>
            </a:r>
            <a:r>
              <a:rPr lang="en-US" altLang="zh-CN" dirty="0"/>
              <a:t>Int()</a:t>
            </a:r>
            <a:r>
              <a:rPr lang="zh-CN" altLang="zh-CN" dirty="0"/>
              <a:t>类型批量声明</a:t>
            </a:r>
            <a:r>
              <a:rPr lang="en-US" altLang="zh-CN" dirty="0"/>
              <a:t> 24 </a:t>
            </a:r>
            <a:r>
              <a:rPr lang="zh-CN" altLang="zh-CN" dirty="0"/>
              <a:t>个变量</a:t>
            </a:r>
            <a:r>
              <a:rPr lang="en-US" altLang="zh-CN" dirty="0"/>
              <a:t> x[0]~x[23]</a:t>
            </a:r>
            <a:r>
              <a:rPr lang="zh-CN" altLang="zh-CN" dirty="0"/>
              <a:t>，变量名统一为</a:t>
            </a:r>
            <a:r>
              <a:rPr lang="en-US" altLang="zh-CN" dirty="0"/>
              <a:t>s0~s23</a:t>
            </a:r>
            <a:r>
              <a:rPr lang="zh-CN" altLang="zh-CN" dirty="0"/>
              <a:t>；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dirty="0"/>
              <a:t>将题目给出的</a:t>
            </a:r>
            <a:r>
              <a:rPr lang="en-US" altLang="zh-CN" dirty="0"/>
              <a:t> 22 </a:t>
            </a:r>
            <a:r>
              <a:rPr lang="zh-CN" altLang="zh-CN" dirty="0"/>
              <a:t>个线性方程直接映射为</a:t>
            </a:r>
            <a:r>
              <a:rPr lang="en-US" altLang="zh-CN" dirty="0"/>
              <a:t> Z3 </a:t>
            </a:r>
            <a:r>
              <a:rPr lang="zh-CN" altLang="zh-CN" dirty="0"/>
              <a:t>约束，每个方程通过变量</a:t>
            </a:r>
            <a:r>
              <a:rPr lang="en-US" altLang="zh-CN" dirty="0"/>
              <a:t>×</a:t>
            </a:r>
            <a:r>
              <a:rPr lang="zh-CN" altLang="zh-CN" dirty="0"/>
              <a:t>系数</a:t>
            </a:r>
            <a:r>
              <a:rPr lang="en-US" altLang="zh-CN" dirty="0"/>
              <a:t> + ... == </a:t>
            </a:r>
            <a:r>
              <a:rPr lang="zh-CN" altLang="zh-CN" dirty="0"/>
              <a:t>常数项的形式添加到求解器，确保约束与题目完全一致；</a:t>
            </a:r>
          </a:p>
          <a:p>
            <a:pPr lvl="0"/>
            <a:r>
              <a:rPr lang="en-US" altLang="zh-CN" b="1" dirty="0"/>
              <a:t>	</a:t>
            </a:r>
            <a:r>
              <a:rPr lang="en-US" altLang="zh-CN" dirty="0"/>
              <a:t>CTF </a:t>
            </a:r>
            <a:r>
              <a:rPr lang="zh-CN" altLang="zh-CN" dirty="0"/>
              <a:t>题目中变量通常对应可打印字符，因此新增约束</a:t>
            </a:r>
            <a:r>
              <a:rPr lang="en-US" altLang="zh-CN" dirty="0"/>
              <a:t> 32 ≤ x[</a:t>
            </a:r>
            <a:r>
              <a:rPr lang="en-US" altLang="zh-CN" dirty="0" err="1"/>
              <a:t>i</a:t>
            </a:r>
            <a:r>
              <a:rPr lang="en-US" altLang="zh-CN" dirty="0"/>
              <a:t>] ≤ 126</a:t>
            </a:r>
            <a:r>
              <a:rPr lang="zh-CN" altLang="zh-CN" dirty="0"/>
              <a:t>（</a:t>
            </a:r>
            <a:r>
              <a:rPr lang="en-US" altLang="zh-CN" dirty="0" err="1"/>
              <a:t>i</a:t>
            </a:r>
            <a:r>
              <a:rPr lang="en-US" altLang="zh-CN" dirty="0"/>
              <a:t>=0~23</a:t>
            </a:r>
            <a:r>
              <a:rPr lang="zh-CN" altLang="zh-CN" dirty="0"/>
              <a:t>），缩小求解范围、提升求解效率；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b="1" dirty="0"/>
              <a:t>求解目标</a:t>
            </a:r>
            <a:r>
              <a:rPr lang="zh-CN" altLang="zh-CN" dirty="0"/>
              <a:t>：通过</a:t>
            </a:r>
            <a:r>
              <a:rPr lang="en-US" altLang="zh-CN" dirty="0"/>
              <a:t> Z3 </a:t>
            </a:r>
            <a:r>
              <a:rPr lang="zh-CN" altLang="zh-CN" dirty="0"/>
              <a:t>求解变量的整数解，转换为</a:t>
            </a:r>
            <a:r>
              <a:rPr lang="en-US" altLang="zh-CN" dirty="0"/>
              <a:t> ASCII </a:t>
            </a:r>
            <a:r>
              <a:rPr lang="zh-CN" altLang="zh-CN" dirty="0"/>
              <a:t>字符后拼接得到</a:t>
            </a:r>
            <a:r>
              <a:rPr lang="en-US" altLang="zh-CN" dirty="0"/>
              <a:t> flag</a:t>
            </a:r>
            <a:r>
              <a:rPr lang="zh-CN" altLang="zh-CN" dirty="0"/>
              <a:t>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55188887-F876-9897-1611-CE018E9ADACB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数学方程求解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5C91EFE0-E951-ED31-BF9B-B917BB4BA1EF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6F8D7E6-BC4B-4431-22BA-992EC83F790F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约束建模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9F901B12-1A9E-EAA2-41CC-AE8FB836F087}"/>
              </a:ext>
            </a:extLst>
          </p:cNvPr>
          <p:cNvSpPr/>
          <p:nvPr/>
        </p:nvSpPr>
        <p:spPr>
          <a:xfrm>
            <a:off x="972268" y="3183949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4" name="Shape 558">
            <a:extLst>
              <a:ext uri="{FF2B5EF4-FFF2-40B4-BE49-F238E27FC236}">
                <a16:creationId xmlns:a16="http://schemas.microsoft.com/office/drawing/2014/main" id="{7F4FA213-98A5-1C2C-327E-040A23093300}"/>
              </a:ext>
            </a:extLst>
          </p:cNvPr>
          <p:cNvSpPr/>
          <p:nvPr/>
        </p:nvSpPr>
        <p:spPr>
          <a:xfrm>
            <a:off x="966225" y="4113132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5" name="Shape 558">
            <a:extLst>
              <a:ext uri="{FF2B5EF4-FFF2-40B4-BE49-F238E27FC236}">
                <a16:creationId xmlns:a16="http://schemas.microsoft.com/office/drawing/2014/main" id="{7C55CE74-442A-E979-2FD5-F6888709031D}"/>
              </a:ext>
            </a:extLst>
          </p:cNvPr>
          <p:cNvSpPr/>
          <p:nvPr/>
        </p:nvSpPr>
        <p:spPr>
          <a:xfrm>
            <a:off x="970306" y="5098337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8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7A6B-F256-4C6B-2BF6-AFF316C6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10CDED11-CD89-EEA0-F3A4-12EBB2A44835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078CCC0-04AF-C50E-911C-7104DCED9C3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6C30FB1-A629-D3B1-170D-818B5E9995DD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CF1EF8D-49CA-A0CF-8514-F817C7B706B7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00C8B99-1DE4-A1C7-B503-68D1EA77041F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1049D9B4-72AB-74C0-7CD2-7581DDFF6B92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63238C97-C997-391E-5056-F8186C32A3EC}"/>
              </a:ext>
            </a:extLst>
          </p:cNvPr>
          <p:cNvSpPr txBox="1"/>
          <p:nvPr/>
        </p:nvSpPr>
        <p:spPr>
          <a:xfrm>
            <a:off x="278986" y="2210246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en-US" altLang="zh-CN" b="1" dirty="0"/>
              <a:t>XOR </a:t>
            </a:r>
            <a:r>
              <a:rPr lang="zh-CN" altLang="zh-CN" b="1" dirty="0"/>
              <a:t>流密码密文破解</a:t>
            </a:r>
            <a:r>
              <a:rPr lang="zh-CN" altLang="zh-CN" dirty="0"/>
              <a:t>：给定一个未知密钥加密的密文文件，其中明文为英文文本，使用循环</a:t>
            </a:r>
            <a:r>
              <a:rPr lang="en-US" altLang="zh-CN" dirty="0"/>
              <a:t>XOR</a:t>
            </a:r>
            <a:r>
              <a:rPr lang="zh-CN" altLang="zh-CN" dirty="0"/>
              <a:t>加密方式，即密钥长度固定，按字节循环与明文进行异或操作。目标是在不知道密钥的情况下，通过分析密文的统计特性，恢复原始密钥和明文。核心任务如下：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未知条件：密钥长度、密钥具体取值；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dirty="0"/>
              <a:t>已知条件：密文文件为二进制格式、明文为英文可读文本；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b="1" dirty="0"/>
              <a:t>破解目标：</a:t>
            </a:r>
            <a:r>
              <a:rPr lang="zh-CN" altLang="zh-CN" dirty="0"/>
              <a:t>自动遍历可能的密钥长度，通过约束求解找到最优密钥，解密得到完整明文。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10661AC7-536C-66B6-A8C9-832773B170AA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破解密文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4C907232-9BAC-F016-CEAC-A07C381C8CE7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59A056-A27A-DF12-F402-1DDEE9663077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F5CBBB6F-C070-E492-7174-E283CCB61514}"/>
              </a:ext>
            </a:extLst>
          </p:cNvPr>
          <p:cNvSpPr/>
          <p:nvPr/>
        </p:nvSpPr>
        <p:spPr>
          <a:xfrm>
            <a:off x="963936" y="3707729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4" name="Shape 558">
            <a:extLst>
              <a:ext uri="{FF2B5EF4-FFF2-40B4-BE49-F238E27FC236}">
                <a16:creationId xmlns:a16="http://schemas.microsoft.com/office/drawing/2014/main" id="{AA270056-3E19-395D-E1D0-9E1DA05CC090}"/>
              </a:ext>
            </a:extLst>
          </p:cNvPr>
          <p:cNvSpPr/>
          <p:nvPr/>
        </p:nvSpPr>
        <p:spPr>
          <a:xfrm>
            <a:off x="963936" y="4221088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238396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7B9CD-6435-A1E8-3292-78263BCB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B1D6510-7ECE-A0E8-FD96-4D8236786B56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2E73807-ADB7-97EB-CA3B-E5DB3396DA15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4B34841-22B4-CE4F-936A-AE8F99895F3A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FC12B60-D109-FE77-CBA5-FD006DA6FA1A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6906CFD-9034-FAC5-A926-D8D118E695F2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33B138BC-477C-861A-7E6D-908220074614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988BF198-A81E-E053-4096-2FC8BC4A73E4}"/>
              </a:ext>
            </a:extLst>
          </p:cNvPr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A38A6BCF-890B-A047-031E-AC0A975DB90B}"/>
              </a:ext>
            </a:extLst>
          </p:cNvPr>
          <p:cNvSpPr txBox="1"/>
          <p:nvPr/>
        </p:nvSpPr>
        <p:spPr>
          <a:xfrm>
            <a:off x="278986" y="2210246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zh-CN" dirty="0"/>
              <a:t>为使用</a:t>
            </a:r>
            <a:r>
              <a:rPr lang="en-US" altLang="zh-CN" dirty="0"/>
              <a:t> Z3 </a:t>
            </a:r>
            <a:r>
              <a:rPr lang="zh-CN" altLang="zh-CN" dirty="0"/>
              <a:t>实现</a:t>
            </a:r>
            <a:r>
              <a:rPr lang="en-US" altLang="zh-CN" dirty="0"/>
              <a:t> XOR </a:t>
            </a:r>
            <a:r>
              <a:rPr lang="zh-CN" altLang="zh-CN" dirty="0"/>
              <a:t>流密码破解，需将</a:t>
            </a:r>
            <a:r>
              <a:rPr lang="en-US" altLang="zh-CN" dirty="0"/>
              <a:t>“</a:t>
            </a:r>
            <a:r>
              <a:rPr lang="zh-CN" altLang="zh-CN" dirty="0"/>
              <a:t>加密逻辑、明文特征、密钥约束</a:t>
            </a:r>
            <a:r>
              <a:rPr lang="en-US" altLang="zh-CN" dirty="0"/>
              <a:t>” </a:t>
            </a:r>
            <a:r>
              <a:rPr lang="zh-CN" altLang="zh-CN" dirty="0"/>
              <a:t>转化为</a:t>
            </a:r>
            <a:r>
              <a:rPr lang="en-US" altLang="zh-CN" dirty="0"/>
              <a:t> Z3 </a:t>
            </a:r>
            <a:r>
              <a:rPr lang="zh-CN" altLang="zh-CN" dirty="0"/>
              <a:t>可识别的符号约束，建模过程如下：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b="1" dirty="0"/>
              <a:t>变量定义：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</a:t>
            </a:r>
            <a:r>
              <a:rPr lang="zh-CN" altLang="zh-CN" sz="2000" b="0" dirty="0">
                <a:latin typeface="+mn-ea"/>
                <a:ea typeface="+mn-ea"/>
              </a:rPr>
              <a:t>密钥变量：</a:t>
            </a:r>
            <a:r>
              <a:rPr lang="en-US" altLang="zh-CN" sz="2000" b="0" dirty="0">
                <a:latin typeface="+mn-ea"/>
                <a:ea typeface="+mn-ea"/>
              </a:rPr>
              <a:t>KEY_LEN</a:t>
            </a:r>
            <a:r>
              <a:rPr lang="zh-CN" altLang="zh-CN" sz="2000" b="0" dirty="0">
                <a:latin typeface="+mn-ea"/>
                <a:ea typeface="+mn-ea"/>
              </a:rPr>
              <a:t>个</a:t>
            </a:r>
            <a:r>
              <a:rPr lang="en-US" altLang="zh-CN" sz="2000" b="0" dirty="0">
                <a:latin typeface="+mn-ea"/>
                <a:ea typeface="+mn-ea"/>
              </a:rPr>
              <a:t> 8 </a:t>
            </a:r>
            <a:r>
              <a:rPr lang="zh-CN" altLang="zh-CN" sz="2000" b="0" dirty="0">
                <a:latin typeface="+mn-ea"/>
                <a:ea typeface="+mn-ea"/>
              </a:rPr>
              <a:t>位位向量</a:t>
            </a:r>
            <a:r>
              <a:rPr lang="en-US" altLang="zh-CN" sz="2000" b="0" dirty="0">
                <a:latin typeface="+mn-ea"/>
                <a:ea typeface="+mn-ea"/>
              </a:rPr>
              <a:t>key[0]~key[KEY_LEN-1]</a:t>
            </a:r>
            <a:r>
              <a:rPr lang="zh-CN" altLang="zh-CN" sz="2000" b="0" dirty="0">
                <a:latin typeface="+mn-ea"/>
                <a:ea typeface="+mn-ea"/>
              </a:rPr>
              <a:t>；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</a:t>
            </a:r>
            <a:r>
              <a:rPr lang="zh-CN" altLang="zh-CN" sz="2000" b="0" dirty="0">
                <a:latin typeface="+mn-ea"/>
                <a:ea typeface="+mn-ea"/>
              </a:rPr>
              <a:t>密文变量：</a:t>
            </a:r>
            <a:r>
              <a:rPr lang="en-US" altLang="zh-CN" sz="2000" b="0" dirty="0">
                <a:latin typeface="+mn-ea"/>
                <a:ea typeface="+mn-ea"/>
              </a:rPr>
              <a:t>8 </a:t>
            </a:r>
            <a:r>
              <a:rPr lang="zh-CN" altLang="zh-CN" sz="2000" b="0" dirty="0">
                <a:latin typeface="+mn-ea"/>
                <a:ea typeface="+mn-ea"/>
              </a:rPr>
              <a:t>位位向量</a:t>
            </a:r>
            <a:r>
              <a:rPr lang="en-US" altLang="zh-CN" sz="2000" b="0" dirty="0">
                <a:latin typeface="+mn-ea"/>
                <a:ea typeface="+mn-ea"/>
              </a:rPr>
              <a:t>cipher[0]~cipher[n]</a:t>
            </a:r>
            <a:r>
              <a:rPr lang="zh-CN" altLang="zh-CN" sz="2000" b="0" dirty="0">
                <a:latin typeface="+mn-ea"/>
                <a:ea typeface="+mn-ea"/>
              </a:rPr>
              <a:t>；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</a:t>
            </a:r>
            <a:r>
              <a:rPr lang="zh-CN" altLang="zh-CN" sz="2000" b="0" dirty="0">
                <a:latin typeface="+mn-ea"/>
                <a:ea typeface="+mn-ea"/>
              </a:rPr>
              <a:t>明文变量：</a:t>
            </a:r>
            <a:r>
              <a:rPr lang="en-US" altLang="zh-CN" sz="2000" b="0" dirty="0">
                <a:latin typeface="+mn-ea"/>
                <a:ea typeface="+mn-ea"/>
              </a:rPr>
              <a:t>8 </a:t>
            </a:r>
            <a:r>
              <a:rPr lang="zh-CN" altLang="zh-CN" sz="2000" b="0" dirty="0">
                <a:latin typeface="+mn-ea"/>
                <a:ea typeface="+mn-ea"/>
              </a:rPr>
              <a:t>位位向量</a:t>
            </a:r>
            <a:r>
              <a:rPr lang="en-US" altLang="zh-CN" sz="2000" b="0" dirty="0">
                <a:latin typeface="+mn-ea"/>
                <a:ea typeface="+mn-ea"/>
              </a:rPr>
              <a:t>plain[0]~plain[n]</a:t>
            </a:r>
            <a:r>
              <a:rPr lang="zh-CN" altLang="zh-CN" sz="2000" b="0" dirty="0">
                <a:latin typeface="+mn-ea"/>
                <a:ea typeface="+mn-ea"/>
              </a:rPr>
              <a:t>；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</a:t>
            </a:r>
            <a:r>
              <a:rPr lang="zh-CN" altLang="zh-CN" sz="2000" b="0" dirty="0">
                <a:latin typeface="+mn-ea"/>
                <a:ea typeface="+mn-ea"/>
              </a:rPr>
              <a:t>质量变量：整数</a:t>
            </a:r>
            <a:r>
              <a:rPr lang="en-US" altLang="zh-CN" sz="2000" b="0" dirty="0" err="1">
                <a:latin typeface="+mn-ea"/>
                <a:ea typeface="+mn-ea"/>
              </a:rPr>
              <a:t>az_in_plain</a:t>
            </a:r>
            <a:r>
              <a:rPr lang="en-US" altLang="zh-CN" sz="2000" b="0" dirty="0">
                <a:latin typeface="+mn-ea"/>
                <a:ea typeface="+mn-ea"/>
              </a:rPr>
              <a:t>[0]~</a:t>
            </a:r>
            <a:r>
              <a:rPr lang="en-US" altLang="zh-CN" sz="2000" b="0" dirty="0" err="1">
                <a:latin typeface="+mn-ea"/>
                <a:ea typeface="+mn-ea"/>
              </a:rPr>
              <a:t>az_in_plain</a:t>
            </a:r>
            <a:r>
              <a:rPr lang="en-US" altLang="zh-CN" sz="2000" b="0" dirty="0">
                <a:latin typeface="+mn-ea"/>
                <a:ea typeface="+mn-ea"/>
              </a:rPr>
              <a:t>[n]</a:t>
            </a:r>
            <a:r>
              <a:rPr lang="zh-CN" altLang="zh-CN" sz="2000" b="0" dirty="0">
                <a:latin typeface="+mn-ea"/>
                <a:ea typeface="+mn-ea"/>
              </a:rPr>
              <a:t>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DF648297-2209-BF38-6837-3DF2CAC4DE30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数学方程求解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B8341248-53C5-14BA-1A67-D994250B26AD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D6D0EA9-E97A-D0A1-3457-AD232A1B935F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约束建模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3AE168A2-9374-B952-B95C-6EA086B95218}"/>
              </a:ext>
            </a:extLst>
          </p:cNvPr>
          <p:cNvSpPr/>
          <p:nvPr/>
        </p:nvSpPr>
        <p:spPr>
          <a:xfrm>
            <a:off x="991122" y="3335558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253841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085B-D810-3184-1BA1-39551033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8D0340F-7887-380D-9423-060957F4CFAB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C340F39-9E9D-55D5-A4BA-110DDE6F98D0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90ED668-AAD8-2DBD-C056-6C21E3909A8E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EADD-DC39-F6BE-6D1D-B80ED5B57540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F586EC8-E1F4-D38F-6A1B-CE2D05242E7C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8AA583D1-F276-B383-5C85-6B7B836182E8}"/>
                </a:ext>
              </a:extLst>
            </p:cNvPr>
            <p:cNvSpPr txBox="1"/>
            <p:nvPr/>
          </p:nvSpPr>
          <p:spPr>
            <a:xfrm>
              <a:off x="1163452" y="260648"/>
              <a:ext cx="5295360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Z3 </a:t>
              </a:r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典型应用领域及具体使用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0944885E-418D-3519-FE45-DDACF2866AA1}"/>
              </a:ext>
            </a:extLst>
          </p:cNvPr>
          <p:cNvSpPr txBox="1"/>
          <p:nvPr/>
        </p:nvSpPr>
        <p:spPr>
          <a:xfrm>
            <a:off x="299356" y="2302392"/>
            <a:ext cx="11865686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zh-CN" b="1" dirty="0"/>
              <a:t>核心约束：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① </a:t>
            </a:r>
            <a:r>
              <a:rPr lang="zh-CN" altLang="zh-CN" sz="2000" b="0" dirty="0">
                <a:latin typeface="+mn-ea"/>
                <a:ea typeface="+mn-ea"/>
              </a:rPr>
              <a:t>解密逻辑：</a:t>
            </a:r>
            <a:r>
              <a:rPr lang="en-US" altLang="zh-CN" sz="2000" b="0" dirty="0">
                <a:latin typeface="+mn-ea"/>
                <a:ea typeface="+mn-ea"/>
              </a:rPr>
              <a:t>plain[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 = cipher[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 ⊕ key[</a:t>
            </a:r>
            <a:r>
              <a:rPr lang="en-US" altLang="zh-CN" sz="2000" b="0" dirty="0" err="1">
                <a:latin typeface="+mn-ea"/>
                <a:ea typeface="+mn-ea"/>
              </a:rPr>
              <a:t>i%KEY_LEN</a:t>
            </a:r>
            <a:r>
              <a:rPr lang="en-US" altLang="zh-CN" sz="2000" b="0" dirty="0">
                <a:latin typeface="+mn-ea"/>
                <a:ea typeface="+mn-ea"/>
              </a:rPr>
              <a:t>]</a:t>
            </a:r>
            <a:r>
              <a:rPr lang="zh-CN" altLang="zh-CN" sz="2000" b="0" dirty="0">
                <a:latin typeface="+mn-ea"/>
                <a:ea typeface="+mn-ea"/>
              </a:rPr>
              <a:t>；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② </a:t>
            </a:r>
            <a:r>
              <a:rPr lang="zh-CN" altLang="zh-CN" sz="2000" b="0" dirty="0">
                <a:latin typeface="+mn-ea"/>
                <a:ea typeface="+mn-ea"/>
              </a:rPr>
              <a:t>密文固定：</a:t>
            </a:r>
            <a:r>
              <a:rPr lang="en-US" altLang="zh-CN" sz="2000" b="0" dirty="0">
                <a:latin typeface="+mn-ea"/>
                <a:ea typeface="+mn-ea"/>
              </a:rPr>
              <a:t>cipher[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 == </a:t>
            </a:r>
            <a:r>
              <a:rPr lang="zh-CN" altLang="zh-CN" sz="2000" b="0" dirty="0">
                <a:latin typeface="+mn-ea"/>
                <a:ea typeface="+mn-ea"/>
              </a:rPr>
              <a:t>密文第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zh-CN" altLang="zh-CN" sz="2000" b="0" dirty="0">
                <a:latin typeface="+mn-ea"/>
                <a:ea typeface="+mn-ea"/>
              </a:rPr>
              <a:t>字节数值；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③ </a:t>
            </a:r>
            <a:r>
              <a:rPr lang="zh-CN" altLang="zh-CN" sz="2000" b="0" dirty="0">
                <a:latin typeface="+mn-ea"/>
                <a:ea typeface="+mn-ea"/>
              </a:rPr>
              <a:t>明文可读：</a:t>
            </a:r>
            <a:r>
              <a:rPr lang="en-US" altLang="zh-CN" sz="2000" b="0" dirty="0">
                <a:latin typeface="+mn-ea"/>
                <a:ea typeface="+mn-ea"/>
              </a:rPr>
              <a:t>Or(And(plain[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]≥0x20, plain[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]≤0x7E), plain[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]==0xA, plain[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]==0xD)</a:t>
            </a:r>
            <a:r>
              <a:rPr lang="zh-CN" altLang="zh-CN" sz="2000" b="0" dirty="0">
                <a:latin typeface="+mn-ea"/>
                <a:ea typeface="+mn-ea"/>
              </a:rPr>
              <a:t>；</a:t>
            </a:r>
          </a:p>
          <a:p>
            <a:pPr lvl="1"/>
            <a:r>
              <a:rPr lang="en-US" altLang="zh-CN" sz="2000" b="0" dirty="0">
                <a:latin typeface="+mn-ea"/>
                <a:ea typeface="+mn-ea"/>
              </a:rPr>
              <a:t>	④ </a:t>
            </a:r>
            <a:r>
              <a:rPr lang="zh-CN" altLang="zh-CN" sz="2000" b="0" dirty="0">
                <a:latin typeface="+mn-ea"/>
                <a:ea typeface="+mn-ea"/>
              </a:rPr>
              <a:t>质量量化：</a:t>
            </a:r>
            <a:r>
              <a:rPr lang="en-US" altLang="zh-CN" sz="2000" b="0" dirty="0" err="1">
                <a:latin typeface="+mn-ea"/>
                <a:ea typeface="+mn-ea"/>
              </a:rPr>
              <a:t>az_in_plain</a:t>
            </a:r>
            <a:r>
              <a:rPr lang="en-US" altLang="zh-CN" sz="2000" b="0" dirty="0">
                <a:latin typeface="+mn-ea"/>
                <a:ea typeface="+mn-ea"/>
              </a:rPr>
              <a:t>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 = If(plain[</a:t>
            </a:r>
            <a:r>
              <a:rPr lang="en-US" altLang="zh-CN" sz="2000" b="0" dirty="0" err="1">
                <a:latin typeface="+mn-ea"/>
                <a:ea typeface="+mn-ea"/>
              </a:rPr>
              <a:t>i</a:t>
            </a:r>
            <a:r>
              <a:rPr lang="en-US" altLang="zh-CN" sz="2000" b="0" dirty="0">
                <a:latin typeface="+mn-ea"/>
                <a:ea typeface="+mn-ea"/>
              </a:rPr>
              <a:t>]</a:t>
            </a:r>
            <a:r>
              <a:rPr lang="zh-CN" altLang="zh-CN" sz="2000" b="0" dirty="0">
                <a:latin typeface="+mn-ea"/>
                <a:ea typeface="+mn-ea"/>
              </a:rPr>
              <a:t>为小写字母</a:t>
            </a:r>
            <a:r>
              <a:rPr lang="en-US" altLang="zh-CN" sz="2000" b="0" dirty="0">
                <a:latin typeface="+mn-ea"/>
                <a:ea typeface="+mn-ea"/>
              </a:rPr>
              <a:t>, 1, 0)</a:t>
            </a:r>
            <a:r>
              <a:rPr lang="zh-CN" altLang="zh-CN" sz="2000" b="0" dirty="0">
                <a:latin typeface="+mn-ea"/>
                <a:ea typeface="+mn-ea"/>
              </a:rPr>
              <a:t>。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b="1" dirty="0"/>
              <a:t>优化目标：</a:t>
            </a:r>
            <a:r>
              <a:rPr lang="zh-CN" altLang="zh-CN" dirty="0"/>
              <a:t>最大化</a:t>
            </a:r>
            <a:r>
              <a:rPr lang="en-US" altLang="zh-CN" dirty="0"/>
              <a:t>Sum(*</a:t>
            </a:r>
            <a:r>
              <a:rPr lang="en-US" altLang="zh-CN" dirty="0" err="1"/>
              <a:t>az_in_plain</a:t>
            </a:r>
            <a:r>
              <a:rPr lang="en-US" altLang="zh-CN" dirty="0"/>
              <a:t>)</a:t>
            </a:r>
            <a:r>
              <a:rPr lang="zh-CN" altLang="zh-CN" dirty="0"/>
              <a:t>（筛选符合英文特征的最优解）。</a:t>
            </a:r>
          </a:p>
          <a:p>
            <a:pPr lvl="0"/>
            <a:r>
              <a:rPr lang="en-US" altLang="zh-CN" dirty="0"/>
              <a:t>	</a:t>
            </a:r>
            <a:r>
              <a:rPr lang="zh-CN" altLang="zh-CN" b="1" dirty="0"/>
              <a:t>多长度遍历：</a:t>
            </a:r>
            <a:r>
              <a:rPr lang="zh-CN" altLang="zh-CN" dirty="0"/>
              <a:t>遍历</a:t>
            </a:r>
            <a:r>
              <a:rPr lang="en-US" altLang="zh-CN" dirty="0"/>
              <a:t> 1~19 </a:t>
            </a:r>
            <a:r>
              <a:rPr lang="zh-CN" altLang="zh-CN" dirty="0"/>
              <a:t>字节密钥长度，结合明文质量评分筛选全局最优解。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5C854A31-071E-E7C5-78C4-B8F91AC7402D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数学方程求解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7E449CE2-96AF-559B-13A5-2BDD7160D464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C873E3-C0CA-B207-AD03-1E0AE986693F}"/>
              </a:ext>
            </a:extLst>
          </p:cNvPr>
          <p:cNvSpPr txBox="1"/>
          <p:nvPr/>
        </p:nvSpPr>
        <p:spPr>
          <a:xfrm>
            <a:off x="404642" y="1725731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约束建模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hape 558">
            <a:extLst>
              <a:ext uri="{FF2B5EF4-FFF2-40B4-BE49-F238E27FC236}">
                <a16:creationId xmlns:a16="http://schemas.microsoft.com/office/drawing/2014/main" id="{4CA4E883-15C5-CAC2-A967-8719585465C8}"/>
              </a:ext>
            </a:extLst>
          </p:cNvPr>
          <p:cNvSpPr/>
          <p:nvPr/>
        </p:nvSpPr>
        <p:spPr>
          <a:xfrm>
            <a:off x="993253" y="2492896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5" name="Shape 558">
            <a:extLst>
              <a:ext uri="{FF2B5EF4-FFF2-40B4-BE49-F238E27FC236}">
                <a16:creationId xmlns:a16="http://schemas.microsoft.com/office/drawing/2014/main" id="{FCDE5268-CFEF-A9D4-780E-C276D944CF4D}"/>
              </a:ext>
            </a:extLst>
          </p:cNvPr>
          <p:cNvSpPr/>
          <p:nvPr/>
        </p:nvSpPr>
        <p:spPr>
          <a:xfrm>
            <a:off x="992719" y="4394245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  <p:sp>
        <p:nvSpPr>
          <p:cNvPr id="6" name="Shape 558">
            <a:extLst>
              <a:ext uri="{FF2B5EF4-FFF2-40B4-BE49-F238E27FC236}">
                <a16:creationId xmlns:a16="http://schemas.microsoft.com/office/drawing/2014/main" id="{5ADBB0DE-9132-DEF9-DD63-BE369A35D078}"/>
              </a:ext>
            </a:extLst>
          </p:cNvPr>
          <p:cNvSpPr/>
          <p:nvPr/>
        </p:nvSpPr>
        <p:spPr>
          <a:xfrm>
            <a:off x="992719" y="4941168"/>
            <a:ext cx="197227" cy="186883"/>
          </a:xfrm>
          <a:prstGeom prst="rect">
            <a:avLst/>
          </a:prstGeom>
          <a:solidFill>
            <a:srgbClr val="8C0807"/>
          </a:solidFill>
          <a:ln w="12700" cap="flat">
            <a:solidFill>
              <a:srgbClr val="8C0807"/>
            </a:soli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  <a:sym typeface="Aller Light"/>
              </a:defRPr>
            </a:pPr>
            <a:endParaRPr kumimoji="0" sz="333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ler Light"/>
              <a:sym typeface="Aller Light"/>
            </a:endParaRPr>
          </a:p>
        </p:txBody>
      </p:sp>
    </p:spTree>
    <p:extLst>
      <p:ext uri="{BB962C8B-B14F-4D97-AF65-F5344CB8AC3E}">
        <p14:creationId xmlns:p14="http://schemas.microsoft.com/office/powerpoint/2010/main" val="6251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C76CA-E388-0365-C55A-255C59A43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E695E8-18A5-E211-FE98-80A69EBAAD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17"/>
          <a:stretch/>
        </p:blipFill>
        <p:spPr>
          <a:xfrm>
            <a:off x="1868863" y="692696"/>
            <a:ext cx="2063552" cy="20297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BF61387-8F53-774A-0F04-9FE6C2CBA4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17"/>
          <a:stretch/>
        </p:blipFill>
        <p:spPr>
          <a:xfrm>
            <a:off x="7365380" y="3998957"/>
            <a:ext cx="2063552" cy="2029723"/>
          </a:xfrm>
          <a:prstGeom prst="rect">
            <a:avLst/>
          </a:prstGeom>
        </p:spPr>
      </p:pic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543809D2-0BCD-289E-C44C-A11E7CA47AAA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rgbClr val="750909"/>
              </a:gs>
              <a:gs pos="42000">
                <a:srgbClr val="981A1B"/>
              </a:gs>
              <a:gs pos="74000">
                <a:srgbClr val="A92121"/>
              </a:gs>
              <a:gs pos="100000">
                <a:srgbClr val="C42B2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D2FFE12-7E19-78A5-6D41-318F04E353DE}"/>
              </a:ext>
            </a:extLst>
          </p:cNvPr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A981C96-0A0E-61ED-4C26-0A369F585027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5A49362B-B6E5-D281-1604-B8F8D89A5B64}"/>
                </a:ext>
              </a:extLst>
            </p:cNvPr>
            <p:cNvSpPr txBox="1"/>
            <p:nvPr/>
          </p:nvSpPr>
          <p:spPr>
            <a:xfrm>
              <a:off x="6204439" y="2990371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6000" b="1" dirty="0">
                  <a:solidFill>
                    <a:srgbClr val="750909"/>
                  </a:solidFill>
                  <a:latin typeface="AvantGarde Md BT" pitchFamily="34" charset="0"/>
                  <a:ea typeface="微软雅黑" panose="020B0503020204020204" pitchFamily="34" charset="-122"/>
                </a:rPr>
                <a:t>第三章</a:t>
              </a:r>
              <a:endParaRPr lang="en-US" altLang="zh-CN" sz="6000" b="1" dirty="0">
                <a:solidFill>
                  <a:srgbClr val="750909"/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6F312DEC-FAA3-C08E-FCE2-8DC45960B2EE}"/>
              </a:ext>
            </a:extLst>
          </p:cNvPr>
          <p:cNvSpPr txBox="1"/>
          <p:nvPr/>
        </p:nvSpPr>
        <p:spPr>
          <a:xfrm>
            <a:off x="83804" y="3005878"/>
            <a:ext cx="3600986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思考与展望</a:t>
            </a:r>
            <a:endParaRPr lang="en-US" altLang="zh-CN" sz="5400" b="1" dirty="0">
              <a:solidFill>
                <a:schemeClr val="bg1"/>
              </a:solidFill>
              <a:latin typeface="AvantGarde Md BT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571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B6F8-BE90-22FA-AEB7-397F90C0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054D2BA6-3DF0-D24B-7AFE-717EEEA8ED19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41C5CE3-CC24-B955-8877-9A1C0D0CB26E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5E4B845-0A72-5BD1-45CA-7DFCB4F8C3DE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854AC52-544E-6D5D-814C-1A7EC90A1493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8816A91-5AE5-27D6-A94A-7295C83E4DA2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BCA5251B-2121-055A-0992-E9044F480851}"/>
                </a:ext>
              </a:extLst>
            </p:cNvPr>
            <p:cNvSpPr txBox="1"/>
            <p:nvPr/>
          </p:nvSpPr>
          <p:spPr>
            <a:xfrm>
              <a:off x="1163452" y="260648"/>
              <a:ext cx="2190343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思考与展望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D115C7E4-2574-00E7-5D06-43B83741D2DB}"/>
              </a:ext>
            </a:extLst>
          </p:cNvPr>
          <p:cNvSpPr txBox="1"/>
          <p:nvPr/>
        </p:nvSpPr>
        <p:spPr>
          <a:xfrm>
            <a:off x="160488" y="2161934"/>
            <a:ext cx="10765962" cy="35230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en-US" altLang="zh-CN" dirty="0"/>
              <a:t>Z3 </a:t>
            </a:r>
            <a:r>
              <a:rPr lang="zh-CN" altLang="zh-CN" dirty="0"/>
              <a:t>作为</a:t>
            </a:r>
            <a:r>
              <a:rPr lang="en-US" altLang="zh-CN" dirty="0"/>
              <a:t> SMT </a:t>
            </a:r>
            <a:r>
              <a:rPr lang="zh-CN" altLang="zh-CN" dirty="0"/>
              <a:t>求解的核心工具，未来将在</a:t>
            </a:r>
            <a:r>
              <a:rPr lang="en-US" altLang="zh-CN" dirty="0"/>
              <a:t>“</a:t>
            </a:r>
            <a:r>
              <a:rPr lang="zh-CN" altLang="zh-CN" dirty="0"/>
              <a:t>跨领域融合</a:t>
            </a:r>
            <a:r>
              <a:rPr lang="en-US" altLang="zh-CN" dirty="0"/>
              <a:t>”</a:t>
            </a:r>
            <a:r>
              <a:rPr lang="zh-CN" altLang="zh-CN" dirty="0"/>
              <a:t>与</a:t>
            </a:r>
            <a:r>
              <a:rPr lang="en-US" altLang="zh-CN" dirty="0"/>
              <a:t>“</a:t>
            </a:r>
            <a:r>
              <a:rPr lang="zh-CN" altLang="zh-CN" dirty="0"/>
              <a:t>性能升级</a:t>
            </a:r>
            <a:r>
              <a:rPr lang="en-US" altLang="zh-CN" dirty="0"/>
              <a:t>”</a:t>
            </a:r>
            <a:r>
              <a:rPr lang="zh-CN" altLang="zh-CN" dirty="0"/>
              <a:t>两大方向持续拓展：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b="1" dirty="0"/>
              <a:t>跨领域渗透</a:t>
            </a:r>
            <a:r>
              <a:rPr lang="zh-CN" altLang="zh-CN" dirty="0"/>
              <a:t>：在自动驾驶、大模型幻觉检测、量子计算等场景，</a:t>
            </a:r>
            <a:r>
              <a:rPr lang="en-US" altLang="zh-CN" dirty="0"/>
              <a:t>Z3 </a:t>
            </a:r>
            <a:r>
              <a:rPr lang="zh-CN" altLang="zh-CN" dirty="0"/>
              <a:t>的符号推理能力可解决</a:t>
            </a:r>
            <a:r>
              <a:rPr lang="en-US" altLang="zh-CN" dirty="0"/>
              <a:t> “</a:t>
            </a:r>
            <a:r>
              <a:rPr lang="zh-CN" altLang="zh-CN" dirty="0"/>
              <a:t>动态约束优化</a:t>
            </a:r>
            <a:r>
              <a:rPr lang="en-US" altLang="zh-CN" dirty="0"/>
              <a:t>”“</a:t>
            </a:r>
            <a:r>
              <a:rPr lang="zh-CN" altLang="zh-CN" dirty="0"/>
              <a:t>复杂系统正确性验证</a:t>
            </a:r>
            <a:r>
              <a:rPr lang="en-US" altLang="zh-CN" dirty="0"/>
              <a:t>”</a:t>
            </a:r>
            <a:r>
              <a:rPr lang="zh-CN" altLang="zh-CN" dirty="0"/>
              <a:t>等痛点；</a:t>
            </a:r>
          </a:p>
          <a:p>
            <a:pPr lvl="0"/>
            <a:r>
              <a:rPr lang="en-US" altLang="zh-CN" b="1" dirty="0"/>
              <a:t>	</a:t>
            </a:r>
            <a:r>
              <a:rPr lang="zh-CN" altLang="zh-CN" b="1" dirty="0"/>
              <a:t>性能与易用性升级</a:t>
            </a:r>
            <a:r>
              <a:rPr lang="zh-CN" altLang="zh-CN" dirty="0"/>
              <a:t>：结合</a:t>
            </a:r>
            <a:r>
              <a:rPr lang="en-US" altLang="zh-CN" dirty="0"/>
              <a:t> AI </a:t>
            </a:r>
            <a:r>
              <a:rPr lang="zh-CN" altLang="zh-CN" dirty="0"/>
              <a:t>启发式算法优化约束建模效率，同时降低多语言接口的使用门槛，让非专业开发者也能快速应用</a:t>
            </a:r>
            <a:r>
              <a:rPr lang="en-US" altLang="zh-CN" dirty="0"/>
              <a:t> Z3 </a:t>
            </a:r>
            <a:r>
              <a:rPr lang="zh-CN" altLang="zh-CN" dirty="0"/>
              <a:t>解决实际问题。</a:t>
            </a: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A11741D0-AC9C-FE2D-50E8-65DE67BD9D2D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应用趋势展望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ECE5E2D6-E049-DD96-6B79-D72ABD465073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41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BA42-06E4-ABA8-0F2F-12185622F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347EED41-C71B-F10F-1870-E543D7573AD4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6525578-FB27-C8E5-2235-B7B5F83755B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483D175-32BA-0764-839B-E483D7ABCCC0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EEBA479-A1F2-1AAE-5428-AAFB609AA939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4448DB8-83A5-0941-CC45-F6FEBAD1A3F3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7257B00A-E562-1C94-AFE0-D1D45411E8F0}"/>
                </a:ext>
              </a:extLst>
            </p:cNvPr>
            <p:cNvSpPr txBox="1"/>
            <p:nvPr/>
          </p:nvSpPr>
          <p:spPr>
            <a:xfrm>
              <a:off x="1163452" y="260648"/>
              <a:ext cx="2190343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思考与展望</a:t>
              </a:r>
              <a:endParaRPr lang="en-US" altLang="zh-CN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0CCF2102-F6F7-B714-C615-A43CA099362C}"/>
              </a:ext>
            </a:extLst>
          </p:cNvPr>
          <p:cNvSpPr txBox="1"/>
          <p:nvPr/>
        </p:nvSpPr>
        <p:spPr>
          <a:xfrm>
            <a:off x="160488" y="2060848"/>
            <a:ext cx="10765962" cy="4176464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r>
              <a:rPr lang="zh-CN" altLang="en-US" dirty="0"/>
              <a:t>通过本次 </a:t>
            </a:r>
            <a:r>
              <a:rPr lang="en-US" altLang="zh-CN" dirty="0"/>
              <a:t>Z3 </a:t>
            </a:r>
            <a:r>
              <a:rPr lang="zh-CN" altLang="en-US" dirty="0"/>
              <a:t>的实践，我深刻体会到“</a:t>
            </a:r>
            <a:r>
              <a:rPr lang="zh-CN" altLang="en-US" b="1" dirty="0"/>
              <a:t>约束建模是核心，工具是手段</a:t>
            </a:r>
            <a:r>
              <a:rPr lang="zh-CN" altLang="en-US" dirty="0"/>
              <a:t>”：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从简单数学方程到 </a:t>
            </a:r>
            <a:r>
              <a:rPr lang="en-US" altLang="zh-CN" dirty="0"/>
              <a:t>CTF </a:t>
            </a:r>
            <a:r>
              <a:rPr lang="zh-CN" altLang="en-US" dirty="0"/>
              <a:t>密码破解，</a:t>
            </a:r>
            <a:r>
              <a:rPr lang="en-US" altLang="zh-CN" dirty="0"/>
              <a:t>Z3 </a:t>
            </a:r>
            <a:r>
              <a:rPr lang="zh-CN" altLang="en-US" dirty="0"/>
              <a:t>的价值不在于“计算”，而在于“将实际问题转化为精准的逻辑约束”</a:t>
            </a:r>
            <a:r>
              <a:rPr lang="en-US" altLang="zh-CN" dirty="0"/>
              <a:t>—— </a:t>
            </a:r>
            <a:r>
              <a:rPr lang="zh-CN" altLang="en-US" dirty="0"/>
              <a:t>建模的合理性直接决定求解效率与结果有效性；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同时，</a:t>
            </a:r>
            <a:r>
              <a:rPr lang="en-US" altLang="zh-CN" dirty="0"/>
              <a:t>Z3 </a:t>
            </a:r>
            <a:r>
              <a:rPr lang="zh-CN" altLang="en-US" dirty="0"/>
              <a:t>的“场景适配性”很强：在安全领域，它是破解密码的“利器”；在程序验证中，它是保障正确性的“质检员”，这让我意识到逻辑推理能力是连接技术与场景的关键桥梁。 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后续我会继续探索 </a:t>
            </a:r>
            <a:r>
              <a:rPr lang="en-US" altLang="zh-CN" dirty="0"/>
              <a:t>Z3 </a:t>
            </a:r>
            <a:r>
              <a:rPr lang="zh-CN" altLang="en-US" dirty="0"/>
              <a:t>在跨学科场景的应用，进一步提升“</a:t>
            </a:r>
            <a:r>
              <a:rPr lang="zh-CN" altLang="en-US" b="1" dirty="0"/>
              <a:t>问题抽象→约束建模</a:t>
            </a:r>
            <a:r>
              <a:rPr lang="zh-CN" altLang="en-US" dirty="0"/>
              <a:t>”的能力。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	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E196B47B-C8B7-9B10-F05D-1A518F21D4DE}"/>
              </a:ext>
            </a:extLst>
          </p:cNvPr>
          <p:cNvSpPr txBox="1"/>
          <p:nvPr/>
        </p:nvSpPr>
        <p:spPr>
          <a:xfrm>
            <a:off x="422104" y="1149070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个人实践感悟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FFF0180A-3A37-63DC-6A0F-3164725A33B2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rgbClr val="D9969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67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5319"/>
            <a:ext cx="12191999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solidFill>
              <a:srgbClr val="751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623392" y="3013926"/>
            <a:ext cx="1156860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80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汇报结束 感谢聆听</a:t>
            </a:r>
            <a:r>
              <a:rPr kumimoji="0" lang="zh-CN" altLang="en-US" sz="8000" b="1" i="1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619185" y="4500571"/>
            <a:ext cx="865968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7" name="矩形 6"/>
          <p:cNvSpPr/>
          <p:nvPr/>
        </p:nvSpPr>
        <p:spPr>
          <a:xfrm>
            <a:off x="1619184" y="4705399"/>
            <a:ext cx="86596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THANKS FOR YOUR LISTENING!</a:t>
            </a: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23E498A9-96F9-C70C-37B6-226BA1F3AD72}"/>
              </a:ext>
            </a:extLst>
          </p:cNvPr>
          <p:cNvSpPr txBox="1"/>
          <p:nvPr/>
        </p:nvSpPr>
        <p:spPr>
          <a:xfrm>
            <a:off x="100420" y="6222503"/>
            <a:ext cx="3789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 求真 砺学 笃行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B0E5CC1-4F1D-8235-FE50-0526BA656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19" y="1332545"/>
            <a:ext cx="4857753" cy="131797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3533e0e-8974-4c95-89b4-556a61793c5d"/>
  <p:tag name="COMMONDATA" val="eyJoZGlkIjoiNTMzNTU1OTFlNjljOTNmZjcwNDMwMDVkNDMxOGYxND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1603</Words>
  <Application>Microsoft Office PowerPoint</Application>
  <PresentationFormat>宽屏</PresentationFormat>
  <Paragraphs>128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AvantGarde Md BT</vt:lpstr>
      <vt:lpstr>等线</vt:lpstr>
      <vt:lpstr>黑体</vt:lpstr>
      <vt:lpstr>华文行楷</vt:lpstr>
      <vt:lpstr>微软雅黑</vt:lpstr>
      <vt:lpstr>微软雅黑 Light</vt:lpstr>
      <vt:lpstr>Arial</vt:lpstr>
      <vt:lpstr>Calibri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c79575</cp:lastModifiedBy>
  <cp:revision>206</cp:revision>
  <dcterms:created xsi:type="dcterms:W3CDTF">2018-11-26T00:51:00Z</dcterms:created>
  <dcterms:modified xsi:type="dcterms:W3CDTF">2025-12-12T11:08:17Z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7B377D99AB9347C59280AAF57132B1FD_13</vt:lpwstr>
  </property>
  <property fmtid="{D5CDD505-2E9C-101B-9397-08002B2CF9AE}" pid="3" name="KSOProductBuildVer">
    <vt:lpwstr>2052-11.1.0.14309</vt:lpwstr>
  </property>
</Properties>
</file>