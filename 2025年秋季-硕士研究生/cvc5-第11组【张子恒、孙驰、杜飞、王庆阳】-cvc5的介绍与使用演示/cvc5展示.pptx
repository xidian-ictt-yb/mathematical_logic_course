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97" r:id="rId5"/>
    <p:sldId id="298" r:id="rId6"/>
    <p:sldId id="262" r:id="rId7"/>
    <p:sldId id="299" r:id="rId8"/>
    <p:sldId id="300" r:id="rId9"/>
    <p:sldId id="301" r:id="rId10"/>
    <p:sldId id="302" r:id="rId11"/>
    <p:sldId id="303" r:id="rId12"/>
    <p:sldId id="260" r:id="rId13"/>
    <p:sldId id="292" r:id="rId14"/>
    <p:sldId id="293" r:id="rId15"/>
    <p:sldId id="263" r:id="rId16"/>
    <p:sldId id="264" r:id="rId17"/>
    <p:sldId id="28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0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orient="horz" pos="807" userDrawn="1">
          <p15:clr>
            <a:srgbClr val="A4A3A4"/>
          </p15:clr>
        </p15:guide>
        <p15:guide id="4" orient="horz" pos="4065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pos="7151" userDrawn="1">
          <p15:clr>
            <a:srgbClr val="A4A3A4"/>
          </p15:clr>
        </p15:guide>
        <p15:guide id="7" orient="horz" userDrawn="1">
          <p15:clr>
            <a:srgbClr val="A4A3A4"/>
          </p15:clr>
        </p15:guide>
        <p15:guide id="8" orient="horz" pos="2146" userDrawn="1">
          <p15:clr>
            <a:srgbClr val="A4A3A4"/>
          </p15:clr>
        </p15:guide>
        <p15:guide id="9" pos="38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0504"/>
    <a:srgbClr val="F87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86"/>
    <p:restoredTop sz="94724"/>
  </p:normalViewPr>
  <p:slideViewPr>
    <p:cSldViewPr snapToGrid="0" snapToObjects="1" showGuides="1">
      <p:cViewPr varScale="1">
        <p:scale>
          <a:sx n="84" d="100"/>
          <a:sy n="84" d="100"/>
        </p:scale>
        <p:origin x="51" y="39"/>
      </p:cViewPr>
      <p:guideLst>
        <p:guide orient="horz" pos="530"/>
        <p:guide pos="528"/>
        <p:guide orient="horz" pos="807"/>
        <p:guide orient="horz" pos="4065"/>
        <p:guide orient="horz" pos="3770"/>
        <p:guide pos="7151"/>
        <p:guide orient="horz"/>
        <p:guide orient="horz" pos="2146"/>
        <p:guide pos="3809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8DF2C-48CD-2F47-94CA-CD8AC056331B}" type="datetimeFigureOut">
              <a:rPr kumimoji="1" lang="zh-CN" altLang="en-US" smtClean="0"/>
              <a:t>2025/11/28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A7046-F370-CA44-A09C-93B5FDE043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2106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4F72-E287-2934-EB5F-704BA3C5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050242-E5B0-8EA0-A4F3-0D69AC048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FC2805-7240-EDF1-8B2F-D1577AA19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9AD4A2-5357-10B0-9EF5-682877F25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455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F2E9-0A88-8F44-053E-3FF810C9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D54D2E-027C-0CFF-9D20-919953B04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7CDB8D-8020-F917-6A2B-559B9AB64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91FC03-6EDB-5848-22DF-A84C7D374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0908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4157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7046-F370-CA44-A09C-93B5FDE0432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40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2.jpe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56466" y="2237740"/>
            <a:ext cx="7879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5400" b="1" spc="300" dirty="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cvc5</a:t>
            </a:r>
            <a:r>
              <a:rPr kumimoji="1" lang="zh-CN" altLang="en-US" sz="5400" b="1" spc="300" dirty="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的原理及使用方法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0" y="79577"/>
            <a:ext cx="12192000" cy="3911656"/>
            <a:chOff x="0" y="79577"/>
            <a:chExt cx="12192000" cy="391165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7713" y="1011739"/>
              <a:ext cx="1276573" cy="1125400"/>
            </a:xfrm>
            <a:prstGeom prst="rect">
              <a:avLst/>
            </a:prstGeom>
          </p:spPr>
        </p:pic>
        <p:pic>
          <p:nvPicPr>
            <p:cNvPr id="12" name="图片 11" descr="图片包含 游戏机, 物体, 钟表, 标志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686" y="79577"/>
              <a:ext cx="3046628" cy="615185"/>
            </a:xfrm>
            <a:prstGeom prst="rect">
              <a:avLst/>
            </a:prstGeom>
          </p:spPr>
        </p:pic>
        <p:cxnSp>
          <p:nvCxnSpPr>
            <p:cNvPr id="14" name="直线连接符 13"/>
            <p:cNvCxnSpPr/>
            <p:nvPr/>
          </p:nvCxnSpPr>
          <p:spPr>
            <a:xfrm>
              <a:off x="0" y="3991233"/>
              <a:ext cx="121920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accent1">
                      <a:lumMod val="0"/>
                      <a:lumOff val="100000"/>
                      <a:alpha val="0"/>
                    </a:schemeClr>
                  </a:gs>
                  <a:gs pos="51000">
                    <a:srgbClr val="C00000">
                      <a:alpha val="8800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1755078" y="4757417"/>
            <a:ext cx="8607425" cy="1052195"/>
            <a:chOff x="2624393" y="4757417"/>
            <a:chExt cx="8607425" cy="1052195"/>
          </a:xfrm>
        </p:grpSpPr>
        <p:sp>
          <p:nvSpPr>
            <p:cNvPr id="22" name="文本框 21"/>
            <p:cNvSpPr txBox="1"/>
            <p:nvPr/>
          </p:nvSpPr>
          <p:spPr>
            <a:xfrm>
              <a:off x="6054028" y="5314312"/>
              <a:ext cx="1723390" cy="4953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kumimoji="1" lang="zh-CN" altLang="en-US" sz="2000" b="1" spc="25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2025年11月28日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624393" y="4757417"/>
              <a:ext cx="8607425" cy="55626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kumimoji="1" lang="zh-CN" altLang="en-US" sz="2400" b="1" spc="25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小组成员：张子恒、孙驰、杜飞、王庆阳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-2"/>
            <a:ext cx="12192000" cy="6858003"/>
            <a:chOff x="0" y="-2"/>
            <a:chExt cx="12192000" cy="6858003"/>
          </a:xfrm>
        </p:grpSpPr>
        <p:sp>
          <p:nvSpPr>
            <p:cNvPr id="2" name="矩形 1"/>
            <p:cNvSpPr/>
            <p:nvPr/>
          </p:nvSpPr>
          <p:spPr>
            <a:xfrm>
              <a:off x="0" y="-2"/>
              <a:ext cx="12192000" cy="1062679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0" y="106267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alpha val="80000"/>
                    <a:lumMod val="94000"/>
                    <a:lumOff val="6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23392" y="260058"/>
            <a:ext cx="2162740" cy="693697"/>
            <a:chOff x="623392" y="260058"/>
            <a:chExt cx="2162740" cy="693697"/>
          </a:xfrm>
        </p:grpSpPr>
        <p:sp>
          <p:nvSpPr>
            <p:cNvPr id="11" name="文本框 10"/>
            <p:cNvSpPr txBox="1"/>
            <p:nvPr/>
          </p:nvSpPr>
          <p:spPr>
            <a:xfrm>
              <a:off x="857591" y="553645"/>
              <a:ext cx="192854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spc="300" dirty="0">
                  <a:solidFill>
                    <a:schemeClr val="bg1">
                      <a:alpha val="38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CONTENTS</a:t>
              </a:r>
              <a:endParaRPr kumimoji="1" lang="zh-CN" altLang="en-US" sz="2000" b="1" spc="300" dirty="0">
                <a:solidFill>
                  <a:schemeClr val="bg1">
                    <a:alpha val="38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23392" y="260058"/>
              <a:ext cx="1159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3200" b="1" spc="600" dirty="0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目录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33400" y="303140"/>
            <a:ext cx="11901234" cy="6632796"/>
            <a:chOff x="133400" y="303140"/>
            <a:chExt cx="11901234" cy="663279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2" cstate="screen">
              <a:alphaModFix amt="70000"/>
            </a:blip>
            <a:stretch>
              <a:fillRect/>
            </a:stretch>
          </p:blipFill>
          <p:spPr>
            <a:xfrm>
              <a:off x="9840416" y="303140"/>
              <a:ext cx="2031325" cy="40312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3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12" name="图片 11" descr="图片包含 游戏机, 画, 钟表&#10;&#10;描述已自动生成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893837" y="2346946"/>
            <a:ext cx="3447319" cy="700553"/>
            <a:chOff x="1782684" y="1907512"/>
            <a:chExt cx="3447319" cy="700553"/>
          </a:xfrm>
        </p:grpSpPr>
        <p:cxnSp>
          <p:nvCxnSpPr>
            <p:cNvPr id="24" name="直线连接符 23"/>
            <p:cNvCxnSpPr/>
            <p:nvPr>
              <p:custDataLst>
                <p:tags r:id="rId14"/>
              </p:custDataLst>
            </p:nvPr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21" name="圆角矩形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3" name="圆角矩形 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800411" y="2020525"/>
                <a:ext cx="52770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01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15"/>
              </p:custDataLst>
            </p:nvPr>
          </p:nvSpPr>
          <p:spPr>
            <a:xfrm>
              <a:off x="2472988" y="1907512"/>
              <a:ext cx="275701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cvc5</a:t>
              </a:r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背景介绍</a:t>
              </a:r>
            </a:p>
          </p:txBody>
        </p:sp>
      </p:grpSp>
      <p:grpSp>
        <p:nvGrpSpPr>
          <p:cNvPr id="72" name="组合 71"/>
          <p:cNvGrpSpPr/>
          <p:nvPr>
            <p:custDataLst>
              <p:tags r:id="rId2"/>
            </p:custDataLst>
          </p:nvPr>
        </p:nvGrpSpPr>
        <p:grpSpPr>
          <a:xfrm>
            <a:off x="4353673" y="3865883"/>
            <a:ext cx="3814064" cy="700553"/>
            <a:chOff x="1782684" y="1907512"/>
            <a:chExt cx="3814064" cy="700553"/>
          </a:xfrm>
        </p:grpSpPr>
        <p:cxnSp>
          <p:nvCxnSpPr>
            <p:cNvPr id="74" name="直线连接符 73"/>
            <p:cNvCxnSpPr/>
            <p:nvPr>
              <p:custDataLst>
                <p:tags r:id="rId9"/>
              </p:custDataLst>
            </p:nvPr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组合 74"/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77" name="圆角矩形 76"/>
              <p:cNvSpPr/>
              <p:nvPr>
                <p:custDataLst>
                  <p:tags r:id="rId11"/>
                </p:custDataLst>
              </p:nvPr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8" name="圆角矩形 7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800411" y="2020525"/>
                <a:ext cx="52770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03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6" name="文本框 75"/>
            <p:cNvSpPr txBox="1"/>
            <p:nvPr>
              <p:custDataLst>
                <p:tags r:id="rId10"/>
              </p:custDataLst>
            </p:nvPr>
          </p:nvSpPr>
          <p:spPr>
            <a:xfrm>
              <a:off x="2472988" y="1907512"/>
              <a:ext cx="31237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项目展示</a:t>
              </a:r>
            </a:p>
          </p:txBody>
        </p:sp>
      </p:grpSp>
      <p:grpSp>
        <p:nvGrpSpPr>
          <p:cNvPr id="104" name="组合 103"/>
          <p:cNvGrpSpPr/>
          <p:nvPr>
            <p:custDataLst>
              <p:tags r:id="rId3"/>
            </p:custDataLst>
          </p:nvPr>
        </p:nvGrpSpPr>
        <p:grpSpPr>
          <a:xfrm>
            <a:off x="6567717" y="2346946"/>
            <a:ext cx="3447319" cy="700553"/>
            <a:chOff x="1782684" y="1907512"/>
            <a:chExt cx="3447319" cy="700553"/>
          </a:xfrm>
        </p:grpSpPr>
        <p:cxnSp>
          <p:nvCxnSpPr>
            <p:cNvPr id="106" name="直线连接符 105"/>
            <p:cNvCxnSpPr/>
            <p:nvPr>
              <p:custDataLst>
                <p:tags r:id="rId4"/>
              </p:custDataLst>
            </p:nvPr>
          </p:nvCxnSpPr>
          <p:spPr>
            <a:xfrm>
              <a:off x="2581925" y="2411568"/>
              <a:ext cx="2304256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组合 106"/>
            <p:cNvGrpSpPr/>
            <p:nvPr/>
          </p:nvGrpSpPr>
          <p:grpSpPr>
            <a:xfrm>
              <a:off x="1782684" y="1978568"/>
              <a:ext cx="618022" cy="629497"/>
              <a:chOff x="1782684" y="1978568"/>
              <a:chExt cx="618022" cy="629497"/>
            </a:xfrm>
          </p:grpSpPr>
          <p:sp>
            <p:nvSpPr>
              <p:cNvPr id="109" name="圆角矩形 108"/>
              <p:cNvSpPr/>
              <p:nvPr>
                <p:custDataLst>
                  <p:tags r:id="rId6"/>
                </p:custDataLst>
              </p:nvPr>
            </p:nvSpPr>
            <p:spPr>
              <a:xfrm>
                <a:off x="1782684" y="1978568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72000"/>
                    </a:srgbClr>
                  </a:gs>
                  <a:gs pos="100000">
                    <a:srgbClr val="C00000">
                      <a:alpha val="47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0" name="圆角矩形 109"/>
              <p:cNvSpPr/>
              <p:nvPr>
                <p:custDataLst>
                  <p:tags r:id="rId7"/>
                </p:custDataLst>
              </p:nvPr>
            </p:nvSpPr>
            <p:spPr>
              <a:xfrm>
                <a:off x="1844088" y="2051447"/>
                <a:ext cx="556618" cy="556618"/>
              </a:xfrm>
              <a:prstGeom prst="roundRect">
                <a:avLst>
                  <a:gd name="adj" fmla="val 16419"/>
                </a:avLst>
              </a:prstGeom>
              <a:gradFill>
                <a:gsLst>
                  <a:gs pos="0">
                    <a:srgbClr val="C00000">
                      <a:alpha val="40000"/>
                    </a:srgbClr>
                  </a:gs>
                  <a:gs pos="100000">
                    <a:srgbClr val="C00000">
                      <a:alpha val="15000"/>
                    </a:srgb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1" name="文本框 11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800411" y="2020525"/>
                <a:ext cx="52770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zh-CN" sz="24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02</a:t>
                </a:r>
                <a:endParaRPr kumimoji="1"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8" name="文本框 107"/>
            <p:cNvSpPr txBox="1"/>
            <p:nvPr>
              <p:custDataLst>
                <p:tags r:id="rId5"/>
              </p:custDataLst>
            </p:nvPr>
          </p:nvSpPr>
          <p:spPr>
            <a:xfrm>
              <a:off x="2472988" y="1907512"/>
              <a:ext cx="275701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cvc5</a:t>
              </a:r>
              <a:r>
                <a:rPr kumimoji="1" lang="zh-CN" altLang="en-US" sz="28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原理介绍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alphaModFix amt="3000"/>
          </a:blip>
          <a:srcRect l="31594" r="24278" b="51573"/>
          <a:stretch>
            <a:fillRect/>
          </a:stretch>
        </p:blipFill>
        <p:spPr>
          <a:xfrm>
            <a:off x="0" y="830209"/>
            <a:ext cx="6230698" cy="602779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69328" y="0"/>
            <a:ext cx="11622672" cy="6858000"/>
            <a:chOff x="569328" y="0"/>
            <a:chExt cx="11622672" cy="6858000"/>
          </a:xfrm>
        </p:grpSpPr>
        <p:sp>
          <p:nvSpPr>
            <p:cNvPr id="15" name="圆角矩形 14"/>
            <p:cNvSpPr/>
            <p:nvPr/>
          </p:nvSpPr>
          <p:spPr>
            <a:xfrm>
              <a:off x="569328" y="399595"/>
              <a:ext cx="270460" cy="108405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32" name="组合 31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28" name="平行四边形 27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平行四边形 30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1245705" y="2399251"/>
            <a:ext cx="4757420" cy="1506795"/>
            <a:chOff x="1654599" y="2374005"/>
            <a:chExt cx="4757420" cy="1506795"/>
          </a:xfrm>
        </p:grpSpPr>
        <p:sp>
          <p:nvSpPr>
            <p:cNvPr id="22" name="文本框 21"/>
            <p:cNvSpPr txBox="1"/>
            <p:nvPr/>
          </p:nvSpPr>
          <p:spPr>
            <a:xfrm>
              <a:off x="1654599" y="2374005"/>
              <a:ext cx="205295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3200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PART 01</a:t>
              </a:r>
              <a:endParaRPr kumimoji="1" lang="zh-CN" altLang="en-US" sz="3200" spc="300" dirty="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54599" y="2958780"/>
              <a:ext cx="475742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54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cvc5</a:t>
              </a:r>
              <a:r>
                <a:rPr kumimoji="1" lang="zh-CN" altLang="en-US" sz="54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背景介绍</a:t>
              </a:r>
              <a:endPara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背景介绍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4810" y="2005330"/>
            <a:ext cx="11231880" cy="405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cvc5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是一个现代化的</a:t>
            </a:r>
            <a:r>
              <a:rPr kumimoji="1" lang="en-US" altLang="zh-CN" sz="2800" b="1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SMT（Satisfiability</a:t>
            </a:r>
            <a:r>
              <a:rPr kumimoji="1"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Modulo Theories）</a:t>
            </a:r>
            <a:r>
              <a:rPr kumimoji="1"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求解器</a:t>
            </a:r>
            <a:endParaRPr kumimoji="1" lang="en-US" altLang="zh-CN" sz="28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由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Stanford </a:t>
            </a:r>
            <a:r>
              <a:rPr kumimoji="1" lang="en-US" altLang="zh-CN" sz="2800" spc="3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University、University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of Iowa、Google、MIT 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等合作开发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是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CVC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charset="-122"/>
              </a:rPr>
              <a:t>系列求解器的最新一代产品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charset="-122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CVC → CVC Lite → CVC3 → CVC4 → cvc5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28465" y="1017270"/>
            <a:ext cx="3379470" cy="88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什么是cvc5？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背景介绍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4810" y="1754505"/>
            <a:ext cx="11765915" cy="430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cvc4 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时代架构偏旧、优化有限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新的应用（如自动化验证、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AI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、编译器优化、定理证明）需要：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更快的理论求解速度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更完善的逻辑理论支持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更好的可扩展性（支持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new theory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更现代的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API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（特别是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Python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→</a:t>
            </a:r>
            <a:r>
              <a:rPr kumimoji="1"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cvc5 </a:t>
            </a:r>
            <a:r>
              <a:rPr kumimoji="1"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被设计为完全重写的、下一代</a:t>
            </a:r>
            <a:r>
              <a:rPr kumimoji="1"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SMT </a:t>
            </a:r>
            <a:r>
              <a:rPr kumimoji="1"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求解器，性能和可扩展性全面提升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73120" y="841375"/>
            <a:ext cx="5749290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为什么出现</a:t>
            </a:r>
            <a:r>
              <a:rPr kumimoji="1" lang="en-US" altLang="zh-CN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cvc5</a:t>
            </a:r>
            <a:r>
              <a:rPr kumimoji="1" lang="zh-CN" altLang="en-US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背景介绍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79065" y="2005330"/>
            <a:ext cx="9115425" cy="405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程序验证（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Program Verification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形式化验证（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Formal Methods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编译器优化（如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Alive2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自动定理证明（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ATP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软件模型检测（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Model Checking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约束求解、规划、</a:t>
            </a:r>
            <a:r>
              <a:rPr kumimoji="1" lang="en-US" altLang="zh-CN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AI </a:t>
            </a:r>
            <a:r>
              <a:rPr kumimoji="1" lang="zh-CN" altLang="en-US" sz="2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推理</a:t>
            </a:r>
            <a:endParaRPr kumimoji="1" lang="en-US" altLang="zh-CN" sz="28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→</a:t>
            </a:r>
            <a:r>
              <a:rPr kumimoji="1" lang="en-US" altLang="zh-CN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kumimoji="1"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在学术界和工业界都极为常用。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69335" y="1017270"/>
            <a:ext cx="5427345" cy="88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cvc5</a:t>
            </a:r>
            <a:r>
              <a:rPr kumimoji="1" lang="zh-CN" altLang="en-US" sz="44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的应用领域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>
            <a:alphaModFix amt="3000"/>
          </a:blip>
          <a:srcRect l="31594" r="24278" b="51573"/>
          <a:stretch>
            <a:fillRect/>
          </a:stretch>
        </p:blipFill>
        <p:spPr>
          <a:xfrm>
            <a:off x="0" y="830209"/>
            <a:ext cx="6230698" cy="602779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69328" y="0"/>
            <a:ext cx="11622672" cy="6858000"/>
            <a:chOff x="569328" y="0"/>
            <a:chExt cx="11622672" cy="6858000"/>
          </a:xfrm>
        </p:grpSpPr>
        <p:sp>
          <p:nvSpPr>
            <p:cNvPr id="15" name="圆角矩形 14"/>
            <p:cNvSpPr/>
            <p:nvPr/>
          </p:nvSpPr>
          <p:spPr>
            <a:xfrm>
              <a:off x="569328" y="399595"/>
              <a:ext cx="270460" cy="108405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8100" y="0"/>
              <a:ext cx="4533900" cy="6858000"/>
            </a:xfrm>
            <a:prstGeom prst="rect">
              <a:avLst/>
            </a:prstGeom>
          </p:spPr>
        </p:pic>
        <p:grpSp>
          <p:nvGrpSpPr>
            <p:cNvPr id="32" name="组合 31"/>
            <p:cNvGrpSpPr/>
            <p:nvPr/>
          </p:nvGrpSpPr>
          <p:grpSpPr>
            <a:xfrm>
              <a:off x="6840499" y="0"/>
              <a:ext cx="1709136" cy="6858000"/>
              <a:chOff x="6840499" y="0"/>
              <a:chExt cx="1709136" cy="6858000"/>
            </a:xfrm>
          </p:grpSpPr>
          <p:sp>
            <p:nvSpPr>
              <p:cNvPr id="28" name="平行四边形 27"/>
              <p:cNvSpPr/>
              <p:nvPr/>
            </p:nvSpPr>
            <p:spPr>
              <a:xfrm>
                <a:off x="7045271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平行四边形 29"/>
              <p:cNvSpPr/>
              <p:nvPr/>
            </p:nvSpPr>
            <p:spPr>
              <a:xfrm>
                <a:off x="6840499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平行四边形 30"/>
              <p:cNvSpPr/>
              <p:nvPr/>
            </p:nvSpPr>
            <p:spPr>
              <a:xfrm>
                <a:off x="7231415" y="0"/>
                <a:ext cx="1318220" cy="6858000"/>
              </a:xfrm>
              <a:prstGeom prst="parallelogram">
                <a:avLst>
                  <a:gd name="adj" fmla="val 43266"/>
                </a:avLst>
              </a:prstGeom>
              <a:solidFill>
                <a:srgbClr val="C00000">
                  <a:alpha val="4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1245705" y="2399251"/>
            <a:ext cx="4757420" cy="1506795"/>
            <a:chOff x="1654599" y="2374005"/>
            <a:chExt cx="4757420" cy="1506795"/>
          </a:xfrm>
        </p:grpSpPr>
        <p:sp>
          <p:nvSpPr>
            <p:cNvPr id="22" name="文本框 21"/>
            <p:cNvSpPr txBox="1"/>
            <p:nvPr/>
          </p:nvSpPr>
          <p:spPr>
            <a:xfrm>
              <a:off x="1654599" y="2374005"/>
              <a:ext cx="205295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3200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50000"/>
                          <a:lumOff val="50000"/>
                        </a:scheme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PART 02</a:t>
              </a:r>
              <a:endParaRPr kumimoji="1" lang="zh-CN" altLang="en-US" sz="3200" spc="300" dirty="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54599" y="2958780"/>
              <a:ext cx="475742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54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cvc5</a:t>
              </a:r>
              <a:r>
                <a:rPr kumimoji="1" lang="zh-CN" altLang="en-US" sz="5400" b="1" spc="300" dirty="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原理介绍</a:t>
              </a:r>
              <a:endParaRPr kumimoji="1" lang="zh-CN" altLang="en-US" sz="54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原理介绍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1568" y="1939211"/>
            <a:ext cx="11975465" cy="4332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核心思想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：分工与协作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问题的拆分：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布尔骨架（公式逻辑结构）</a:t>
            </a:r>
            <a:r>
              <a:rPr kumimoji="1"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+ 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理论约束（特定理论原子公式）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endParaRPr kumimoji="1"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求解器的分工：</a:t>
            </a: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u"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SAT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求解器：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处理布尔骨架的逻辑推理引擎</a:t>
            </a: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u"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T-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求解器：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处理理论约束的领域专家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协作机制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：循环通信，协同工作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76830" y="841375"/>
            <a:ext cx="6942455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32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内核引擎：</a:t>
            </a:r>
            <a:r>
              <a:rPr kumimoji="1" lang="en-US" altLang="zh-CN" sz="32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DPLL(T) </a:t>
            </a:r>
            <a:r>
              <a:rPr kumimoji="1" lang="zh-CN" altLang="en-US" sz="32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框架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原理介绍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4810" y="1754505"/>
            <a:ext cx="11765915" cy="430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 SAT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求解器的作用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将</a:t>
            </a:r>
            <a:r>
              <a:rPr kumimoji="1"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SMT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公式抽象为布尔可满足性问题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核心任务：决策（猜测赋值）</a:t>
            </a:r>
            <a:r>
              <a:rPr kumimoji="1" lang="en-US" altLang="zh-CN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+ </a:t>
            </a: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布尔约束传播（推导必然结果）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2.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冲突驱动子句学习（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CDCL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）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发现问题：赋值导致矛盾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分析根源：找出冲突的变量赋值组合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学习新知：总结为新的布尔子句并添加到问题中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效果：实现智能回溯，搜索效率指数级提升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53590" y="841375"/>
            <a:ext cx="8127365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32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智慧搜索：冲突驱动子句学习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原理介绍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4810" y="1754505"/>
            <a:ext cx="11765915" cy="430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1.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理论求解器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领域专家，负责特定理论的一致性检查</a:t>
            </a:r>
            <a:endParaRPr kumimoji="1"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示例：算术理论求解器、数组理论求解器、位向量理论求解器</a:t>
            </a: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indent="0" algn="just" hangingPunct="0">
              <a:lnSpc>
                <a:spcPct val="130000"/>
              </a:lnSpc>
              <a:buFont typeface="Wingdings" panose="05000000000000000000" charset="0"/>
              <a:buNone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2.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理论组合：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Nelson-Oppen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方法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挑战：处理多理论混合问题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解决方案：通过共享等式信息进行通信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457200" indent="-457200" algn="just" hangingPunct="0">
              <a:lnSpc>
                <a:spcPct val="130000"/>
              </a:lnSpc>
              <a:buFont typeface="Wingdings" panose="05000000000000000000" charset="0"/>
              <a:buChar char="ü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迭代检查直到所有理论一致认为可行或某个理论发现冲突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96185" y="841375"/>
            <a:ext cx="7506335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2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理论协调：多专家协同工作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/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screen">
              <a:alphaModFix amt="70000"/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screen">
              <a:alphaModFix amt="50000"/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/>
          <p:cNvSpPr txBox="1"/>
          <p:nvPr/>
        </p:nvSpPr>
        <p:spPr>
          <a:xfrm>
            <a:off x="175107" y="116852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08331" y="124472"/>
            <a:ext cx="2409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cvc5</a:t>
            </a:r>
            <a:r>
              <a:rPr kumimoji="1" lang="zh-CN" altLang="en-US" sz="2400" b="1" spc="3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原理介绍</a:t>
            </a:r>
            <a:endParaRPr kumimoji="1" lang="zh-CN" altLang="en-US" sz="2400" b="1" spc="300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40220" y="2078923"/>
            <a:ext cx="7792860" cy="265425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46630" y="2136140"/>
            <a:ext cx="8042275" cy="3243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 algn="just" hangingPunct="0">
              <a:lnSpc>
                <a:spcPct val="130000"/>
              </a:lnSpc>
              <a:buFont typeface="+mj-ea"/>
              <a:buAutoNum type="circleNumDbPlain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输入混合布尔逻辑和理论约束的公式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514350" indent="-514350" algn="just" hangingPunct="0">
              <a:lnSpc>
                <a:spcPct val="130000"/>
              </a:lnSpc>
              <a:buFont typeface="+mj-ea"/>
              <a:buAutoNum type="circleNumDbPlain"/>
            </a:pP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SAT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求解器抽象为布尔骨架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514350" indent="-514350" algn="just" hangingPunct="0">
              <a:lnSpc>
                <a:spcPct val="130000"/>
              </a:lnSpc>
              <a:buFont typeface="+mj-ea"/>
              <a:buAutoNum type="circleNumDbPlain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循环求解：候选赋值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kumimoji="1" lang="en-US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→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理论一致性检查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kumimoji="1" lang="en-US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→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返回冲突子句</a:t>
            </a:r>
            <a:r>
              <a:rPr kumimoji="1"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/</a:t>
            </a: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输出模型</a:t>
            </a:r>
            <a:endParaRPr kumimoji="1" lang="en-US" altLang="zh-CN" sz="2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514350" indent="-514350" algn="just" hangingPunct="0">
              <a:lnSpc>
                <a:spcPct val="130000"/>
              </a:lnSpc>
              <a:buFont typeface="+mj-ea"/>
              <a:buAutoNum type="circleNumDbPlain"/>
            </a:pPr>
            <a:r>
              <a:rPr kumimoji="1"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学习与迭代：学习冲突子句，继续搜索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93440" y="841375"/>
            <a:ext cx="5749290" cy="881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2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cvc5</a:t>
            </a:r>
            <a:r>
              <a:rPr kumimoji="1" lang="zh-CN" altLang="en-US" sz="2800" b="1" spc="3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原理流程总结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9C0406F8-3394-B445-AD52-85DBE200EFE7}"/>
              </a:ext>
            </a:extLst>
          </p:cNvPr>
          <p:cNvSpPr txBox="1"/>
          <p:nvPr/>
        </p:nvSpPr>
        <p:spPr>
          <a:xfrm>
            <a:off x="1211873" y="1547813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8000" b="1" dirty="0">
                <a:ln w="47625" cap="rnd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 pitchFamily="34" charset="0"/>
                <a:ea typeface="ZhenyanGB" panose="02010600030101010101" pitchFamily="2" charset="-122"/>
                <a:cs typeface="Arial" panose="020B0604020202020204" pitchFamily="34" charset="0"/>
              </a:rPr>
              <a:t>03</a:t>
            </a:r>
            <a:endParaRPr kumimoji="1" lang="zh-CN" altLang="en-US" sz="18000" b="1" dirty="0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 pitchFamily="34" charset="0"/>
              <a:ea typeface="ZhenyanGB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F4AD50-E506-874D-8531-8E1985F0F039}"/>
              </a:ext>
            </a:extLst>
          </p:cNvPr>
          <p:cNvSpPr txBox="1"/>
          <p:nvPr/>
        </p:nvSpPr>
        <p:spPr>
          <a:xfrm>
            <a:off x="1393012" y="3702249"/>
            <a:ext cx="2390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4000" b="1" spc="300" dirty="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项目展示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AD019A-8A7E-92F3-299F-5519132C5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894" y="1547813"/>
            <a:ext cx="7097115" cy="31722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8B3EFD1-24B9-EABE-1EAE-4C2863659A27}"/>
              </a:ext>
            </a:extLst>
          </p:cNvPr>
          <p:cNvSpPr txBox="1"/>
          <p:nvPr/>
        </p:nvSpPr>
        <p:spPr>
          <a:xfrm>
            <a:off x="7249902" y="1036427"/>
            <a:ext cx="2394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SMT-LIB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</p:spTree>
    <p:extLst>
      <p:ext uri="{BB962C8B-B14F-4D97-AF65-F5344CB8AC3E}">
        <p14:creationId xmlns:p14="http://schemas.microsoft.com/office/powerpoint/2010/main" val="337963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870D-D461-8B00-5594-2F340559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7E378E0-AAFE-A659-B092-C1A949A45AA2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3270A79-6091-D476-4DD9-3F727450901A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8F34C2B-2736-2C8C-1651-B50914B4A05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967AE80-5A59-5526-F573-140BFFA42D85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1867CEC-18DC-3673-34AD-13403DA91863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DF61E037-17C5-15B8-AB5B-C44D12847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3623D90B-87A9-3A21-55F8-93EA93408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>
              <a:extLst>
                <a:ext uri="{FF2B5EF4-FFF2-40B4-BE49-F238E27FC236}">
                  <a16:creationId xmlns:a16="http://schemas.microsoft.com/office/drawing/2014/main" id="{4DBC5B6F-B45C-26B5-1EA8-2975FA330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FEBF93-9011-9398-0742-EA6D6DE6BBB9}"/>
              </a:ext>
            </a:extLst>
          </p:cNvPr>
          <p:cNvSpPr txBox="1"/>
          <p:nvPr/>
        </p:nvSpPr>
        <p:spPr>
          <a:xfrm>
            <a:off x="175107" y="11685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3.1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E820409-CB89-C9A6-307E-D6427B5C1632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1E30124-EC53-2964-A5BB-A72D50626D3A}"/>
              </a:ext>
            </a:extLst>
          </p:cNvPr>
          <p:cNvSpPr txBox="1"/>
          <p:nvPr/>
        </p:nvSpPr>
        <p:spPr>
          <a:xfrm>
            <a:off x="1008331" y="124472"/>
            <a:ext cx="2277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布尔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SAT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1743B2-E361-3176-609F-E298C0AD081F}"/>
              </a:ext>
            </a:extLst>
          </p:cNvPr>
          <p:cNvSpPr/>
          <p:nvPr/>
        </p:nvSpPr>
        <p:spPr>
          <a:xfrm>
            <a:off x="4618270" y="1743467"/>
            <a:ext cx="7034584" cy="25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整数约束求解问题：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常见于数学建模、程序验证、算法设计等，用于验证系统是否满足某些数学或逻辑条件。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cvc5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将问题转换为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（可满足性模理论）问题，在整数理论下进行推理，通过约束传播、冲突分析与回溯，枚举所有可行解。对于非线性约束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cvc5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会使用区间传播与分支定界策略，在有限域中搜索满足所有约束的整数对。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25055A-DD98-1E33-723D-5A97D6865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26" y="1160045"/>
            <a:ext cx="3829050" cy="2352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FAB567-1C91-17A0-168D-F61CBCD798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926" y="3863525"/>
            <a:ext cx="3892042" cy="139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71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DB01-664C-4D54-CBEB-2AA3448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3F261E7-C86C-6E49-FECD-03C4ED6C093B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07AE91C-3589-2108-E0C4-43E4602A6EE4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ABAE839-CA24-B09C-EAE3-6FCDEB58F45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961598A-1413-F029-9133-825EE1BDEAD7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9023629-8070-1013-6CB4-632868C5A169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FFF0E2A4-A5B8-94C5-C072-62C4480C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D653D2C-5455-3EC2-7E40-E58303BEC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1" name="图片 30" descr="图片包含 游戏机, 画, 钟表&#10;&#10;描述已自动生成">
              <a:extLst>
                <a:ext uri="{FF2B5EF4-FFF2-40B4-BE49-F238E27FC236}">
                  <a16:creationId xmlns:a16="http://schemas.microsoft.com/office/drawing/2014/main" id="{951CE2E5-D41C-149D-C710-E9DA69B39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01EB43-F332-9028-1B34-04C6B04E80F2}"/>
              </a:ext>
            </a:extLst>
          </p:cNvPr>
          <p:cNvSpPr txBox="1"/>
          <p:nvPr/>
        </p:nvSpPr>
        <p:spPr>
          <a:xfrm>
            <a:off x="175107" y="11685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3.1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E2FFCF1C-DE34-3602-5913-98F2F98BE057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6BAF4E0-9E73-A7F5-6B66-7BCE51D40ADE}"/>
              </a:ext>
            </a:extLst>
          </p:cNvPr>
          <p:cNvSpPr txBox="1"/>
          <p:nvPr/>
        </p:nvSpPr>
        <p:spPr>
          <a:xfrm>
            <a:off x="1008331" y="124472"/>
            <a:ext cx="2277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布尔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SAT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01E373-9C3D-DEAB-7554-45892DE5C73B}"/>
              </a:ext>
            </a:extLst>
          </p:cNvPr>
          <p:cNvSpPr/>
          <p:nvPr/>
        </p:nvSpPr>
        <p:spPr>
          <a:xfrm>
            <a:off x="8413892" y="1377639"/>
            <a:ext cx="3336943" cy="3782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不可满足性验证：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用于验证系统规范的一致性，在形式化验证、硬件设计、协议分析中尤为重要，避免因矛盾约束导致系统错误。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cvc5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在预处理阶段即可通过理论组合与冲突子句检测识别出矛盾。返回值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UNSAT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，表示不存在任何赋值满足所有约束。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8609E2-03DC-DE73-BDF4-3C7BA580FC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20" y="1299735"/>
            <a:ext cx="7943850" cy="27241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376129-44D8-622A-669C-9936DBF06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20" y="4042846"/>
            <a:ext cx="7963570" cy="8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8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679FBA5D-E834-D84E-A7C1-14C50556700E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80909E5-43EB-DF46-97C3-A5DAE5AF2FA8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EC3C20E-D7D0-374B-B50A-FDB786E60DC0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3E05360-B04F-D449-B854-648C68716D2A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9CCA77D-50F1-5F42-8942-CD915F5277FF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0783CF2D-E251-D445-8E7E-CB89BDBBC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2ACF4E49-8EFB-F140-B13A-AA880D7A7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36" name="图片 35" descr="图片包含 游戏机, 画, 钟表&#10;&#10;描述已自动生成">
              <a:extLst>
                <a:ext uri="{FF2B5EF4-FFF2-40B4-BE49-F238E27FC236}">
                  <a16:creationId xmlns:a16="http://schemas.microsoft.com/office/drawing/2014/main" id="{78A4D0C1-8E3A-A44A-A88B-7C30E06B2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3.1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2277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布尔</a:t>
            </a:r>
            <a:r>
              <a:rPr kumimoji="1" lang="en-US" altLang="zh-CN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SAT</a:t>
            </a:r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7EFB60-6D17-8C52-BE71-F5760F0BA3EA}"/>
              </a:ext>
            </a:extLst>
          </p:cNvPr>
          <p:cNvSpPr txBox="1"/>
          <p:nvPr/>
        </p:nvSpPr>
        <p:spPr>
          <a:xfrm>
            <a:off x="1314500" y="4814357"/>
            <a:ext cx="943933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cvc5 </a:t>
            </a:r>
            <a:r>
              <a:rPr lang="zh-CN" altLang="en-US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还可以使用量词实例化与冲突子句学习策略，尝试构造反例。当搜索空间遍历完毕仍未找到满足条件的赋值时，返回 </a:t>
            </a:r>
            <a:r>
              <a:rPr lang="en-US" altLang="zh-CN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UNSAT</a:t>
            </a:r>
            <a:r>
              <a:rPr lang="zh-CN" altLang="en-US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，从而证明原命题成立。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760C7D-4A5C-2CCB-87FF-F7356B5F1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266" y="975920"/>
            <a:ext cx="5087548" cy="35620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FAE9F5-D6BC-3603-C31E-FEF17D50F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720" y="966396"/>
            <a:ext cx="5313014" cy="35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29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6374E659-06E0-4042-A6BE-6D6977EDB906}"/>
              </a:ext>
            </a:extLst>
          </p:cNvPr>
          <p:cNvGrpSpPr/>
          <p:nvPr/>
        </p:nvGrpSpPr>
        <p:grpSpPr>
          <a:xfrm>
            <a:off x="0" y="-1"/>
            <a:ext cx="12192000" cy="6858002"/>
            <a:chOff x="0" y="-1"/>
            <a:chExt cx="12192000" cy="685800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CC1B4B5-E5B8-2A43-9A48-2F89B549D080}"/>
                </a:ext>
              </a:extLst>
            </p:cNvPr>
            <p:cNvSpPr/>
            <p:nvPr/>
          </p:nvSpPr>
          <p:spPr>
            <a:xfrm>
              <a:off x="0" y="-1"/>
              <a:ext cx="12192000" cy="7062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4F07EFB-540A-724B-9E1F-F818ED17200A}"/>
                </a:ext>
              </a:extLst>
            </p:cNvPr>
            <p:cNvSpPr/>
            <p:nvPr/>
          </p:nvSpPr>
          <p:spPr>
            <a:xfrm>
              <a:off x="0" y="708047"/>
              <a:ext cx="12192000" cy="132378"/>
            </a:xfrm>
            <a:prstGeom prst="rect">
              <a:avLst/>
            </a:prstGeom>
            <a:gradFill>
              <a:gsLst>
                <a:gs pos="0">
                  <a:srgbClr val="C00000">
                    <a:alpha val="32000"/>
                  </a:srgbClr>
                </a:gs>
                <a:gs pos="100000">
                  <a:srgbClr val="C00000">
                    <a:lumMod val="94000"/>
                    <a:lumOff val="6000"/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ED7E07-E277-2E45-9597-D2C1BF897BF5}"/>
                </a:ext>
              </a:extLst>
            </p:cNvPr>
            <p:cNvSpPr/>
            <p:nvPr/>
          </p:nvSpPr>
          <p:spPr>
            <a:xfrm>
              <a:off x="0" y="6453336"/>
              <a:ext cx="12192000" cy="404665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rgbClr val="C00000">
                    <a:lumMod val="94000"/>
                    <a:lumOff val="6000"/>
                    <a:alpha val="8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13B0796-67A9-7A4F-99B7-6AB9E5A66374}"/>
              </a:ext>
            </a:extLst>
          </p:cNvPr>
          <p:cNvGrpSpPr/>
          <p:nvPr/>
        </p:nvGrpSpPr>
        <p:grpSpPr>
          <a:xfrm>
            <a:off x="133400" y="140547"/>
            <a:ext cx="11901234" cy="6795389"/>
            <a:chOff x="133400" y="140547"/>
            <a:chExt cx="11901234" cy="6795389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B7E1B58-9D91-E647-98E1-D1BA4C6BE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40416" y="140547"/>
              <a:ext cx="2031325" cy="403124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F093D6A0-9471-534D-8074-6AD08E47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96245" y="6572902"/>
              <a:ext cx="3038389" cy="185483"/>
            </a:xfrm>
            <a:prstGeom prst="rect">
              <a:avLst/>
            </a:prstGeom>
          </p:spPr>
        </p:pic>
        <p:pic>
          <p:nvPicPr>
            <p:cNvPr id="23" name="图片 22" descr="图片包含 游戏机, 画, 钟表&#10;&#10;描述已自动生成">
              <a:extLst>
                <a:ext uri="{FF2B5EF4-FFF2-40B4-BE49-F238E27FC236}">
                  <a16:creationId xmlns:a16="http://schemas.microsoft.com/office/drawing/2014/main" id="{93EED181-B044-3040-8B50-7E365D6E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400" y="6453336"/>
              <a:ext cx="2362200" cy="482600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F18CD3-DE75-C848-9FBA-320AB9E7D598}"/>
              </a:ext>
            </a:extLst>
          </p:cNvPr>
          <p:cNvSpPr txBox="1"/>
          <p:nvPr/>
        </p:nvSpPr>
        <p:spPr>
          <a:xfrm>
            <a:off x="175107" y="116852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3.2</a:t>
            </a:r>
            <a:endParaRPr kumimoji="1"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F6F5025-52DE-844A-8B12-050285F53236}"/>
              </a:ext>
            </a:extLst>
          </p:cNvPr>
          <p:cNvCxnSpPr/>
          <p:nvPr/>
        </p:nvCxn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572B192-1A8B-0944-BC5E-3183B0CBCBA6}"/>
              </a:ext>
            </a:extLst>
          </p:cNvPr>
          <p:cNvSpPr txBox="1"/>
          <p:nvPr/>
        </p:nvSpPr>
        <p:spPr>
          <a:xfrm>
            <a:off x="1008331" y="124472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b="1" spc="3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数独求解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796594-9244-D142-B9A6-80F69C2EF2C2}"/>
              </a:ext>
            </a:extLst>
          </p:cNvPr>
          <p:cNvSpPr/>
          <p:nvPr/>
        </p:nvSpPr>
        <p:spPr>
          <a:xfrm>
            <a:off x="531908" y="4605255"/>
            <a:ext cx="11143715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数独求解：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典型的有限域约束满足问题，给出一个部分填写的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9×9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数独盘面，要求填充剩余格子，使得每行、每列、每个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3×3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宫均包含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1–9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不重复的数字。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cvc5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为每个格子定义一个变量，并添加行、列、宫的互不重复约束。它使用约束传播与搜索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回溯策略，结合位向量理论或枚举类型高效剪枝，快速找到可行解或证明无解。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B97AA7-E1AF-294A-E119-3CE92E0D2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6" y="925129"/>
            <a:ext cx="4391450" cy="34952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7321E7-564C-8A30-3A1D-2C6644C8AF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458" y="833692"/>
            <a:ext cx="4087573" cy="3678110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A539FC8-3C97-F73D-BB99-8A01360A9BA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230866" y="2672747"/>
            <a:ext cx="17215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F9E606F-0421-EB82-53F9-022C35CAF6C0}"/>
              </a:ext>
            </a:extLst>
          </p:cNvPr>
          <p:cNvSpPr txBox="1"/>
          <p:nvPr/>
        </p:nvSpPr>
        <p:spPr>
          <a:xfrm>
            <a:off x="5474752" y="2188924"/>
            <a:ext cx="1258028" cy="427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cvc5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319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46287" y="375495"/>
            <a:ext cx="11462658" cy="6077693"/>
          </a:xfrm>
          <a:prstGeom prst="rect">
            <a:avLst/>
          </a:prstGeom>
          <a:gradFill>
            <a:gsLst>
              <a:gs pos="0">
                <a:schemeClr val="bg1">
                  <a:alpha val="7000"/>
                </a:schemeClr>
              </a:gs>
              <a:gs pos="38000">
                <a:schemeClr val="bg1">
                  <a:alpha val="0"/>
                </a:schemeClr>
              </a:gs>
              <a:gs pos="62000">
                <a:schemeClr val="bg1">
                  <a:alpha val="0"/>
                </a:schemeClr>
              </a:gs>
              <a:gs pos="100000">
                <a:schemeClr val="bg1">
                  <a:alpha val="700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bg1"/>
                </a:gs>
                <a:gs pos="38000">
                  <a:schemeClr val="bg1">
                    <a:alpha val="0"/>
                  </a:schemeClr>
                </a:gs>
                <a:gs pos="62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 descr="图片包含 游戏机, 画, 钟表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45" y="122295"/>
            <a:ext cx="3019710" cy="616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screen">
            <a:alphaModFix amt="70000"/>
          </a:blip>
          <a:stretch>
            <a:fillRect/>
          </a:stretch>
        </p:blipFill>
        <p:spPr>
          <a:xfrm>
            <a:off x="5052435" y="6220399"/>
            <a:ext cx="2050361" cy="406902"/>
          </a:xfrm>
          <a:prstGeom prst="rect">
            <a:avLst/>
          </a:prstGeom>
        </p:spPr>
      </p:pic>
      <p:pic>
        <p:nvPicPr>
          <p:cNvPr id="10" name="图片 9" descr="图片包含 游戏机, 画&#10;&#10;描述已自动生成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33960" y="690867"/>
            <a:ext cx="9887309" cy="3229854"/>
          </a:xfrm>
          <a:prstGeom prst="rect">
            <a:avLst/>
          </a:prstGeom>
        </p:spPr>
      </p:pic>
      <p:cxnSp>
        <p:nvCxnSpPr>
          <p:cNvPr id="6" name="直线连接符 5"/>
          <p:cNvCxnSpPr/>
          <p:nvPr/>
        </p:nvCxnSpPr>
        <p:spPr>
          <a:xfrm>
            <a:off x="2854036" y="3541855"/>
            <a:ext cx="6483928" cy="0"/>
          </a:xfrm>
          <a:prstGeom prst="line">
            <a:avLst/>
          </a:prstGeom>
          <a:ln w="19050">
            <a:gradFill>
              <a:gsLst>
                <a:gs pos="50000">
                  <a:schemeClr val="bg1"/>
                </a:gs>
                <a:gs pos="0">
                  <a:schemeClr val="bg1">
                    <a:lumMod val="100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341639" y="3789868"/>
            <a:ext cx="55898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spc="1200" dirty="0">
                <a:solidFill>
                  <a:schemeClr val="bg1"/>
                </a:solidFill>
                <a:effectLst>
                  <a:outerShdw dist="12700" dir="5400000" algn="ctr" rotWithShape="0">
                    <a:srgbClr val="000000"/>
                  </a:outerShdw>
                </a:effectLst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QUESTIONS</a:t>
            </a:r>
            <a:r>
              <a:rPr lang="zh-CN" altLang="en-US" sz="1600" spc="1200" dirty="0">
                <a:solidFill>
                  <a:schemeClr val="bg1"/>
                </a:solidFill>
                <a:effectLst>
                  <a:outerShdw dist="12700" dir="5400000" algn="ctr" rotWithShape="0">
                    <a:srgbClr val="000000"/>
                  </a:outerShdw>
                </a:effectLst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spc="1200" dirty="0">
                <a:solidFill>
                  <a:schemeClr val="bg1"/>
                </a:solidFill>
                <a:effectLst>
                  <a:outerShdw dist="12700" dir="5400000" algn="ctr" rotWithShape="0">
                    <a:srgbClr val="000000"/>
                  </a:outerShdw>
                </a:effectLst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&amp;</a:t>
            </a:r>
            <a:r>
              <a:rPr lang="zh-CN" altLang="en-US" sz="1600" spc="1200" dirty="0">
                <a:solidFill>
                  <a:schemeClr val="bg1"/>
                </a:solidFill>
                <a:effectLst>
                  <a:outerShdw dist="12700" dir="5400000" algn="ctr" rotWithShape="0">
                    <a:srgbClr val="000000"/>
                  </a:outerShdw>
                </a:effectLst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spc="1200" dirty="0">
                <a:solidFill>
                  <a:schemeClr val="bg1"/>
                </a:solidFill>
                <a:effectLst>
                  <a:outerShdw dist="12700" dir="5400000" algn="ctr" rotWithShape="0">
                    <a:srgbClr val="000000"/>
                  </a:outerShdw>
                </a:effectLst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ANSWERS</a:t>
            </a:r>
            <a:endParaRPr lang="zh-CN" altLang="en-US" sz="1600" spc="1200" dirty="0">
              <a:solidFill>
                <a:schemeClr val="bg1"/>
              </a:solidFill>
              <a:effectLst>
                <a:outerShdw dist="12700" dir="5400000" algn="ctr" rotWithShape="0">
                  <a:srgbClr val="000000"/>
                </a:outerShdw>
              </a:effectLst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874986" y="4607557"/>
            <a:ext cx="6462395" cy="972185"/>
            <a:chOff x="2874986" y="4747257"/>
            <a:chExt cx="6462395" cy="972185"/>
          </a:xfrm>
        </p:grpSpPr>
        <p:sp>
          <p:nvSpPr>
            <p:cNvPr id="21" name="文本框 20"/>
            <p:cNvSpPr txBox="1"/>
            <p:nvPr/>
          </p:nvSpPr>
          <p:spPr>
            <a:xfrm>
              <a:off x="4746331" y="5322567"/>
              <a:ext cx="2815590" cy="39687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kumimoji="1" lang="zh-CN" altLang="en-US" sz="2000" b="1" spc="25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2025年11月28日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874986" y="4747257"/>
              <a:ext cx="646239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spc="25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小组成员：张子恒、孙驰、杜飞、王庆阳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389667" y="2433859"/>
            <a:ext cx="5493812" cy="110799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6600" b="1" spc="300" dirty="0">
                <a:ln w="952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感谢大家观看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82629921259846,&quot;left&quot;:149.1210236220472,&quot;top&quot;:184.79889763779525,&quot;width&quot;:645.134566929133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lnSpc>
            <a:spcPct val="130000"/>
          </a:lnSpc>
          <a:defRPr kumimoji="1" sz="1200" dirty="0">
            <a:latin typeface="Source Han Sans SC Normal" panose="020B0400000000000000" pitchFamily="34" charset="-128"/>
            <a:ea typeface="Source Han Sans SC Normal" panose="020B04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852</Words>
  <Application>Microsoft Office PowerPoint</Application>
  <PresentationFormat>宽屏</PresentationFormat>
  <Paragraphs>119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 PT模 板 网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于 正洋</dc:creator>
  <cp:keywords>我给母校送模板 第二届</cp:keywords>
  <dc:description>www.51 ppt moban.co m</dc:description>
  <cp:lastModifiedBy>驰 孙</cp:lastModifiedBy>
  <cp:revision>142</cp:revision>
  <dcterms:created xsi:type="dcterms:W3CDTF">2020-04-17T07:43:00Z</dcterms:created>
  <dcterms:modified xsi:type="dcterms:W3CDTF">2025-11-28T09:29:57Z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9EE7E2A3004948AF8864B9E8C915B52B_12</vt:lpwstr>
  </property>
  <property fmtid="{D5CDD505-2E9C-101B-9397-08002B2CF9AE}" pid="3" name="KSOProductBuildVer">
    <vt:lpwstr>2052-12.1.0.23542</vt:lpwstr>
  </property>
</Properties>
</file>