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3" r:id="rId8"/>
    <p:sldId id="29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9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3" r:id="rId36"/>
    <p:sldId id="294" r:id="rId37"/>
    <p:sldId id="295" r:id="rId38"/>
    <p:sldId id="261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188087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4896000" y="1476155"/>
            <a:ext cx="5936400" cy="2055445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5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4896000" y="3888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8"/>
            </p:custDataLst>
          </p:nvPr>
        </p:nvSpPr>
        <p:spPr>
          <a:xfrm>
            <a:off x="8209504" y="5504400"/>
            <a:ext cx="25668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5853760" y="5504400"/>
            <a:ext cx="2163600" cy="739382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2233477" y="3106297"/>
            <a:ext cx="7725045" cy="1159200"/>
          </a:xfrm>
        </p:spPr>
        <p:txBody>
          <a:bodyPr wrap="square" lIns="90000" tIns="46800" rIns="90000" bIns="46800" anchor="t">
            <a:normAutofit/>
          </a:bodyPr>
          <a:lstStyle>
            <a:lvl1pPr algn="ctr">
              <a:defRPr sz="5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6"/>
            </p:custDataLst>
          </p:nvPr>
        </p:nvSpPr>
        <p:spPr>
          <a:xfrm>
            <a:off x="3513000" y="1376507"/>
            <a:ext cx="5166000" cy="1602000"/>
          </a:xfrm>
        </p:spPr>
        <p:txBody>
          <a:bodyPr wrap="none" lIns="90000" tIns="46800" rIns="90000" bIns="46800" anchor="b">
            <a:normAutofit/>
          </a:bodyPr>
          <a:lstStyle>
            <a:lvl1pPr marL="0" indent="0" algn="ctr">
              <a:buNone/>
              <a:defRPr sz="6000" b="1">
                <a:ln w="15875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896000" y="1692000"/>
            <a:ext cx="5936400" cy="1825200"/>
          </a:xfrm>
        </p:spPr>
        <p:txBody>
          <a:bodyPr wrap="square" lIns="90000" tIns="46800" rIns="90000" bIns="46800" anchor="b">
            <a:normAutofit/>
          </a:bodyPr>
          <a:lstStyle>
            <a:lvl1pPr algn="r">
              <a:lnSpc>
                <a:spcPct val="100000"/>
              </a:lnSpc>
              <a:defRPr sz="6600"/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896000" y="3816000"/>
            <a:ext cx="5936400" cy="720000"/>
          </a:xfrm>
        </p:spPr>
        <p:txBody>
          <a:bodyPr wrap="square" lIns="90000" tIns="46800" rIns="90000" bIns="4680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 b="1" spc="5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0" name="联系方式占位符 9"/>
          <p:cNvSpPr>
            <a:spLocks noGrp="1"/>
          </p:cNvSpPr>
          <p:nvPr>
            <p:ph type="body" sz="quarter" idx="16" hasCustomPrompt="1"/>
            <p:custDataLst>
              <p:tags r:id="rId9"/>
            </p:custDataLst>
          </p:nvPr>
        </p:nvSpPr>
        <p:spPr>
          <a:xfrm>
            <a:off x="8219870" y="5616000"/>
            <a:ext cx="25668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联系方式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5793470" y="5616000"/>
            <a:ext cx="2163600" cy="655491"/>
          </a:xfrm>
        </p:spPr>
        <p:txBody>
          <a:bodyPr wrap="square" lIns="90000" tIns="46800" rIns="90000" bIns="4680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 flipH="1">
            <a:off x="695960" y="185497"/>
            <a:ext cx="11491926" cy="1032510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1.png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7.xml"/><Relationship Id="rId3" Type="http://schemas.openxmlformats.org/officeDocument/2006/relationships/image" Target="../media/image2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2.xml"/><Relationship Id="rId3" Type="http://schemas.openxmlformats.org/officeDocument/2006/relationships/image" Target="../media/image3.png"/><Relationship Id="rId2" Type="http://schemas.openxmlformats.org/officeDocument/2006/relationships/tags" Target="../tags/tag161.xml"/><Relationship Id="rId1" Type="http://schemas.openxmlformats.org/officeDocument/2006/relationships/tags" Target="../tags/tag16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4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7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4.xml"/><Relationship Id="rId3" Type="http://schemas.openxmlformats.org/officeDocument/2006/relationships/image" Target="../media/image8.png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7.xml"/><Relationship Id="rId3" Type="http://schemas.openxmlformats.org/officeDocument/2006/relationships/image" Target="../media/image9.png"/><Relationship Id="rId2" Type="http://schemas.openxmlformats.org/officeDocument/2006/relationships/tags" Target="../tags/tag176.xml"/><Relationship Id="rId1" Type="http://schemas.openxmlformats.org/officeDocument/2006/relationships/tags" Target="../tags/tag175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0.xml"/><Relationship Id="rId3" Type="http://schemas.openxmlformats.org/officeDocument/2006/relationships/image" Target="../media/image10.png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82.xml"/><Relationship Id="rId1" Type="http://schemas.openxmlformats.org/officeDocument/2006/relationships/tags" Target="../tags/tag181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940685" y="1033780"/>
            <a:ext cx="8539480" cy="2055495"/>
          </a:xfrm>
        </p:spPr>
        <p:txBody>
          <a:bodyPr>
            <a:normAutofit/>
          </a:bodyPr>
          <a:lstStyle/>
          <a:p>
            <a:r>
              <a:rPr lang="zh-CN" altLang="en-US" sz="4445"/>
              <a:t>基于</a:t>
            </a:r>
            <a:r>
              <a:rPr lang="en-US" altLang="zh-CN" sz="4445"/>
              <a:t>LLM</a:t>
            </a:r>
            <a:r>
              <a:rPr lang="zh-CN" altLang="en-US" sz="4445"/>
              <a:t>的轻量化多智能体仿真工具：</a:t>
            </a:r>
            <a:r>
              <a:rPr lang="en-US" altLang="zh-CN" sz="4445"/>
              <a:t>TinyTroupe</a:t>
            </a:r>
            <a:r>
              <a:rPr lang="zh-CN" altLang="en-US" sz="4445"/>
              <a:t>原理讲解</a:t>
            </a:r>
            <a:endParaRPr lang="zh-CN" altLang="en-US" sz="4445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6000" y="3888000"/>
            <a:ext cx="5936400" cy="720000"/>
          </a:xfrm>
        </p:spPr>
        <p:txBody>
          <a:bodyPr/>
          <a:lstStyle/>
          <a:p>
            <a:r>
              <a:rPr lang="zh-CN" altLang="en-US"/>
              <a:t>计算机科学与数理</a:t>
            </a:r>
            <a:r>
              <a:rPr lang="zh-CN" altLang="en-US"/>
              <a:t>逻辑大作业汇报</a:t>
            </a:r>
            <a:endParaRPr lang="zh-CN" altLang="en-US"/>
          </a:p>
        </p:txBody>
      </p:sp>
      <p:sp>
        <p:nvSpPr>
          <p:cNvPr id="9" name="联系方式"/>
          <p:cNvSpPr>
            <a:spLocks noGrp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8209504" y="5504400"/>
            <a:ext cx="2566800" cy="739382"/>
          </a:xfrm>
        </p:spPr>
        <p:txBody>
          <a:bodyPr>
            <a:normAutofit lnSpcReduction="20000"/>
          </a:bodyPr>
          <a:lstStyle/>
          <a:p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3486983656</a:t>
            </a:r>
            <a:endParaRPr lang="en-US" altLang="zh-CN"/>
          </a:p>
          <a:p>
            <a:r>
              <a:rPr lang="zh-CN" altLang="en-US"/>
              <a:t>电话：</a:t>
            </a:r>
            <a:r>
              <a:rPr lang="en-US" altLang="zh-CN"/>
              <a:t>15995071563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5853760" y="5504400"/>
            <a:ext cx="2163600" cy="739382"/>
          </a:xfrm>
        </p:spPr>
        <p:txBody>
          <a:bodyPr>
            <a:normAutofit/>
          </a:bodyPr>
          <a:lstStyle/>
          <a:p>
            <a:r>
              <a:rPr lang="zh-CN" altLang="en-US"/>
              <a:t>小组成员：蒋智伟、惠明轩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0800" y="511200"/>
            <a:ext cx="2174400" cy="1404000"/>
          </a:xfrm>
        </p:spPr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56000" y="226800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01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2192400" y="229064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研究背景与问题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3" name="序号"/>
          <p:cNvSpPr txBox="1"/>
          <p:nvPr>
            <p:custDataLst>
              <p:tags r:id="rId4"/>
            </p:custDataLst>
          </p:nvPr>
        </p:nvSpPr>
        <p:spPr>
          <a:xfrm>
            <a:off x="756000" y="3236587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02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34" name="项标题"/>
          <p:cNvSpPr txBox="1"/>
          <p:nvPr>
            <p:custDataLst>
              <p:tags r:id="rId5"/>
            </p:custDataLst>
          </p:nvPr>
        </p:nvSpPr>
        <p:spPr>
          <a:xfrm>
            <a:off x="2192400" y="3259227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核心架构与原理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" name="序号"/>
          <p:cNvSpPr txBox="1"/>
          <p:nvPr>
            <p:custDataLst>
              <p:tags r:id="rId6"/>
            </p:custDataLst>
          </p:nvPr>
        </p:nvSpPr>
        <p:spPr>
          <a:xfrm>
            <a:off x="756000" y="4205174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03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5" name="项标题"/>
          <p:cNvSpPr txBox="1"/>
          <p:nvPr>
            <p:custDataLst>
              <p:tags r:id="rId7"/>
            </p:custDataLst>
          </p:nvPr>
        </p:nvSpPr>
        <p:spPr>
          <a:xfrm>
            <a:off x="2192400" y="4227814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使用</a:t>
            </a: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流程与</a:t>
            </a: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展示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" name="序号"/>
          <p:cNvSpPr txBox="1"/>
          <p:nvPr>
            <p:custDataLst>
              <p:tags r:id="rId8"/>
            </p:custDataLst>
          </p:nvPr>
        </p:nvSpPr>
        <p:spPr>
          <a:xfrm>
            <a:off x="756000" y="5173760"/>
            <a:ext cx="1382400" cy="828000"/>
          </a:xfrm>
          <a:prstGeom prst="rect">
            <a:avLst/>
          </a:prstGeom>
          <a:noFill/>
        </p:spPr>
        <p:txBody>
          <a:bodyPr wrap="none" lIns="90000" tIns="46800" rIns="90000" bIns="46800" rtlCol="0" anchor="b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4400" b="1" dirty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  <a:latin typeface="+mn-ea"/>
              </a:rPr>
              <a:t>04</a:t>
            </a:r>
            <a:endParaRPr lang="en-US" sz="4400" b="1" dirty="0">
              <a:solidFill>
                <a:schemeClr val="accent1">
                  <a:lumMod val="60000"/>
                  <a:lumOff val="40000"/>
                  <a:alpha val="80000"/>
                </a:schemeClr>
              </a:solidFill>
              <a:latin typeface="+mn-ea"/>
            </a:endParaRPr>
          </a:p>
        </p:txBody>
      </p:sp>
      <p:sp>
        <p:nvSpPr>
          <p:cNvPr id="10" name="项标题"/>
          <p:cNvSpPr txBox="1"/>
          <p:nvPr>
            <p:custDataLst>
              <p:tags r:id="rId9"/>
            </p:custDataLst>
          </p:nvPr>
        </p:nvSpPr>
        <p:spPr>
          <a:xfrm>
            <a:off x="2192400" y="5196400"/>
            <a:ext cx="4280400" cy="784800"/>
          </a:xfrm>
          <a:prstGeom prst="rect">
            <a:avLst/>
          </a:prstGeom>
          <a:noFill/>
        </p:spPr>
        <p:txBody>
          <a:bodyPr wrap="square" lIns="90000" tIns="46800" rIns="90000" bIns="4680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8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总结与展望</a:t>
            </a:r>
            <a:endParaRPr lang="zh-CN" altLang="en-US" sz="28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" name="任意多边形: 形状 1"/>
          <p:cNvSpPr/>
          <p:nvPr>
            <p:custDataLst>
              <p:tags r:id="rId10"/>
            </p:custDataLst>
          </p:nvPr>
        </p:nvSpPr>
        <p:spPr>
          <a:xfrm>
            <a:off x="3044662" y="1003894"/>
            <a:ext cx="3777444" cy="536451"/>
          </a:xfrm>
          <a:custGeom>
            <a:avLst/>
            <a:gdLst>
              <a:gd name="connsiteX0" fmla="*/ 703511 w 3777444"/>
              <a:gd name="connsiteY0" fmla="*/ 95771 h 536451"/>
              <a:gd name="connsiteX1" fmla="*/ 601210 w 3777444"/>
              <a:gd name="connsiteY1" fmla="*/ 143991 h 536451"/>
              <a:gd name="connsiteX2" fmla="*/ 563873 w 3777444"/>
              <a:gd name="connsiteY2" fmla="*/ 268895 h 536451"/>
              <a:gd name="connsiteX3" fmla="*/ 600373 w 3777444"/>
              <a:gd name="connsiteY3" fmla="*/ 392627 h 536451"/>
              <a:gd name="connsiteX4" fmla="*/ 700497 w 3777444"/>
              <a:gd name="connsiteY4" fmla="*/ 440680 h 536451"/>
              <a:gd name="connsiteX5" fmla="*/ 801625 w 3777444"/>
              <a:gd name="connsiteY5" fmla="*/ 394636 h 536451"/>
              <a:gd name="connsiteX6" fmla="*/ 837791 w 3777444"/>
              <a:gd name="connsiteY6" fmla="*/ 270904 h 536451"/>
              <a:gd name="connsiteX7" fmla="*/ 802630 w 3777444"/>
              <a:gd name="connsiteY7" fmla="*/ 142819 h 536451"/>
              <a:gd name="connsiteX8" fmla="*/ 703511 w 3777444"/>
              <a:gd name="connsiteY8" fmla="*/ 95771 h 536451"/>
              <a:gd name="connsiteX9" fmla="*/ 2974777 w 3777444"/>
              <a:gd name="connsiteY9" fmla="*/ 8706 h 536451"/>
              <a:gd name="connsiteX10" fmla="*/ 3381301 w 3777444"/>
              <a:gd name="connsiteY10" fmla="*/ 8706 h 536451"/>
              <a:gd name="connsiteX11" fmla="*/ 3381301 w 3777444"/>
              <a:gd name="connsiteY11" fmla="*/ 99119 h 536451"/>
              <a:gd name="connsiteX12" fmla="*/ 3233291 w 3777444"/>
              <a:gd name="connsiteY12" fmla="*/ 99119 h 536451"/>
              <a:gd name="connsiteX13" fmla="*/ 3233291 w 3777444"/>
              <a:gd name="connsiteY13" fmla="*/ 527410 h 536451"/>
              <a:gd name="connsiteX14" fmla="*/ 3122451 w 3777444"/>
              <a:gd name="connsiteY14" fmla="*/ 527410 h 536451"/>
              <a:gd name="connsiteX15" fmla="*/ 3122451 w 3777444"/>
              <a:gd name="connsiteY15" fmla="*/ 99119 h 536451"/>
              <a:gd name="connsiteX16" fmla="*/ 2974777 w 3777444"/>
              <a:gd name="connsiteY16" fmla="*/ 99119 h 536451"/>
              <a:gd name="connsiteX17" fmla="*/ 2442307 w 3777444"/>
              <a:gd name="connsiteY17" fmla="*/ 8706 h 536451"/>
              <a:gd name="connsiteX18" fmla="*/ 2562857 w 3777444"/>
              <a:gd name="connsiteY18" fmla="*/ 8706 h 536451"/>
              <a:gd name="connsiteX19" fmla="*/ 2774491 w 3777444"/>
              <a:gd name="connsiteY19" fmla="*/ 334863 h 536451"/>
              <a:gd name="connsiteX20" fmla="*/ 2800276 w 3777444"/>
              <a:gd name="connsiteY20" fmla="*/ 376051 h 536451"/>
              <a:gd name="connsiteX21" fmla="*/ 2801950 w 3777444"/>
              <a:gd name="connsiteY21" fmla="*/ 376051 h 536451"/>
              <a:gd name="connsiteX22" fmla="*/ 2798601 w 3777444"/>
              <a:gd name="connsiteY22" fmla="*/ 304391 h 536451"/>
              <a:gd name="connsiteX23" fmla="*/ 2798601 w 3777444"/>
              <a:gd name="connsiteY23" fmla="*/ 8706 h 536451"/>
              <a:gd name="connsiteX24" fmla="*/ 2903413 w 3777444"/>
              <a:gd name="connsiteY24" fmla="*/ 8706 h 536451"/>
              <a:gd name="connsiteX25" fmla="*/ 2903413 w 3777444"/>
              <a:gd name="connsiteY25" fmla="*/ 527410 h 536451"/>
              <a:gd name="connsiteX26" fmla="*/ 2790230 w 3777444"/>
              <a:gd name="connsiteY26" fmla="*/ 527410 h 536451"/>
              <a:gd name="connsiteX27" fmla="*/ 2570559 w 3777444"/>
              <a:gd name="connsiteY27" fmla="*/ 191877 h 536451"/>
              <a:gd name="connsiteX28" fmla="*/ 2545779 w 3777444"/>
              <a:gd name="connsiteY28" fmla="*/ 149684 h 536451"/>
              <a:gd name="connsiteX29" fmla="*/ 2544105 w 3777444"/>
              <a:gd name="connsiteY29" fmla="*/ 149684 h 536451"/>
              <a:gd name="connsiteX30" fmla="*/ 2547119 w 3777444"/>
              <a:gd name="connsiteY30" fmla="*/ 232395 h 536451"/>
              <a:gd name="connsiteX31" fmla="*/ 2547119 w 3777444"/>
              <a:gd name="connsiteY31" fmla="*/ 527410 h 536451"/>
              <a:gd name="connsiteX32" fmla="*/ 2442307 w 3777444"/>
              <a:gd name="connsiteY32" fmla="*/ 527410 h 536451"/>
              <a:gd name="connsiteX33" fmla="*/ 2051782 w 3777444"/>
              <a:gd name="connsiteY33" fmla="*/ 8706 h 536451"/>
              <a:gd name="connsiteX34" fmla="*/ 2346796 w 3777444"/>
              <a:gd name="connsiteY34" fmla="*/ 8706 h 536451"/>
              <a:gd name="connsiteX35" fmla="*/ 2346796 w 3777444"/>
              <a:gd name="connsiteY35" fmla="*/ 99119 h 536451"/>
              <a:gd name="connsiteX36" fmla="*/ 2162287 w 3777444"/>
              <a:gd name="connsiteY36" fmla="*/ 99119 h 536451"/>
              <a:gd name="connsiteX37" fmla="*/ 2162287 w 3777444"/>
              <a:gd name="connsiteY37" fmla="*/ 221345 h 536451"/>
              <a:gd name="connsiteX38" fmla="*/ 2333737 w 3777444"/>
              <a:gd name="connsiteY38" fmla="*/ 221345 h 536451"/>
              <a:gd name="connsiteX39" fmla="*/ 2333737 w 3777444"/>
              <a:gd name="connsiteY39" fmla="*/ 311423 h 536451"/>
              <a:gd name="connsiteX40" fmla="*/ 2162287 w 3777444"/>
              <a:gd name="connsiteY40" fmla="*/ 311423 h 536451"/>
              <a:gd name="connsiteX41" fmla="*/ 2162287 w 3777444"/>
              <a:gd name="connsiteY41" fmla="*/ 436997 h 536451"/>
              <a:gd name="connsiteX42" fmla="*/ 2358851 w 3777444"/>
              <a:gd name="connsiteY42" fmla="*/ 436997 h 536451"/>
              <a:gd name="connsiteX43" fmla="*/ 2358851 w 3777444"/>
              <a:gd name="connsiteY43" fmla="*/ 527410 h 536451"/>
              <a:gd name="connsiteX44" fmla="*/ 2051782 w 3777444"/>
              <a:gd name="connsiteY44" fmla="*/ 527410 h 536451"/>
              <a:gd name="connsiteX45" fmla="*/ 1574602 w 3777444"/>
              <a:gd name="connsiteY45" fmla="*/ 8706 h 536451"/>
              <a:gd name="connsiteX46" fmla="*/ 1981126 w 3777444"/>
              <a:gd name="connsiteY46" fmla="*/ 8706 h 536451"/>
              <a:gd name="connsiteX47" fmla="*/ 1981126 w 3777444"/>
              <a:gd name="connsiteY47" fmla="*/ 99119 h 536451"/>
              <a:gd name="connsiteX48" fmla="*/ 1833116 w 3777444"/>
              <a:gd name="connsiteY48" fmla="*/ 99119 h 536451"/>
              <a:gd name="connsiteX49" fmla="*/ 1833116 w 3777444"/>
              <a:gd name="connsiteY49" fmla="*/ 527410 h 536451"/>
              <a:gd name="connsiteX50" fmla="*/ 1722276 w 3777444"/>
              <a:gd name="connsiteY50" fmla="*/ 527410 h 536451"/>
              <a:gd name="connsiteX51" fmla="*/ 1722276 w 3777444"/>
              <a:gd name="connsiteY51" fmla="*/ 99119 h 536451"/>
              <a:gd name="connsiteX52" fmla="*/ 1574602 w 3777444"/>
              <a:gd name="connsiteY52" fmla="*/ 99119 h 536451"/>
              <a:gd name="connsiteX53" fmla="*/ 1042132 w 3777444"/>
              <a:gd name="connsiteY53" fmla="*/ 8706 h 536451"/>
              <a:gd name="connsiteX54" fmla="*/ 1162683 w 3777444"/>
              <a:gd name="connsiteY54" fmla="*/ 8706 h 536451"/>
              <a:gd name="connsiteX55" fmla="*/ 1374316 w 3777444"/>
              <a:gd name="connsiteY55" fmla="*/ 334863 h 536451"/>
              <a:gd name="connsiteX56" fmla="*/ 1400101 w 3777444"/>
              <a:gd name="connsiteY56" fmla="*/ 376051 h 536451"/>
              <a:gd name="connsiteX57" fmla="*/ 1401775 w 3777444"/>
              <a:gd name="connsiteY57" fmla="*/ 376051 h 536451"/>
              <a:gd name="connsiteX58" fmla="*/ 1398426 w 3777444"/>
              <a:gd name="connsiteY58" fmla="*/ 304391 h 536451"/>
              <a:gd name="connsiteX59" fmla="*/ 1398426 w 3777444"/>
              <a:gd name="connsiteY59" fmla="*/ 8706 h 536451"/>
              <a:gd name="connsiteX60" fmla="*/ 1503239 w 3777444"/>
              <a:gd name="connsiteY60" fmla="*/ 8706 h 536451"/>
              <a:gd name="connsiteX61" fmla="*/ 1503239 w 3777444"/>
              <a:gd name="connsiteY61" fmla="*/ 527410 h 536451"/>
              <a:gd name="connsiteX62" fmla="*/ 1390055 w 3777444"/>
              <a:gd name="connsiteY62" fmla="*/ 527410 h 536451"/>
              <a:gd name="connsiteX63" fmla="*/ 1170384 w 3777444"/>
              <a:gd name="connsiteY63" fmla="*/ 191877 h 536451"/>
              <a:gd name="connsiteX64" fmla="*/ 1145605 w 3777444"/>
              <a:gd name="connsiteY64" fmla="*/ 149684 h 536451"/>
              <a:gd name="connsiteX65" fmla="*/ 1143930 w 3777444"/>
              <a:gd name="connsiteY65" fmla="*/ 149684 h 536451"/>
              <a:gd name="connsiteX66" fmla="*/ 1146944 w 3777444"/>
              <a:gd name="connsiteY66" fmla="*/ 232395 h 536451"/>
              <a:gd name="connsiteX67" fmla="*/ 1146944 w 3777444"/>
              <a:gd name="connsiteY67" fmla="*/ 527410 h 536451"/>
              <a:gd name="connsiteX68" fmla="*/ 1042132 w 3777444"/>
              <a:gd name="connsiteY68" fmla="*/ 527410 h 536451"/>
              <a:gd name="connsiteX69" fmla="*/ 3627090 w 3777444"/>
              <a:gd name="connsiteY69" fmla="*/ 0 h 536451"/>
              <a:gd name="connsiteX70" fmla="*/ 3754673 w 3777444"/>
              <a:gd name="connsiteY70" fmla="*/ 19757 h 536451"/>
              <a:gd name="connsiteX71" fmla="*/ 3754673 w 3777444"/>
              <a:gd name="connsiteY71" fmla="*/ 123564 h 536451"/>
              <a:gd name="connsiteX72" fmla="*/ 3632448 w 3777444"/>
              <a:gd name="connsiteY72" fmla="*/ 88069 h 536451"/>
              <a:gd name="connsiteX73" fmla="*/ 3567150 w 3777444"/>
              <a:gd name="connsiteY73" fmla="*/ 102970 h 536451"/>
              <a:gd name="connsiteX74" fmla="*/ 3542705 w 3777444"/>
              <a:gd name="connsiteY74" fmla="*/ 142987 h 536451"/>
              <a:gd name="connsiteX75" fmla="*/ 3559448 w 3777444"/>
              <a:gd name="connsiteY75" fmla="*/ 179989 h 536451"/>
              <a:gd name="connsiteX76" fmla="*/ 3642159 w 3777444"/>
              <a:gd name="connsiteY76" fmla="*/ 225698 h 536451"/>
              <a:gd name="connsiteX77" fmla="*/ 3748478 w 3777444"/>
              <a:gd name="connsiteY77" fmla="*/ 295684 h 536451"/>
              <a:gd name="connsiteX78" fmla="*/ 3777444 w 3777444"/>
              <a:gd name="connsiteY78" fmla="*/ 383418 h 536451"/>
              <a:gd name="connsiteX79" fmla="*/ 3724535 w 3777444"/>
              <a:gd name="connsiteY79" fmla="*/ 497272 h 536451"/>
              <a:gd name="connsiteX80" fmla="*/ 3574182 w 3777444"/>
              <a:gd name="connsiteY80" fmla="*/ 536451 h 536451"/>
              <a:gd name="connsiteX81" fmla="*/ 3428181 w 3777444"/>
              <a:gd name="connsiteY81" fmla="*/ 507653 h 536451"/>
              <a:gd name="connsiteX82" fmla="*/ 3428181 w 3777444"/>
              <a:gd name="connsiteY82" fmla="*/ 396813 h 536451"/>
              <a:gd name="connsiteX83" fmla="*/ 3570498 w 3777444"/>
              <a:gd name="connsiteY83" fmla="*/ 448717 h 536451"/>
              <a:gd name="connsiteX84" fmla="*/ 3638476 w 3777444"/>
              <a:gd name="connsiteY84" fmla="*/ 433146 h 536451"/>
              <a:gd name="connsiteX85" fmla="*/ 3661246 w 3777444"/>
              <a:gd name="connsiteY85" fmla="*/ 393129 h 536451"/>
              <a:gd name="connsiteX86" fmla="*/ 3643164 w 3777444"/>
              <a:gd name="connsiteY86" fmla="*/ 353281 h 536451"/>
              <a:gd name="connsiteX87" fmla="*/ 3547728 w 3777444"/>
              <a:gd name="connsiteY87" fmla="*/ 302381 h 536451"/>
              <a:gd name="connsiteX88" fmla="*/ 3426172 w 3777444"/>
              <a:gd name="connsiteY88" fmla="*/ 152363 h 536451"/>
              <a:gd name="connsiteX89" fmla="*/ 3481257 w 3777444"/>
              <a:gd name="connsiteY89" fmla="*/ 40016 h 536451"/>
              <a:gd name="connsiteX90" fmla="*/ 3627090 w 3777444"/>
              <a:gd name="connsiteY90" fmla="*/ 0 h 536451"/>
              <a:gd name="connsiteX91" fmla="*/ 706859 w 3777444"/>
              <a:gd name="connsiteY91" fmla="*/ 0 h 536451"/>
              <a:gd name="connsiteX92" fmla="*/ 885844 w 3777444"/>
              <a:gd name="connsiteY92" fmla="*/ 74005 h 536451"/>
              <a:gd name="connsiteX93" fmla="*/ 953653 w 3777444"/>
              <a:gd name="connsiteY93" fmla="*/ 264207 h 536451"/>
              <a:gd name="connsiteX94" fmla="*/ 883165 w 3777444"/>
              <a:gd name="connsiteY94" fmla="*/ 460939 h 536451"/>
              <a:gd name="connsiteX95" fmla="*/ 698488 w 3777444"/>
              <a:gd name="connsiteY95" fmla="*/ 536451 h 536451"/>
              <a:gd name="connsiteX96" fmla="*/ 517327 w 3777444"/>
              <a:gd name="connsiteY96" fmla="*/ 463283 h 536451"/>
              <a:gd name="connsiteX97" fmla="*/ 447675 w 3777444"/>
              <a:gd name="connsiteY97" fmla="*/ 274923 h 536451"/>
              <a:gd name="connsiteX98" fmla="*/ 518833 w 3777444"/>
              <a:gd name="connsiteY98" fmla="*/ 76516 h 536451"/>
              <a:gd name="connsiteX99" fmla="*/ 706859 w 3777444"/>
              <a:gd name="connsiteY99" fmla="*/ 0 h 536451"/>
              <a:gd name="connsiteX100" fmla="*/ 275258 w 3777444"/>
              <a:gd name="connsiteY100" fmla="*/ 0 h 536451"/>
              <a:gd name="connsiteX101" fmla="*/ 402506 w 3777444"/>
              <a:gd name="connsiteY101" fmla="*/ 19757 h 536451"/>
              <a:gd name="connsiteX102" fmla="*/ 402506 w 3777444"/>
              <a:gd name="connsiteY102" fmla="*/ 126578 h 536451"/>
              <a:gd name="connsiteX103" fmla="*/ 283294 w 3777444"/>
              <a:gd name="connsiteY103" fmla="*/ 95771 h 536451"/>
              <a:gd name="connsiteX104" fmla="*/ 161739 w 3777444"/>
              <a:gd name="connsiteY104" fmla="*/ 144326 h 536451"/>
              <a:gd name="connsiteX105" fmla="*/ 116198 w 3777444"/>
              <a:gd name="connsiteY105" fmla="*/ 271239 h 536451"/>
              <a:gd name="connsiteX106" fmla="*/ 159395 w 3777444"/>
              <a:gd name="connsiteY106" fmla="*/ 394134 h 536451"/>
              <a:gd name="connsiteX107" fmla="*/ 276262 w 3777444"/>
              <a:gd name="connsiteY107" fmla="*/ 440680 h 536451"/>
              <a:gd name="connsiteX108" fmla="*/ 402506 w 3777444"/>
              <a:gd name="connsiteY108" fmla="*/ 407194 h 536451"/>
              <a:gd name="connsiteX109" fmla="*/ 402506 w 3777444"/>
              <a:gd name="connsiteY109" fmla="*/ 508657 h 536451"/>
              <a:gd name="connsiteX110" fmla="*/ 254831 w 3777444"/>
              <a:gd name="connsiteY110" fmla="*/ 536451 h 536451"/>
              <a:gd name="connsiteX111" fmla="*/ 68814 w 3777444"/>
              <a:gd name="connsiteY111" fmla="*/ 466297 h 536451"/>
              <a:gd name="connsiteX112" fmla="*/ 0 w 3777444"/>
              <a:gd name="connsiteY112" fmla="*/ 279276 h 536451"/>
              <a:gd name="connsiteX113" fmla="*/ 76851 w 3777444"/>
              <a:gd name="connsiteY113" fmla="*/ 78190 h 536451"/>
              <a:gd name="connsiteX114" fmla="*/ 275258 w 3777444"/>
              <a:gd name="connsiteY114" fmla="*/ 0 h 53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777444" h="536451">
                <a:moveTo>
                  <a:pt x="703511" y="95771"/>
                </a:moveTo>
                <a:cubicBezTo>
                  <a:pt x="660202" y="95771"/>
                  <a:pt x="626101" y="111844"/>
                  <a:pt x="601210" y="143991"/>
                </a:cubicBezTo>
                <a:cubicBezTo>
                  <a:pt x="576318" y="176138"/>
                  <a:pt x="563873" y="217773"/>
                  <a:pt x="563873" y="268895"/>
                </a:cubicBezTo>
                <a:cubicBezTo>
                  <a:pt x="563873" y="319348"/>
                  <a:pt x="576039" y="360592"/>
                  <a:pt x="600373" y="392627"/>
                </a:cubicBezTo>
                <a:cubicBezTo>
                  <a:pt x="624706" y="424662"/>
                  <a:pt x="658081" y="440680"/>
                  <a:pt x="700497" y="440680"/>
                </a:cubicBezTo>
                <a:cubicBezTo>
                  <a:pt x="743806" y="440680"/>
                  <a:pt x="777515" y="425332"/>
                  <a:pt x="801625" y="394636"/>
                </a:cubicBezTo>
                <a:cubicBezTo>
                  <a:pt x="825736" y="363941"/>
                  <a:pt x="837791" y="322697"/>
                  <a:pt x="837791" y="270904"/>
                </a:cubicBezTo>
                <a:cubicBezTo>
                  <a:pt x="837791" y="216880"/>
                  <a:pt x="826071" y="174185"/>
                  <a:pt x="802630" y="142819"/>
                </a:cubicBezTo>
                <a:cubicBezTo>
                  <a:pt x="779190" y="111454"/>
                  <a:pt x="746150" y="95771"/>
                  <a:pt x="703511" y="95771"/>
                </a:cubicBezTo>
                <a:close/>
                <a:moveTo>
                  <a:pt x="2974777" y="8706"/>
                </a:moveTo>
                <a:lnTo>
                  <a:pt x="3381301" y="8706"/>
                </a:lnTo>
                <a:lnTo>
                  <a:pt x="3381301" y="99119"/>
                </a:lnTo>
                <a:lnTo>
                  <a:pt x="3233291" y="99119"/>
                </a:lnTo>
                <a:lnTo>
                  <a:pt x="3233291" y="527410"/>
                </a:lnTo>
                <a:lnTo>
                  <a:pt x="3122451" y="527410"/>
                </a:lnTo>
                <a:lnTo>
                  <a:pt x="3122451" y="99119"/>
                </a:lnTo>
                <a:lnTo>
                  <a:pt x="2974777" y="99119"/>
                </a:lnTo>
                <a:close/>
                <a:moveTo>
                  <a:pt x="2442307" y="8706"/>
                </a:moveTo>
                <a:lnTo>
                  <a:pt x="2562857" y="8706"/>
                </a:lnTo>
                <a:lnTo>
                  <a:pt x="2774491" y="334863"/>
                </a:lnTo>
                <a:cubicBezTo>
                  <a:pt x="2788555" y="356518"/>
                  <a:pt x="2797150" y="370247"/>
                  <a:pt x="2800276" y="376051"/>
                </a:cubicBezTo>
                <a:lnTo>
                  <a:pt x="2801950" y="376051"/>
                </a:lnTo>
                <a:cubicBezTo>
                  <a:pt x="2799717" y="363550"/>
                  <a:pt x="2798601" y="339663"/>
                  <a:pt x="2798601" y="304391"/>
                </a:cubicBezTo>
                <a:lnTo>
                  <a:pt x="2798601" y="8706"/>
                </a:lnTo>
                <a:lnTo>
                  <a:pt x="2903413" y="8706"/>
                </a:lnTo>
                <a:lnTo>
                  <a:pt x="2903413" y="527410"/>
                </a:lnTo>
                <a:lnTo>
                  <a:pt x="2790230" y="527410"/>
                </a:lnTo>
                <a:lnTo>
                  <a:pt x="2570559" y="191877"/>
                </a:lnTo>
                <a:cubicBezTo>
                  <a:pt x="2559174" y="174464"/>
                  <a:pt x="2550914" y="160399"/>
                  <a:pt x="2545779" y="149684"/>
                </a:cubicBezTo>
                <a:lnTo>
                  <a:pt x="2544105" y="149684"/>
                </a:lnTo>
                <a:cubicBezTo>
                  <a:pt x="2546114" y="167543"/>
                  <a:pt x="2547119" y="195114"/>
                  <a:pt x="2547119" y="232395"/>
                </a:cubicBezTo>
                <a:lnTo>
                  <a:pt x="2547119" y="527410"/>
                </a:lnTo>
                <a:lnTo>
                  <a:pt x="2442307" y="527410"/>
                </a:lnTo>
                <a:close/>
                <a:moveTo>
                  <a:pt x="2051782" y="8706"/>
                </a:moveTo>
                <a:lnTo>
                  <a:pt x="2346796" y="8706"/>
                </a:lnTo>
                <a:lnTo>
                  <a:pt x="2346796" y="99119"/>
                </a:lnTo>
                <a:lnTo>
                  <a:pt x="2162287" y="99119"/>
                </a:lnTo>
                <a:lnTo>
                  <a:pt x="2162287" y="221345"/>
                </a:lnTo>
                <a:lnTo>
                  <a:pt x="2333737" y="221345"/>
                </a:lnTo>
                <a:lnTo>
                  <a:pt x="2333737" y="311423"/>
                </a:lnTo>
                <a:lnTo>
                  <a:pt x="2162287" y="311423"/>
                </a:lnTo>
                <a:lnTo>
                  <a:pt x="2162287" y="436997"/>
                </a:lnTo>
                <a:lnTo>
                  <a:pt x="2358851" y="436997"/>
                </a:lnTo>
                <a:lnTo>
                  <a:pt x="2358851" y="527410"/>
                </a:lnTo>
                <a:lnTo>
                  <a:pt x="2051782" y="527410"/>
                </a:lnTo>
                <a:close/>
                <a:moveTo>
                  <a:pt x="1574602" y="8706"/>
                </a:moveTo>
                <a:lnTo>
                  <a:pt x="1981126" y="8706"/>
                </a:lnTo>
                <a:lnTo>
                  <a:pt x="1981126" y="99119"/>
                </a:lnTo>
                <a:lnTo>
                  <a:pt x="1833116" y="99119"/>
                </a:lnTo>
                <a:lnTo>
                  <a:pt x="1833116" y="527410"/>
                </a:lnTo>
                <a:lnTo>
                  <a:pt x="1722276" y="527410"/>
                </a:lnTo>
                <a:lnTo>
                  <a:pt x="1722276" y="99119"/>
                </a:lnTo>
                <a:lnTo>
                  <a:pt x="1574602" y="99119"/>
                </a:lnTo>
                <a:close/>
                <a:moveTo>
                  <a:pt x="1042132" y="8706"/>
                </a:moveTo>
                <a:lnTo>
                  <a:pt x="1162683" y="8706"/>
                </a:lnTo>
                <a:lnTo>
                  <a:pt x="1374316" y="334863"/>
                </a:lnTo>
                <a:cubicBezTo>
                  <a:pt x="1388380" y="356518"/>
                  <a:pt x="1396975" y="370247"/>
                  <a:pt x="1400101" y="376051"/>
                </a:cubicBezTo>
                <a:lnTo>
                  <a:pt x="1401775" y="376051"/>
                </a:lnTo>
                <a:cubicBezTo>
                  <a:pt x="1399543" y="363550"/>
                  <a:pt x="1398426" y="339663"/>
                  <a:pt x="1398426" y="304391"/>
                </a:cubicBezTo>
                <a:lnTo>
                  <a:pt x="1398426" y="8706"/>
                </a:lnTo>
                <a:lnTo>
                  <a:pt x="1503239" y="8706"/>
                </a:lnTo>
                <a:lnTo>
                  <a:pt x="1503239" y="527410"/>
                </a:lnTo>
                <a:lnTo>
                  <a:pt x="1390055" y="527410"/>
                </a:lnTo>
                <a:lnTo>
                  <a:pt x="1170384" y="191877"/>
                </a:lnTo>
                <a:cubicBezTo>
                  <a:pt x="1158999" y="174464"/>
                  <a:pt x="1150739" y="160399"/>
                  <a:pt x="1145605" y="149684"/>
                </a:cubicBezTo>
                <a:lnTo>
                  <a:pt x="1143930" y="149684"/>
                </a:lnTo>
                <a:cubicBezTo>
                  <a:pt x="1145939" y="167543"/>
                  <a:pt x="1146944" y="195114"/>
                  <a:pt x="1146944" y="232395"/>
                </a:cubicBezTo>
                <a:lnTo>
                  <a:pt x="1146944" y="527410"/>
                </a:lnTo>
                <a:lnTo>
                  <a:pt x="1042132" y="527410"/>
                </a:lnTo>
                <a:close/>
                <a:moveTo>
                  <a:pt x="3627090" y="0"/>
                </a:moveTo>
                <a:cubicBezTo>
                  <a:pt x="3677766" y="0"/>
                  <a:pt x="3720294" y="6586"/>
                  <a:pt x="3754673" y="19757"/>
                </a:cubicBezTo>
                <a:lnTo>
                  <a:pt x="3754673" y="123564"/>
                </a:lnTo>
                <a:cubicBezTo>
                  <a:pt x="3719847" y="99901"/>
                  <a:pt x="3679106" y="88069"/>
                  <a:pt x="3632448" y="88069"/>
                </a:cubicBezTo>
                <a:cubicBezTo>
                  <a:pt x="3605212" y="88069"/>
                  <a:pt x="3583446" y="93036"/>
                  <a:pt x="3567150" y="102970"/>
                </a:cubicBezTo>
                <a:cubicBezTo>
                  <a:pt x="3550853" y="112905"/>
                  <a:pt x="3542705" y="126243"/>
                  <a:pt x="3542705" y="142987"/>
                </a:cubicBezTo>
                <a:cubicBezTo>
                  <a:pt x="3542705" y="156381"/>
                  <a:pt x="3548286" y="168715"/>
                  <a:pt x="3559448" y="179989"/>
                </a:cubicBezTo>
                <a:cubicBezTo>
                  <a:pt x="3570610" y="191263"/>
                  <a:pt x="3598180" y="206499"/>
                  <a:pt x="3642159" y="225698"/>
                </a:cubicBezTo>
                <a:cubicBezTo>
                  <a:pt x="3693728" y="247799"/>
                  <a:pt x="3729168" y="271128"/>
                  <a:pt x="3748478" y="295684"/>
                </a:cubicBezTo>
                <a:cubicBezTo>
                  <a:pt x="3767789" y="320241"/>
                  <a:pt x="3777444" y="349486"/>
                  <a:pt x="3777444" y="383418"/>
                </a:cubicBezTo>
                <a:cubicBezTo>
                  <a:pt x="3777444" y="433201"/>
                  <a:pt x="3759808" y="471153"/>
                  <a:pt x="3724535" y="497272"/>
                </a:cubicBezTo>
                <a:cubicBezTo>
                  <a:pt x="3689263" y="523391"/>
                  <a:pt x="3639145" y="536451"/>
                  <a:pt x="3574182" y="536451"/>
                </a:cubicBezTo>
                <a:cubicBezTo>
                  <a:pt x="3514799" y="536451"/>
                  <a:pt x="3466133" y="526851"/>
                  <a:pt x="3428181" y="507653"/>
                </a:cubicBezTo>
                <a:lnTo>
                  <a:pt x="3428181" y="396813"/>
                </a:lnTo>
                <a:cubicBezTo>
                  <a:pt x="3469928" y="431415"/>
                  <a:pt x="3517367" y="448717"/>
                  <a:pt x="3570498" y="448717"/>
                </a:cubicBezTo>
                <a:cubicBezTo>
                  <a:pt x="3600636" y="448717"/>
                  <a:pt x="3623295" y="443526"/>
                  <a:pt x="3638476" y="433146"/>
                </a:cubicBezTo>
                <a:cubicBezTo>
                  <a:pt x="3653656" y="422765"/>
                  <a:pt x="3661246" y="409426"/>
                  <a:pt x="3661246" y="393129"/>
                </a:cubicBezTo>
                <a:cubicBezTo>
                  <a:pt x="3661246" y="379065"/>
                  <a:pt x="3655219" y="365782"/>
                  <a:pt x="3643164" y="353281"/>
                </a:cubicBezTo>
                <a:cubicBezTo>
                  <a:pt x="3631109" y="340779"/>
                  <a:pt x="3599297" y="323813"/>
                  <a:pt x="3547728" y="302381"/>
                </a:cubicBezTo>
                <a:cubicBezTo>
                  <a:pt x="3466691" y="268002"/>
                  <a:pt x="3426172" y="217996"/>
                  <a:pt x="3426172" y="152363"/>
                </a:cubicBezTo>
                <a:cubicBezTo>
                  <a:pt x="3426172" y="104142"/>
                  <a:pt x="3444534" y="66694"/>
                  <a:pt x="3481257" y="40016"/>
                </a:cubicBezTo>
                <a:cubicBezTo>
                  <a:pt x="3517981" y="13339"/>
                  <a:pt x="3566592" y="0"/>
                  <a:pt x="3627090" y="0"/>
                </a:cubicBezTo>
                <a:close/>
                <a:moveTo>
                  <a:pt x="706859" y="0"/>
                </a:moveTo>
                <a:cubicBezTo>
                  <a:pt x="780976" y="0"/>
                  <a:pt x="840637" y="24668"/>
                  <a:pt x="885844" y="74005"/>
                </a:cubicBezTo>
                <a:cubicBezTo>
                  <a:pt x="931050" y="123341"/>
                  <a:pt x="953653" y="186742"/>
                  <a:pt x="953653" y="264207"/>
                </a:cubicBezTo>
                <a:cubicBezTo>
                  <a:pt x="953653" y="345021"/>
                  <a:pt x="930157" y="410598"/>
                  <a:pt x="883165" y="460939"/>
                </a:cubicBezTo>
                <a:cubicBezTo>
                  <a:pt x="836172" y="511280"/>
                  <a:pt x="774613" y="536451"/>
                  <a:pt x="698488" y="536451"/>
                </a:cubicBezTo>
                <a:cubicBezTo>
                  <a:pt x="624148" y="536451"/>
                  <a:pt x="563761" y="512062"/>
                  <a:pt x="517327" y="463283"/>
                </a:cubicBezTo>
                <a:cubicBezTo>
                  <a:pt x="470892" y="414505"/>
                  <a:pt x="447675" y="351718"/>
                  <a:pt x="447675" y="274923"/>
                </a:cubicBezTo>
                <a:cubicBezTo>
                  <a:pt x="447675" y="193663"/>
                  <a:pt x="471394" y="127527"/>
                  <a:pt x="518833" y="76516"/>
                </a:cubicBezTo>
                <a:cubicBezTo>
                  <a:pt x="566272" y="25505"/>
                  <a:pt x="628948" y="0"/>
                  <a:pt x="706859" y="0"/>
                </a:cubicBezTo>
                <a:close/>
                <a:moveTo>
                  <a:pt x="275258" y="0"/>
                </a:moveTo>
                <a:cubicBezTo>
                  <a:pt x="325934" y="0"/>
                  <a:pt x="368350" y="6586"/>
                  <a:pt x="402506" y="19757"/>
                </a:cubicBezTo>
                <a:lnTo>
                  <a:pt x="402506" y="126578"/>
                </a:lnTo>
                <a:cubicBezTo>
                  <a:pt x="367457" y="106040"/>
                  <a:pt x="327720" y="95771"/>
                  <a:pt x="283294" y="95771"/>
                </a:cubicBezTo>
                <a:cubicBezTo>
                  <a:pt x="232618" y="95771"/>
                  <a:pt x="192100" y="111956"/>
                  <a:pt x="161739" y="144326"/>
                </a:cubicBezTo>
                <a:cubicBezTo>
                  <a:pt x="131378" y="176696"/>
                  <a:pt x="116198" y="219001"/>
                  <a:pt x="116198" y="271239"/>
                </a:cubicBezTo>
                <a:cubicBezTo>
                  <a:pt x="116198" y="322138"/>
                  <a:pt x="130597" y="363103"/>
                  <a:pt x="159395" y="394134"/>
                </a:cubicBezTo>
                <a:cubicBezTo>
                  <a:pt x="188193" y="425165"/>
                  <a:pt x="227149" y="440680"/>
                  <a:pt x="276262" y="440680"/>
                </a:cubicBezTo>
                <a:cubicBezTo>
                  <a:pt x="322473" y="440680"/>
                  <a:pt x="364554" y="429518"/>
                  <a:pt x="402506" y="407194"/>
                </a:cubicBezTo>
                <a:lnTo>
                  <a:pt x="402506" y="508657"/>
                </a:lnTo>
                <a:cubicBezTo>
                  <a:pt x="364778" y="527186"/>
                  <a:pt x="315553" y="536451"/>
                  <a:pt x="254831" y="536451"/>
                </a:cubicBezTo>
                <a:cubicBezTo>
                  <a:pt x="176696" y="536451"/>
                  <a:pt x="114691" y="513066"/>
                  <a:pt x="68814" y="466297"/>
                </a:cubicBezTo>
                <a:cubicBezTo>
                  <a:pt x="22938" y="419528"/>
                  <a:pt x="0" y="357187"/>
                  <a:pt x="0" y="279276"/>
                </a:cubicBezTo>
                <a:cubicBezTo>
                  <a:pt x="0" y="197346"/>
                  <a:pt x="25617" y="130318"/>
                  <a:pt x="76851" y="78190"/>
                </a:cubicBezTo>
                <a:cubicBezTo>
                  <a:pt x="128085" y="26063"/>
                  <a:pt x="194221" y="0"/>
                  <a:pt x="275258" y="0"/>
                </a:cubicBezTo>
                <a:close/>
              </a:path>
            </a:pathLst>
          </a:custGeom>
          <a:noFill/>
          <a:ln w="15875">
            <a:solidFill>
              <a:schemeClr val="accent1">
                <a:alpha val="70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2800" b="1">
              <a:ln w="15875">
                <a:solidFill>
                  <a:schemeClr val="tx1">
                    <a:alpha val="25000"/>
                  </a:schemeClr>
                </a:solidFill>
              </a:ln>
              <a:noFill/>
              <a:latin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研究背景与问题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0000"/>
            <a:ext cx="10800000" cy="720000"/>
          </a:xfrm>
        </p:spPr>
        <p:txBody>
          <a:bodyPr/>
          <a:lstStyle/>
          <a:p>
            <a:r>
              <a:rPr lang="zh-CN" altLang="en-US"/>
              <a:t>研究背景与问题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传统多智能体仿真的挑战：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 </a:t>
            </a:r>
            <a:r>
              <a:rPr lang="zh-CN" altLang="en-US">
                <a:solidFill>
                  <a:schemeClr val="tx1"/>
                </a:solidFill>
              </a:rPr>
              <a:t>复杂沉重：依赖预定义的硬编码规则和状态机。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 </a:t>
            </a:r>
            <a:r>
              <a:rPr lang="zh-CN" altLang="en-US">
                <a:solidFill>
                  <a:schemeClr val="tx1"/>
                </a:solidFill>
              </a:rPr>
              <a:t>缺乏泛化性：场景或角色变动需要大量重新编程。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 </a:t>
            </a:r>
            <a:r>
              <a:rPr lang="zh-CN" altLang="en-US">
                <a:solidFill>
                  <a:schemeClr val="tx1"/>
                </a:solidFill>
              </a:rPr>
              <a:t>行为呆板：智能体难以产生类人的、丰富的对话与决策。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研究背景与问题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大语言模型带来的机遇：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</a:t>
            </a:r>
            <a:r>
              <a:rPr lang="zh-CN" altLang="en-US">
                <a:solidFill>
                  <a:schemeClr val="tx1"/>
                </a:solidFill>
              </a:rPr>
              <a:t>强大的生成能力：能够理解上下文并生成连贯、合理的文本。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  </a:t>
            </a:r>
            <a:r>
              <a:rPr lang="zh-CN" altLang="en-US">
                <a:solidFill>
                  <a:schemeClr val="tx1"/>
                </a:solidFill>
              </a:rPr>
              <a:t>丰富的世界知识：模型本身蕴含了大量社会常识和领域知识。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研究背景与问题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r>
              <a:rPr lang="zh-CN" altLang="en-US" sz="3600">
                <a:solidFill>
                  <a:schemeClr val="tx1"/>
                </a:solidFill>
              </a:rPr>
              <a:t>核心需求：一个轻量、简单、易于上手，又能利用</a:t>
            </a:r>
            <a:r>
              <a:rPr lang="en-US" altLang="zh-CN" sz="3600">
                <a:solidFill>
                  <a:schemeClr val="tx1"/>
                </a:solidFill>
              </a:rPr>
              <a:t>LLM</a:t>
            </a:r>
            <a:r>
              <a:rPr lang="zh-CN" altLang="en-US" sz="3600">
                <a:solidFill>
                  <a:schemeClr val="tx1"/>
                </a:solidFill>
              </a:rPr>
              <a:t>核心能力的多智能体仿真工具。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3513000" y="2628092"/>
            <a:ext cx="5166000" cy="1602000"/>
          </a:xfrm>
        </p:spPr>
        <p:txBody>
          <a:bodyPr>
            <a:noAutofit/>
          </a:bodyPr>
          <a:lstStyle/>
          <a:p>
            <a:pPr algn="ctr"/>
            <a:r>
              <a:rPr lang="zh-CN" altLang="en-US" sz="59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核心架构与原理</a:t>
            </a:r>
            <a:endParaRPr lang="zh-CN" altLang="en-US" sz="5900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/>
            <a:r>
              <a:rPr lang="en-US" altLang="zh-CN" sz="5900">
                <a:solidFill>
                  <a:schemeClr val="tx1"/>
                </a:solidFill>
              </a:rPr>
              <a:t> </a:t>
            </a:r>
            <a:endParaRPr lang="en-US" altLang="zh-CN" sz="59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TinyTroupe</a:t>
            </a:r>
            <a:r>
              <a:rPr lang="zh-CN" altLang="en-US"/>
              <a:t>简介：设计目标与核心理念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简要介绍：一个由微软研究院开发的、极其轻量的</a:t>
            </a:r>
            <a:r>
              <a:rPr lang="en-US" altLang="zh-CN">
                <a:solidFill>
                  <a:schemeClr val="tx1"/>
                </a:solidFill>
              </a:rPr>
              <a:t>Python</a:t>
            </a:r>
            <a:r>
              <a:rPr lang="zh-CN" altLang="en-US">
                <a:solidFill>
                  <a:schemeClr val="tx1"/>
                </a:solidFill>
              </a:rPr>
              <a:t>库，用于快速构建基于</a:t>
            </a:r>
            <a:r>
              <a:rPr lang="en-US" altLang="zh-CN">
                <a:solidFill>
                  <a:schemeClr val="tx1"/>
                </a:solidFill>
              </a:rPr>
              <a:t>LLM</a:t>
            </a:r>
            <a:r>
              <a:rPr lang="zh-CN" altLang="en-US">
                <a:solidFill>
                  <a:schemeClr val="tx1"/>
                </a:solidFill>
              </a:rPr>
              <a:t>的多角色交互仿真。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核心理念：将</a:t>
            </a:r>
            <a:r>
              <a:rPr lang="en-US" altLang="zh-CN">
                <a:solidFill>
                  <a:schemeClr val="tx1"/>
                </a:solidFill>
              </a:rPr>
              <a:t>LLM</a:t>
            </a:r>
            <a:r>
              <a:rPr lang="zh-CN" altLang="en-US">
                <a:solidFill>
                  <a:schemeClr val="tx1"/>
                </a:solidFill>
              </a:rPr>
              <a:t>视为一个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行为模拟器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，通过精心的提示工程和程序调度，引导模型模拟出具有特定身份、目标和记忆的智能体的行为。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核心架构原理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2000">
                <a:solidFill>
                  <a:schemeClr val="tx1"/>
                </a:solidFill>
              </a:rPr>
              <a:t>核心论文：</a:t>
            </a:r>
            <a:endParaRPr lang="zh-CN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000">
                <a:solidFill>
                  <a:schemeClr val="tx1"/>
                </a:solidFill>
              </a:rPr>
              <a:t>《</a:t>
            </a:r>
            <a:r>
              <a:rPr lang="en-US" altLang="zh-CN" sz="2000">
                <a:solidFill>
                  <a:schemeClr val="tx1"/>
                </a:solidFill>
              </a:rPr>
              <a:t>TinyTroupe: Lightweight Multi-Agent Simulation with LLMs</a:t>
            </a:r>
            <a:r>
              <a:rPr lang="zh-CN" altLang="en-US" sz="2000">
                <a:solidFill>
                  <a:schemeClr val="tx1"/>
                </a:solidFill>
              </a:rPr>
              <a:t>》</a:t>
            </a:r>
            <a:endParaRPr lang="zh-CN" altLang="en-US" sz="2000">
              <a:solidFill>
                <a:schemeClr val="tx1"/>
              </a:solidFill>
            </a:endParaRPr>
          </a:p>
          <a:p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400" y="2200275"/>
            <a:ext cx="6035040" cy="4369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TinyTroupe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确定了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llm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辅助仿真器的</a:t>
            </a:r>
            <a:r>
              <a:rPr lang="zh-CN" altLang="en-US" b="1">
                <a:solidFill>
                  <a:schemeClr val="tx1"/>
                </a:solidFill>
              </a:rPr>
              <a:t>五大设计原则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1.Detailed Persona as Foundation (</a:t>
            </a:r>
            <a:r>
              <a:rPr lang="zh-CN" altLang="en-US">
                <a:solidFill>
                  <a:schemeClr val="tx1"/>
                </a:solidFill>
              </a:rPr>
              <a:t>详尽人格即基础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超越简单角色：代理的人格由一组结构化、细粒度的属性碎片定义，包括国籍、年龄、职业、性格（如大五人格）、信念、行为模式、过往经历等。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可组合性与复用：支持通过</a:t>
            </a:r>
            <a:r>
              <a:rPr lang="en-US" altLang="zh-CN">
                <a:solidFill>
                  <a:schemeClr val="tx1"/>
                </a:solidFill>
              </a:rPr>
              <a:t> import_fragment() </a:t>
            </a:r>
            <a:r>
              <a:rPr lang="zh-CN" altLang="en-US">
                <a:solidFill>
                  <a:schemeClr val="tx1"/>
                </a:solidFill>
              </a:rPr>
              <a:t>导入预定义的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人格碎片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（如政治倾向：左翼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右翼、自由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权威），像搭积木一样快速构建复杂、多样化的人口样本，极大便利了社会科学实验。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核心架构原理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</a:rPr>
              <a:t>2.Programmatic &amp; LLM-Driven Control (</a:t>
            </a:r>
            <a:r>
              <a:rPr lang="zh-CN" altLang="en-US">
                <a:solidFill>
                  <a:schemeClr val="tx1"/>
                </a:solidFill>
              </a:rPr>
              <a:t>程序化与</a:t>
            </a:r>
            <a:r>
              <a:rPr lang="en-US" altLang="zh-CN">
                <a:solidFill>
                  <a:schemeClr val="tx1"/>
                </a:solidFill>
              </a:rPr>
              <a:t>LLM</a:t>
            </a:r>
            <a:r>
              <a:rPr lang="zh-CN" altLang="en-US">
                <a:solidFill>
                  <a:schemeClr val="tx1"/>
                </a:solidFill>
              </a:rPr>
              <a:t>驱动控制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endParaRPr lang="en-US" altLang="zh-CN">
              <a:solidFill>
                <a:schemeClr val="tx1"/>
              </a:solidFill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</a:rPr>
              <a:t>高层引导：通过 .listen(), .think(), .act() 等方法，实验者可以像导演一样程序化地刺激和引导代理的行为序列。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</a:rPr>
              <a:t>底层生成：每个具体行动（如发言、决策）都由LLM实时生成，确保了行为的丰富性和涌现性。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</a:rPr>
              <a:t>行动监控与校正：生成的行为会经过一个可选的验证过滤器。如果行为违反预设的人格约束（例如，一个有孩子的代理对成人旅游产品说“是”），系统会将该冲突信息作为反馈重新提交给LLM，请求其生成一个更一致的行为，从而对抗模型固有偏见，强制行为与人格对齐。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3.Structured Cognitive Architecture (</a:t>
            </a:r>
            <a:r>
              <a:rPr lang="zh-CN" altLang="en-US" sz="2400">
                <a:solidFill>
                  <a:schemeClr val="tx1"/>
                </a:solidFill>
              </a:rPr>
              <a:t>结构化认知架构</a:t>
            </a:r>
            <a:r>
              <a:rPr lang="en-US" altLang="zh-CN" sz="2400">
                <a:solidFill>
                  <a:schemeClr val="tx1"/>
                </a:solidFill>
              </a:rPr>
              <a:t>)</a:t>
            </a:r>
            <a:endParaRPr lang="en-US" altLang="zh-CN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记忆系统：模拟人类认知，包含情景记忆（按时间顺序存储交互经历）和语义记忆（索引事实性知识）。这为代理提供了连贯的个体经历和稳定的知识背景。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心智官能：通过 TinyFaculty 机制，代理可以拥有和使用模拟工具（如 TinyWordProcessor）或其他专有认知能力。这允许代理执行更复杂的任务（如撰写文档、使用看板），极大地扩展了仿真的范围和真实性。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4.Modular Prompt Engineering (模块化提示工程)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提示词的结构化组成：代理的提示词并非单一指令，而是一个结构化的Markdown文档，明确包含：引言、主要交互指令、附加约束、人格规格、当前认知状态等模块。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官能的动态扩展：每个被激活的 TinyFaculty 会动态地向提示词中添加新行动的定义列表和约束规则，并实现对应的行动处理器。这使得系统能力可以模块化地增长。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5.Integrated Experimentation Support (一体化实验支持)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从问题到方案：库的设计目标就是允许用户简洁地定义具有实际意义的行为学问题（个体或群体层面），并为之提供有效的模拟求解手段。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开箱即用的示例：提供“头脑风暴”、“市场调研”、“辩论”等完整工作示例，这些示例本身既是功能演示，也是高级用法的模板，降低了实验门槛。</a:t>
            </a:r>
            <a:r>
              <a:rPr lang="zh-CN" altLang="en-US">
                <a:solidFill>
                  <a:schemeClr val="tx1"/>
                </a:solidFill>
              </a:rPr>
              <a:t>所有设计支持快速迭代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>
                <a:solidFill>
                  <a:schemeClr val="tx1"/>
                </a:solidFill>
              </a:rPr>
              <a:t>定义、运行、分析、改进。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架构全景图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b="1"/>
              <a:t>架构全景图</a:t>
            </a:r>
            <a:endParaRPr lang="zh-CN" altLang="en-US" b="1"/>
          </a:p>
          <a:p>
            <a:pPr marL="0" indent="0">
              <a:buNone/>
            </a:pP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185" y="1301750"/>
            <a:ext cx="4579620" cy="52114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核心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代码结构解析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TinyTroupe</a:t>
            </a:r>
            <a:r>
              <a:rPr lang="zh-CN" altLang="en-US">
                <a:solidFill>
                  <a:schemeClr val="tx1"/>
                </a:solidFill>
              </a:rPr>
              <a:t>基于五大核心代码文件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tiny_person.py   </a:t>
            </a:r>
            <a:r>
              <a:rPr lang="zh-CN" altLang="en-US">
                <a:solidFill>
                  <a:schemeClr val="tx1"/>
                </a:solidFill>
              </a:rPr>
              <a:t>封装一个具有拟人人格、记忆和认知循环的智能体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tiny_story.py </a:t>
            </a:r>
            <a:r>
              <a:rPr lang="zh-CN" altLang="en-US">
                <a:solidFill>
                  <a:schemeClr val="tx1"/>
                </a:solidFill>
              </a:rPr>
              <a:t>为长时间运行的模拟提供连贯的剧情背景和转折点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tiny_world.py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管理智能体集合、推进仿真时间、协调智能体间的交互、并提供全局的事件记录。</a:t>
            </a:r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tiny_person_factory.py  </a:t>
            </a:r>
            <a:r>
              <a:rPr lang="zh-CN" altLang="en-US">
                <a:solidFill>
                  <a:schemeClr val="tx1"/>
                </a:solidFill>
              </a:rPr>
              <a:t>将抽象的人口学描述自动化、批量转化为具体</a:t>
            </a:r>
            <a:r>
              <a:rPr lang="en-US" altLang="zh-CN">
                <a:solidFill>
                  <a:schemeClr val="tx1"/>
                </a:solidFill>
              </a:rPr>
              <a:t> TinyPerson </a:t>
            </a:r>
            <a:r>
              <a:rPr lang="zh-CN" altLang="en-US">
                <a:solidFill>
                  <a:schemeClr val="tx1"/>
                </a:solidFill>
              </a:rPr>
              <a:t>实例的工具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control.py</a:t>
            </a:r>
            <a:r>
              <a:rPr lang="zh-CN" altLang="en-US">
                <a:solidFill>
                  <a:schemeClr val="tx1"/>
                </a:solidFill>
              </a:rPr>
              <a:t>提供了原子性的事务管理和智能的执行结果缓存，确保仿真的可重复性和高效性。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tiny_person.py  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zh-CN" altLang="en-US">
                <a:solidFill>
                  <a:schemeClr val="tx1"/>
                </a:solidFill>
              </a:rPr>
              <a:t>作为整个系统的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演员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TinyPerson </a:t>
            </a:r>
            <a:r>
              <a:rPr lang="zh-CN" altLang="en-US">
                <a:solidFill>
                  <a:schemeClr val="tx1"/>
                </a:solidFill>
              </a:rPr>
              <a:t>类的核心职责是封装一个具有拟人人格、记忆和认知循环的智能体，并通过标准的程序化接口（如</a:t>
            </a:r>
            <a:r>
              <a:rPr lang="en-US" altLang="zh-CN">
                <a:solidFill>
                  <a:schemeClr val="tx1"/>
                </a:solidFill>
              </a:rPr>
              <a:t> .act()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.listen()</a:t>
            </a:r>
            <a:r>
              <a:rPr lang="zh-CN" altLang="en-US">
                <a:solidFill>
                  <a:schemeClr val="tx1"/>
                </a:solidFill>
              </a:rPr>
              <a:t>）与外界交互。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关键数据结构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_persona (</a:t>
            </a:r>
            <a:r>
              <a:rPr lang="zh-CN" altLang="en-US">
                <a:solidFill>
                  <a:schemeClr val="tx1"/>
                </a:solidFill>
              </a:rPr>
              <a:t>人格字典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：存储所有静态人格属性（</a:t>
            </a:r>
            <a:r>
              <a:rPr lang="en-US" altLang="zh-CN">
                <a:solidFill>
                  <a:schemeClr val="tx1"/>
                </a:solidFill>
              </a:rPr>
              <a:t>name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age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occupation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personality </a:t>
            </a:r>
            <a:r>
              <a:rPr lang="zh-CN" altLang="en-US">
                <a:solidFill>
                  <a:schemeClr val="tx1"/>
                </a:solidFill>
              </a:rPr>
              <a:t>等）。这是行为生成的</a:t>
            </a:r>
            <a:r>
              <a:rPr lang="en-US" altLang="zh-CN">
                <a:solidFill>
                  <a:schemeClr val="tx1"/>
                </a:solidFill>
              </a:rPr>
              <a:t>“</a:t>
            </a:r>
            <a:r>
              <a:rPr lang="zh-CN" altLang="en-US">
                <a:solidFill>
                  <a:schemeClr val="tx1"/>
                </a:solidFill>
              </a:rPr>
              <a:t>源代码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_mental_state (</a:t>
            </a:r>
            <a:r>
              <a:rPr lang="zh-CN" altLang="en-US">
                <a:solidFill>
                  <a:schemeClr val="tx1"/>
                </a:solidFill>
              </a:rPr>
              <a:t>心智状态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：存储动态认知状态（</a:t>
            </a:r>
            <a:r>
              <a:rPr lang="en-US" altLang="zh-CN">
                <a:solidFill>
                  <a:schemeClr val="tx1"/>
                </a:solidFill>
              </a:rPr>
              <a:t>goals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context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emotions</a:t>
            </a:r>
            <a:r>
              <a:rPr lang="zh-CN" altLang="en-US">
                <a:solidFill>
                  <a:schemeClr val="tx1"/>
                </a:solidFill>
              </a:rPr>
              <a:t>，</a:t>
            </a:r>
            <a:r>
              <a:rPr lang="en-US" altLang="zh-CN">
                <a:solidFill>
                  <a:schemeClr val="tx1"/>
                </a:solidFill>
              </a:rPr>
              <a:t> accessible_agents </a:t>
            </a:r>
            <a:r>
              <a:rPr lang="zh-CN" altLang="en-US">
                <a:solidFill>
                  <a:schemeClr val="tx1"/>
                </a:solidFill>
              </a:rPr>
              <a:t>等）。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记忆系统：包含</a:t>
            </a:r>
            <a:r>
              <a:rPr lang="en-US" altLang="zh-CN">
                <a:solidFill>
                  <a:schemeClr val="tx1"/>
                </a:solidFill>
              </a:rPr>
              <a:t> EpisodicMemory</a:t>
            </a:r>
            <a:r>
              <a:rPr lang="zh-CN" altLang="en-US">
                <a:solidFill>
                  <a:schemeClr val="tx1"/>
                </a:solidFill>
              </a:rPr>
              <a:t>（按时间顺序存储交互事件流）和</a:t>
            </a:r>
            <a:r>
              <a:rPr lang="en-US" altLang="zh-CN">
                <a:solidFill>
                  <a:schemeClr val="tx1"/>
                </a:solidFill>
              </a:rPr>
              <a:t> SemanticMemory</a:t>
            </a:r>
            <a:r>
              <a:rPr lang="zh-CN" altLang="en-US">
                <a:solidFill>
                  <a:schemeClr val="tx1"/>
                </a:solidFill>
              </a:rPr>
              <a:t>（存储提炼的知识）。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_mental_faculties (</a:t>
            </a:r>
            <a:r>
              <a:rPr lang="zh-CN" altLang="en-US">
                <a:solidFill>
                  <a:schemeClr val="tx1"/>
                </a:solidFill>
              </a:rPr>
              <a:t>心智官能列表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：一个插件系统，允许为智能体增加新的行动类型（如使用工具）。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tiny_person.py  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zh-CN" altLang="en-US" sz="1700">
                <a:solidFill>
                  <a:schemeClr val="tx1"/>
                </a:solidFill>
              </a:rPr>
              <a:t>核心方法与工作流程</a:t>
            </a:r>
            <a:endParaRPr lang="zh-CN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act() </a:t>
            </a:r>
            <a:r>
              <a:rPr lang="zh-CN" altLang="en-US" sz="1700">
                <a:solidFill>
                  <a:schemeClr val="tx1"/>
                </a:solidFill>
              </a:rPr>
              <a:t>方法：</a:t>
            </a:r>
            <a:endParaRPr lang="zh-CN" altLang="en-US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700">
                <a:solidFill>
                  <a:schemeClr val="tx1"/>
                </a:solidFill>
              </a:rPr>
              <a:t>准备：</a:t>
            </a:r>
            <a:r>
              <a:rPr lang="en-US" altLang="zh-CN" sz="1700">
                <a:solidFill>
                  <a:schemeClr val="tx1"/>
                </a:solidFill>
              </a:rPr>
              <a:t>reset_prompt() </a:t>
            </a:r>
            <a:r>
              <a:rPr lang="zh-CN" altLang="en-US" sz="1700">
                <a:solidFill>
                  <a:schemeClr val="tx1"/>
                </a:solidFill>
              </a:rPr>
              <a:t>方法会构建发送给</a:t>
            </a:r>
            <a:r>
              <a:rPr lang="en-US" altLang="zh-CN" sz="1700">
                <a:solidFill>
                  <a:schemeClr val="tx1"/>
                </a:solidFill>
              </a:rPr>
              <a:t>LLM</a:t>
            </a:r>
            <a:r>
              <a:rPr lang="zh-CN" altLang="en-US" sz="1700">
                <a:solidFill>
                  <a:schemeClr val="tx1"/>
                </a:solidFill>
              </a:rPr>
              <a:t>的提示词，该提示词是结构化</a:t>
            </a:r>
            <a:r>
              <a:rPr lang="en-US" altLang="zh-CN" sz="1700">
                <a:solidFill>
                  <a:schemeClr val="tx1"/>
                </a:solidFill>
              </a:rPr>
              <a:t>Markdown</a:t>
            </a:r>
            <a:r>
              <a:rPr lang="zh-CN" altLang="en-US" sz="1700">
                <a:solidFill>
                  <a:schemeClr val="tx1"/>
                </a:solidFill>
              </a:rPr>
              <a:t>文档，包含：系统指令、完整人格描述（</a:t>
            </a:r>
            <a:r>
              <a:rPr lang="en-US" altLang="zh-CN" sz="1700">
                <a:solidFill>
                  <a:schemeClr val="tx1"/>
                </a:solidFill>
              </a:rPr>
              <a:t>_persona</a:t>
            </a:r>
            <a:r>
              <a:rPr lang="zh-CN" altLang="en-US" sz="1700">
                <a:solidFill>
                  <a:schemeClr val="tx1"/>
                </a:solidFill>
              </a:rPr>
              <a:t>）、当前心智状态（</a:t>
            </a:r>
            <a:r>
              <a:rPr lang="en-US" altLang="zh-CN" sz="1700">
                <a:solidFill>
                  <a:schemeClr val="tx1"/>
                </a:solidFill>
              </a:rPr>
              <a:t>_mental_state</a:t>
            </a:r>
            <a:r>
              <a:rPr lang="zh-CN" altLang="en-US" sz="1700">
                <a:solidFill>
                  <a:schemeClr val="tx1"/>
                </a:solidFill>
              </a:rPr>
              <a:t>）、相关记忆、以及任何心智官能定义的额外行动。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700">
                <a:solidFill>
                  <a:schemeClr val="tx1"/>
                </a:solidFill>
              </a:rPr>
              <a:t>生成与校验：调用</a:t>
            </a:r>
            <a:r>
              <a:rPr lang="en-US" altLang="zh-CN" sz="1700">
                <a:solidFill>
                  <a:schemeClr val="tx1"/>
                </a:solidFill>
              </a:rPr>
              <a:t> action_generator.generate_next_action()</a:t>
            </a:r>
            <a:r>
              <a:rPr lang="zh-CN" altLang="en-US" sz="1700">
                <a:solidFill>
                  <a:schemeClr val="tx1"/>
                </a:solidFill>
              </a:rPr>
              <a:t>（位于</a:t>
            </a:r>
            <a:r>
              <a:rPr lang="en-US" altLang="zh-CN" sz="1700">
                <a:solidFill>
                  <a:schemeClr val="tx1"/>
                </a:solidFill>
              </a:rPr>
              <a:t> action_generator.py</a:t>
            </a:r>
            <a:r>
              <a:rPr lang="zh-CN" altLang="en-US" sz="1700">
                <a:solidFill>
                  <a:schemeClr val="tx1"/>
                </a:solidFill>
              </a:rPr>
              <a:t>）来生成候选动作。这个生成器会执行复杂的质量检查，例如验证动作是否符合人格（</a:t>
            </a:r>
            <a:r>
              <a:rPr lang="en-US" altLang="zh-CN" sz="1700">
                <a:solidFill>
                  <a:schemeClr val="tx1"/>
                </a:solidFill>
              </a:rPr>
              <a:t>Persona Adherence</a:t>
            </a:r>
            <a:r>
              <a:rPr lang="zh-CN" altLang="en-US" sz="1700">
                <a:solidFill>
                  <a:schemeClr val="tx1"/>
                </a:solidFill>
              </a:rPr>
              <a:t>）、是否自我一致（</a:t>
            </a:r>
            <a:r>
              <a:rPr lang="en-US" altLang="zh-CN" sz="1700">
                <a:solidFill>
                  <a:schemeClr val="tx1"/>
                </a:solidFill>
              </a:rPr>
              <a:t>Self-consistency</a:t>
            </a:r>
            <a:r>
              <a:rPr lang="zh-CN" altLang="en-US" sz="1700">
                <a:solidFill>
                  <a:schemeClr val="tx1"/>
                </a:solidFill>
              </a:rPr>
              <a:t>）等。如果检查失败，生成器会将失败原因作为反馈，要求</a:t>
            </a:r>
            <a:r>
              <a:rPr lang="en-US" altLang="zh-CN" sz="1700">
                <a:solidFill>
                  <a:schemeClr val="tx1"/>
                </a:solidFill>
              </a:rPr>
              <a:t>LLM</a:t>
            </a:r>
            <a:r>
              <a:rPr lang="zh-CN" altLang="en-US" sz="1700">
                <a:solidFill>
                  <a:schemeClr val="tx1"/>
                </a:solidFill>
              </a:rPr>
              <a:t>重新生成动作，形成一个校正闭环。</a:t>
            </a:r>
            <a:endParaRPr lang="zh-CN" altLang="en-US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700">
                <a:solidFill>
                  <a:schemeClr val="tx1"/>
                </a:solidFill>
              </a:rPr>
              <a:t>执行与存储：通过的动作会被存入</a:t>
            </a:r>
            <a:r>
              <a:rPr lang="en-US" altLang="zh-CN" sz="1700">
                <a:solidFill>
                  <a:schemeClr val="tx1"/>
                </a:solidFill>
              </a:rPr>
              <a:t> EpisodicMemory</a:t>
            </a:r>
            <a:r>
              <a:rPr lang="zh-CN" altLang="en-US" sz="1700">
                <a:solidFill>
                  <a:schemeClr val="tx1"/>
                </a:solidFill>
              </a:rPr>
              <a:t>，并放入</a:t>
            </a:r>
            <a:r>
              <a:rPr lang="en-US" altLang="zh-CN" sz="1700">
                <a:solidFill>
                  <a:schemeClr val="tx1"/>
                </a:solidFill>
              </a:rPr>
              <a:t> _actions_buffer </a:t>
            </a:r>
            <a:r>
              <a:rPr lang="zh-CN" altLang="en-US" sz="1700">
                <a:solidFill>
                  <a:schemeClr val="tx1"/>
                </a:solidFill>
              </a:rPr>
              <a:t>等待环境处理。同时更新</a:t>
            </a:r>
            <a:r>
              <a:rPr lang="en-US" altLang="zh-CN" sz="1700">
                <a:solidFill>
                  <a:schemeClr val="tx1"/>
                </a:solidFill>
              </a:rPr>
              <a:t> _mental_state</a:t>
            </a:r>
            <a:r>
              <a:rPr lang="zh-CN" altLang="en-US" sz="1700">
                <a:solidFill>
                  <a:schemeClr val="tx1"/>
                </a:solidFill>
              </a:rPr>
              <a:t>。</a:t>
            </a:r>
            <a:endParaRPr lang="zh-CN" altLang="en-US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sz="1700">
                <a:solidFill>
                  <a:schemeClr val="tx1"/>
                </a:solidFill>
              </a:rPr>
              <a:t>记忆巩固：在行动序列结束后，</a:t>
            </a:r>
            <a:r>
              <a:rPr lang="en-US" altLang="zh-CN" sz="1700">
                <a:solidFill>
                  <a:schemeClr val="tx1"/>
                </a:solidFill>
              </a:rPr>
              <a:t>consolidate_episode_memories() </a:t>
            </a:r>
            <a:r>
              <a:rPr lang="zh-CN" altLang="en-US" sz="1700">
                <a:solidFill>
                  <a:schemeClr val="tx1"/>
                </a:solidFill>
              </a:rPr>
              <a:t>方法会被调用，将最近的情景记忆片段总结并存储到</a:t>
            </a:r>
            <a:r>
              <a:rPr lang="en-US" altLang="zh-CN" sz="1700">
                <a:solidFill>
                  <a:schemeClr val="tx1"/>
                </a:solidFill>
              </a:rPr>
              <a:t> SemanticMemory </a:t>
            </a:r>
            <a:r>
              <a:rPr lang="zh-CN" altLang="en-US" sz="1700">
                <a:solidFill>
                  <a:schemeClr val="tx1"/>
                </a:solidFill>
              </a:rPr>
              <a:t>中，模拟人类的</a:t>
            </a:r>
            <a:r>
              <a:rPr lang="en-US" altLang="zh-CN" sz="1700">
                <a:solidFill>
                  <a:schemeClr val="tx1"/>
                </a:solidFill>
              </a:rPr>
              <a:t>“</a:t>
            </a:r>
            <a:r>
              <a:rPr lang="zh-CN" altLang="en-US" sz="1700">
                <a:solidFill>
                  <a:schemeClr val="tx1"/>
                </a:solidFill>
              </a:rPr>
              <a:t>记忆巩固</a:t>
            </a:r>
            <a:r>
              <a:rPr lang="en-US" altLang="zh-CN" sz="1700">
                <a:solidFill>
                  <a:schemeClr val="tx1"/>
                </a:solidFill>
              </a:rPr>
              <a:t>”</a:t>
            </a:r>
            <a:r>
              <a:rPr lang="zh-CN" altLang="en-US" sz="1700">
                <a:solidFill>
                  <a:schemeClr val="tx1"/>
                </a:solidFill>
              </a:rPr>
              <a:t>过程。</a:t>
            </a:r>
            <a:endParaRPr lang="zh-CN" altLang="en-US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tiny_world.py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 TinyWorld 类是仿真的“舞台”和“调度器”，负责管理智能体集合、推进仿真时间、协调智能体间的交互、并提供全局的事件记录。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关键数据结构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agents 与 name_to_agent：维护环境中的智能体列表和名字到智能体的映射。</a:t>
            </a:r>
            <a:endParaRPr lang="en-US" altLang="zh-CN" sz="1700">
              <a:solidFill>
                <a:schemeClr val="tx1"/>
              </a:solidFill>
            </a:endParaRPr>
          </a:p>
          <a:p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current_datetime：环境的当前模拟时间。</a:t>
            </a:r>
            <a:endParaRPr lang="en-US" altLang="zh-CN" sz="1700">
              <a:solidFill>
                <a:schemeClr val="tx1"/>
              </a:solidFill>
            </a:endParaRPr>
          </a:p>
          <a:p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_displayed_communications_buffer：存储所有待显示的通信记录，用于统一、有序的输出。</a:t>
            </a:r>
            <a:endParaRPr lang="en-US" altLang="zh-CN" sz="1700">
              <a:solidFill>
                <a:schemeClr val="tx1"/>
              </a:solidFill>
            </a:endParaRPr>
          </a:p>
          <a:p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_interventions：存储预定义的事件驱动干预规则列表。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tiny_world.py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zh-CN" sz="1700">
                <a:solidFill>
                  <a:schemeClr val="tx1"/>
                </a:solidFill>
              </a:rPr>
              <a:t>核心方法与工作流程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run() 系列方法：这是驱动仿真运行的核心。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时间推进：根据 timedelta_per_step 更新 current_datetime。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检查并应用干预：遍历 _interventions 列表，检查其触发条件（precondition），若满足则执行其效果（effect）。这是实现自动化剧情引导的关键。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调度智能体行动：可以顺序或并行地调用环境中每个智能体的 .act() 方法。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处理智能体动作：通过 _handle_actions() 方法，解析每个智能体 _actions_buffer 中的动作（如 TALK， REACH_OUT），并执行相应的环境语义（如将 TALK 内容传递给目标智能体）。</a:t>
            </a:r>
            <a:endParaRPr lang="en-US" altLang="zh-CN" sz="170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broadcast() 方法：向环境中所有其他智能体发送消息，是发起群体交互的快捷方式。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tiny_person_factory.py 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核心职责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TinyPersonFactory 是一个将抽象的人口学描述自动化、批量转化为具体 TinyPerson 实例的工具，解决了人工编写海量差异化人格文件的瓶颈。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关键数据结构与五阶段流程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工厂的工作并非一次LLM调用，而是一个严谨的五阶段采样管线（pipeline），每个阶段的输出都是下一个阶段的输入：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采样维度生成 (_compute_sampling_dimensions)：解析自然语言的 sampling_space_description（如“美国年轻人”），生成结构化的采样维度（如 age， profession， political_beliefs 等），并为每个维度定义可能的值及其比例。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采样计划制定 (_compute_sample_plan)：根据总人口数 N 和上一步的维度，生成一个采样计划。计划由多个“采样指令”组成，每个指令描述一个子人群的特征组合和需要生成的数量。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计划扁平化 (_flatten_sampling_plan)：将采样计划展开为一个具体的特征组合列表，列表长度等于总人口数 N。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生成唯一姓名 (_generate_name_for_sample)：为列表中的每个特征组合，调用LLM生成一个符合其特征、且在全局唯一的姓名。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生成智能体 (generate_person)：使用上述特征组合和姓名，调用LLM生成详细的人格规格JSON，并实例化为 TinyPerson 对象。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tiny_person_factory.py 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342900" indent="-34290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generate_people()：批量生成人口的入口方法，支持并行生成以提升效率。</a:t>
            </a:r>
            <a:endParaRPr lang="en-US" altLang="zh-CN" sz="1700">
              <a:solidFill>
                <a:schemeClr val="tx1"/>
              </a:solidFill>
            </a:endParaRPr>
          </a:p>
          <a:p>
            <a:pPr marL="114300" indent="-342900" algn="l">
              <a:buClrTx/>
              <a:buSzTx/>
              <a:buAutoNum type="arabicPeriod"/>
            </a:pPr>
            <a:endParaRPr lang="en-US" altLang="zh-CN" sz="1700">
              <a:solidFill>
                <a:schemeClr val="tx1"/>
              </a:solidFill>
            </a:endParaRPr>
          </a:p>
          <a:p>
            <a:pPr marL="342900" indent="-34290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create_factory_from_demography()：从人口统计学数据（JSON或字典）直接创建工厂的便捷方法。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tiny_story.py 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74139"/>
            <a:ext cx="10800000" cy="4873625"/>
          </a:xfrm>
        </p:spPr>
        <p:txBody>
          <a:bodyPr>
            <a:normAutofit fontScale="90000"/>
          </a:bodyPr>
          <a:p>
            <a:pPr marL="0" algn="l">
              <a:buClrTx/>
              <a:buSzTx/>
              <a:buNone/>
            </a:pPr>
            <a:r>
              <a:rPr lang="en-US" altLang="zh-CN"/>
              <a:t>    </a:t>
            </a:r>
            <a:r>
              <a:rPr lang="en-US" altLang="zh-CN" sz="1700">
                <a:solidFill>
                  <a:schemeClr val="tx1"/>
                </a:solidFill>
              </a:rPr>
              <a:t> TinyStory 类用于在仿真过程中生成和引导宏观的叙事线索，为长时间运行的模拟提供连贯的剧情背景和转折点，避免对话陷入重复或停滞。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</a:pP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核心方法与工作流程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初始化：TinyStory 需要绑定到一个 TinyWorld 环境或一个 TinyPerson 智能体，并设定故事的目的（purpose）。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start_story()：根据当前仿真的初始状态（通过 _current_story() 方法获取智能体或环境的交互历史），生成故事的开端。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continue_story()：在仿真运行一段时间后，根据最新的交互历史和实验者提供的 requirements（如“引入一个冲突”），生成故事的后续情节。生成的故事片段会被追加到 current_story 属性中，并可作为新的刺激广播给环境中的智能体。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control.py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核心职责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control.py 中定义的 Simulation 和 @transactional 装饰器构成了系统的可靠性基石。它们提供了原子性的事务管理和智能的执行结果缓存，确保仿真的可重复性和高效性。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zh-CN" altLang="en-US" sz="1700">
                <a:solidFill>
                  <a:schemeClr val="tx1"/>
                </a:solidFill>
              </a:rPr>
              <a:t>核心机制解析</a:t>
            </a:r>
            <a:endParaRPr lang="zh-CN" altLang="en-US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    1</a:t>
            </a:r>
            <a:r>
              <a:rPr lang="zh-CN" altLang="en-US" sz="1700">
                <a:solidFill>
                  <a:schemeClr val="tx1"/>
                </a:solidFill>
              </a:rPr>
              <a:t>、仿真会话</a:t>
            </a:r>
            <a:r>
              <a:rPr lang="en-US" altLang="zh-CN" sz="1700">
                <a:solidFill>
                  <a:schemeClr val="tx1"/>
                </a:solidFill>
              </a:rPr>
              <a:t> (Simulation </a:t>
            </a:r>
            <a:r>
              <a:rPr lang="zh-CN" altLang="en-US" sz="1700">
                <a:solidFill>
                  <a:schemeClr val="tx1"/>
                </a:solidFill>
              </a:rPr>
              <a:t>类</a:t>
            </a:r>
            <a:r>
              <a:rPr lang="en-US" altLang="zh-CN" sz="1700">
                <a:solidFill>
                  <a:schemeClr val="tx1"/>
                </a:solidFill>
              </a:rPr>
              <a:t>)</a:t>
            </a:r>
            <a:r>
              <a:rPr lang="zh-CN" altLang="en-US" sz="1700">
                <a:solidFill>
                  <a:schemeClr val="tx1"/>
                </a:solidFill>
              </a:rPr>
              <a:t>：</a:t>
            </a:r>
            <a:endParaRPr lang="zh-CN" altLang="en-US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      </a:t>
            </a:r>
            <a:r>
              <a:rPr lang="zh-CN" altLang="en-US" sz="1700">
                <a:solidFill>
                  <a:schemeClr val="tx1"/>
                </a:solidFill>
              </a:rPr>
              <a:t>全局注册表：一个</a:t>
            </a:r>
            <a:r>
              <a:rPr lang="en-US" altLang="zh-CN" sz="1700">
                <a:solidFill>
                  <a:schemeClr val="tx1"/>
                </a:solidFill>
              </a:rPr>
              <a:t> Simulation </a:t>
            </a:r>
            <a:r>
              <a:rPr lang="zh-CN" altLang="en-US" sz="1700">
                <a:solidFill>
                  <a:schemeClr val="tx1"/>
                </a:solidFill>
              </a:rPr>
              <a:t>实例会注册其管理下的所有</a:t>
            </a:r>
            <a:r>
              <a:rPr lang="en-US" altLang="zh-CN" sz="1700">
                <a:solidFill>
                  <a:schemeClr val="tx1"/>
                </a:solidFill>
              </a:rPr>
              <a:t> TinyPerson</a:t>
            </a:r>
            <a:r>
              <a:rPr lang="zh-CN" altLang="en-US" sz="1700">
                <a:solidFill>
                  <a:schemeClr val="tx1"/>
                </a:solidFill>
              </a:rPr>
              <a:t>，</a:t>
            </a:r>
            <a:r>
              <a:rPr lang="en-US" altLang="zh-CN" sz="1700">
                <a:solidFill>
                  <a:schemeClr val="tx1"/>
                </a:solidFill>
              </a:rPr>
              <a:t> TinyWorld</a:t>
            </a:r>
            <a:r>
              <a:rPr lang="zh-CN" altLang="en-US" sz="1700">
                <a:solidFill>
                  <a:schemeClr val="tx1"/>
                </a:solidFill>
              </a:rPr>
              <a:t>，</a:t>
            </a:r>
            <a:r>
              <a:rPr lang="en-US" altLang="zh-CN" sz="1700">
                <a:solidFill>
                  <a:schemeClr val="tx1"/>
                </a:solidFill>
              </a:rPr>
              <a:t> TinyFactory</a:t>
            </a:r>
            <a:r>
              <a:rPr lang="zh-CN" altLang="en-US" sz="1700">
                <a:solidFill>
                  <a:schemeClr val="tx1"/>
                </a:solidFill>
              </a:rPr>
              <a:t>，确保对象间引用正确。</a:t>
            </a:r>
            <a:endParaRPr lang="zh-CN" altLang="en-US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      </a:t>
            </a:r>
            <a:r>
              <a:rPr lang="zh-CN" altLang="en-US" sz="1700">
                <a:solidFill>
                  <a:schemeClr val="tx1"/>
                </a:solidFill>
              </a:rPr>
              <a:t>状态编码：</a:t>
            </a:r>
            <a:r>
              <a:rPr lang="en-US" altLang="zh-CN" sz="1700">
                <a:solidFill>
                  <a:schemeClr val="tx1"/>
                </a:solidFill>
              </a:rPr>
              <a:t>_encode_simulation_state() </a:t>
            </a:r>
            <a:r>
              <a:rPr lang="zh-CN" altLang="en-US" sz="1700">
                <a:solidFill>
                  <a:schemeClr val="tx1"/>
                </a:solidFill>
              </a:rPr>
              <a:t>方法可以将整个仿真的完整状态（所有对象的内存数据）序列化为一个字典。</a:t>
            </a:r>
            <a:endParaRPr lang="zh-CN" altLang="en-US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核心架构原理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control.py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 2、事务装饰器 (@transactional)：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当用 @transactional 装饰一个方法（如 TinyPerson.act()）时，该方法的每次调用都会被视为一个事务。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事务执行前，系统会计算该次调用的“指纹”（event_hash），即函数名和参数的哈希。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缓存查找：系统在 cached_trace（缓存链）中查找当前执行位置的下一个事件指纹是否匹配。如果匹配，则跳过LLM计算和代码执行，直接解码并恢复之前缓存下来的完整仿真状态（_decode_simulation_state）和函数返回值。这是性能提升的关键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  缓存存储：如果不匹配（缓存未命中），则正常执行函数，并在执行后将新的仿真状态和结果编码存储到缓存链中。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1700">
                <a:solidFill>
                  <a:schemeClr val="tx1"/>
                </a:solidFill>
              </a:rPr>
              <a:t>3、并行事务：通过 @transactional(parallel=True) 支持并行执行的事务段，缓存机制会相应调整以保证正确性。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3513000" y="1376507"/>
            <a:ext cx="5166000" cy="1602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使用流程与展示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环境初始化</a:t>
            </a:r>
            <a:r>
              <a:rPr lang="en-US" altLang="zh-CN" spc="300" dirty="0">
                <a:latin typeface="+mn-ea"/>
                <a:sym typeface="+mn-ea"/>
              </a:rPr>
              <a:t> </a:t>
            </a:r>
            <a:endParaRPr lang="en-US" altLang="zh-CN" spc="300" dirty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克隆项目与安装依赖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45" y="1301750"/>
            <a:ext cx="6114415" cy="51708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环境初始化</a:t>
            </a:r>
            <a:r>
              <a:rPr lang="en-US" altLang="zh-CN" spc="300" dirty="0">
                <a:latin typeface="+mn-ea"/>
                <a:sym typeface="+mn-ea"/>
              </a:rPr>
              <a:t> </a:t>
            </a:r>
            <a:endParaRPr lang="en-US" altLang="zh-CN" spc="300" dirty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配置</a:t>
            </a:r>
            <a:r>
              <a:rPr lang="en-US" altLang="zh-CN"/>
              <a:t> LLM </a:t>
            </a:r>
            <a:r>
              <a:rPr lang="zh-CN" altLang="en-US"/>
              <a:t>连接</a:t>
            </a: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</a:t>
            </a:r>
            <a:r>
              <a:rPr lang="en-US" altLang="zh-CN" sz="2000"/>
              <a:t>TinyTroupe </a:t>
            </a:r>
            <a:r>
              <a:rPr lang="zh-CN" altLang="en-US" sz="2000"/>
              <a:t>本身没有模型，需要连接</a:t>
            </a:r>
            <a:r>
              <a:rPr lang="en-US" altLang="zh-CN" sz="2000"/>
              <a:t> </a:t>
            </a:r>
            <a:endParaRPr lang="en-US" altLang="zh-CN" sz="2000"/>
          </a:p>
          <a:p>
            <a:pPr marL="0" indent="0">
              <a:buNone/>
            </a:pPr>
            <a:r>
              <a:rPr lang="en-US" altLang="zh-CN" sz="2000"/>
              <a:t>OpenAI </a:t>
            </a:r>
            <a:r>
              <a:rPr lang="zh-CN" altLang="en-US" sz="2000"/>
              <a:t>或</a:t>
            </a:r>
            <a:r>
              <a:rPr lang="en-US" altLang="zh-CN" sz="2000"/>
              <a:t> Azure OpenAI </a:t>
            </a:r>
            <a:r>
              <a:rPr lang="zh-CN" altLang="en-US" sz="2000"/>
              <a:t>服务。</a:t>
            </a:r>
            <a:r>
              <a:rPr lang="en-US" altLang="zh-CN" sz="2000"/>
              <a:t> </a:t>
            </a:r>
            <a:r>
              <a:rPr lang="zh-CN" altLang="en-US" sz="2000"/>
              <a:t>包括</a:t>
            </a:r>
            <a:endParaRPr lang="zh-CN" altLang="en-US" sz="2000"/>
          </a:p>
          <a:p>
            <a:pPr marL="0" indent="0">
              <a:buNone/>
            </a:pPr>
            <a:r>
              <a:rPr lang="zh-CN" altLang="en-US" sz="2000"/>
              <a:t>设置</a:t>
            </a:r>
            <a:r>
              <a:rPr lang="en-US" altLang="zh-CN" sz="2000"/>
              <a:t>ai</a:t>
            </a:r>
            <a:r>
              <a:rPr lang="zh-CN" altLang="en-US" sz="2000"/>
              <a:t>的密钥，导入大模型</a:t>
            </a:r>
            <a:r>
              <a:rPr lang="en-US" altLang="zh-CN" sz="2000"/>
              <a:t>            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94485"/>
            <a:ext cx="6906895" cy="41046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创建人格</a:t>
            </a:r>
            <a:r>
              <a:rPr lang="zh-CN" altLang="en-US" spc="300" dirty="0">
                <a:latin typeface="+mn-ea"/>
                <a:sym typeface="+mn-ea"/>
              </a:rPr>
              <a:t>文件</a:t>
            </a:r>
            <a:endParaRPr lang="zh-CN" altLang="en-US" spc="300" dirty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这是体现</a:t>
            </a:r>
            <a:r>
              <a:rPr lang="en-US" altLang="zh-CN"/>
              <a:t> TinyTroupe </a:t>
            </a:r>
            <a:r>
              <a:rPr lang="zh-CN" altLang="en-US"/>
              <a:t>核心优势的环节。可以</a:t>
            </a:r>
            <a:r>
              <a:rPr lang="zh-CN" altLang="en-US"/>
              <a:t>自定义创建具有细致人格的智能体。</a:t>
            </a:r>
            <a:endParaRPr lang="zh-CN" altLang="en-US"/>
          </a:p>
          <a:p>
            <a:r>
              <a:rPr lang="zh-CN" altLang="en-US"/>
              <a:t>在项目根目录下创建两个</a:t>
            </a:r>
            <a:r>
              <a:rPr lang="en-US" altLang="zh-CN"/>
              <a:t>JSON</a:t>
            </a:r>
            <a:r>
              <a:rPr lang="zh-CN" altLang="en-US"/>
              <a:t>文件来定义他们的详细人格。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035" y="2846705"/>
            <a:ext cx="4029075" cy="3929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445" y="2846705"/>
            <a:ext cx="3850640" cy="392938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编写核心仿真脚本</a:t>
            </a:r>
            <a:endParaRPr lang="zh-CN" altLang="en-US" spc="300" dirty="0">
              <a:latin typeface="+mn-ea"/>
              <a:sym typeface="+mn-ea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466840" y="1363980"/>
            <a:ext cx="5368290" cy="48736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1220" y="1487487"/>
            <a:ext cx="5080000" cy="5962015"/>
          </a:xfrm>
          <a:prstGeom prst="rect">
            <a:avLst/>
          </a:prstGeom>
        </p:spPr>
        <p:txBody>
          <a:bodyPr>
            <a:spAutoFit/>
          </a:bodyPr>
          <a:p>
            <a:pPr indent="0" algn="l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700" b="0" i="0">
                <a:solidFill>
                  <a:schemeClr val="tx1"/>
                </a:solidFill>
              </a:rPr>
              <a:t>脚本的核心是一个精心设计的四阶段对话流程，模拟了真实产品会议的典从JSON文件加载Oscar和Lisa的详细人格定义，这是所有对话行为的“源代码”。构创建会议环境，作为智能体互动的“舞台”，管理时间和交互顺序实验者（我们）以Oscar的身份“广播”一个设计挑战，这是对话的启动信号。它体现了“程序化控制”原则。环境调度两个智能体各行动（思考、发言）数次。Oscar和Lisa会根据各自人格和当前对话历史，自动生成符合角色的回应。无需人工编写对话。仿真结束后，一键导出格式清晰、包含时间戳和说话者的完整对话记录，用于后续分析。这体现了“实验导向”和“工具丰富”原则</a:t>
            </a:r>
            <a:endParaRPr lang="zh-CN" altLang="en-US" sz="1700" b="0" i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13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AutoNum type="arabicPeriod"/>
            </a:pPr>
            <a:endParaRPr lang="zh-CN" altLang="en-US" sz="1700" b="0" i="0">
              <a:solidFill>
                <a:schemeClr val="tx1"/>
              </a:solidFill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quote-cjk-patch"/>
              <a:ea typeface="quote-cjk-patch"/>
            </a:endParaRPr>
          </a:p>
          <a:p>
            <a:pPr marL="0" indent="0"/>
            <a:endParaRPr lang="zh-CN" altLang="en-US" sz="1600" b="0" i="0">
              <a:solidFill>
                <a:schemeClr val="tx1"/>
              </a:solidFill>
              <a:latin typeface="quote-cjk-patch"/>
              <a:ea typeface="quote-cjk-patch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结果</a:t>
            </a:r>
            <a:r>
              <a:rPr lang="zh-CN" altLang="en-US" spc="300" dirty="0">
                <a:latin typeface="+mn-ea"/>
                <a:sym typeface="+mn-ea"/>
              </a:rPr>
              <a:t>展示</a:t>
            </a:r>
            <a:endParaRPr lang="zh-CN" altLang="en-US" spc="300" dirty="0">
              <a:latin typeface="+mn-ea"/>
              <a:sym typeface="+mn-ea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0585" y="1442720"/>
            <a:ext cx="10800080" cy="45904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结果展示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960" y="1859915"/>
            <a:ext cx="10800080" cy="37566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使用流程与展示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zh-CN" altLang="en-US" spc="300" dirty="0">
                <a:latin typeface="+mn-ea"/>
                <a:sym typeface="+mn-ea"/>
              </a:rPr>
              <a:t>结果展示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35685" y="2122805"/>
            <a:ext cx="10800080" cy="29629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1"/>
            </p:custDataLst>
          </p:nvPr>
        </p:nvSpPr>
        <p:spPr>
          <a:xfrm>
            <a:off x="3317420" y="2456642"/>
            <a:ext cx="5166000" cy="1602000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zh-CN" altLang="en-US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总结与展望</a:t>
            </a:r>
            <a:endParaRPr lang="zh-CN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>
              <a:lnSpc>
                <a:spcPct val="100000"/>
              </a:lnSpc>
            </a:pP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总结与展望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项目总结</a:t>
            </a:r>
            <a:endParaRPr lang="en-US" altLang="zh-CN" spc="300" dirty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项目总结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   本项目基于微软研究院开源的 TinyTroupe 工具包，成功完成了一次完整的、面向人类行为仿真的多智能体模拟实践。我们以“智能冥想舱概念研讨会”为具体场景，实现了：</a:t>
            </a:r>
            <a:endParaRPr lang="en-US" altLang="zh-CN" sz="1700">
              <a:solidFill>
                <a:schemeClr val="tx1"/>
              </a:solidFill>
            </a:endParaRPr>
          </a:p>
          <a:p>
            <a:pPr marL="114300" indent="-34290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通过结构化JSON定义了“数字极简主义CEO Oscar”与“自然交互设计师Lisa”的详细人格。</a:t>
            </a:r>
            <a:endParaRPr lang="en-US" altLang="zh-CN" sz="1700">
              <a:solidFill>
                <a:schemeClr val="tx1"/>
              </a:solidFill>
            </a:endParaRPr>
          </a:p>
          <a:p>
            <a:pPr marL="114300" indent="-34290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驱动智能体围绕“极度自然、彻底无屏幕”的设计矛盾，展开了四阶段、富有深度的创意讨论。</a:t>
            </a:r>
            <a:endParaRPr lang="en-US" altLang="zh-CN" sz="1700">
              <a:solidFill>
                <a:schemeClr val="tx1"/>
              </a:solidFill>
            </a:endParaRPr>
          </a:p>
          <a:p>
            <a:pPr marL="114300" indent="-34290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涵盖了从环境配置、人格定义、脚本编写到仿真运行、结果记录与分析的全过程。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pc="300" dirty="0">
                <a:latin typeface="+mn-ea"/>
                <a:sym typeface="+mn-ea"/>
              </a:rPr>
              <a:t>总结与展望</a:t>
            </a:r>
            <a:r>
              <a:rPr lang="en-US" altLang="zh-CN" spc="300" dirty="0">
                <a:latin typeface="+mn-ea"/>
                <a:sym typeface="+mn-ea"/>
              </a:rPr>
              <a:t>-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工具核心优势验证</a:t>
            </a:r>
            <a:endParaRPr lang="en-US" altLang="zh-CN" spc="300" dirty="0">
              <a:latin typeface="+mn-ea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工具核心优势验证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None/>
            </a:pPr>
            <a:r>
              <a:rPr lang="en-US" altLang="zh-CN" sz="1700">
                <a:solidFill>
                  <a:schemeClr val="tx1"/>
                </a:solidFill>
              </a:rPr>
              <a:t>通过实践，我们验证了TinyTroupe区别于通用AI助手的独特价值，完美契合其五大设计原则：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人格驱动：细粒度的人格规格是行为一致性的根本保证。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程序可控：通过 broadcast()、run() 等方法，实现了对仿真流程的精确引导。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实验友好：自动化的对话记录和缓存机制，极大提升了实验的可重复性和分析效率。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开箱即用：丰富的示例与模块化设计，显著降低了多智能体仿真的入门门槛。</a:t>
            </a:r>
            <a:endParaRPr lang="en-US" altLang="zh-CN" sz="1700">
              <a:solidFill>
                <a:schemeClr val="tx1"/>
              </a:solidFill>
            </a:endParaRPr>
          </a:p>
          <a:p>
            <a:pPr marL="0" algn="l">
              <a:buClrTx/>
              <a:buSzTx/>
              <a:buAutoNum type="arabicPeriod"/>
            </a:pPr>
            <a:r>
              <a:rPr lang="en-US" altLang="zh-CN" sz="1700">
                <a:solidFill>
                  <a:schemeClr val="tx1"/>
                </a:solidFill>
              </a:rPr>
              <a:t>灵活扩展：工厂、故事、干预等高级机制，为复杂仿真提供了强大支持。</a:t>
            </a:r>
            <a:endParaRPr lang="en-US" altLang="zh-CN" sz="17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896000" y="1692000"/>
            <a:ext cx="5936400" cy="1825200"/>
          </a:xfrm>
        </p:spPr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896000" y="3816000"/>
            <a:ext cx="5936400" cy="7200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9" name="联系方式"/>
          <p:cNvSpPr>
            <a:spLocks noGrp="1"/>
          </p:cNvSpPr>
          <p:nvPr>
            <p:ph type="body" sz="quarter" idx="16"/>
            <p:custDataLst>
              <p:tags r:id="rId3"/>
            </p:custDataLst>
          </p:nvPr>
        </p:nvSpPr>
        <p:spPr>
          <a:xfrm>
            <a:off x="8219870" y="5616000"/>
            <a:ext cx="2566800" cy="655491"/>
          </a:xfrm>
        </p:spPr>
        <p:txBody>
          <a:bodyPr/>
          <a:lstStyle/>
          <a:p>
            <a:r>
              <a:rPr lang="en-US" altLang="zh-CN"/>
              <a:t>qq</a:t>
            </a:r>
            <a:r>
              <a:rPr lang="zh-CN" altLang="en-US"/>
              <a:t>：</a:t>
            </a:r>
            <a:r>
              <a:rPr lang="en-US" altLang="zh-CN"/>
              <a:t>3486983656</a:t>
            </a:r>
            <a:endParaRPr lang="en-US" altLang="zh-CN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>
          <a:xfrm>
            <a:off x="5793470" y="5616000"/>
            <a:ext cx="2163600" cy="655491"/>
          </a:xfrm>
        </p:spPr>
        <p:txBody>
          <a:bodyPr/>
          <a:lstStyle/>
          <a:p>
            <a:r>
              <a:rPr lang="en-US" altLang="zh-CN"/>
              <a:t>汇报人：</a:t>
            </a:r>
            <a:r>
              <a:rPr lang="zh-CN" altLang="en-US"/>
              <a:t>蒋智</a:t>
            </a:r>
            <a:r>
              <a:rPr lang="zh-CN" altLang="en-US"/>
              <a:t>伟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2"/>
</p:tagLst>
</file>

<file path=ppt/tags/tag25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节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5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36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7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38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</p:tagLst>
</file>

<file path=ppt/tags/tag3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3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5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5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7"/>
</p:tagLst>
</file>

<file path=ppt/tags/tag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50"/>
</p:tagLst>
</file>

<file path=ppt/tags/tag6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PRESET_TEXT" val="联系方式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0"/>
</p:tagLst>
</file>

<file path=ppt/tags/tag67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16"/>
</p:tagLst>
</file>

<file path=ppt/tags/tag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5894"/>
</p:tagLst>
</file>

<file path=ppt/tags/tag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5894"/>
</p:tagLst>
</file>

<file path=ppt/tags/tag7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4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5894"/>
  <p:tag name="KSO_WM_TEMPLATE_CATEGORY" val="custom"/>
  <p:tag name="KSO_WM_TEMPLATE_MASTER_TYPE" val="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&#10;添加文档标题"/>
</p:tagLst>
</file>

<file path=ppt/tags/tag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 WPS,a click to unlimited possibilities"/>
</p:tagLst>
</file>

<file path=ppt/tags/tag77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ID" val="custom20235894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78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94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7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5894"/>
  <p:tag name="KSO_WM_TEMPLATE_CATEGORY" val="custom"/>
  <p:tag name="KSO_WM_SLIDE_INDEX" val="1"/>
  <p:tag name="KSO_WM_SLIDE_ID" val="custom20235894_1"/>
  <p:tag name="KSO_WM_TEMPLATE_MASTER_TYPE" val="0"/>
  <p:tag name="KSO_WM_SLIDE_LAYOUT" val="a_b_f"/>
  <p:tag name="KSO_WM_SLIDE_LAYOUT_CNT" val="1_1_2"/>
</p:tagLst>
</file>

<file path=ppt/tags/tag8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SCONTENTSTITLE" val="1"/>
  <p:tag name="KSO_WM_DIAGRAM_GROUP_CODE" val="l1-1"/>
  <p:tag name="KSO_WM_DIAGRAM_COLOR_TRICK" val="1"/>
  <p:tag name="KSO_WM_DIAGRAM_COLOR_TEXT_CAN_REMOVE" val="n"/>
  <p:tag name="KSO_WM_UNIT_ID" val="custom20235894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81.xml><?xml version="1.0" encoding="utf-8"?>
<p:tagLst xmlns:p="http://schemas.openxmlformats.org/presentationml/2006/main">
  <p:tag name="KSO_WM_UNIT_TYPE" val="l_h_i"/>
  <p:tag name="KSO_WM_UNIT_SUBTYPE" val="d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2.xml><?xml version="1.0" encoding="utf-8"?>
<p:tagLst xmlns:p="http://schemas.openxmlformats.org/presentationml/2006/main">
  <p:tag name="KSO_WM_UNIT_TYPE" val="l_h_f"/>
  <p:tag name="KSO_WM_UNIT_INDEX" val="1_1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3.xml><?xml version="1.0" encoding="utf-8"?>
<p:tagLst xmlns:p="http://schemas.openxmlformats.org/presentationml/2006/main">
  <p:tag name="KSO_WM_UNIT_TYPE" val="l_h_i"/>
  <p:tag name="KSO_WM_UNIT_SUBTYPE" val="d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4.xml><?xml version="1.0" encoding="utf-8"?>
<p:tagLst xmlns:p="http://schemas.openxmlformats.org/presentationml/2006/main">
  <p:tag name="KSO_WM_UNIT_TYPE" val="l_h_f"/>
  <p:tag name="KSO_WM_UNIT_INDEX" val="1_2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5.xml><?xml version="1.0" encoding="utf-8"?>
<p:tagLst xmlns:p="http://schemas.openxmlformats.org/presentationml/2006/main">
  <p:tag name="KSO_WM_UNIT_TYPE" val="l_h_i"/>
  <p:tag name="KSO_WM_UNIT_SUBTYPE" val="d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6.xml><?xml version="1.0" encoding="utf-8"?>
<p:tagLst xmlns:p="http://schemas.openxmlformats.org/presentationml/2006/main">
  <p:tag name="KSO_WM_UNIT_TYPE" val="l_h_f"/>
  <p:tag name="KSO_WM_UNIT_INDEX" val="1_3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3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UNIT_TYPE" val="l_h_i"/>
  <p:tag name="KSO_WM_UNIT_SUBTYPE" val="d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i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4000000059604645,&quot;colorType&quot;:1,&quot;foreColorIndex&quot;:5,&quot;transparency&quot;:0.2000000029802322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UNIT_TYPE" val="l_h_f"/>
  <p:tag name="KSO_WM_UNIT_INDEX" val="1_4_1"/>
  <p:tag name="KSO_WM_BEAUTIFY_FLAG" val="#wm#"/>
  <p:tag name="KSO_WM_TAG_VERSION" val="3.0"/>
  <p:tag name="KSO_WM_DIAGRAM_VERSION" val="3"/>
  <p:tag name="KSO_WM_DIAGRAM_GROUP_CODE" val="l1-1"/>
  <p:tag name="KSO_WM_DIAGRAM_COLOR_TRICK" val="1"/>
  <p:tag name="KSO_WM_DIAGRAM_COLOR_TEXT_CAN_REMOVE" val="n"/>
  <p:tag name="KSO_WM_UNIT_ID" val="custom20235894_4*l_h_f*1_4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_1"/>
  <p:tag name="KSO_WM_TEMPLATE_INDEX" val="20235894"/>
  <p:tag name="KSO_WM_TEMPLATE_CATEGORY" val="custom"/>
  <p:tag name="KSO_WM_UNIT_SUBTYPE" val="a"/>
  <p:tag name="KSO_WM_UNIT_TEXT_TYPE" val="1"/>
  <p:tag name="KSO_WM_UNIT_PRESET_TEXT" val="单击添加目录项标题"/>
  <p:tag name="KSO_WM_DIAGRAM_MAX_ITEMCNT" val="6"/>
  <p:tag name="KSO_WM_DIAGRAM_MIN_ITEMCNT" val="2"/>
  <p:tag name="KSO_WM_DIAGRAM_VIRTUALLY_FRAME" val="{&quot;height&quot;:359.21881103515625,&quot;left&quot;:59.527559055118104,&quot;top&quot;:145.9716968446266,&quot;width&quot;:450.1417322834645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DIAGRAM_GROUP_CODE" val="l1-1"/>
  <p:tag name="KSO_WM_DIAGRAM_COLOR_TRICK" val="1"/>
  <p:tag name="KSO_WM_DIAGRAM_COLOR_TEXT_CAN_REMOVE" val="n"/>
  <p:tag name="KSO_WM_UNIT_ID" val="custom20235894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90.xml><?xml version="1.0" encoding="utf-8"?>
<p:tagLst xmlns:p="http://schemas.openxmlformats.org/presentationml/2006/main">
  <p:tag name="KSO_WM_SLIDE_TYPE" val="contents"/>
  <p:tag name="KSO_WM_TEMPLATE_SUBCATEGORY" val="29"/>
  <p:tag name="KSO_WM_TEMPLATE_COLOR_TYPE" val="0"/>
  <p:tag name="KSO_WM_TAG_VERSION" val="3.0"/>
  <p:tag name="KSO_WM_SLIDE_SUBTYPE" val="diag"/>
  <p:tag name="KSO_WM_SLIDE_ITEM_CNT" val="4"/>
  <p:tag name="KSO_WM_DIAGRAM_GROUP_CODE" val="l1-1"/>
  <p:tag name="KSO_WM_BEAUTIFY_FLAG" val="#wm#"/>
  <p:tag name="KSO_WM_TEMPLATE_INDEX" val="20235894"/>
  <p:tag name="KSO_WM_TEMPLATE_CATEGORY" val="custom"/>
  <p:tag name="KSO_WM_SLIDE_INDEX" val="4"/>
  <p:tag name="KSO_WM_SLIDE_ID" val="custom20235894_4"/>
  <p:tag name="KSO_WM_TEMPLATE_MASTER_TYPE" val="0"/>
  <p:tag name="KSO_WM_SLIDE_LAYOUT" val="a_l"/>
  <p:tag name="KSO_WM_SLIDE_LAYOUT_CNT" val="1_1"/>
  <p:tag name="KSO_WM_SLIDE_DIAGTYPE" val="l"/>
</p:tagLst>
</file>

<file path=ppt/tags/tag9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92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  <p:tag name="KSO_WM_UNIT_TEXT_TYPE" val="1"/>
  <p:tag name="KSO_WM_UNIT_PRESET_TEXT" val="单击此处添加标题"/>
</p:tagLst>
</file>

<file path=ppt/tags/tag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ID" val="custom20235894_8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TEXT_TYPE" val="1"/>
  <p:tag name="KSO_WM_UNIT_PRESET_TEXT" val="单击此处添加文本"/>
</p:tagLst>
</file>

<file path=ppt/tags/tag95.xml><?xml version="1.0" encoding="utf-8"?>
<p:tagLst xmlns:p="http://schemas.openxmlformats.org/presentationml/2006/main">
  <p:tag name="KSO_WM_SLIDE_TYPE" val="text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8"/>
  <p:tag name="KSO_WM_SLIDE_ID" val="custom20235894_8"/>
  <p:tag name="KSO_WM_TEMPLATE_MASTER_TYPE" val="0"/>
  <p:tag name="KSO_WM_SLIDE_LAYOUT" val="a_f"/>
  <p:tag name="KSO_WM_SLIDE_LAYOUT_CNT" val="1_1"/>
  <p:tag name="KSO_WM_SLIDE_SIZE" val="850*457"/>
  <p:tag name="KSO_WM_SLIDE_POSITION" val="54*28"/>
</p:tagLst>
</file>

<file path=ppt/tags/tag9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9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9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2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03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1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3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3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4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5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5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58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59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16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1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2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6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7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3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4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7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0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81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ID" val="custom20235894_7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82.xml><?xml version="1.0" encoding="utf-8"?>
<p:tagLst xmlns:p="http://schemas.openxmlformats.org/presentationml/2006/main">
  <p:tag name="KSO_WM_SLIDE_TYPE" val="section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7"/>
  <p:tag name="KSO_WM_SLIDE_ID" val="custom20235894_7"/>
  <p:tag name="KSO_WM_TEMPLATE_MASTER_TYPE" val="0"/>
  <p:tag name="KSO_WM_SLIDE_LAYOUT" val="a_e"/>
  <p:tag name="KSO_WM_SLIDE_LAYOUT_CNT" val="1_1"/>
</p:tagLst>
</file>

<file path=ppt/tags/tag18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5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8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1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5894_9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9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5894_9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  <p:tag name="KSO_WM_UNIT_ISCONTENTSTITLE" val="0"/>
</p:tagLst>
</file>

<file path=ppt/tags/tag191.xml><?xml version="1.0" encoding="utf-8"?>
<p:tagLst xmlns:p="http://schemas.openxmlformats.org/presentationml/2006/main">
  <p:tag name="KSO_WM_UNIT_TYPE" val="f"/>
  <p:tag name="KSO_WM_UNIT_SUBTYPE" val="d"/>
  <p:tag name="KSO_WM_UNIT_INDEX" val="2"/>
  <p:tag name="KSO_WM_BEAUTIFY_FLAG" val="#wm#"/>
  <p:tag name="KSO_WM_TAG_VERSION" val="3.0"/>
  <p:tag name="KSO_WM_UNIT_ID" val="custom20235894_9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9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5894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5894"/>
  <p:tag name="KSO_WM_TEMPLATE_CATEGORY" val="custom"/>
</p:tagLst>
</file>

<file path=ppt/tags/tag193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5894"/>
  <p:tag name="KSO_WM_TEMPLATE_CATEGORY" val="custom"/>
  <p:tag name="KSO_WM_SLIDE_INDEX" val="9"/>
  <p:tag name="KSO_WM_SLIDE_ID" val="custom20235894_9"/>
  <p:tag name="KSO_WM_TEMPLATE_MASTER_TYPE" val="0"/>
  <p:tag name="KSO_WM_SLIDE_LAYOUT" val="a_b_f"/>
  <p:tag name="KSO_WM_SLIDE_LAYOUT_CNT" val="1_1_2"/>
</p:tagLst>
</file>

<file path=ppt/theme/theme1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6489</Words>
  <Application>WPS 演示</Application>
  <PresentationFormat>宽屏</PresentationFormat>
  <Paragraphs>276</Paragraphs>
  <Slides>37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Arial Unicode MS</vt:lpstr>
      <vt:lpstr>Calibri</vt:lpstr>
      <vt:lpstr>quote-cjk-patch</vt:lpstr>
      <vt:lpstr>Liberation Mono</vt:lpstr>
      <vt:lpstr>var(--dsw-font-markdown-table)</vt:lpstr>
      <vt:lpstr>城市线条职场办公商务风</vt:lpstr>
      <vt:lpstr>基于LLM的轻量化多智能体仿真工具：TinyTroupe原理讲解</vt:lpstr>
      <vt:lpstr>目录</vt:lpstr>
      <vt:lpstr>单击添加章节标题</vt:lpstr>
      <vt:lpstr>研究背景与问题</vt:lpstr>
      <vt:lpstr>研究背景与问题</vt:lpstr>
      <vt:lpstr>研究背景与问题</vt:lpstr>
      <vt:lpstr>单击添加章节标题</vt:lpstr>
      <vt:lpstr>TinyTroupe简介：设计目标与核心理念</vt:lpstr>
      <vt:lpstr>核心架构原理</vt:lpstr>
      <vt:lpstr>核心架构原理</vt:lpstr>
      <vt:lpstr>核心架构原理</vt:lpstr>
      <vt:lpstr>核心架构原理</vt:lpstr>
      <vt:lpstr>核心架构原理</vt:lpstr>
      <vt:lpstr>核心架构原理</vt:lpstr>
      <vt:lpstr>核心架构原理-架构全景图</vt:lpstr>
      <vt:lpstr>核心架构原理-核心代码结构解析</vt:lpstr>
      <vt:lpstr>核心架构原理-tiny_person.py  </vt:lpstr>
      <vt:lpstr>核心架构原理-tiny_person.py  </vt:lpstr>
      <vt:lpstr>核心架构原理-tiny_world.py</vt:lpstr>
      <vt:lpstr>核心架构原理-tiny_world.py</vt:lpstr>
      <vt:lpstr>核心架构原理-tiny_person_factory.py </vt:lpstr>
      <vt:lpstr>核心架构原理-tiny_person_factory.py </vt:lpstr>
      <vt:lpstr>核心架构原理-tiny_story.py </vt:lpstr>
      <vt:lpstr>核心架构原理-control.py</vt:lpstr>
      <vt:lpstr>核心架构原理-control.py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蒋智伟</cp:lastModifiedBy>
  <cp:revision>235</cp:revision>
  <dcterms:created xsi:type="dcterms:W3CDTF">2019-06-19T02:08:00Z</dcterms:created>
  <dcterms:modified xsi:type="dcterms:W3CDTF">2025-12-14T04:30:20Z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5348C9EF5EFE42D4A9FE20D08188C039_11</vt:lpwstr>
  </property>
</Properties>
</file>