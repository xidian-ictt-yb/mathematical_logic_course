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D6A9FE-EB10-DB49-9A7F-FD002EE44A0D}" v="48" dt="2025-12-15T07:31:07.6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2"/>
    <p:restoredTop sz="78414"/>
  </p:normalViewPr>
  <p:slideViewPr>
    <p:cSldViewPr snapToGrid="0">
      <p:cViewPr varScale="1">
        <p:scale>
          <a:sx n="85" d="100"/>
          <a:sy n="85" d="100"/>
        </p:scale>
        <p:origin x="72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C5A90B-256C-A944-9EB3-C1484841DA81}" type="datetimeFigureOut">
              <a:rPr kumimoji="1" lang="zh-CN" altLang="en-US" smtClean="0"/>
              <a:t>2025/12/15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195ACA-B720-AA40-A238-5B5732CD297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47739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195ACA-B720-AA40-A238-5B5732CD2971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8557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B4BFD-0130-61DC-250E-C59FEE1EF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0DD6421-7188-ED83-2D4C-E432F2F446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5AB5ECE-2797-354E-E9B6-DACB419609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06AAAA-1453-AD1F-13FF-B7B10078BA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195ACA-B720-AA40-A238-5B5732CD2971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75367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252FF9-5321-C3B0-C2BA-F25B19F4CF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8C675E4-2896-18CE-A178-471FCFEEB2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4723CE-B8DA-4DC9-9332-D47A79318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3117-5993-2649-9BB9-DF91E12F7038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45AB8B-B7D5-37B5-2BE9-526573D79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5D64FF-D4A0-D131-E8AC-D498BCE58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73842-5823-C240-B109-187F2D0C26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07805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70C9D-61EA-1FDB-14FF-CB7F8F099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053BC0-B4C5-22D5-B861-1C0459202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EE31C7-72BE-904B-066B-ECDB125D0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3117-5993-2649-9BB9-DF91E12F7038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58C33B-3F7F-457F-56E5-882493F71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6ACC47-31F6-8E35-8CB4-1A9830521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73842-5823-C240-B109-187F2D0C26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03213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0AD4C5-1C87-334F-873A-90976871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C2A6A6-CAFF-5AF8-DB10-16728EF2D0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307120-C37B-270F-5B49-10AAF194F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3117-5993-2649-9BB9-DF91E12F7038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0DEE69-F829-4B06-0246-3088AF854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272D75-2706-AC20-3161-326B19B99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73842-5823-C240-B109-187F2D0C26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70611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CA67DF-9E0A-E404-17D5-258CEC45E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AF5E16-4523-C203-6B87-F9EC42ED2F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65FDA7-B025-A09C-C41F-C061E27767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474D76-2AE6-E3DC-02A2-EF119A48A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3117-5993-2649-9BB9-DF91E12F7038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D37274-4025-FF5D-ABB4-2A656CB9F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785F2F-50EE-8F39-CE50-896496D36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73842-5823-C240-B109-187F2D0C26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096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BC70F1-9CC6-13AA-BC3D-BB3409F1F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C7A4C7-CC92-3B91-A73C-43EC9F7C3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D50EFF-8C93-811D-353F-785697E82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47CDBBD-9A12-1081-738F-98C910C841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52FFC04-4B18-B975-968D-20A62C1E0C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D6E9C92-64D8-D453-EBE5-DC0E3B8C3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3117-5993-2649-9BB9-DF91E12F7038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E9E4F04-12EE-6684-B7E1-FA5309628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40D2736-2A77-4656-FB73-A7CA58F2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73842-5823-C240-B109-187F2D0C26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7945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7C817C-3BC1-569B-95B8-F43134FD7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F476471-95C9-7E5B-F6EC-27A16D055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3117-5993-2649-9BB9-DF91E12F7038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FF78115-FAE9-7969-9793-9DE1518D0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DFDA5C6-8974-465B-C6C8-F3EC75412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73842-5823-C240-B109-187F2D0C26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79168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887BCB8-EA28-7A93-58C7-5D394D593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3117-5993-2649-9BB9-DF91E12F7038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25432FB-276E-C6A5-F97A-1E4C883D7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B8CACA-ABF0-C3F8-533D-58FAAAAAB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73842-5823-C240-B109-187F2D0C26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22556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4765D-0DC0-56EE-8B85-460AC7F8F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09943A-539F-A7B8-877D-F69542716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AE0FEF-CED4-63F1-30CD-DABAE35C2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D14FE8-4FB2-BBC7-B6AC-76F23019B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3117-5993-2649-9BB9-DF91E12F7038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74366C-CE36-A8D5-BED1-7B54BC1E3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49E784-1576-8186-B094-11C1DBFE2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73842-5823-C240-B109-187F2D0C26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46976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D3FFB2-FC07-DEC0-B944-515CA794D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20E700E-72FB-0163-A588-FC55F6F24D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2D2526E-C188-0B00-F010-94184E3F87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C186C6-2B85-C846-012B-84786C01C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3117-5993-2649-9BB9-DF91E12F7038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7DE69D-9A67-4C58-C0FD-2B08E223F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6D5B2C-CA40-6A26-C9E3-02B9C357C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73842-5823-C240-B109-187F2D0C26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2014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47E6A7-B85F-8C07-DA14-9F93FE1C9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23467A-0B5A-4F82-7690-7FBD282589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23991F-4FFD-DE04-1BE1-E72CE3D82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3117-5993-2649-9BB9-DF91E12F7038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EA600F-E124-444B-43B7-A903B5B62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546E7D-6807-4389-7318-93C9134C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73842-5823-C240-B109-187F2D0C26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70619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5B9CAF7-79E5-9AE7-00B3-0FB92E9FEE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F372413-BB1E-2506-7159-EF194CDBAC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CF3463-3522-B85F-0E38-E15C89544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3117-5993-2649-9BB9-DF91E12F7038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ED82D3-9FA4-00AD-D073-448A0B0FE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DCC2F5-479A-A800-8A19-DE9D108B7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73842-5823-C240-B109-187F2D0C26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82156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B6F740C-619C-C9CB-6C10-FF81CFF2C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BDED55-F9B0-5357-D80E-24A7981FE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4453F5-AA5B-7B33-5FF8-9134978C89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733117-5993-2649-9BB9-DF91E12F7038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F4D2B2-8557-402C-B7FF-1976D2BBEB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08DF7E-4428-A60F-2C21-26D1B318D1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B73842-5823-C240-B109-187F2D0C26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02858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ygus-org.github.io/" TargetMode="External"/><Relationship Id="rId2" Type="http://schemas.openxmlformats.org/officeDocument/2006/relationships/hyperlink" Target="https://en.wikipedia.org/wiki/Satisfiability_Modulo_Theorie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B990196-FF95-54EC-32F1-2B4283A5CEDF}"/>
              </a:ext>
            </a:extLst>
          </p:cNvPr>
          <p:cNvSpPr txBox="1"/>
          <p:nvPr/>
        </p:nvSpPr>
        <p:spPr>
          <a:xfrm>
            <a:off x="3424558" y="2202287"/>
            <a:ext cx="57967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44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CVC5</a:t>
            </a:r>
            <a:r>
              <a:rPr lang="zh-CN" altLang="en-US" sz="44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背景</a:t>
            </a:r>
            <a:r>
              <a:rPr lang="zh-CN" altLang="en" sz="44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介绍</a:t>
            </a:r>
            <a:r>
              <a:rPr lang="zh-CN" altLang="en-US" sz="44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及演示</a:t>
            </a:r>
            <a:endParaRPr kumimoji="1" lang="zh-CN" altLang="en-US" sz="44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8B9FEDA-1FE6-F0DD-35CD-C46F87BE47B2}"/>
              </a:ext>
            </a:extLst>
          </p:cNvPr>
          <p:cNvSpPr txBox="1"/>
          <p:nvPr/>
        </p:nvSpPr>
        <p:spPr>
          <a:xfrm>
            <a:off x="5037857" y="3979571"/>
            <a:ext cx="21162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4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段鹏博 吴刘康</a:t>
            </a:r>
            <a:endParaRPr kumimoji="1" lang="en-US" altLang="zh-CN" sz="24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algn="ctr"/>
            <a:endParaRPr kumimoji="1" lang="en-US" altLang="zh-CN" sz="24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algn="ctr"/>
            <a:r>
              <a:rPr kumimoji="1" lang="en-US" altLang="zh-CN" sz="24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2025.12</a:t>
            </a:r>
            <a:endParaRPr kumimoji="1" lang="zh-CN" altLang="en-US" sz="24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543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379C9DF-DDC8-88BF-C127-F1E09EFAB7C3}"/>
              </a:ext>
            </a:extLst>
          </p:cNvPr>
          <p:cNvSpPr txBox="1"/>
          <p:nvPr/>
        </p:nvSpPr>
        <p:spPr>
          <a:xfrm>
            <a:off x="3724041" y="2746803"/>
            <a:ext cx="35138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4000" b="1" dirty="0"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kumimoji="1" lang="zh-CN" altLang="en-US" sz="4000" b="1" dirty="0">
                <a:latin typeface="SimHei" panose="02010609060101010101" pitchFamily="49" charset="-122"/>
                <a:ea typeface="SimHei" panose="02010609060101010101" pitchFamily="49" charset="-122"/>
              </a:rPr>
              <a:t>背景与介绍</a:t>
            </a:r>
            <a:endParaRPr kumimoji="1" lang="en-US" altLang="zh-CN" sz="4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cxnSp>
        <p:nvCxnSpPr>
          <p:cNvPr id="5" name="直接连接符 8">
            <a:extLst>
              <a:ext uri="{FF2B5EF4-FFF2-40B4-BE49-F238E27FC236}">
                <a16:creationId xmlns:a16="http://schemas.microsoft.com/office/drawing/2014/main" id="{D2BC3C00-E872-DBFF-7ABB-10879FD8E386}"/>
              </a:ext>
            </a:extLst>
          </p:cNvPr>
          <p:cNvCxnSpPr>
            <a:cxnSpLocks/>
          </p:cNvCxnSpPr>
          <p:nvPr/>
        </p:nvCxnSpPr>
        <p:spPr bwMode="auto">
          <a:xfrm>
            <a:off x="3724041" y="3454689"/>
            <a:ext cx="6501784" cy="0"/>
          </a:xfrm>
          <a:prstGeom prst="line">
            <a:avLst/>
          </a:prstGeom>
          <a:ln w="41275" cap="rnd" cmpd="tri">
            <a:gradFill>
              <a:gsLst>
                <a:gs pos="6000">
                  <a:srgbClr val="003292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6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0" scaled="0"/>
            </a:gra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4095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A585A3D-3C1E-6455-8DBF-41384F507957}"/>
              </a:ext>
            </a:extLst>
          </p:cNvPr>
          <p:cNvSpPr txBox="1"/>
          <p:nvPr/>
        </p:nvSpPr>
        <p:spPr>
          <a:xfrm>
            <a:off x="362655" y="149375"/>
            <a:ext cx="26381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3200" b="1" dirty="0">
                <a:latin typeface="SimHei" panose="02010609060101010101" pitchFamily="49" charset="-122"/>
                <a:ea typeface="SimHei" panose="02010609060101010101" pitchFamily="49" charset="-122"/>
              </a:rPr>
              <a:t>背景与介绍</a:t>
            </a:r>
            <a:endParaRPr kumimoji="1" lang="en-US" altLang="zh-CN" sz="3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cxnSp>
        <p:nvCxnSpPr>
          <p:cNvPr id="5" name="直接连接符 8">
            <a:extLst>
              <a:ext uri="{FF2B5EF4-FFF2-40B4-BE49-F238E27FC236}">
                <a16:creationId xmlns:a16="http://schemas.microsoft.com/office/drawing/2014/main" id="{D12D346D-A188-8769-5BC5-FEDE1E1A5E64}"/>
              </a:ext>
            </a:extLst>
          </p:cNvPr>
          <p:cNvCxnSpPr>
            <a:cxnSpLocks/>
          </p:cNvCxnSpPr>
          <p:nvPr/>
        </p:nvCxnSpPr>
        <p:spPr bwMode="auto">
          <a:xfrm>
            <a:off x="0" y="895967"/>
            <a:ext cx="12192000" cy="0"/>
          </a:xfrm>
          <a:prstGeom prst="line">
            <a:avLst/>
          </a:prstGeom>
          <a:ln w="41275" cap="rnd" cmpd="tri">
            <a:gradFill>
              <a:gsLst>
                <a:gs pos="6000">
                  <a:srgbClr val="003292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6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0" scaled="0"/>
            </a:gra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7EB681EA-A568-C67D-5233-FCBEFBC9E5D6}"/>
              </a:ext>
            </a:extLst>
          </p:cNvPr>
          <p:cNvSpPr txBox="1"/>
          <p:nvPr/>
        </p:nvSpPr>
        <p:spPr>
          <a:xfrm>
            <a:off x="897764" y="3779488"/>
            <a:ext cx="10396471" cy="1417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l"/>
            </a:pPr>
            <a:r>
              <a:rPr lang="en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cvc5 </a:t>
            </a:r>
            <a:r>
              <a:rPr lang="zh-CN" altLang="en-US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是一个开源 </a:t>
            </a:r>
            <a:r>
              <a:rPr lang="en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SMT</a:t>
            </a:r>
            <a:r>
              <a:rPr lang="zh-CN" altLang="e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Satisfiability Modulo Theories</a:t>
            </a:r>
            <a:r>
              <a:rPr lang="zh-CN" altLang="e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）</a:t>
            </a:r>
            <a:r>
              <a:rPr lang="zh-CN" altLang="en-US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求解器</a:t>
            </a:r>
            <a:r>
              <a:rPr lang="en-US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/</a:t>
            </a:r>
            <a:r>
              <a:rPr lang="zh-CN" altLang="en-US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自动定理证明器：用于判定“一阶逻辑公式在某些理论（如线性算术、位向量、数组、数据类型</a:t>
            </a:r>
            <a:r>
              <a:rPr lang="en-US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…</a:t>
            </a:r>
            <a:r>
              <a:rPr lang="zh-CN" altLang="en-US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）下是否可满足”，也可用于“有效性</a:t>
            </a:r>
            <a:r>
              <a:rPr lang="en-US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/</a:t>
            </a:r>
            <a:r>
              <a:rPr lang="zh-CN" altLang="en-US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可证性”（</a:t>
            </a:r>
            <a:r>
              <a:rPr lang="en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validity</a:t>
            </a:r>
            <a:r>
              <a:rPr lang="zh-CN" altLang="e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）</a:t>
            </a:r>
            <a:r>
              <a:rPr lang="zh-CN" altLang="en-US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问题。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28887C7-9BB1-3040-C10B-638B5B2CFB9D}"/>
              </a:ext>
            </a:extLst>
          </p:cNvPr>
          <p:cNvSpPr txBox="1"/>
          <p:nvPr/>
        </p:nvSpPr>
        <p:spPr>
          <a:xfrm>
            <a:off x="582824" y="1144470"/>
            <a:ext cx="2197781" cy="570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ts val="4100"/>
              </a:lnSpc>
              <a:spcBef>
                <a:spcPts val="1800"/>
              </a:spcBef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02060"/>
                </a:solidFill>
                <a:latin typeface="Times New Roman"/>
                <a:ea typeface="黑体"/>
              </a:rPr>
              <a:t>背景介绍</a:t>
            </a:r>
            <a:endParaRPr lang="en-US" altLang="zh-CN" sz="2800" dirty="0">
              <a:solidFill>
                <a:srgbClr val="002060"/>
              </a:solidFill>
              <a:latin typeface="Times New Roman"/>
              <a:ea typeface="黑体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1A83446-7FF8-BDF4-A7A2-FC5ACB38D29E}"/>
              </a:ext>
            </a:extLst>
          </p:cNvPr>
          <p:cNvSpPr txBox="1"/>
          <p:nvPr/>
        </p:nvSpPr>
        <p:spPr>
          <a:xfrm>
            <a:off x="897764" y="1920322"/>
            <a:ext cx="1064170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itchFamily="2" charset="2"/>
              <a:buChar char="l"/>
            </a:pPr>
            <a:r>
              <a:rPr lang="en" altLang="zh-CN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cvc5 is an efficient open-source automatic theorem prover for </a:t>
            </a:r>
            <a:r>
              <a:rPr lang="en" altLang="zh-CN" sz="200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Satisfiability Modulo Theories (SMT)</a:t>
            </a:r>
            <a:r>
              <a:rPr lang="en" altLang="zh-CN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problems. It can be used to prove the satisfiability (or, dually, the validity) of first-order formulas with respect to (combinations of) a variety of useful background theories. It further provides a </a:t>
            </a:r>
            <a:r>
              <a:rPr lang="en" altLang="zh-CN" sz="200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Syntax-Guided Synthesis (SyGuS)</a:t>
            </a:r>
            <a:r>
              <a:rPr lang="en" altLang="zh-CN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engine to synthesize functions with respect to background theories and their combinations.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265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4B29B-A891-D0A9-D9F3-3A2CCFF72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824051B-877B-56CA-F447-0939173280CE}"/>
              </a:ext>
            </a:extLst>
          </p:cNvPr>
          <p:cNvSpPr txBox="1"/>
          <p:nvPr/>
        </p:nvSpPr>
        <p:spPr>
          <a:xfrm>
            <a:off x="362655" y="149375"/>
            <a:ext cx="26381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3200" b="1" dirty="0">
                <a:latin typeface="SimHei" panose="02010609060101010101" pitchFamily="49" charset="-122"/>
                <a:ea typeface="SimHei" panose="02010609060101010101" pitchFamily="49" charset="-122"/>
              </a:rPr>
              <a:t>背景与介绍</a:t>
            </a:r>
            <a:endParaRPr kumimoji="1" lang="en-US" altLang="zh-CN" sz="3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cxnSp>
        <p:nvCxnSpPr>
          <p:cNvPr id="5" name="直接连接符 8">
            <a:extLst>
              <a:ext uri="{FF2B5EF4-FFF2-40B4-BE49-F238E27FC236}">
                <a16:creationId xmlns:a16="http://schemas.microsoft.com/office/drawing/2014/main" id="{3CDE9BE7-5DE2-9F6E-0C67-C13AD23AF366}"/>
              </a:ext>
            </a:extLst>
          </p:cNvPr>
          <p:cNvCxnSpPr>
            <a:cxnSpLocks/>
          </p:cNvCxnSpPr>
          <p:nvPr/>
        </p:nvCxnSpPr>
        <p:spPr bwMode="auto">
          <a:xfrm>
            <a:off x="0" y="895967"/>
            <a:ext cx="12192000" cy="0"/>
          </a:xfrm>
          <a:prstGeom prst="line">
            <a:avLst/>
          </a:prstGeom>
          <a:ln w="41275" cap="rnd" cmpd="tri">
            <a:gradFill>
              <a:gsLst>
                <a:gs pos="6000">
                  <a:srgbClr val="003292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6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0" scaled="0"/>
            </a:gra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A5046D81-3D0C-96EE-B54A-EDAD49E8E7E7}"/>
              </a:ext>
            </a:extLst>
          </p:cNvPr>
          <p:cNvSpPr txBox="1"/>
          <p:nvPr/>
        </p:nvSpPr>
        <p:spPr>
          <a:xfrm>
            <a:off x="897764" y="1843950"/>
            <a:ext cx="10396471" cy="3725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可以将其理解成：</a:t>
            </a:r>
            <a:r>
              <a:rPr lang="en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SAT </a:t>
            </a:r>
            <a:r>
              <a:rPr lang="zh-CN" altLang="en-US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求解 </a:t>
            </a:r>
            <a:r>
              <a:rPr lang="en-US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+ </a:t>
            </a:r>
            <a:r>
              <a:rPr lang="zh-CN" altLang="en-US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理论求解器（</a:t>
            </a:r>
            <a:r>
              <a:rPr lang="en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Theory Solvers</a:t>
            </a:r>
            <a:r>
              <a:rPr lang="zh-CN" altLang="e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）</a:t>
            </a:r>
            <a:r>
              <a:rPr lang="zh-CN" altLang="en-US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协同。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" altLang="zh-CN" sz="2000" b="1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SMT = SAT + Theory</a:t>
            </a:r>
            <a:r>
              <a:rPr lang="zh-CN" altLang="en" sz="2000" b="1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：</a:t>
            </a:r>
            <a:r>
              <a:rPr lang="zh-CN" altLang="en-US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先把带理论的公式抽象成布尔结构交给 </a:t>
            </a:r>
            <a:r>
              <a:rPr lang="en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SAT </a:t>
            </a:r>
            <a:r>
              <a:rPr lang="zh-CN" altLang="en-US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处理；</a:t>
            </a:r>
            <a:r>
              <a:rPr lang="en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SAT </a:t>
            </a:r>
            <a:r>
              <a:rPr lang="zh-CN" altLang="en-US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给出一个“哪些原子约束为真</a:t>
            </a:r>
            <a:r>
              <a:rPr lang="en-US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/</a:t>
            </a:r>
            <a:r>
              <a:rPr lang="zh-CN" altLang="en-US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假”的候选布尔赋值。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b="1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理论一致性检查：</a:t>
            </a:r>
            <a:r>
              <a:rPr lang="zh-CN" altLang="en-US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把候选赋值里被置为真的理论原子（例如 </a:t>
            </a:r>
            <a:r>
              <a:rPr lang="en" altLang="zh-CN" dirty="0" err="1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x+y</a:t>
            </a:r>
            <a:r>
              <a:rPr lang="en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&lt;1</a:t>
            </a:r>
            <a:r>
              <a:rPr lang="zh-CN" altLang="e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、</a:t>
            </a:r>
            <a:r>
              <a:rPr lang="en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Select(</a:t>
            </a:r>
            <a:r>
              <a:rPr lang="en" altLang="zh-CN" dirty="0" err="1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A,i</a:t>
            </a:r>
            <a:r>
              <a:rPr lang="en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)=v</a:t>
            </a:r>
            <a:r>
              <a:rPr lang="zh-CN" altLang="e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、</a:t>
            </a:r>
            <a:r>
              <a:rPr lang="en" altLang="zh-CN" dirty="0" err="1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bvadd</a:t>
            </a:r>
            <a:r>
              <a:rPr lang="en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(...) = ...</a:t>
            </a:r>
            <a:r>
              <a:rPr lang="zh-CN" altLang="e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）</a:t>
            </a:r>
            <a:r>
              <a:rPr lang="zh-CN" altLang="en-US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交给对应理论求解器检查是否在该理论下可满足。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b="1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冲突与学习</a:t>
            </a:r>
            <a:r>
              <a:rPr lang="zh-CN" altLang="en-US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：若理论不一致，理论求解器返回一个冲突原因（可视作“理论引理</a:t>
            </a:r>
            <a:r>
              <a:rPr lang="en-US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/</a:t>
            </a:r>
            <a:r>
              <a:rPr lang="zh-CN" altLang="en-US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冲突子句”），</a:t>
            </a:r>
            <a:r>
              <a:rPr lang="en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SAT </a:t>
            </a:r>
            <a:r>
              <a:rPr lang="zh-CN" altLang="en-US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继续搜索；若一致，可能进一步传播（</a:t>
            </a:r>
            <a:r>
              <a:rPr lang="en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theory propagation</a:t>
            </a:r>
            <a:r>
              <a:rPr lang="zh-CN" altLang="e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），</a:t>
            </a:r>
            <a:r>
              <a:rPr lang="zh-CN" altLang="en-US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最终得到 </a:t>
            </a:r>
            <a:r>
              <a:rPr lang="en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SAT/UNSAT</a:t>
            </a:r>
            <a:r>
              <a:rPr lang="zh-CN" altLang="e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。</a:t>
            </a:r>
            <a:endParaRPr lang="zh-CN" altLang="en-US" sz="20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F5D89A4-2139-DA54-C0DD-B20A7CA0151D}"/>
              </a:ext>
            </a:extLst>
          </p:cNvPr>
          <p:cNvSpPr txBox="1"/>
          <p:nvPr/>
        </p:nvSpPr>
        <p:spPr>
          <a:xfrm>
            <a:off x="582824" y="1144470"/>
            <a:ext cx="2197781" cy="570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ts val="4100"/>
              </a:lnSpc>
              <a:spcBef>
                <a:spcPts val="1800"/>
              </a:spcBef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02060"/>
                </a:solidFill>
                <a:latin typeface="Times New Roman"/>
                <a:ea typeface="黑体"/>
              </a:rPr>
              <a:t>原理</a:t>
            </a:r>
            <a:endParaRPr lang="en-US" altLang="zh-CN" sz="2800" dirty="0">
              <a:solidFill>
                <a:srgbClr val="002060"/>
              </a:solidFill>
              <a:latin typeface="Times New Roman"/>
              <a:ea typeface="黑体"/>
            </a:endParaRPr>
          </a:p>
        </p:txBody>
      </p:sp>
    </p:spTree>
    <p:extLst>
      <p:ext uri="{BB962C8B-B14F-4D97-AF65-F5344CB8AC3E}">
        <p14:creationId xmlns:p14="http://schemas.microsoft.com/office/powerpoint/2010/main" val="1639945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1C4F9-1FA0-3BC5-953F-517C19F4C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E8795EF-F83D-4A3C-44E6-54B2CC9AC5A2}"/>
              </a:ext>
            </a:extLst>
          </p:cNvPr>
          <p:cNvSpPr txBox="1"/>
          <p:nvPr/>
        </p:nvSpPr>
        <p:spPr>
          <a:xfrm>
            <a:off x="3724041" y="2746803"/>
            <a:ext cx="45570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4000" b="1" dirty="0">
                <a:latin typeface="SimHei" panose="02010609060101010101" pitchFamily="49" charset="-122"/>
                <a:ea typeface="SimHei" panose="02010609060101010101" pitchFamily="49" charset="-122"/>
              </a:rPr>
              <a:t>2.</a:t>
            </a:r>
            <a:r>
              <a:rPr kumimoji="1" lang="zh-CN" altLang="en-US" sz="4000" b="1" dirty="0">
                <a:latin typeface="SimHei" panose="02010609060101010101" pitchFamily="49" charset="-122"/>
                <a:ea typeface="SimHei" panose="02010609060101010101" pitchFamily="49" charset="-122"/>
              </a:rPr>
              <a:t>调用及使用方法</a:t>
            </a:r>
            <a:endParaRPr kumimoji="1" lang="en-US" altLang="zh-CN" sz="4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cxnSp>
        <p:nvCxnSpPr>
          <p:cNvPr id="5" name="直接连接符 8">
            <a:extLst>
              <a:ext uri="{FF2B5EF4-FFF2-40B4-BE49-F238E27FC236}">
                <a16:creationId xmlns:a16="http://schemas.microsoft.com/office/drawing/2014/main" id="{C2E6D585-CEC6-AADB-38EE-6C9CE8893253}"/>
              </a:ext>
            </a:extLst>
          </p:cNvPr>
          <p:cNvCxnSpPr>
            <a:cxnSpLocks/>
          </p:cNvCxnSpPr>
          <p:nvPr/>
        </p:nvCxnSpPr>
        <p:spPr bwMode="auto">
          <a:xfrm>
            <a:off x="3724041" y="3454689"/>
            <a:ext cx="6501784" cy="0"/>
          </a:xfrm>
          <a:prstGeom prst="line">
            <a:avLst/>
          </a:prstGeom>
          <a:ln w="41275" cap="rnd" cmpd="tri">
            <a:gradFill>
              <a:gsLst>
                <a:gs pos="6000">
                  <a:srgbClr val="003292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6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0" scaled="0"/>
            </a:gra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4744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83AA5-D12E-0BBC-995B-72C519495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D9E52CC-C62A-A936-2372-A86EC48E70BD}"/>
              </a:ext>
            </a:extLst>
          </p:cNvPr>
          <p:cNvSpPr txBox="1"/>
          <p:nvPr/>
        </p:nvSpPr>
        <p:spPr>
          <a:xfrm>
            <a:off x="362655" y="149375"/>
            <a:ext cx="34623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3200" b="1" dirty="0">
                <a:latin typeface="SimHei" panose="02010609060101010101" pitchFamily="49" charset="-122"/>
                <a:ea typeface="SimHei" panose="02010609060101010101" pitchFamily="49" charset="-122"/>
              </a:rPr>
              <a:t>调用及使用方法</a:t>
            </a:r>
            <a:endParaRPr kumimoji="1" lang="en-US" altLang="zh-CN" sz="3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cxnSp>
        <p:nvCxnSpPr>
          <p:cNvPr id="5" name="直接连接符 8">
            <a:extLst>
              <a:ext uri="{FF2B5EF4-FFF2-40B4-BE49-F238E27FC236}">
                <a16:creationId xmlns:a16="http://schemas.microsoft.com/office/drawing/2014/main" id="{9BBF84BD-C22C-6BB8-F3D3-CF43F7375DA0}"/>
              </a:ext>
            </a:extLst>
          </p:cNvPr>
          <p:cNvCxnSpPr>
            <a:cxnSpLocks/>
          </p:cNvCxnSpPr>
          <p:nvPr/>
        </p:nvCxnSpPr>
        <p:spPr bwMode="auto">
          <a:xfrm>
            <a:off x="0" y="895967"/>
            <a:ext cx="12192000" cy="0"/>
          </a:xfrm>
          <a:prstGeom prst="line">
            <a:avLst/>
          </a:prstGeom>
          <a:ln w="41275" cap="rnd" cmpd="tri">
            <a:gradFill>
              <a:gsLst>
                <a:gs pos="6000">
                  <a:srgbClr val="003292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6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0" scaled="0"/>
            </a:gra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996DA47C-5509-A0BE-7083-DA5D5A9FA4A9}"/>
              </a:ext>
            </a:extLst>
          </p:cNvPr>
          <p:cNvSpPr txBox="1"/>
          <p:nvPr/>
        </p:nvSpPr>
        <p:spPr>
          <a:xfrm>
            <a:off x="582824" y="1144470"/>
            <a:ext cx="2197781" cy="570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ts val="4100"/>
              </a:lnSpc>
              <a:spcBef>
                <a:spcPts val="1800"/>
              </a:spcBef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02060"/>
                </a:solidFill>
                <a:latin typeface="Times New Roman"/>
                <a:ea typeface="黑体"/>
              </a:rPr>
              <a:t>安装</a:t>
            </a:r>
            <a:endParaRPr lang="en-US" altLang="zh-CN" sz="2800" dirty="0">
              <a:solidFill>
                <a:srgbClr val="002060"/>
              </a:solidFill>
              <a:latin typeface="Times New Roman"/>
              <a:ea typeface="黑体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DC225B4-CDE4-A0B4-D6F0-844EC9D28C9B}"/>
              </a:ext>
            </a:extLst>
          </p:cNvPr>
          <p:cNvSpPr txBox="1"/>
          <p:nvPr/>
        </p:nvSpPr>
        <p:spPr>
          <a:xfrm>
            <a:off x="900931" y="1715267"/>
            <a:ext cx="10535508" cy="187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" altLang="zh-CN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cvc5 </a:t>
            </a:r>
            <a:r>
              <a:rPr lang="zh-CN" altLang="en-US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为 </a:t>
            </a:r>
            <a:r>
              <a:rPr lang="en" altLang="zh-CN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Python </a:t>
            </a:r>
            <a:r>
              <a:rPr lang="zh-CN" altLang="en-US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用户提供了两个不同的 </a:t>
            </a:r>
            <a:r>
              <a:rPr lang="en" altLang="zh-CN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API</a:t>
            </a:r>
            <a:r>
              <a:rPr lang="zh-CN" altLang="en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：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l"/>
            </a:pPr>
            <a:r>
              <a:rPr lang="en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Base Python API</a:t>
            </a:r>
            <a:r>
              <a:rPr lang="zh-CN" altLang="e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：</a:t>
            </a:r>
            <a:r>
              <a:rPr lang="zh-CN" altLang="en-US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几乎是 </a:t>
            </a:r>
            <a:r>
              <a:rPr lang="en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C++ API </a:t>
            </a:r>
            <a:r>
              <a:rPr lang="zh-CN" altLang="en-US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的直接复制。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l"/>
            </a:pPr>
            <a:r>
              <a:rPr lang="en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Pythonic API</a:t>
            </a:r>
            <a:r>
              <a:rPr lang="zh-CN" altLang="e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：</a:t>
            </a:r>
            <a:r>
              <a:rPr lang="zh-CN" altLang="en-US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一个更符合 </a:t>
            </a:r>
            <a:r>
              <a:rPr lang="en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Python </a:t>
            </a:r>
            <a:r>
              <a:rPr lang="zh-CN" altLang="en-US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风格的 </a:t>
            </a:r>
            <a:r>
              <a:rPr lang="en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API</a:t>
            </a:r>
            <a:r>
              <a:rPr lang="zh-CN" altLang="e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，</a:t>
            </a:r>
            <a:r>
              <a:rPr lang="zh-CN" altLang="en-US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旨在与 </a:t>
            </a:r>
            <a:r>
              <a:rPr lang="en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Z3 </a:t>
            </a:r>
            <a:r>
              <a:rPr lang="zh-CN" altLang="en-US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的 </a:t>
            </a:r>
            <a:r>
              <a:rPr lang="en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Python API </a:t>
            </a:r>
            <a:r>
              <a:rPr lang="zh-CN" altLang="en-US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完全兼容，同时增加了 </a:t>
            </a:r>
            <a:r>
              <a:rPr lang="en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Z3 </a:t>
            </a:r>
            <a:r>
              <a:rPr lang="zh-CN" altLang="en-US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不支持的功能。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9A2A014-7CF5-C04F-3400-5EDE932A5096}"/>
              </a:ext>
            </a:extLst>
          </p:cNvPr>
          <p:cNvSpPr txBox="1"/>
          <p:nvPr/>
        </p:nvSpPr>
        <p:spPr>
          <a:xfrm>
            <a:off x="900931" y="3919693"/>
            <a:ext cx="8294584" cy="95590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342900" indent="-342900">
              <a:lnSpc>
                <a:spcPct val="150000"/>
              </a:lnSpc>
              <a:buFont typeface="Wingdings" pitchFamily="2" charset="2"/>
              <a:buChar char="Ø"/>
              <a:defRPr sz="200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defRPr>
            </a:lvl1pPr>
          </a:lstStyle>
          <a:p>
            <a:r>
              <a:rPr lang="zh-CN" alt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安装（</a:t>
            </a:r>
            <a:r>
              <a:rPr lang="en" altLang="zh-CN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x86-64 </a:t>
            </a:r>
            <a:r>
              <a:rPr lang="zh-CN" alt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版本的 </a:t>
            </a:r>
            <a:r>
              <a:rPr lang="en" altLang="zh-CN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Linux </a:t>
            </a:r>
            <a:r>
              <a:rPr lang="zh-CN" alt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和 </a:t>
            </a:r>
            <a:r>
              <a:rPr lang="en" altLang="zh-CN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macOS</a:t>
            </a:r>
            <a:r>
              <a:rPr lang="zh-CN" altLang="en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）</a:t>
            </a:r>
          </a:p>
          <a:p>
            <a:pPr>
              <a:buFont typeface="Wingdings" pitchFamily="2" charset="2"/>
              <a:buChar char="l"/>
            </a:pPr>
            <a:r>
              <a:rPr lang="en" altLang="zh-CN" dirty="0"/>
              <a:t>Base </a:t>
            </a:r>
            <a:r>
              <a:rPr lang="zh-CN" altLang="en-US" dirty="0"/>
              <a:t>和 </a:t>
            </a:r>
            <a:r>
              <a:rPr lang="en" altLang="zh-CN" dirty="0"/>
              <a:t>Pythonic Python API </a:t>
            </a:r>
            <a:r>
              <a:rPr lang="zh-CN" altLang="en-US" dirty="0"/>
              <a:t>都可以通过以下命令使用 </a:t>
            </a:r>
            <a:r>
              <a:rPr lang="en" altLang="zh-CN" dirty="0"/>
              <a:t>pip </a:t>
            </a:r>
            <a:r>
              <a:rPr lang="zh-CN" altLang="en-US" dirty="0"/>
              <a:t>安装：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5D70DC3-2778-24A3-5F99-742C43FBD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931" y="5016933"/>
            <a:ext cx="8007342" cy="1393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746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C711A-93E7-23D7-CC84-C06973D9D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15CD044-68DD-4013-41B7-C9C303F0B0A3}"/>
              </a:ext>
            </a:extLst>
          </p:cNvPr>
          <p:cNvSpPr txBox="1"/>
          <p:nvPr/>
        </p:nvSpPr>
        <p:spPr>
          <a:xfrm>
            <a:off x="362655" y="149375"/>
            <a:ext cx="34623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3200" b="1" dirty="0">
                <a:latin typeface="SimHei" panose="02010609060101010101" pitchFamily="49" charset="-122"/>
                <a:ea typeface="SimHei" panose="02010609060101010101" pitchFamily="49" charset="-122"/>
              </a:rPr>
              <a:t>调用及使用方法</a:t>
            </a:r>
            <a:endParaRPr kumimoji="1" lang="en-US" altLang="zh-CN" sz="3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cxnSp>
        <p:nvCxnSpPr>
          <p:cNvPr id="5" name="直接连接符 8">
            <a:extLst>
              <a:ext uri="{FF2B5EF4-FFF2-40B4-BE49-F238E27FC236}">
                <a16:creationId xmlns:a16="http://schemas.microsoft.com/office/drawing/2014/main" id="{A931D82F-1218-F80C-FEFF-C7B8FE3A5610}"/>
              </a:ext>
            </a:extLst>
          </p:cNvPr>
          <p:cNvCxnSpPr>
            <a:cxnSpLocks/>
          </p:cNvCxnSpPr>
          <p:nvPr/>
        </p:nvCxnSpPr>
        <p:spPr bwMode="auto">
          <a:xfrm>
            <a:off x="0" y="895967"/>
            <a:ext cx="12192000" cy="0"/>
          </a:xfrm>
          <a:prstGeom prst="line">
            <a:avLst/>
          </a:prstGeom>
          <a:ln w="41275" cap="rnd" cmpd="tri">
            <a:gradFill>
              <a:gsLst>
                <a:gs pos="6000">
                  <a:srgbClr val="003292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6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0" scaled="0"/>
            </a:gra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B07614AA-C406-4EF3-1A1F-A1746972DA95}"/>
              </a:ext>
            </a:extLst>
          </p:cNvPr>
          <p:cNvSpPr txBox="1"/>
          <p:nvPr/>
        </p:nvSpPr>
        <p:spPr>
          <a:xfrm>
            <a:off x="582824" y="1144470"/>
            <a:ext cx="2197781" cy="570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ts val="4100"/>
              </a:lnSpc>
              <a:spcBef>
                <a:spcPts val="1800"/>
              </a:spcBef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02060"/>
                </a:solidFill>
                <a:latin typeface="Times New Roman"/>
                <a:ea typeface="黑体"/>
              </a:rPr>
              <a:t>示例</a:t>
            </a:r>
            <a:r>
              <a:rPr lang="en-US" altLang="zh-CN" sz="2800" dirty="0">
                <a:solidFill>
                  <a:srgbClr val="002060"/>
                </a:solidFill>
                <a:latin typeface="Times New Roman"/>
                <a:ea typeface="黑体"/>
              </a:rPr>
              <a:t>1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D331B32-B92C-9994-F7A6-BAAB9D76BB1B}"/>
              </a:ext>
            </a:extLst>
          </p:cNvPr>
          <p:cNvSpPr txBox="1"/>
          <p:nvPr/>
        </p:nvSpPr>
        <p:spPr>
          <a:xfrm>
            <a:off x="900931" y="1715267"/>
            <a:ext cx="10535508" cy="494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用 </a:t>
            </a:r>
            <a:r>
              <a:rPr lang="en" altLang="zh-CN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cvc5 </a:t>
            </a:r>
            <a:r>
              <a:rPr lang="zh-CN" altLang="en-US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直接解一个实数不等式组</a:t>
            </a:r>
            <a:endParaRPr lang="zh-CN" altLang="en" sz="2000" b="1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4DCB443-9434-6EBA-21E4-FDDB55FF1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528" y="2131780"/>
            <a:ext cx="5820994" cy="236255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BD353D3-D00E-5FA0-DDF7-DF85AE210A86}"/>
              </a:ext>
            </a:extLst>
          </p:cNvPr>
          <p:cNvSpPr txBox="1"/>
          <p:nvPr/>
        </p:nvSpPr>
        <p:spPr>
          <a:xfrm>
            <a:off x="1055477" y="4648496"/>
            <a:ext cx="6723362" cy="18792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342900" indent="-342900">
              <a:lnSpc>
                <a:spcPct val="150000"/>
              </a:lnSpc>
              <a:buFont typeface="Wingdings" pitchFamily="2" charset="2"/>
              <a:buChar char="Ø"/>
              <a:defRPr sz="200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defRPr>
            </a:lvl1pPr>
          </a:lstStyle>
          <a:p>
            <a:pPr>
              <a:buFont typeface="Wingdings" pitchFamily="2" charset="2"/>
              <a:buChar char="l"/>
            </a:pPr>
            <a:r>
              <a:rPr lang="en" altLang="zh-CN" dirty="0"/>
              <a:t>cvc5 </a:t>
            </a:r>
            <a:r>
              <a:rPr lang="zh-CN" altLang="en-US" dirty="0"/>
              <a:t>提供的“类 </a:t>
            </a:r>
            <a:r>
              <a:rPr lang="en" altLang="zh-CN" dirty="0"/>
              <a:t>z3py </a:t>
            </a:r>
            <a:r>
              <a:rPr lang="zh-CN" altLang="en-US" dirty="0"/>
              <a:t>风格”的 </a:t>
            </a:r>
            <a:r>
              <a:rPr lang="en" altLang="zh-CN" dirty="0"/>
              <a:t>Python </a:t>
            </a:r>
            <a:r>
              <a:rPr lang="zh-CN" altLang="en-US" dirty="0"/>
              <a:t>接口</a:t>
            </a:r>
            <a:endParaRPr lang="en-US" altLang="zh-CN" dirty="0"/>
          </a:p>
          <a:p>
            <a:pPr>
              <a:buFont typeface="Wingdings" pitchFamily="2" charset="2"/>
              <a:buChar char="l"/>
            </a:pPr>
            <a:r>
              <a:rPr lang="zh-CN" altLang="en-US" dirty="0"/>
              <a:t>可以不用手动 </a:t>
            </a:r>
            <a:r>
              <a:rPr lang="en" altLang="zh-CN" dirty="0"/>
              <a:t>new solver</a:t>
            </a:r>
            <a:r>
              <a:rPr lang="zh-CN" altLang="en" dirty="0"/>
              <a:t>、</a:t>
            </a:r>
            <a:r>
              <a:rPr lang="en" altLang="zh-CN" dirty="0"/>
              <a:t>add </a:t>
            </a:r>
            <a:r>
              <a:rPr lang="zh-CN" altLang="en-US" dirty="0"/>
              <a:t>约束</a:t>
            </a:r>
            <a:endParaRPr lang="en-US" altLang="zh-CN" dirty="0"/>
          </a:p>
          <a:p>
            <a:pPr>
              <a:buFont typeface="Wingdings" pitchFamily="2" charset="2"/>
              <a:buChar char="l"/>
            </a:pPr>
            <a:r>
              <a:rPr lang="zh-CN" altLang="en-US" dirty="0"/>
              <a:t>声明两个实数变量 </a:t>
            </a:r>
            <a:r>
              <a:rPr lang="en" altLang="zh-CN" dirty="0"/>
              <a:t>x </a:t>
            </a:r>
            <a:r>
              <a:rPr lang="zh-CN" altLang="en-US" dirty="0"/>
              <a:t>和 </a:t>
            </a:r>
            <a:r>
              <a:rPr lang="en" altLang="zh-CN" dirty="0"/>
              <a:t>y</a:t>
            </a:r>
            <a:endParaRPr lang="en-US" altLang="zh-CN" dirty="0"/>
          </a:p>
          <a:p>
            <a:pPr>
              <a:buFont typeface="Wingdings" pitchFamily="2" charset="2"/>
              <a:buChar char="l"/>
            </a:pPr>
            <a:r>
              <a:rPr lang="en" altLang="zh-CN" dirty="0"/>
              <a:t>solve(...) </a:t>
            </a:r>
            <a:r>
              <a:rPr lang="zh-CN" altLang="en-US" dirty="0"/>
              <a:t>会随便给你返回</a:t>
            </a:r>
            <a:r>
              <a:rPr lang="en-US" altLang="zh-CN" dirty="0"/>
              <a:t>/</a:t>
            </a:r>
            <a:r>
              <a:rPr lang="zh-CN" altLang="en-US" dirty="0"/>
              <a:t>打印其中一个合法解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22642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81AAB-9EC1-7738-E4C6-590EB3892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E20BEEB-BC10-0E57-3ECE-A67A23B9AB25}"/>
              </a:ext>
            </a:extLst>
          </p:cNvPr>
          <p:cNvSpPr txBox="1"/>
          <p:nvPr/>
        </p:nvSpPr>
        <p:spPr>
          <a:xfrm>
            <a:off x="362655" y="149375"/>
            <a:ext cx="34623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3200" b="1" dirty="0">
                <a:latin typeface="SimHei" panose="02010609060101010101" pitchFamily="49" charset="-122"/>
                <a:ea typeface="SimHei" panose="02010609060101010101" pitchFamily="49" charset="-122"/>
              </a:rPr>
              <a:t>调用及使用方法</a:t>
            </a:r>
            <a:endParaRPr kumimoji="1" lang="en-US" altLang="zh-CN" sz="3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cxnSp>
        <p:nvCxnSpPr>
          <p:cNvPr id="5" name="直接连接符 8">
            <a:extLst>
              <a:ext uri="{FF2B5EF4-FFF2-40B4-BE49-F238E27FC236}">
                <a16:creationId xmlns:a16="http://schemas.microsoft.com/office/drawing/2014/main" id="{8953048A-1383-0523-C6C9-EFF77E610948}"/>
              </a:ext>
            </a:extLst>
          </p:cNvPr>
          <p:cNvCxnSpPr>
            <a:cxnSpLocks/>
          </p:cNvCxnSpPr>
          <p:nvPr/>
        </p:nvCxnSpPr>
        <p:spPr bwMode="auto">
          <a:xfrm>
            <a:off x="0" y="895967"/>
            <a:ext cx="12192000" cy="0"/>
          </a:xfrm>
          <a:prstGeom prst="line">
            <a:avLst/>
          </a:prstGeom>
          <a:ln w="41275" cap="rnd" cmpd="tri">
            <a:gradFill>
              <a:gsLst>
                <a:gs pos="6000">
                  <a:srgbClr val="003292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6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0" scaled="0"/>
            </a:gra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12CDC4A7-B9D9-757B-903A-E7875EE6EBB0}"/>
              </a:ext>
            </a:extLst>
          </p:cNvPr>
          <p:cNvSpPr txBox="1"/>
          <p:nvPr/>
        </p:nvSpPr>
        <p:spPr>
          <a:xfrm>
            <a:off x="582824" y="1144470"/>
            <a:ext cx="2197781" cy="570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ts val="4100"/>
              </a:lnSpc>
              <a:spcBef>
                <a:spcPts val="1800"/>
              </a:spcBef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02060"/>
                </a:solidFill>
                <a:latin typeface="Times New Roman"/>
                <a:ea typeface="黑体"/>
              </a:rPr>
              <a:t>示例</a:t>
            </a:r>
            <a:r>
              <a:rPr lang="en-US" altLang="zh-CN" sz="2800" dirty="0">
                <a:solidFill>
                  <a:srgbClr val="002060"/>
                </a:solidFill>
                <a:latin typeface="Times New Roman"/>
                <a:ea typeface="黑体"/>
              </a:rPr>
              <a:t>2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79ACA24-3EAC-8629-26FD-8C7B39757D11}"/>
              </a:ext>
            </a:extLst>
          </p:cNvPr>
          <p:cNvSpPr txBox="1"/>
          <p:nvPr/>
        </p:nvSpPr>
        <p:spPr>
          <a:xfrm>
            <a:off x="900931" y="1715267"/>
            <a:ext cx="10535508" cy="494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再解一个实数不等式组</a:t>
            </a:r>
            <a:endParaRPr lang="zh-CN" altLang="en" sz="2000" b="1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1F7213A-FD31-4D67-973A-F495A50F3A4B}"/>
              </a:ext>
            </a:extLst>
          </p:cNvPr>
          <p:cNvSpPr txBox="1"/>
          <p:nvPr/>
        </p:nvSpPr>
        <p:spPr>
          <a:xfrm>
            <a:off x="685800" y="2371322"/>
            <a:ext cx="6817430" cy="37258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342900" indent="-342900">
              <a:lnSpc>
                <a:spcPct val="150000"/>
              </a:lnSpc>
              <a:buFont typeface="Wingdings" pitchFamily="2" charset="2"/>
              <a:buChar char="Ø"/>
              <a:defRPr sz="200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defRPr>
            </a:lvl1pPr>
          </a:lstStyle>
          <a:p>
            <a:pPr>
              <a:buFont typeface="Wingdings" pitchFamily="2" charset="2"/>
              <a:buChar char="l"/>
            </a:pPr>
            <a:r>
              <a:rPr lang="en-US" altLang="zh-CN" dirty="0"/>
              <a:t>x, y </a:t>
            </a:r>
            <a:r>
              <a:rPr lang="zh-CN" altLang="en-US" dirty="0"/>
              <a:t>是实数类型的变量 </a:t>
            </a:r>
            <a:r>
              <a:rPr lang="en-US" altLang="zh-CN" dirty="0"/>
              <a:t>(Reals)</a:t>
            </a:r>
            <a:r>
              <a:rPr lang="zh-CN" altLang="en-US" dirty="0"/>
              <a:t>，可以取任何实数值</a:t>
            </a:r>
          </a:p>
          <a:p>
            <a:pPr>
              <a:buFont typeface="Wingdings" pitchFamily="2" charset="2"/>
              <a:buChar char="l"/>
            </a:pPr>
            <a:r>
              <a:rPr lang="en-US" altLang="zh-CN" dirty="0"/>
              <a:t>a, b </a:t>
            </a:r>
            <a:r>
              <a:rPr lang="zh-CN" altLang="en-US" dirty="0"/>
              <a:t>是整数类型的变量 </a:t>
            </a:r>
            <a:r>
              <a:rPr lang="en-US" altLang="zh-CN" dirty="0"/>
              <a:t>(</a:t>
            </a:r>
            <a:r>
              <a:rPr lang="en-US" altLang="zh-CN" dirty="0" err="1"/>
              <a:t>Ints</a:t>
            </a:r>
            <a:r>
              <a:rPr lang="en-US" altLang="zh-CN" dirty="0"/>
              <a:t>)</a:t>
            </a:r>
            <a:r>
              <a:rPr lang="zh-CN" altLang="en-US" dirty="0"/>
              <a:t>，只能取整数值</a:t>
            </a:r>
            <a:endParaRPr lang="en-US" altLang="zh-CN" dirty="0"/>
          </a:p>
          <a:p>
            <a:pPr>
              <a:buFont typeface="Wingdings" pitchFamily="2" charset="2"/>
              <a:buChar char="l"/>
            </a:pPr>
            <a:r>
              <a:rPr lang="zh-CN" altLang="en-US" dirty="0"/>
              <a:t>使用 </a:t>
            </a:r>
            <a:r>
              <a:rPr lang="en" altLang="zh-CN" dirty="0"/>
              <a:t>Solver() </a:t>
            </a:r>
            <a:r>
              <a:rPr lang="zh-CN" altLang="en-US" dirty="0"/>
              <a:t>创建一个求解器实例，</a:t>
            </a:r>
            <a:r>
              <a:rPr lang="en" altLang="zh-CN" dirty="0"/>
              <a:t>add </a:t>
            </a:r>
            <a:r>
              <a:rPr lang="zh-CN" altLang="en-US" dirty="0"/>
              <a:t>添加约束</a:t>
            </a:r>
            <a:endParaRPr lang="en-US" altLang="zh-CN" dirty="0"/>
          </a:p>
          <a:p>
            <a:pPr>
              <a:buFont typeface="Wingdings" pitchFamily="2" charset="2"/>
              <a:buChar char="l"/>
            </a:pPr>
            <a:r>
              <a:rPr lang="en" altLang="zh-CN" dirty="0" err="1"/>
              <a:t>s.check</a:t>
            </a:r>
            <a:r>
              <a:rPr lang="en" altLang="zh-CN" dirty="0"/>
              <a:t>() </a:t>
            </a:r>
            <a:r>
              <a:rPr lang="zh-CN" altLang="en-US" dirty="0"/>
              <a:t>用来检查约束是否可满足。</a:t>
            </a:r>
            <a:endParaRPr lang="en-US" altLang="zh-CN" dirty="0"/>
          </a:p>
          <a:p>
            <a:pPr>
              <a:buFont typeface="Wingdings" pitchFamily="2" charset="2"/>
              <a:buChar char="l"/>
            </a:pPr>
            <a:r>
              <a:rPr lang="en" altLang="zh-CN" dirty="0" err="1"/>
              <a:t>s.model</a:t>
            </a:r>
            <a:r>
              <a:rPr lang="en" altLang="zh-CN" dirty="0"/>
              <a:t>() </a:t>
            </a:r>
            <a:r>
              <a:rPr lang="zh-CN" altLang="en-US" dirty="0"/>
              <a:t>返回一个模型</a:t>
            </a:r>
            <a:endParaRPr lang="en-US" altLang="zh-CN" dirty="0"/>
          </a:p>
          <a:p>
            <a:pPr>
              <a:buFont typeface="Wingdings" pitchFamily="2" charset="2"/>
              <a:buChar char="l"/>
            </a:pPr>
            <a:r>
              <a:rPr lang="zh-CN" altLang="en-US" dirty="0"/>
              <a:t>输出不同形式的结果，字符串、</a:t>
            </a:r>
            <a:r>
              <a:rPr lang="en-US" altLang="zh-CN" dirty="0"/>
              <a:t>4</a:t>
            </a:r>
            <a:r>
              <a:rPr lang="zh-CN" altLang="en-US" dirty="0"/>
              <a:t>位小数、分数、浮点数</a:t>
            </a:r>
            <a:endParaRPr lang="en-US" altLang="zh-CN" dirty="0"/>
          </a:p>
          <a:p>
            <a:pPr>
              <a:buFont typeface="Wingdings" pitchFamily="2" charset="2"/>
              <a:buChar char="l"/>
            </a:pPr>
            <a:r>
              <a:rPr lang="zh-CN" altLang="en-US" dirty="0"/>
              <a:t>针对整数变量 </a:t>
            </a:r>
            <a:r>
              <a:rPr lang="en" altLang="zh-CN" dirty="0"/>
              <a:t>a </a:t>
            </a:r>
            <a:r>
              <a:rPr lang="zh-CN" altLang="en-US" dirty="0"/>
              <a:t>和 </a:t>
            </a:r>
            <a:r>
              <a:rPr lang="en" altLang="zh-CN" dirty="0"/>
              <a:t>b</a:t>
            </a:r>
            <a:r>
              <a:rPr lang="zh-CN" altLang="en" dirty="0"/>
              <a:t>。</a:t>
            </a:r>
            <a:r>
              <a:rPr lang="zh-CN" altLang="en-US" dirty="0"/>
              <a:t>由于要求 </a:t>
            </a:r>
            <a:r>
              <a:rPr lang="en" altLang="zh-CN" dirty="0"/>
              <a:t>a </a:t>
            </a:r>
            <a:r>
              <a:rPr lang="zh-CN" altLang="en-US" dirty="0"/>
              <a:t>和 </a:t>
            </a:r>
            <a:r>
              <a:rPr lang="en" altLang="zh-CN" dirty="0"/>
              <a:t>b </a:t>
            </a:r>
            <a:r>
              <a:rPr lang="zh-CN" altLang="en-US" dirty="0"/>
              <a:t>都大于 </a:t>
            </a:r>
            <a:r>
              <a:rPr lang="en-US" altLang="zh-CN" dirty="0"/>
              <a:t>0</a:t>
            </a:r>
            <a:r>
              <a:rPr lang="zh-CN" altLang="en-US" dirty="0"/>
              <a:t>，并且</a:t>
            </a:r>
            <a:r>
              <a:rPr lang="en-US" altLang="zh-CN" dirty="0" err="1"/>
              <a:t>a+b</a:t>
            </a:r>
            <a:r>
              <a:rPr lang="zh-CN" altLang="en-US" dirty="0"/>
              <a:t>小于</a:t>
            </a:r>
            <a:r>
              <a:rPr lang="en-US" altLang="zh-CN" dirty="0"/>
              <a:t>1</a:t>
            </a:r>
            <a:r>
              <a:rPr lang="zh-CN" altLang="en-US" dirty="0"/>
              <a:t>，所以这个约束是不可满足的</a:t>
            </a:r>
            <a:r>
              <a:rPr lang="zh-CN" altLang="en" dirty="0"/>
              <a:t>，</a:t>
            </a:r>
            <a:r>
              <a:rPr lang="zh-CN" altLang="en-US" dirty="0"/>
              <a:t>会返回</a:t>
            </a:r>
            <a:r>
              <a:rPr lang="zh-CN" altLang="en" dirty="0"/>
              <a:t>无解。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AE0E577-53B1-949C-BA56-2582D898E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230" y="1057785"/>
            <a:ext cx="3421743" cy="547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281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09EF3-AE31-0387-7B29-7D9307A1A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EB5597F-CF17-98A1-EEE9-5EDB30711C7C}"/>
              </a:ext>
            </a:extLst>
          </p:cNvPr>
          <p:cNvSpPr txBox="1"/>
          <p:nvPr/>
        </p:nvSpPr>
        <p:spPr>
          <a:xfrm>
            <a:off x="362655" y="149375"/>
            <a:ext cx="34623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3200" b="1" dirty="0">
                <a:latin typeface="SimHei" panose="02010609060101010101" pitchFamily="49" charset="-122"/>
                <a:ea typeface="SimHei" panose="02010609060101010101" pitchFamily="49" charset="-122"/>
              </a:rPr>
              <a:t>调用及使用方法</a:t>
            </a:r>
            <a:endParaRPr kumimoji="1" lang="en-US" altLang="zh-CN" sz="3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cxnSp>
        <p:nvCxnSpPr>
          <p:cNvPr id="5" name="直接连接符 8">
            <a:extLst>
              <a:ext uri="{FF2B5EF4-FFF2-40B4-BE49-F238E27FC236}">
                <a16:creationId xmlns:a16="http://schemas.microsoft.com/office/drawing/2014/main" id="{5A8A2E97-683A-0895-8FB0-DBE7C52FA9EE}"/>
              </a:ext>
            </a:extLst>
          </p:cNvPr>
          <p:cNvCxnSpPr>
            <a:cxnSpLocks/>
          </p:cNvCxnSpPr>
          <p:nvPr/>
        </p:nvCxnSpPr>
        <p:spPr bwMode="auto">
          <a:xfrm>
            <a:off x="0" y="895967"/>
            <a:ext cx="12192000" cy="0"/>
          </a:xfrm>
          <a:prstGeom prst="line">
            <a:avLst/>
          </a:prstGeom>
          <a:ln w="41275" cap="rnd" cmpd="tri">
            <a:gradFill>
              <a:gsLst>
                <a:gs pos="6000">
                  <a:srgbClr val="003292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6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0" scaled="0"/>
            </a:gra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0B274B97-C0FF-E2FF-E982-D21220540A4D}"/>
              </a:ext>
            </a:extLst>
          </p:cNvPr>
          <p:cNvSpPr txBox="1"/>
          <p:nvPr/>
        </p:nvSpPr>
        <p:spPr>
          <a:xfrm>
            <a:off x="582824" y="1144470"/>
            <a:ext cx="2197781" cy="570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ts val="4100"/>
              </a:lnSpc>
              <a:spcBef>
                <a:spcPts val="1800"/>
              </a:spcBef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02060"/>
                </a:solidFill>
                <a:latin typeface="Times New Roman"/>
                <a:ea typeface="黑体"/>
              </a:rPr>
              <a:t>示例</a:t>
            </a:r>
            <a:r>
              <a:rPr lang="en-US" altLang="zh-CN" sz="2800" dirty="0">
                <a:solidFill>
                  <a:srgbClr val="002060"/>
                </a:solidFill>
                <a:latin typeface="Times New Roman"/>
                <a:ea typeface="黑体"/>
              </a:rPr>
              <a:t>3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2D3A938-5E8C-5B32-CAF7-CF0C44BA29E8}"/>
              </a:ext>
            </a:extLst>
          </p:cNvPr>
          <p:cNvSpPr txBox="1"/>
          <p:nvPr/>
        </p:nvSpPr>
        <p:spPr>
          <a:xfrm>
            <a:off x="900931" y="1715267"/>
            <a:ext cx="3042419" cy="50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处理布尔逻辑问题</a:t>
            </a:r>
            <a:endParaRPr lang="zh-CN" altLang="en" sz="2000" b="1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DF861E8-CB8D-42FD-CDB5-3C2BAA1ADB83}"/>
              </a:ext>
            </a:extLst>
          </p:cNvPr>
          <p:cNvSpPr txBox="1"/>
          <p:nvPr/>
        </p:nvSpPr>
        <p:spPr>
          <a:xfrm>
            <a:off x="996918" y="2217135"/>
            <a:ext cx="48205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设有三个人 </a:t>
            </a:r>
            <a:r>
              <a:rPr lang="en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A</a:t>
            </a:r>
            <a:r>
              <a:rPr lang="zh-CN" altLang="e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、</a:t>
            </a:r>
            <a:r>
              <a:rPr lang="en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B</a:t>
            </a:r>
            <a:r>
              <a:rPr lang="zh-CN" altLang="e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、</a:t>
            </a:r>
            <a:r>
              <a:rPr lang="en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C</a:t>
            </a:r>
            <a:r>
              <a:rPr lang="zh-CN" altLang="e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，</a:t>
            </a:r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他们说了以下三句话：</a:t>
            </a:r>
          </a:p>
          <a:p>
            <a:r>
              <a:rPr lang="en" altLang="zh-CN" b="1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A </a:t>
            </a:r>
            <a:r>
              <a:rPr lang="zh-CN" altLang="en-US" b="1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说：</a:t>
            </a:r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“</a:t>
            </a:r>
            <a:r>
              <a:rPr lang="en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B </a:t>
            </a:r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说了真话”</a:t>
            </a:r>
          </a:p>
          <a:p>
            <a:r>
              <a:rPr lang="en" altLang="zh-CN" b="1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B </a:t>
            </a:r>
            <a:r>
              <a:rPr lang="zh-CN" altLang="en-US" b="1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说：</a:t>
            </a:r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“</a:t>
            </a:r>
            <a:r>
              <a:rPr lang="en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C </a:t>
            </a:r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在说假话”</a:t>
            </a:r>
          </a:p>
          <a:p>
            <a:r>
              <a:rPr lang="en" altLang="zh-CN" b="1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C </a:t>
            </a:r>
            <a:r>
              <a:rPr lang="zh-CN" altLang="en-US" b="1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说：</a:t>
            </a:r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“</a:t>
            </a:r>
            <a:r>
              <a:rPr lang="en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A </a:t>
            </a:r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和 </a:t>
            </a:r>
            <a:r>
              <a:rPr lang="en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B </a:t>
            </a:r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都在说真话”</a:t>
            </a:r>
          </a:p>
          <a:p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找出一种真假组合，使所有陈述都成立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CA5EC7A-5C45-7189-1094-20C1A55256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188354"/>
              </p:ext>
            </p:extLst>
          </p:nvPr>
        </p:nvGraphicFramePr>
        <p:xfrm>
          <a:off x="996918" y="4136894"/>
          <a:ext cx="3874875" cy="2011680"/>
        </p:xfrm>
        <a:graphic>
          <a:graphicData uri="http://schemas.openxmlformats.org/drawingml/2006/table">
            <a:tbl>
              <a:tblPr/>
              <a:tblGrid>
                <a:gridCol w="1291625">
                  <a:extLst>
                    <a:ext uri="{9D8B030D-6E8A-4147-A177-3AD203B41FA5}">
                      <a16:colId xmlns:a16="http://schemas.microsoft.com/office/drawing/2014/main" val="1147587303"/>
                    </a:ext>
                  </a:extLst>
                </a:gridCol>
                <a:gridCol w="1291625">
                  <a:extLst>
                    <a:ext uri="{9D8B030D-6E8A-4147-A177-3AD203B41FA5}">
                      <a16:colId xmlns:a16="http://schemas.microsoft.com/office/drawing/2014/main" val="1590962791"/>
                    </a:ext>
                  </a:extLst>
                </a:gridCol>
                <a:gridCol w="1291625">
                  <a:extLst>
                    <a:ext uri="{9D8B030D-6E8A-4147-A177-3AD203B41FA5}">
                      <a16:colId xmlns:a16="http://schemas.microsoft.com/office/drawing/2014/main" val="1547582521"/>
                    </a:ext>
                  </a:extLst>
                </a:gridCol>
              </a:tblGrid>
              <a:tr h="3110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陈述内容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逻辑表示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832300"/>
                  </a:ext>
                </a:extLst>
              </a:tr>
              <a:tr h="3110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B </a:t>
                      </a:r>
                      <a:r>
                        <a:rPr lang="zh-CN" altLang="en-US"/>
                        <a:t>为真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A →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123102"/>
                  </a:ext>
                </a:extLst>
              </a:tr>
              <a:tr h="3110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C </a:t>
                      </a:r>
                      <a:r>
                        <a:rPr lang="zh-CN" altLang="en-US"/>
                        <a:t>为假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/>
                        <a:t>B → ¬C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396999"/>
                  </a:ext>
                </a:extLst>
              </a:tr>
              <a:tr h="544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/>
                        <a:t>A </a:t>
                      </a:r>
                      <a:r>
                        <a:rPr lang="zh-CN" altLang="en-US" dirty="0"/>
                        <a:t>也是真的且 </a:t>
                      </a:r>
                      <a:r>
                        <a:rPr lang="en" dirty="0"/>
                        <a:t>B </a:t>
                      </a:r>
                      <a:r>
                        <a:rPr lang="zh-CN" altLang="en-US" dirty="0"/>
                        <a:t>也是真的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/>
                        <a:t>C → (A ∧ B)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564054"/>
                  </a:ext>
                </a:extLst>
              </a:tr>
            </a:tbl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5C3A3EA5-BC75-1556-48F9-DA896BBC4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209" y="441762"/>
            <a:ext cx="3874875" cy="6143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782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D4D56FA-622E-F177-B68C-391E09AB8F44}"/>
              </a:ext>
            </a:extLst>
          </p:cNvPr>
          <p:cNvSpPr txBox="1"/>
          <p:nvPr/>
        </p:nvSpPr>
        <p:spPr>
          <a:xfrm>
            <a:off x="4796853" y="3075057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000" dirty="0"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谢谢大家</a:t>
            </a:r>
          </a:p>
        </p:txBody>
      </p:sp>
    </p:spTree>
    <p:extLst>
      <p:ext uri="{BB962C8B-B14F-4D97-AF65-F5344CB8AC3E}">
        <p14:creationId xmlns:p14="http://schemas.microsoft.com/office/powerpoint/2010/main" val="708297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8582</TotalTime>
  <Words>717</Words>
  <Application>Microsoft Macintosh PowerPoint</Application>
  <PresentationFormat>宽屏</PresentationFormat>
  <Paragraphs>63</Paragraphs>
  <Slides>10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等线</vt:lpstr>
      <vt:lpstr>等线 Light</vt:lpstr>
      <vt:lpstr>SimHei</vt:lpstr>
      <vt:lpstr>Arial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pb d</dc:creator>
  <cp:lastModifiedBy>pb d</cp:lastModifiedBy>
  <cp:revision>1</cp:revision>
  <dcterms:created xsi:type="dcterms:W3CDTF">2025-12-09T08:29:07Z</dcterms:created>
  <dcterms:modified xsi:type="dcterms:W3CDTF">2025-12-15T07:31:23Z</dcterms:modified>
</cp:coreProperties>
</file>