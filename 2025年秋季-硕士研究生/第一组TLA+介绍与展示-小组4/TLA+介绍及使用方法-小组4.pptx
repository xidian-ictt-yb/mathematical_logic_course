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1"/>
  </p:notesMasterIdLst>
  <p:sldIdLst>
    <p:sldId id="273" r:id="rId3"/>
    <p:sldId id="272" r:id="rId4"/>
    <p:sldId id="275" r:id="rId5"/>
    <p:sldId id="274" r:id="rId6"/>
    <p:sldId id="276" r:id="rId7"/>
    <p:sldId id="256" r:id="rId8"/>
    <p:sldId id="262" r:id="rId9"/>
    <p:sldId id="263" r:id="rId10"/>
    <p:sldId id="257" r:id="rId11"/>
    <p:sldId id="264" r:id="rId12"/>
    <p:sldId id="268" r:id="rId13"/>
    <p:sldId id="265" r:id="rId14"/>
    <p:sldId id="259" r:id="rId15"/>
    <p:sldId id="260" r:id="rId16"/>
    <p:sldId id="261" r:id="rId17"/>
    <p:sldId id="277" r:id="rId18"/>
    <p:sldId id="294" r:id="rId19"/>
    <p:sldId id="29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7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 K" initials="l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1D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35" y="87"/>
      </p:cViewPr>
      <p:guideLst>
        <p:guide orient="horz" pos="2191"/>
        <p:guide pos="37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0BC820-E9B7-4256-98F1-F68926288F1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1CED159-941F-4CB5-86A5-F26B505D4B4D}">
      <dgm:prSet phldrT="[文本]" custT="1"/>
      <dgm:spPr/>
      <dgm:t>
        <a:bodyPr/>
        <a:lstStyle/>
        <a:p>
          <a:r>
            <a:rPr lang="zh-CN" altLang="en-US" sz="1800"/>
            <a:t>节省成本</a:t>
          </a:r>
        </a:p>
      </dgm:t>
    </dgm:pt>
    <dgm:pt modelId="{6461C17C-D003-48EE-859A-3FB47A5A50B3}" type="parTrans" cxnId="{719DBFC1-71CC-4897-8642-73D47999EEDC}">
      <dgm:prSet/>
      <dgm:spPr/>
      <dgm:t>
        <a:bodyPr/>
        <a:lstStyle/>
        <a:p>
          <a:endParaRPr lang="zh-CN" altLang="en-US"/>
        </a:p>
      </dgm:t>
    </dgm:pt>
    <dgm:pt modelId="{729F2F54-8127-44FB-9C15-D2F172CEA342}" type="sibTrans" cxnId="{719DBFC1-71CC-4897-8642-73D47999EEDC}">
      <dgm:prSet/>
      <dgm:spPr/>
      <dgm:t>
        <a:bodyPr/>
        <a:lstStyle/>
        <a:p>
          <a:endParaRPr lang="zh-CN" altLang="en-US"/>
        </a:p>
      </dgm:t>
    </dgm:pt>
    <dgm:pt modelId="{9A473946-5D42-497F-8E4C-70C0C106A43B}">
      <dgm:prSet phldrT="[文本]" custT="1"/>
      <dgm:spPr/>
      <dgm:t>
        <a:bodyPr/>
        <a:lstStyle/>
        <a:p>
          <a:r>
            <a:rPr lang="zh-CN" altLang="en-US" sz="1800"/>
            <a:t>极早地发现深层设计缺陷，避免其在开发后期甚至生产环境中引发灾难性故障，修复成本呈数量级下降。</a:t>
          </a:r>
        </a:p>
      </dgm:t>
    </dgm:pt>
    <dgm:pt modelId="{4CE9C3C6-4A0A-4BBA-9FD1-39D9C1726B09}" type="parTrans" cxnId="{3B649EE6-5F7B-4ABD-B721-CD6ACA17A584}">
      <dgm:prSet/>
      <dgm:spPr/>
      <dgm:t>
        <a:bodyPr/>
        <a:lstStyle/>
        <a:p>
          <a:endParaRPr lang="zh-CN" altLang="en-US"/>
        </a:p>
      </dgm:t>
    </dgm:pt>
    <dgm:pt modelId="{676FAB11-7FFE-425D-BD35-4E5AAA982DE0}" type="sibTrans" cxnId="{3B649EE6-5F7B-4ABD-B721-CD6ACA17A584}">
      <dgm:prSet/>
      <dgm:spPr/>
      <dgm:t>
        <a:bodyPr/>
        <a:lstStyle/>
        <a:p>
          <a:endParaRPr lang="zh-CN" altLang="en-US"/>
        </a:p>
      </dgm:t>
    </dgm:pt>
    <dgm:pt modelId="{0DAA5A74-22C5-421C-8A31-15EAAF84D8A1}">
      <dgm:prSet phldrT="[文本]" custT="1"/>
      <dgm:spPr/>
      <dgm:t>
        <a:bodyPr/>
        <a:lstStyle/>
        <a:p>
          <a:r>
            <a:rPr lang="zh-CN" altLang="en-US" sz="1800"/>
            <a:t>清晰沟通</a:t>
          </a:r>
          <a:endParaRPr lang="en-US" altLang="zh-CN" sz="1800"/>
        </a:p>
      </dgm:t>
    </dgm:pt>
    <dgm:pt modelId="{59970E3D-7BB1-4D86-8A43-B2F7D6087382}" type="parTrans" cxnId="{1CFCDDC9-4858-436B-81E1-5816A0E66800}">
      <dgm:prSet/>
      <dgm:spPr/>
      <dgm:t>
        <a:bodyPr/>
        <a:lstStyle/>
        <a:p>
          <a:endParaRPr lang="zh-CN" altLang="en-US"/>
        </a:p>
      </dgm:t>
    </dgm:pt>
    <dgm:pt modelId="{AE70CE9D-FCD7-4F9D-B1B2-EFBA4C2EDB4F}" type="sibTrans" cxnId="{1CFCDDC9-4858-436B-81E1-5816A0E66800}">
      <dgm:prSet/>
      <dgm:spPr/>
      <dgm:t>
        <a:bodyPr/>
        <a:lstStyle/>
        <a:p>
          <a:endParaRPr lang="zh-CN" altLang="en-US"/>
        </a:p>
      </dgm:t>
    </dgm:pt>
    <dgm:pt modelId="{A00D7FFB-DED0-4D35-BE1A-AB7ED4C18F81}">
      <dgm:prSet phldrT="[文本]" custT="1"/>
      <dgm:spPr/>
      <dgm:t>
        <a:bodyPr/>
        <a:lstStyle/>
        <a:p>
          <a:r>
            <a:rPr lang="zh-CN" altLang="en-US" sz="1800"/>
            <a:t>创建一份无歧义、可推导的设计文档，作为团队成员和利益相关者之间的单一事实来源。</a:t>
          </a:r>
        </a:p>
      </dgm:t>
    </dgm:pt>
    <dgm:pt modelId="{C52454B8-D43B-4091-AB7C-0D33EC41575C}" type="parTrans" cxnId="{D7FE4173-0075-4768-8AF5-2FF01EB44DB5}">
      <dgm:prSet/>
      <dgm:spPr/>
      <dgm:t>
        <a:bodyPr/>
        <a:lstStyle/>
        <a:p>
          <a:endParaRPr lang="zh-CN" altLang="en-US"/>
        </a:p>
      </dgm:t>
    </dgm:pt>
    <dgm:pt modelId="{D7174FD0-B838-445C-A6D8-F0A74BFF5DAB}" type="sibTrans" cxnId="{D7FE4173-0075-4768-8AF5-2FF01EB44DB5}">
      <dgm:prSet/>
      <dgm:spPr/>
      <dgm:t>
        <a:bodyPr/>
        <a:lstStyle/>
        <a:p>
          <a:endParaRPr lang="zh-CN" altLang="en-US"/>
        </a:p>
      </dgm:t>
    </dgm:pt>
    <dgm:pt modelId="{F6B0C65E-3A27-4245-890B-FD135FC4F1FE}">
      <dgm:prSet phldrT="[文本]" custT="1"/>
      <dgm:spPr/>
      <dgm:t>
        <a:bodyPr/>
        <a:lstStyle/>
        <a:p>
          <a:r>
            <a:rPr lang="zh-CN" altLang="en-US" sz="1800"/>
            <a:t>业界背书</a:t>
          </a:r>
        </a:p>
      </dgm:t>
    </dgm:pt>
    <dgm:pt modelId="{FF81647E-9FD8-40D7-B06B-F1C8B178A615}" type="parTrans" cxnId="{124DA899-D165-4B8F-80AD-F4F70AF33F7E}">
      <dgm:prSet/>
      <dgm:spPr/>
      <dgm:t>
        <a:bodyPr/>
        <a:lstStyle/>
        <a:p>
          <a:endParaRPr lang="zh-CN" altLang="en-US"/>
        </a:p>
      </dgm:t>
    </dgm:pt>
    <dgm:pt modelId="{41E3FC6F-EE04-4173-8988-B70BE50C4B2B}" type="sibTrans" cxnId="{124DA899-D165-4B8F-80AD-F4F70AF33F7E}">
      <dgm:prSet/>
      <dgm:spPr/>
      <dgm:t>
        <a:bodyPr/>
        <a:lstStyle/>
        <a:p>
          <a:endParaRPr lang="zh-CN" altLang="en-US"/>
        </a:p>
      </dgm:t>
    </dgm:pt>
    <dgm:pt modelId="{2EFF86D1-93F3-46FD-9FCB-E284F4E77C2A}">
      <dgm:prSet phldrT="[文本]" custT="1"/>
      <dgm:spPr/>
      <dgm:t>
        <a:bodyPr/>
        <a:lstStyle/>
        <a:p>
          <a:r>
            <a:rPr lang="zh-CN" altLang="en-US" sz="1800"/>
            <a:t>亚马逊</a:t>
          </a:r>
          <a:r>
            <a:rPr lang="en-US" altLang="en-US" sz="1800"/>
            <a:t>AWS</a:t>
          </a:r>
          <a:r>
            <a:rPr lang="zh-CN" altLang="en-US" sz="1800"/>
            <a:t>、微软、英特尔等公司已将其应用于关键分布式系统（如</a:t>
          </a:r>
          <a:r>
            <a:rPr lang="en-US" altLang="en-US" sz="1800"/>
            <a:t>DynamoDB</a:t>
          </a:r>
          <a:r>
            <a:rPr lang="zh-CN" altLang="en-US" sz="1800"/>
            <a:t>， </a:t>
          </a:r>
          <a:r>
            <a:rPr lang="en-US" altLang="en-US" sz="1800"/>
            <a:t>Cosmos DB</a:t>
          </a:r>
          <a:r>
            <a:rPr lang="zh-CN" altLang="en-US" sz="1800"/>
            <a:t>）和硬件协议的设计验证，并发现了传统方法无法捕获的严重错误。</a:t>
          </a:r>
        </a:p>
      </dgm:t>
    </dgm:pt>
    <dgm:pt modelId="{3F683615-7575-42D3-9949-7B86915FB49A}" type="parTrans" cxnId="{F5166CDA-B8D2-463B-98CA-7B4A660C1C7A}">
      <dgm:prSet/>
      <dgm:spPr/>
      <dgm:t>
        <a:bodyPr/>
        <a:lstStyle/>
        <a:p>
          <a:endParaRPr lang="zh-CN" altLang="en-US"/>
        </a:p>
      </dgm:t>
    </dgm:pt>
    <dgm:pt modelId="{F0E5506A-C834-45B1-BDA3-89A271E9587B}" type="sibTrans" cxnId="{F5166CDA-B8D2-463B-98CA-7B4A660C1C7A}">
      <dgm:prSet/>
      <dgm:spPr/>
      <dgm:t>
        <a:bodyPr/>
        <a:lstStyle/>
        <a:p>
          <a:endParaRPr lang="zh-CN" altLang="en-US"/>
        </a:p>
      </dgm:t>
    </dgm:pt>
    <dgm:pt modelId="{E16F74CA-5ABE-41AD-832C-3260CB261D54}" type="pres">
      <dgm:prSet presAssocID="{670BC820-E9B7-4256-98F1-F68926288F1D}" presName="linear" presStyleCnt="0">
        <dgm:presLayoutVars>
          <dgm:animLvl val="lvl"/>
          <dgm:resizeHandles val="exact"/>
        </dgm:presLayoutVars>
      </dgm:prSet>
      <dgm:spPr/>
    </dgm:pt>
    <dgm:pt modelId="{C749119F-076B-466A-B6A9-D2BE8DF348A7}" type="pres">
      <dgm:prSet presAssocID="{81CED159-941F-4CB5-86A5-F26B505D4B4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2AA494E-8A08-4D5A-90D8-74BDE8CB8819}" type="pres">
      <dgm:prSet presAssocID="{81CED159-941F-4CB5-86A5-F26B505D4B4D}" presName="childText" presStyleLbl="revTx" presStyleIdx="0" presStyleCnt="3">
        <dgm:presLayoutVars>
          <dgm:bulletEnabled val="1"/>
        </dgm:presLayoutVars>
      </dgm:prSet>
      <dgm:spPr/>
    </dgm:pt>
    <dgm:pt modelId="{8F6BC556-BE1F-483B-A11C-7EC5799A91A7}" type="pres">
      <dgm:prSet presAssocID="{0DAA5A74-22C5-421C-8A31-15EAAF84D8A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8948BE-74CE-4FA8-AECE-59311DB2D34B}" type="pres">
      <dgm:prSet presAssocID="{0DAA5A74-22C5-421C-8A31-15EAAF84D8A1}" presName="childText" presStyleLbl="revTx" presStyleIdx="1" presStyleCnt="3">
        <dgm:presLayoutVars>
          <dgm:bulletEnabled val="1"/>
        </dgm:presLayoutVars>
      </dgm:prSet>
      <dgm:spPr/>
    </dgm:pt>
    <dgm:pt modelId="{B42BE139-741B-4CF4-ADF5-31D2DD247F5F}" type="pres">
      <dgm:prSet presAssocID="{F6B0C65E-3A27-4245-890B-FD135FC4F1F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77013CD-E954-4ECE-9FA7-5BCC405112DE}" type="pres">
      <dgm:prSet presAssocID="{F6B0C65E-3A27-4245-890B-FD135FC4F1F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567E91E-B8FC-4364-8CEA-2AF580599E05}" type="presOf" srcId="{670BC820-E9B7-4256-98F1-F68926288F1D}" destId="{E16F74CA-5ABE-41AD-832C-3260CB261D54}" srcOrd="0" destOrd="0" presId="urn:microsoft.com/office/officeart/2005/8/layout/vList2"/>
    <dgm:cxn modelId="{59D6562E-D4AB-431B-8D8A-E8E4CA6EADD2}" type="presOf" srcId="{81CED159-941F-4CB5-86A5-F26B505D4B4D}" destId="{C749119F-076B-466A-B6A9-D2BE8DF348A7}" srcOrd="0" destOrd="0" presId="urn:microsoft.com/office/officeart/2005/8/layout/vList2"/>
    <dgm:cxn modelId="{D0F9093D-6502-4A4E-8E32-C4EBD0AD5572}" type="presOf" srcId="{9A473946-5D42-497F-8E4C-70C0C106A43B}" destId="{72AA494E-8A08-4D5A-90D8-74BDE8CB8819}" srcOrd="0" destOrd="0" presId="urn:microsoft.com/office/officeart/2005/8/layout/vList2"/>
    <dgm:cxn modelId="{D7FE4173-0075-4768-8AF5-2FF01EB44DB5}" srcId="{0DAA5A74-22C5-421C-8A31-15EAAF84D8A1}" destId="{A00D7FFB-DED0-4D35-BE1A-AB7ED4C18F81}" srcOrd="0" destOrd="0" parTransId="{C52454B8-D43B-4091-AB7C-0D33EC41575C}" sibTransId="{D7174FD0-B838-445C-A6D8-F0A74BFF5DAB}"/>
    <dgm:cxn modelId="{297DB88D-B2A9-4998-B841-27498F1F1D62}" type="presOf" srcId="{F6B0C65E-3A27-4245-890B-FD135FC4F1FE}" destId="{B42BE139-741B-4CF4-ADF5-31D2DD247F5F}" srcOrd="0" destOrd="0" presId="urn:microsoft.com/office/officeart/2005/8/layout/vList2"/>
    <dgm:cxn modelId="{DEA08394-768F-4B80-ABBB-86411960524C}" type="presOf" srcId="{2EFF86D1-93F3-46FD-9FCB-E284F4E77C2A}" destId="{177013CD-E954-4ECE-9FA7-5BCC405112DE}" srcOrd="0" destOrd="0" presId="urn:microsoft.com/office/officeart/2005/8/layout/vList2"/>
    <dgm:cxn modelId="{124DA899-D165-4B8F-80AD-F4F70AF33F7E}" srcId="{670BC820-E9B7-4256-98F1-F68926288F1D}" destId="{F6B0C65E-3A27-4245-890B-FD135FC4F1FE}" srcOrd="2" destOrd="0" parTransId="{FF81647E-9FD8-40D7-B06B-F1C8B178A615}" sibTransId="{41E3FC6F-EE04-4173-8988-B70BE50C4B2B}"/>
    <dgm:cxn modelId="{35F6B09A-B12D-4789-8E27-7323E38F9E54}" type="presOf" srcId="{A00D7FFB-DED0-4D35-BE1A-AB7ED4C18F81}" destId="{D18948BE-74CE-4FA8-AECE-59311DB2D34B}" srcOrd="0" destOrd="0" presId="urn:microsoft.com/office/officeart/2005/8/layout/vList2"/>
    <dgm:cxn modelId="{719DBFC1-71CC-4897-8642-73D47999EEDC}" srcId="{670BC820-E9B7-4256-98F1-F68926288F1D}" destId="{81CED159-941F-4CB5-86A5-F26B505D4B4D}" srcOrd="0" destOrd="0" parTransId="{6461C17C-D003-48EE-859A-3FB47A5A50B3}" sibTransId="{729F2F54-8127-44FB-9C15-D2F172CEA342}"/>
    <dgm:cxn modelId="{1CFCDDC9-4858-436B-81E1-5816A0E66800}" srcId="{670BC820-E9B7-4256-98F1-F68926288F1D}" destId="{0DAA5A74-22C5-421C-8A31-15EAAF84D8A1}" srcOrd="1" destOrd="0" parTransId="{59970E3D-7BB1-4D86-8A43-B2F7D6087382}" sibTransId="{AE70CE9D-FCD7-4F9D-B1B2-EFBA4C2EDB4F}"/>
    <dgm:cxn modelId="{F5166CDA-B8D2-463B-98CA-7B4A660C1C7A}" srcId="{F6B0C65E-3A27-4245-890B-FD135FC4F1FE}" destId="{2EFF86D1-93F3-46FD-9FCB-E284F4E77C2A}" srcOrd="0" destOrd="0" parTransId="{3F683615-7575-42D3-9949-7B86915FB49A}" sibTransId="{F0E5506A-C834-45B1-BDA3-89A271E9587B}"/>
    <dgm:cxn modelId="{3B649EE6-5F7B-4ABD-B721-CD6ACA17A584}" srcId="{81CED159-941F-4CB5-86A5-F26B505D4B4D}" destId="{9A473946-5D42-497F-8E4C-70C0C106A43B}" srcOrd="0" destOrd="0" parTransId="{4CE9C3C6-4A0A-4BBA-9FD1-39D9C1726B09}" sibTransId="{676FAB11-7FFE-425D-BD35-4E5AAA982DE0}"/>
    <dgm:cxn modelId="{E6C6EEFC-5900-424B-91A8-C3A56670CA1F}" type="presOf" srcId="{0DAA5A74-22C5-421C-8A31-15EAAF84D8A1}" destId="{8F6BC556-BE1F-483B-A11C-7EC5799A91A7}" srcOrd="0" destOrd="0" presId="urn:microsoft.com/office/officeart/2005/8/layout/vList2"/>
    <dgm:cxn modelId="{DD7AF875-5EB9-4606-98FA-C173BA71505E}" type="presParOf" srcId="{E16F74CA-5ABE-41AD-832C-3260CB261D54}" destId="{C749119F-076B-466A-B6A9-D2BE8DF348A7}" srcOrd="0" destOrd="0" presId="urn:microsoft.com/office/officeart/2005/8/layout/vList2"/>
    <dgm:cxn modelId="{0A147312-87B0-4EC4-A079-01E52D628694}" type="presParOf" srcId="{E16F74CA-5ABE-41AD-832C-3260CB261D54}" destId="{72AA494E-8A08-4D5A-90D8-74BDE8CB8819}" srcOrd="1" destOrd="0" presId="urn:microsoft.com/office/officeart/2005/8/layout/vList2"/>
    <dgm:cxn modelId="{DEC3BA18-F132-4FE2-839C-AA97B187DD76}" type="presParOf" srcId="{E16F74CA-5ABE-41AD-832C-3260CB261D54}" destId="{8F6BC556-BE1F-483B-A11C-7EC5799A91A7}" srcOrd="2" destOrd="0" presId="urn:microsoft.com/office/officeart/2005/8/layout/vList2"/>
    <dgm:cxn modelId="{9059B1AD-E137-4433-A21B-0EB804773D78}" type="presParOf" srcId="{E16F74CA-5ABE-41AD-832C-3260CB261D54}" destId="{D18948BE-74CE-4FA8-AECE-59311DB2D34B}" srcOrd="3" destOrd="0" presId="urn:microsoft.com/office/officeart/2005/8/layout/vList2"/>
    <dgm:cxn modelId="{0A40C25B-A13E-4384-8404-CB9157CED2F2}" type="presParOf" srcId="{E16F74CA-5ABE-41AD-832C-3260CB261D54}" destId="{B42BE139-741B-4CF4-ADF5-31D2DD247F5F}" srcOrd="4" destOrd="0" presId="urn:microsoft.com/office/officeart/2005/8/layout/vList2"/>
    <dgm:cxn modelId="{FD7F560B-ECA1-4EF4-90D7-0F0B2EAA5477}" type="presParOf" srcId="{E16F74CA-5ABE-41AD-832C-3260CB261D54}" destId="{177013CD-E954-4ECE-9FA7-5BCC405112D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830F2B-F33E-4CDC-A570-A7D2D2B2217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BCAC35A-6F78-46FC-9DCE-F9EE4CA58789}">
      <dgm:prSet phldrT="[文本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状态（</a:t>
          </a:r>
          <a:r>
            <a:rPr lang="en-US" alt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state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zh-CN" altLang="en-US" sz="1800"/>
        </a:p>
      </dgm:t>
    </dgm:pt>
    <dgm:pt modelId="{57239217-D1E5-49BA-8AA0-ED686B9BF0A4}" type="parTrans" cxnId="{FDD71297-0DFD-4E71-9138-0775C24684B2}">
      <dgm:prSet/>
      <dgm:spPr/>
      <dgm:t>
        <a:bodyPr/>
        <a:lstStyle/>
        <a:p>
          <a:endParaRPr lang="zh-CN" altLang="en-US"/>
        </a:p>
      </dgm:t>
    </dgm:pt>
    <dgm:pt modelId="{D1F8C125-6EA0-497A-BE61-A31618A64EAF}" type="sibTrans" cxnId="{FDD71297-0DFD-4E71-9138-0775C24684B2}">
      <dgm:prSet/>
      <dgm:spPr/>
      <dgm:t>
        <a:bodyPr/>
        <a:lstStyle/>
        <a:p>
          <a:endParaRPr lang="zh-CN" altLang="en-US"/>
        </a:p>
      </dgm:t>
    </dgm:pt>
    <dgm:pt modelId="{8C1FDBF0-679F-498F-A4E8-9BA27561A7AE}">
      <dgm:prSet phldrT="[文本]" custT="1"/>
      <dgm:spPr>
        <a:solidFill>
          <a:srgbClr val="E6D1D2"/>
        </a:solidFill>
      </dgm:spPr>
      <dgm:t>
        <a:bodyPr/>
        <a:lstStyle/>
        <a:p>
          <a:r>
            <a:rPr lang="zh-CN" altLang="en-US" sz="1400"/>
            <a:t>对所有变量的一次赋值；</a:t>
          </a:r>
        </a:p>
      </dgm:t>
    </dgm:pt>
    <dgm:pt modelId="{0D8BDDE0-3102-4FBC-82DD-B5A1E0C2EBDB}" type="parTrans" cxnId="{F9057F5E-50C6-4957-BF45-E504AFDA33BD}">
      <dgm:prSet/>
      <dgm:spPr/>
      <dgm:t>
        <a:bodyPr/>
        <a:lstStyle/>
        <a:p>
          <a:endParaRPr lang="zh-CN" altLang="en-US"/>
        </a:p>
      </dgm:t>
    </dgm:pt>
    <dgm:pt modelId="{15BE96B0-3D4A-4BD3-8FFC-2716B122D62F}" type="sibTrans" cxnId="{F9057F5E-50C6-4957-BF45-E504AFDA33BD}">
      <dgm:prSet/>
      <dgm:spPr/>
      <dgm:t>
        <a:bodyPr/>
        <a:lstStyle/>
        <a:p>
          <a:endParaRPr lang="zh-CN" altLang="en-US"/>
        </a:p>
      </dgm:t>
    </dgm:pt>
    <dgm:pt modelId="{63230B82-E111-4FDD-B75A-46EFF4108014}">
      <dgm:prSet phldrT="[文本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步骤（</a:t>
          </a:r>
          <a:r>
            <a:rPr lang="en-US" alt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step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zh-CN" altLang="en-US" sz="1800"/>
        </a:p>
      </dgm:t>
    </dgm:pt>
    <dgm:pt modelId="{912B0126-2411-4A59-8C50-32225BD50E92}" type="parTrans" cxnId="{F74EE988-21C6-4048-9454-62F8CE4EF963}">
      <dgm:prSet/>
      <dgm:spPr/>
      <dgm:t>
        <a:bodyPr/>
        <a:lstStyle/>
        <a:p>
          <a:endParaRPr lang="zh-CN" altLang="en-US"/>
        </a:p>
      </dgm:t>
    </dgm:pt>
    <dgm:pt modelId="{2DACAEF1-CFE7-4441-B325-592DE4F4DBD2}" type="sibTrans" cxnId="{F74EE988-21C6-4048-9454-62F8CE4EF963}">
      <dgm:prSet/>
      <dgm:spPr/>
      <dgm:t>
        <a:bodyPr/>
        <a:lstStyle/>
        <a:p>
          <a:endParaRPr lang="zh-CN" altLang="en-US"/>
        </a:p>
      </dgm:t>
    </dgm:pt>
    <dgm:pt modelId="{DD0D3646-2B06-442A-8199-F5B9CA5D2F33}">
      <dgm:prSet phldrT="[文本]" custT="1"/>
      <dgm:spPr/>
      <dgm:t>
        <a:bodyPr/>
        <a:lstStyle/>
        <a:p>
          <a:r>
            <a:rPr lang="zh-CN" altLang="en-US" sz="1400"/>
            <a:t>一个状态对（</a:t>
          </a:r>
          <a:r>
            <a:rPr lang="en-US" altLang="en-US" sz="1400"/>
            <a:t>s, t</a:t>
          </a:r>
          <a:r>
            <a:rPr lang="zh-CN" altLang="en-US" sz="1400"/>
            <a:t>）；</a:t>
          </a:r>
        </a:p>
      </dgm:t>
    </dgm:pt>
    <dgm:pt modelId="{4F6C2A58-AC23-41C8-9963-8040620782F0}" type="parTrans" cxnId="{BBE27F22-4393-4EFD-B150-DC0956BE9F5D}">
      <dgm:prSet/>
      <dgm:spPr/>
      <dgm:t>
        <a:bodyPr/>
        <a:lstStyle/>
        <a:p>
          <a:endParaRPr lang="zh-CN" altLang="en-US"/>
        </a:p>
      </dgm:t>
    </dgm:pt>
    <dgm:pt modelId="{A61E770C-52E8-4479-BC09-A0FA82114819}" type="sibTrans" cxnId="{BBE27F22-4393-4EFD-B150-DC0956BE9F5D}">
      <dgm:prSet/>
      <dgm:spPr/>
      <dgm:t>
        <a:bodyPr/>
        <a:lstStyle/>
        <a:p>
          <a:endParaRPr lang="zh-CN" altLang="en-US"/>
        </a:p>
      </dgm:t>
    </dgm:pt>
    <dgm:pt modelId="{46D3018C-2A6B-48A9-B638-32F7E597060C}">
      <dgm:prSet phldrT="[文本]"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行为（</a:t>
          </a:r>
          <a:r>
            <a:rPr lang="en-US" altLang="zh-CN" sz="1800">
              <a:latin typeface="微软雅黑" panose="020B0503020204020204" pitchFamily="34" charset="-122"/>
              <a:ea typeface="微软雅黑" panose="020B0503020204020204" pitchFamily="34" charset="-122"/>
            </a:rPr>
            <a:t>behavior</a:t>
          </a:r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zh-CN" altLang="en-US" sz="1800"/>
        </a:p>
      </dgm:t>
    </dgm:pt>
    <dgm:pt modelId="{9F589A74-8E2E-4149-8E2E-2902AF66FFE0}" type="parTrans" cxnId="{6F0E5336-4F53-44DB-933B-40BD18356A9F}">
      <dgm:prSet/>
      <dgm:spPr/>
      <dgm:t>
        <a:bodyPr/>
        <a:lstStyle/>
        <a:p>
          <a:endParaRPr lang="zh-CN" altLang="en-US"/>
        </a:p>
      </dgm:t>
    </dgm:pt>
    <dgm:pt modelId="{44642AE2-7E83-4C24-82C1-B0A4DBC3693C}" type="sibTrans" cxnId="{6F0E5336-4F53-44DB-933B-40BD18356A9F}">
      <dgm:prSet/>
      <dgm:spPr/>
      <dgm:t>
        <a:bodyPr/>
        <a:lstStyle/>
        <a:p>
          <a:endParaRPr lang="zh-CN" altLang="en-US"/>
        </a:p>
      </dgm:t>
    </dgm:pt>
    <dgm:pt modelId="{B246A0E2-B30A-4283-A6DB-526A6846559C}">
      <dgm:prSet phldrT="[文本]" custT="1"/>
      <dgm:spPr/>
      <dgm:t>
        <a:bodyPr/>
        <a:lstStyle/>
        <a:p>
          <a:r>
            <a:rPr lang="zh-CN" altLang="en-US" sz="1400"/>
            <a:t>一个无限的状态序列；</a:t>
          </a:r>
        </a:p>
      </dgm:t>
    </dgm:pt>
    <dgm:pt modelId="{2D93A460-91FD-42EA-92BD-345E1654E836}" type="parTrans" cxnId="{BFA8F6C6-8F42-485C-AF73-FB66D4F8FF9A}">
      <dgm:prSet/>
      <dgm:spPr/>
      <dgm:t>
        <a:bodyPr/>
        <a:lstStyle/>
        <a:p>
          <a:endParaRPr lang="zh-CN" altLang="en-US"/>
        </a:p>
      </dgm:t>
    </dgm:pt>
    <dgm:pt modelId="{F1953D2C-D22E-4EFC-A30C-9A67D2E11D6D}" type="sibTrans" cxnId="{BFA8F6C6-8F42-485C-AF73-FB66D4F8FF9A}">
      <dgm:prSet/>
      <dgm:spPr/>
      <dgm:t>
        <a:bodyPr/>
        <a:lstStyle/>
        <a:p>
          <a:endParaRPr lang="zh-CN" altLang="en-US"/>
        </a:p>
      </dgm:t>
    </dgm:pt>
    <dgm:pt modelId="{F066D7D5-13B5-4802-A823-0DC4CF770257}">
      <dgm:prSet phldrT="[文本]" custT="1"/>
      <dgm:spPr/>
      <dgm:t>
        <a:bodyPr/>
        <a:lstStyle/>
        <a:p>
          <a:r>
            <a:rPr lang="zh-CN" altLang="en-US" sz="1400"/>
            <a:t>每个相邻对都是一个步骤；</a:t>
          </a:r>
        </a:p>
      </dgm:t>
    </dgm:pt>
    <dgm:pt modelId="{CEF738BC-F038-4AE8-9306-34BAC4D50A58}" type="parTrans" cxnId="{46A7A196-C251-4A54-A48D-40B9D32C796B}">
      <dgm:prSet/>
      <dgm:spPr/>
      <dgm:t>
        <a:bodyPr/>
        <a:lstStyle/>
        <a:p>
          <a:endParaRPr lang="zh-CN" altLang="en-US"/>
        </a:p>
      </dgm:t>
    </dgm:pt>
    <dgm:pt modelId="{8774F22B-6E82-4FCF-873E-E14DA126CACB}" type="sibTrans" cxnId="{46A7A196-C251-4A54-A48D-40B9D32C796B}">
      <dgm:prSet/>
      <dgm:spPr/>
      <dgm:t>
        <a:bodyPr/>
        <a:lstStyle/>
        <a:p>
          <a:endParaRPr lang="zh-CN" altLang="en-US"/>
        </a:p>
      </dgm:t>
    </dgm:pt>
    <dgm:pt modelId="{B385865C-3622-4C5B-B4BA-6DC0E434AC19}">
      <dgm:prSet phldrT="[文本]" custT="1"/>
      <dgm:spPr>
        <a:solidFill>
          <a:srgbClr val="E6D1D2"/>
        </a:solidFill>
      </dgm:spPr>
      <dgm:t>
        <a:bodyPr/>
        <a:lstStyle/>
        <a:p>
          <a:r>
            <a:rPr lang="zh-CN" altLang="en-US" sz="1400"/>
            <a:t>单从系统的角度来看，它只能观察到系统本身的变量。</a:t>
          </a:r>
        </a:p>
      </dgm:t>
    </dgm:pt>
    <dgm:pt modelId="{45A1058A-3873-42A9-9047-BED0BDA3D989}" type="parTrans" cxnId="{3A411137-6CBD-4BD3-9478-8B36956B7770}">
      <dgm:prSet/>
      <dgm:spPr/>
      <dgm:t>
        <a:bodyPr/>
        <a:lstStyle/>
        <a:p>
          <a:endParaRPr lang="zh-CN" altLang="en-US"/>
        </a:p>
      </dgm:t>
    </dgm:pt>
    <dgm:pt modelId="{246A8635-10AC-4A5D-97A8-BABCDC55365A}" type="sibTrans" cxnId="{3A411137-6CBD-4BD3-9478-8B36956B7770}">
      <dgm:prSet/>
      <dgm:spPr/>
      <dgm:t>
        <a:bodyPr/>
        <a:lstStyle/>
        <a:p>
          <a:endParaRPr lang="zh-CN" altLang="en-US"/>
        </a:p>
      </dgm:t>
    </dgm:pt>
    <dgm:pt modelId="{6F2D2065-4219-4626-A78E-76F6428C91EA}">
      <dgm:prSet phldrT="[文本]" custT="1"/>
      <dgm:spPr/>
      <dgm:t>
        <a:bodyPr/>
        <a:lstStyle/>
        <a:p>
          <a:r>
            <a:rPr lang="zh-CN" altLang="en-US" sz="1400"/>
            <a:t>满足一种动作（</a:t>
          </a:r>
          <a:r>
            <a:rPr lang="en-US" altLang="en-US" sz="1400"/>
            <a:t>action</a:t>
          </a:r>
          <a:r>
            <a:rPr lang="zh-CN" altLang="en-US" sz="1400"/>
            <a:t>）；</a:t>
          </a:r>
        </a:p>
      </dgm:t>
    </dgm:pt>
    <dgm:pt modelId="{95C1F7A9-ABF9-4829-9503-1FB1B9373CE3}" type="parTrans" cxnId="{BC4DE057-53CB-475F-9DD6-A4902BA54063}">
      <dgm:prSet/>
      <dgm:spPr/>
      <dgm:t>
        <a:bodyPr/>
        <a:lstStyle/>
        <a:p>
          <a:endParaRPr lang="zh-CN" altLang="en-US"/>
        </a:p>
      </dgm:t>
    </dgm:pt>
    <dgm:pt modelId="{90BBA974-5BCC-4F52-93EB-34E52E613C0F}" type="sibTrans" cxnId="{BC4DE057-53CB-475F-9DD6-A4902BA54063}">
      <dgm:prSet/>
      <dgm:spPr/>
      <dgm:t>
        <a:bodyPr/>
        <a:lstStyle/>
        <a:p>
          <a:endParaRPr lang="zh-CN" altLang="en-US"/>
        </a:p>
      </dgm:t>
    </dgm:pt>
    <dgm:pt modelId="{080C5F22-22BE-4D65-BCE5-0989D33C657D}">
      <dgm:prSet phldrT="[文本]" custT="1"/>
      <dgm:spPr>
        <a:solidFill>
          <a:srgbClr val="E6D1D2"/>
        </a:solidFill>
      </dgm:spPr>
      <dgm:t>
        <a:bodyPr/>
        <a:lstStyle/>
        <a:p>
          <a:r>
            <a:rPr lang="zh-CN" altLang="en-US" sz="1400"/>
            <a:t>系统在某一时刻的完整快照；</a:t>
          </a:r>
        </a:p>
      </dgm:t>
    </dgm:pt>
    <dgm:pt modelId="{94ADB3CE-6D61-438D-AFDC-DBACEE5B9BB8}" type="parTrans" cxnId="{CA2C0912-56B0-4136-BCF5-DBE2B7E9CFA7}">
      <dgm:prSet/>
      <dgm:spPr/>
      <dgm:t>
        <a:bodyPr/>
        <a:lstStyle/>
        <a:p>
          <a:endParaRPr lang="zh-CN" altLang="en-US"/>
        </a:p>
      </dgm:t>
    </dgm:pt>
    <dgm:pt modelId="{4AB84B5E-A860-4799-982D-7154CA3E0475}" type="sibTrans" cxnId="{CA2C0912-56B0-4136-BCF5-DBE2B7E9CFA7}">
      <dgm:prSet/>
      <dgm:spPr/>
      <dgm:t>
        <a:bodyPr/>
        <a:lstStyle/>
        <a:p>
          <a:endParaRPr lang="zh-CN" altLang="en-US"/>
        </a:p>
      </dgm:t>
    </dgm:pt>
    <dgm:pt modelId="{63D0D575-A1E7-4751-B3F5-52007D0B36ED}">
      <dgm:prSet phldrT="[文本]" custT="1"/>
      <dgm:spPr/>
      <dgm:t>
        <a:bodyPr/>
        <a:lstStyle/>
        <a:p>
          <a:r>
            <a:rPr lang="zh-CN" altLang="en-US" sz="1400"/>
            <a:t>描述系统如何从一个状态变迁到另一个状态，捕捉系统的动态行为。</a:t>
          </a:r>
        </a:p>
      </dgm:t>
    </dgm:pt>
    <dgm:pt modelId="{0159AF35-BFA1-4EC0-A7AD-68A94AA966E1}" type="parTrans" cxnId="{E44F379A-0D8A-4015-9699-DE830270A372}">
      <dgm:prSet/>
      <dgm:spPr/>
      <dgm:t>
        <a:bodyPr/>
        <a:lstStyle/>
        <a:p>
          <a:endParaRPr lang="zh-CN" altLang="en-US"/>
        </a:p>
      </dgm:t>
    </dgm:pt>
    <dgm:pt modelId="{75C37CF6-06AF-44E2-A711-D94B6E79FE0D}" type="sibTrans" cxnId="{E44F379A-0D8A-4015-9699-DE830270A372}">
      <dgm:prSet/>
      <dgm:spPr/>
      <dgm:t>
        <a:bodyPr/>
        <a:lstStyle/>
        <a:p>
          <a:endParaRPr lang="zh-CN" altLang="en-US"/>
        </a:p>
      </dgm:t>
    </dgm:pt>
    <dgm:pt modelId="{9BA520BD-7242-4E60-AD37-BA63BF2C0AC3}">
      <dgm:prSet phldrT="[文本]" custT="1"/>
      <dgm:spPr/>
      <dgm:t>
        <a:bodyPr/>
        <a:lstStyle/>
        <a:p>
          <a:r>
            <a:rPr lang="zh-CN" altLang="en-US" sz="1400"/>
            <a:t>系统终止时，后续状态重复不变；运行时，状态持续变迁。</a:t>
          </a:r>
        </a:p>
      </dgm:t>
    </dgm:pt>
    <dgm:pt modelId="{EDD3138B-7491-41E7-BE9C-8A0762FE2701}" type="parTrans" cxnId="{73AEBE0D-7D5C-479E-A485-E38838747431}">
      <dgm:prSet/>
      <dgm:spPr/>
      <dgm:t>
        <a:bodyPr/>
        <a:lstStyle/>
        <a:p>
          <a:endParaRPr lang="zh-CN" altLang="en-US"/>
        </a:p>
      </dgm:t>
    </dgm:pt>
    <dgm:pt modelId="{5C46A079-CFFC-4525-998B-9FA0E48AAD8E}" type="sibTrans" cxnId="{73AEBE0D-7D5C-479E-A485-E38838747431}">
      <dgm:prSet/>
      <dgm:spPr/>
      <dgm:t>
        <a:bodyPr/>
        <a:lstStyle/>
        <a:p>
          <a:endParaRPr lang="zh-CN" altLang="en-US"/>
        </a:p>
      </dgm:t>
    </dgm:pt>
    <dgm:pt modelId="{41B6EC60-A10D-4AA8-8F1C-D18882477EDD}">
      <dgm:prSet phldrT="[文本]" custT="1"/>
      <dgm:spPr/>
      <dgm:t>
        <a:bodyPr/>
        <a:lstStyle/>
        <a:p>
          <a:r>
            <a:rPr lang="zh-CN" altLang="en-US" sz="1400"/>
            <a:t>代表了系统的完整执行轨迹，</a:t>
          </a:r>
        </a:p>
      </dgm:t>
    </dgm:pt>
    <dgm:pt modelId="{BB7ABEA3-856D-4679-9746-4A2CB02C1C66}" type="parTrans" cxnId="{6E045C0E-B271-43F3-BA10-7FD3823A08BC}">
      <dgm:prSet/>
      <dgm:spPr/>
      <dgm:t>
        <a:bodyPr/>
        <a:lstStyle/>
        <a:p>
          <a:endParaRPr lang="zh-CN" altLang="en-US"/>
        </a:p>
      </dgm:t>
    </dgm:pt>
    <dgm:pt modelId="{08E13FF0-1C40-45CC-A2DD-F9F7E42B6E28}" type="sibTrans" cxnId="{6E045C0E-B271-43F3-BA10-7FD3823A08BC}">
      <dgm:prSet/>
      <dgm:spPr/>
      <dgm:t>
        <a:bodyPr/>
        <a:lstStyle/>
        <a:p>
          <a:endParaRPr lang="zh-CN" altLang="en-US"/>
        </a:p>
      </dgm:t>
    </dgm:pt>
    <dgm:pt modelId="{FB6070F9-9A5C-4079-A515-BBEF1AFC148E}" type="pres">
      <dgm:prSet presAssocID="{8A830F2B-F33E-4CDC-A570-A7D2D2B22176}" presName="Name0" presStyleCnt="0">
        <dgm:presLayoutVars>
          <dgm:dir/>
          <dgm:animLvl val="lvl"/>
          <dgm:resizeHandles val="exact"/>
        </dgm:presLayoutVars>
      </dgm:prSet>
      <dgm:spPr/>
    </dgm:pt>
    <dgm:pt modelId="{A01FA6DB-5A8D-482A-9427-AE73BEFA4447}" type="pres">
      <dgm:prSet presAssocID="{DBCAC35A-6F78-46FC-9DCE-F9EE4CA58789}" presName="linNode" presStyleCnt="0"/>
      <dgm:spPr/>
    </dgm:pt>
    <dgm:pt modelId="{64B96285-E7D5-4349-B24D-ED3DC8170068}" type="pres">
      <dgm:prSet presAssocID="{DBCAC35A-6F78-46FC-9DCE-F9EE4CA58789}" presName="parentText" presStyleLbl="node1" presStyleIdx="0" presStyleCnt="3" custScaleX="72831" custScaleY="57344">
        <dgm:presLayoutVars>
          <dgm:chMax val="1"/>
          <dgm:bulletEnabled val="1"/>
        </dgm:presLayoutVars>
      </dgm:prSet>
      <dgm:spPr/>
    </dgm:pt>
    <dgm:pt modelId="{047F83F2-6E1B-40B3-9D28-02D8D0C6B259}" type="pres">
      <dgm:prSet presAssocID="{DBCAC35A-6F78-46FC-9DCE-F9EE4CA58789}" presName="descendantText" presStyleLbl="alignAccFollowNode1" presStyleIdx="0" presStyleCnt="3">
        <dgm:presLayoutVars>
          <dgm:bulletEnabled val="1"/>
        </dgm:presLayoutVars>
      </dgm:prSet>
      <dgm:spPr/>
    </dgm:pt>
    <dgm:pt modelId="{7A718219-B935-4067-988B-809B36565F58}" type="pres">
      <dgm:prSet presAssocID="{D1F8C125-6EA0-497A-BE61-A31618A64EAF}" presName="sp" presStyleCnt="0"/>
      <dgm:spPr/>
    </dgm:pt>
    <dgm:pt modelId="{2E3CBF05-6EEA-4546-9583-35980FF816AB}" type="pres">
      <dgm:prSet presAssocID="{63230B82-E111-4FDD-B75A-46EFF4108014}" presName="linNode" presStyleCnt="0"/>
      <dgm:spPr/>
    </dgm:pt>
    <dgm:pt modelId="{6155B7B3-4663-4665-827C-D73EC973C59C}" type="pres">
      <dgm:prSet presAssocID="{63230B82-E111-4FDD-B75A-46EFF4108014}" presName="parentText" presStyleLbl="node1" presStyleIdx="1" presStyleCnt="3" custScaleX="72173" custScaleY="55972">
        <dgm:presLayoutVars>
          <dgm:chMax val="1"/>
          <dgm:bulletEnabled val="1"/>
        </dgm:presLayoutVars>
      </dgm:prSet>
      <dgm:spPr/>
    </dgm:pt>
    <dgm:pt modelId="{015A9A32-C736-4789-A006-C687678B22D0}" type="pres">
      <dgm:prSet presAssocID="{63230B82-E111-4FDD-B75A-46EFF4108014}" presName="descendantText" presStyleLbl="alignAccFollowNode1" presStyleIdx="1" presStyleCnt="3">
        <dgm:presLayoutVars>
          <dgm:bulletEnabled val="1"/>
        </dgm:presLayoutVars>
      </dgm:prSet>
      <dgm:spPr/>
    </dgm:pt>
    <dgm:pt modelId="{2EF4A601-680E-4B0B-9A5C-FAE2D5E55753}" type="pres">
      <dgm:prSet presAssocID="{2DACAEF1-CFE7-4441-B325-592DE4F4DBD2}" presName="sp" presStyleCnt="0"/>
      <dgm:spPr/>
    </dgm:pt>
    <dgm:pt modelId="{2FADAD58-D118-473B-A816-5A546E3FE0D3}" type="pres">
      <dgm:prSet presAssocID="{46D3018C-2A6B-48A9-B638-32F7E597060C}" presName="linNode" presStyleCnt="0"/>
      <dgm:spPr/>
    </dgm:pt>
    <dgm:pt modelId="{0D220D4D-617A-4156-B80B-C17232237882}" type="pres">
      <dgm:prSet presAssocID="{46D3018C-2A6B-48A9-B638-32F7E597060C}" presName="parentText" presStyleLbl="node1" presStyleIdx="2" presStyleCnt="3" custScaleX="72502" custScaleY="62877">
        <dgm:presLayoutVars>
          <dgm:chMax val="1"/>
          <dgm:bulletEnabled val="1"/>
        </dgm:presLayoutVars>
      </dgm:prSet>
      <dgm:spPr/>
    </dgm:pt>
    <dgm:pt modelId="{9DACD7A6-E722-40EF-9E26-55C7D8BA8E0A}" type="pres">
      <dgm:prSet presAssocID="{46D3018C-2A6B-48A9-B638-32F7E597060C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73AEBE0D-7D5C-479E-A485-E38838747431}" srcId="{46D3018C-2A6B-48A9-B638-32F7E597060C}" destId="{9BA520BD-7242-4E60-AD37-BA63BF2C0AC3}" srcOrd="2" destOrd="0" parTransId="{EDD3138B-7491-41E7-BE9C-8A0762FE2701}" sibTransId="{5C46A079-CFFC-4525-998B-9FA0E48AAD8E}"/>
    <dgm:cxn modelId="{6E045C0E-B271-43F3-BA10-7FD3823A08BC}" srcId="{46D3018C-2A6B-48A9-B638-32F7E597060C}" destId="{41B6EC60-A10D-4AA8-8F1C-D18882477EDD}" srcOrd="3" destOrd="0" parTransId="{BB7ABEA3-856D-4679-9746-4A2CB02C1C66}" sibTransId="{08E13FF0-1C40-45CC-A2DD-F9F7E42B6E28}"/>
    <dgm:cxn modelId="{12B5D111-2AAD-4205-A584-866584FF1B8E}" type="presOf" srcId="{41B6EC60-A10D-4AA8-8F1C-D18882477EDD}" destId="{9DACD7A6-E722-40EF-9E26-55C7D8BA8E0A}" srcOrd="0" destOrd="3" presId="urn:microsoft.com/office/officeart/2005/8/layout/vList5"/>
    <dgm:cxn modelId="{CA2C0912-56B0-4136-BCF5-DBE2B7E9CFA7}" srcId="{DBCAC35A-6F78-46FC-9DCE-F9EE4CA58789}" destId="{080C5F22-22BE-4D65-BCE5-0989D33C657D}" srcOrd="1" destOrd="0" parTransId="{94ADB3CE-6D61-438D-AFDC-DBACEE5B9BB8}" sibTransId="{4AB84B5E-A860-4799-982D-7154CA3E0475}"/>
    <dgm:cxn modelId="{6AA69A14-631D-481E-972B-7FC05CD3848D}" type="presOf" srcId="{63230B82-E111-4FDD-B75A-46EFF4108014}" destId="{6155B7B3-4663-4665-827C-D73EC973C59C}" srcOrd="0" destOrd="0" presId="urn:microsoft.com/office/officeart/2005/8/layout/vList5"/>
    <dgm:cxn modelId="{BBE27F22-4393-4EFD-B150-DC0956BE9F5D}" srcId="{63230B82-E111-4FDD-B75A-46EFF4108014}" destId="{DD0D3646-2B06-442A-8199-F5B9CA5D2F33}" srcOrd="0" destOrd="0" parTransId="{4F6C2A58-AC23-41C8-9963-8040620782F0}" sibTransId="{A61E770C-52E8-4479-BC09-A0FA82114819}"/>
    <dgm:cxn modelId="{75913823-136A-4BD4-B4BA-71957AB07B09}" type="presOf" srcId="{8A830F2B-F33E-4CDC-A570-A7D2D2B22176}" destId="{FB6070F9-9A5C-4079-A515-BBEF1AFC148E}" srcOrd="0" destOrd="0" presId="urn:microsoft.com/office/officeart/2005/8/layout/vList5"/>
    <dgm:cxn modelId="{365ADD2C-742D-4684-B902-4A5BCB88EB7E}" type="presOf" srcId="{080C5F22-22BE-4D65-BCE5-0989D33C657D}" destId="{047F83F2-6E1B-40B3-9D28-02D8D0C6B259}" srcOrd="0" destOrd="1" presId="urn:microsoft.com/office/officeart/2005/8/layout/vList5"/>
    <dgm:cxn modelId="{8096EE31-3050-408F-9614-9012E9C17593}" type="presOf" srcId="{6F2D2065-4219-4626-A78E-76F6428C91EA}" destId="{015A9A32-C736-4789-A006-C687678B22D0}" srcOrd="0" destOrd="1" presId="urn:microsoft.com/office/officeart/2005/8/layout/vList5"/>
    <dgm:cxn modelId="{6F0E5336-4F53-44DB-933B-40BD18356A9F}" srcId="{8A830F2B-F33E-4CDC-A570-A7D2D2B22176}" destId="{46D3018C-2A6B-48A9-B638-32F7E597060C}" srcOrd="2" destOrd="0" parTransId="{9F589A74-8E2E-4149-8E2E-2902AF66FFE0}" sibTransId="{44642AE2-7E83-4C24-82C1-B0A4DBC3693C}"/>
    <dgm:cxn modelId="{3A411137-6CBD-4BD3-9478-8B36956B7770}" srcId="{DBCAC35A-6F78-46FC-9DCE-F9EE4CA58789}" destId="{B385865C-3622-4C5B-B4BA-6DC0E434AC19}" srcOrd="2" destOrd="0" parTransId="{45A1058A-3873-42A9-9047-BED0BDA3D989}" sibTransId="{246A8635-10AC-4A5D-97A8-BABCDC55365A}"/>
    <dgm:cxn modelId="{F9057F5E-50C6-4957-BF45-E504AFDA33BD}" srcId="{DBCAC35A-6F78-46FC-9DCE-F9EE4CA58789}" destId="{8C1FDBF0-679F-498F-A4E8-9BA27561A7AE}" srcOrd="0" destOrd="0" parTransId="{0D8BDDE0-3102-4FBC-82DD-B5A1E0C2EBDB}" sibTransId="{15BE96B0-3D4A-4BD3-8FFC-2716B122D62F}"/>
    <dgm:cxn modelId="{8E05AE64-9362-4ABC-BF5A-3CA817B26A82}" type="presOf" srcId="{F066D7D5-13B5-4802-A823-0DC4CF770257}" destId="{9DACD7A6-E722-40EF-9E26-55C7D8BA8E0A}" srcOrd="0" destOrd="1" presId="urn:microsoft.com/office/officeart/2005/8/layout/vList5"/>
    <dgm:cxn modelId="{078AD56C-5F08-4D0F-9AB6-B56E41E52E25}" type="presOf" srcId="{46D3018C-2A6B-48A9-B638-32F7E597060C}" destId="{0D220D4D-617A-4156-B80B-C17232237882}" srcOrd="0" destOrd="0" presId="urn:microsoft.com/office/officeart/2005/8/layout/vList5"/>
    <dgm:cxn modelId="{BC4DE057-53CB-475F-9DD6-A4902BA54063}" srcId="{63230B82-E111-4FDD-B75A-46EFF4108014}" destId="{6F2D2065-4219-4626-A78E-76F6428C91EA}" srcOrd="1" destOrd="0" parTransId="{95C1F7A9-ABF9-4829-9503-1FB1B9373CE3}" sibTransId="{90BBA974-5BCC-4F52-93EB-34E52E613C0F}"/>
    <dgm:cxn modelId="{F74EE988-21C6-4048-9454-62F8CE4EF963}" srcId="{8A830F2B-F33E-4CDC-A570-A7D2D2B22176}" destId="{63230B82-E111-4FDD-B75A-46EFF4108014}" srcOrd="1" destOrd="0" parTransId="{912B0126-2411-4A59-8C50-32225BD50E92}" sibTransId="{2DACAEF1-CFE7-4441-B325-592DE4F4DBD2}"/>
    <dgm:cxn modelId="{6C991095-F819-468A-964F-6BF3C0E9C1A3}" type="presOf" srcId="{B246A0E2-B30A-4283-A6DB-526A6846559C}" destId="{9DACD7A6-E722-40EF-9E26-55C7D8BA8E0A}" srcOrd="0" destOrd="0" presId="urn:microsoft.com/office/officeart/2005/8/layout/vList5"/>
    <dgm:cxn modelId="{46A7A196-C251-4A54-A48D-40B9D32C796B}" srcId="{46D3018C-2A6B-48A9-B638-32F7E597060C}" destId="{F066D7D5-13B5-4802-A823-0DC4CF770257}" srcOrd="1" destOrd="0" parTransId="{CEF738BC-F038-4AE8-9306-34BAC4D50A58}" sibTransId="{8774F22B-6E82-4FCF-873E-E14DA126CACB}"/>
    <dgm:cxn modelId="{FDD71297-0DFD-4E71-9138-0775C24684B2}" srcId="{8A830F2B-F33E-4CDC-A570-A7D2D2B22176}" destId="{DBCAC35A-6F78-46FC-9DCE-F9EE4CA58789}" srcOrd="0" destOrd="0" parTransId="{57239217-D1E5-49BA-8AA0-ED686B9BF0A4}" sibTransId="{D1F8C125-6EA0-497A-BE61-A31618A64EAF}"/>
    <dgm:cxn modelId="{E44F379A-0D8A-4015-9699-DE830270A372}" srcId="{63230B82-E111-4FDD-B75A-46EFF4108014}" destId="{63D0D575-A1E7-4751-B3F5-52007D0B36ED}" srcOrd="2" destOrd="0" parTransId="{0159AF35-BFA1-4EC0-A7AD-68A94AA966E1}" sibTransId="{75C37CF6-06AF-44E2-A711-D94B6E79FE0D}"/>
    <dgm:cxn modelId="{83356CA6-4FBA-4494-9A00-3A096D0D1E1B}" type="presOf" srcId="{DBCAC35A-6F78-46FC-9DCE-F9EE4CA58789}" destId="{64B96285-E7D5-4349-B24D-ED3DC8170068}" srcOrd="0" destOrd="0" presId="urn:microsoft.com/office/officeart/2005/8/layout/vList5"/>
    <dgm:cxn modelId="{8F4DA7BB-EB07-4B71-A9FD-199434E7F8E1}" type="presOf" srcId="{9BA520BD-7242-4E60-AD37-BA63BF2C0AC3}" destId="{9DACD7A6-E722-40EF-9E26-55C7D8BA8E0A}" srcOrd="0" destOrd="2" presId="urn:microsoft.com/office/officeart/2005/8/layout/vList5"/>
    <dgm:cxn modelId="{BFA8F6C6-8F42-485C-AF73-FB66D4F8FF9A}" srcId="{46D3018C-2A6B-48A9-B638-32F7E597060C}" destId="{B246A0E2-B30A-4283-A6DB-526A6846559C}" srcOrd="0" destOrd="0" parTransId="{2D93A460-91FD-42EA-92BD-345E1654E836}" sibTransId="{F1953D2C-D22E-4EFC-A30C-9A67D2E11D6D}"/>
    <dgm:cxn modelId="{1976EBD7-F7D8-4CB7-8D3B-3685E60F1465}" type="presOf" srcId="{8C1FDBF0-679F-498F-A4E8-9BA27561A7AE}" destId="{047F83F2-6E1B-40B3-9D28-02D8D0C6B259}" srcOrd="0" destOrd="0" presId="urn:microsoft.com/office/officeart/2005/8/layout/vList5"/>
    <dgm:cxn modelId="{50811FDD-BB5A-491D-821D-4F866A12B289}" type="presOf" srcId="{63D0D575-A1E7-4751-B3F5-52007D0B36ED}" destId="{015A9A32-C736-4789-A006-C687678B22D0}" srcOrd="0" destOrd="2" presId="urn:microsoft.com/office/officeart/2005/8/layout/vList5"/>
    <dgm:cxn modelId="{814D26E6-6A68-4C66-9E3F-307D1EC37FE5}" type="presOf" srcId="{B385865C-3622-4C5B-B4BA-6DC0E434AC19}" destId="{047F83F2-6E1B-40B3-9D28-02D8D0C6B259}" srcOrd="0" destOrd="2" presId="urn:microsoft.com/office/officeart/2005/8/layout/vList5"/>
    <dgm:cxn modelId="{DDDF03F7-FB3F-465D-AFF5-EF831464ADB1}" type="presOf" srcId="{DD0D3646-2B06-442A-8199-F5B9CA5D2F33}" destId="{015A9A32-C736-4789-A006-C687678B22D0}" srcOrd="0" destOrd="0" presId="urn:microsoft.com/office/officeart/2005/8/layout/vList5"/>
    <dgm:cxn modelId="{7B718F1C-C2A0-465B-8D0D-74C742684E3C}" type="presParOf" srcId="{FB6070F9-9A5C-4079-A515-BBEF1AFC148E}" destId="{A01FA6DB-5A8D-482A-9427-AE73BEFA4447}" srcOrd="0" destOrd="0" presId="urn:microsoft.com/office/officeart/2005/8/layout/vList5"/>
    <dgm:cxn modelId="{26198557-12CE-42E7-9BD0-333F4497C08D}" type="presParOf" srcId="{A01FA6DB-5A8D-482A-9427-AE73BEFA4447}" destId="{64B96285-E7D5-4349-B24D-ED3DC8170068}" srcOrd="0" destOrd="0" presId="urn:microsoft.com/office/officeart/2005/8/layout/vList5"/>
    <dgm:cxn modelId="{86C18735-96E7-4CF7-A0D0-61BBBFC8272C}" type="presParOf" srcId="{A01FA6DB-5A8D-482A-9427-AE73BEFA4447}" destId="{047F83F2-6E1B-40B3-9D28-02D8D0C6B259}" srcOrd="1" destOrd="0" presId="urn:microsoft.com/office/officeart/2005/8/layout/vList5"/>
    <dgm:cxn modelId="{20D9E5BD-5BEC-4345-9CBA-AB72681E2303}" type="presParOf" srcId="{FB6070F9-9A5C-4079-A515-BBEF1AFC148E}" destId="{7A718219-B935-4067-988B-809B36565F58}" srcOrd="1" destOrd="0" presId="urn:microsoft.com/office/officeart/2005/8/layout/vList5"/>
    <dgm:cxn modelId="{F4E75B86-DCB3-426E-B294-195F2F8982AA}" type="presParOf" srcId="{FB6070F9-9A5C-4079-A515-BBEF1AFC148E}" destId="{2E3CBF05-6EEA-4546-9583-35980FF816AB}" srcOrd="2" destOrd="0" presId="urn:microsoft.com/office/officeart/2005/8/layout/vList5"/>
    <dgm:cxn modelId="{870D1093-7E53-47B1-9C86-0AC9C645D169}" type="presParOf" srcId="{2E3CBF05-6EEA-4546-9583-35980FF816AB}" destId="{6155B7B3-4663-4665-827C-D73EC973C59C}" srcOrd="0" destOrd="0" presId="urn:microsoft.com/office/officeart/2005/8/layout/vList5"/>
    <dgm:cxn modelId="{FD91C093-7E63-43EF-A6E1-11261E8769B7}" type="presParOf" srcId="{2E3CBF05-6EEA-4546-9583-35980FF816AB}" destId="{015A9A32-C736-4789-A006-C687678B22D0}" srcOrd="1" destOrd="0" presId="urn:microsoft.com/office/officeart/2005/8/layout/vList5"/>
    <dgm:cxn modelId="{CD78FDD8-6920-4293-844D-4580E500F7D7}" type="presParOf" srcId="{FB6070F9-9A5C-4079-A515-BBEF1AFC148E}" destId="{2EF4A601-680E-4B0B-9A5C-FAE2D5E55753}" srcOrd="3" destOrd="0" presId="urn:microsoft.com/office/officeart/2005/8/layout/vList5"/>
    <dgm:cxn modelId="{630C723B-C3CD-4AF1-9265-50E7D8184EB6}" type="presParOf" srcId="{FB6070F9-9A5C-4079-A515-BBEF1AFC148E}" destId="{2FADAD58-D118-473B-A816-5A546E3FE0D3}" srcOrd="4" destOrd="0" presId="urn:microsoft.com/office/officeart/2005/8/layout/vList5"/>
    <dgm:cxn modelId="{D69B306C-D518-4114-9433-42FF5940A73D}" type="presParOf" srcId="{2FADAD58-D118-473B-A816-5A546E3FE0D3}" destId="{0D220D4D-617A-4156-B80B-C17232237882}" srcOrd="0" destOrd="0" presId="urn:microsoft.com/office/officeart/2005/8/layout/vList5"/>
    <dgm:cxn modelId="{F8AF8B00-726A-4939-8D43-1AAC39A18FAF}" type="presParOf" srcId="{2FADAD58-D118-473B-A816-5A546E3FE0D3}" destId="{9DACD7A6-E722-40EF-9E26-55C7D8BA8E0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4E2F3-6C01-4A0E-9002-9002F5BE104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A22A5D4-30D3-4020-B170-0526253D4925}">
      <dgm:prSet phldrT="[文本]" custT="1"/>
      <dgm:spPr/>
      <dgm:t>
        <a:bodyPr/>
        <a:lstStyle/>
        <a:p>
          <a:r>
            <a:rPr lang="zh-CN" altLang="en-US" sz="1600"/>
            <a:t>在动手实现之前清晰、无歧义地定义系统应该做什么；</a:t>
          </a:r>
        </a:p>
      </dgm:t>
    </dgm:pt>
    <dgm:pt modelId="{EB78742D-6F11-487E-917A-D5EA22F56890}" type="parTrans" cxnId="{6AD259AA-0979-451F-8A78-D5533D1C4CD9}">
      <dgm:prSet/>
      <dgm:spPr/>
      <dgm:t>
        <a:bodyPr/>
        <a:lstStyle/>
        <a:p>
          <a:endParaRPr lang="zh-CN" altLang="en-US"/>
        </a:p>
      </dgm:t>
    </dgm:pt>
    <dgm:pt modelId="{9EA6D873-53F8-44AA-8A2F-C18DEECDBC0A}" type="sibTrans" cxnId="{6AD259AA-0979-451F-8A78-D5533D1C4CD9}">
      <dgm:prSet/>
      <dgm:spPr/>
      <dgm:t>
        <a:bodyPr/>
        <a:lstStyle/>
        <a:p>
          <a:endParaRPr lang="zh-CN" altLang="en-US"/>
        </a:p>
      </dgm:t>
    </dgm:pt>
    <dgm:pt modelId="{69DEBA9E-F639-41A1-B126-EB1B21783597}">
      <dgm:prSet phldrT="[文本]" custT="1"/>
      <dgm:spPr/>
      <dgm:t>
        <a:bodyPr/>
        <a:lstStyle/>
        <a:p>
          <a:r>
            <a:rPr lang="zh-CN" altLang="en-US" sz="1800"/>
            <a:t>“蓝图”优于“修补”</a:t>
          </a:r>
        </a:p>
      </dgm:t>
    </dgm:pt>
    <dgm:pt modelId="{2892A16D-097F-4331-B7F2-DF8C2BC5D45F}" type="parTrans" cxnId="{37132653-CA10-4D34-8D78-D8D140345E54}">
      <dgm:prSet/>
      <dgm:spPr/>
      <dgm:t>
        <a:bodyPr/>
        <a:lstStyle/>
        <a:p>
          <a:endParaRPr lang="zh-CN" altLang="en-US"/>
        </a:p>
      </dgm:t>
    </dgm:pt>
    <dgm:pt modelId="{FA501BC6-F4F5-442E-A697-175EB177D547}" type="sibTrans" cxnId="{37132653-CA10-4D34-8D78-D8D140345E54}">
      <dgm:prSet/>
      <dgm:spPr/>
      <dgm:t>
        <a:bodyPr/>
        <a:lstStyle/>
        <a:p>
          <a:endParaRPr lang="zh-CN" altLang="en-US"/>
        </a:p>
      </dgm:t>
    </dgm:pt>
    <dgm:pt modelId="{11ED9B04-7E20-4DC7-AA31-442225AB8E2D}">
      <dgm:prSet phldrT="[文本]" custT="1"/>
      <dgm:spPr/>
      <dgm:t>
        <a:bodyPr/>
        <a:lstStyle/>
        <a:p>
          <a:r>
            <a:rPr lang="zh-CN" altLang="en-US" sz="1600"/>
            <a:t>修复设计成本远低于代码完成</a:t>
          </a:r>
          <a:r>
            <a:rPr lang="en-US" altLang="zh-CN" sz="1600"/>
            <a:t>/</a:t>
          </a:r>
          <a:r>
            <a:rPr lang="zh-CN" altLang="en-US" sz="1600"/>
            <a:t>上线后；</a:t>
          </a:r>
        </a:p>
      </dgm:t>
    </dgm:pt>
    <dgm:pt modelId="{28978D8B-E837-4686-9510-1176C0259FC1}" type="parTrans" cxnId="{F00CD09F-4B24-4614-8AFF-78E1A62B5D8F}">
      <dgm:prSet/>
      <dgm:spPr/>
      <dgm:t>
        <a:bodyPr/>
        <a:lstStyle/>
        <a:p>
          <a:endParaRPr lang="zh-CN" altLang="en-US"/>
        </a:p>
      </dgm:t>
    </dgm:pt>
    <dgm:pt modelId="{AFE2D9BC-2471-4DCC-8A90-E6DCB007A7CD}" type="sibTrans" cxnId="{F00CD09F-4B24-4614-8AFF-78E1A62B5D8F}">
      <dgm:prSet/>
      <dgm:spPr/>
      <dgm:t>
        <a:bodyPr/>
        <a:lstStyle/>
        <a:p>
          <a:endParaRPr lang="zh-CN" altLang="en-US"/>
        </a:p>
      </dgm:t>
    </dgm:pt>
    <dgm:pt modelId="{11D85EF1-6A06-4B4E-B153-E6A6C3B0AE33}">
      <dgm:prSet phldrT="[文本]" custT="1"/>
      <dgm:spPr/>
      <dgm:t>
        <a:bodyPr/>
        <a:lstStyle/>
        <a:p>
          <a:r>
            <a:rPr lang="zh-CN" altLang="en-US" sz="1800"/>
            <a:t>抽象的力量</a:t>
          </a:r>
        </a:p>
      </dgm:t>
    </dgm:pt>
    <dgm:pt modelId="{29D2E167-905A-45A3-AE53-EB80EAE67165}" type="parTrans" cxnId="{96EE3BC7-7958-48FA-A688-DDB1A7321A99}">
      <dgm:prSet/>
      <dgm:spPr/>
      <dgm:t>
        <a:bodyPr/>
        <a:lstStyle/>
        <a:p>
          <a:endParaRPr lang="zh-CN" altLang="en-US"/>
        </a:p>
      </dgm:t>
    </dgm:pt>
    <dgm:pt modelId="{90061A44-C232-40E1-9CFA-AC3A876A4542}" type="sibTrans" cxnId="{96EE3BC7-7958-48FA-A688-DDB1A7321A99}">
      <dgm:prSet/>
      <dgm:spPr/>
      <dgm:t>
        <a:bodyPr/>
        <a:lstStyle/>
        <a:p>
          <a:endParaRPr lang="zh-CN" altLang="en-US"/>
        </a:p>
      </dgm:t>
    </dgm:pt>
    <dgm:pt modelId="{75F727A4-7BA3-4161-8B6F-D3A321B8D390}">
      <dgm:prSet phldrT="[文本]" custT="1"/>
      <dgm:spPr/>
      <dgm:t>
        <a:bodyPr/>
        <a:lstStyle/>
        <a:p>
          <a:r>
            <a:rPr lang="zh-CN" altLang="en-US" sz="1800"/>
            <a:t>社区与生态的发展</a:t>
          </a:r>
        </a:p>
      </dgm:t>
    </dgm:pt>
    <dgm:pt modelId="{05C235FD-DD8E-4FDC-B020-440518BB8A3A}" type="parTrans" cxnId="{FCC352DB-D940-45FC-8C38-2022830ACE61}">
      <dgm:prSet/>
      <dgm:spPr/>
      <dgm:t>
        <a:bodyPr/>
        <a:lstStyle/>
        <a:p>
          <a:endParaRPr lang="zh-CN" altLang="en-US"/>
        </a:p>
      </dgm:t>
    </dgm:pt>
    <dgm:pt modelId="{E09D5A32-049E-4866-B2D0-910D133EADE2}" type="sibTrans" cxnId="{FCC352DB-D940-45FC-8C38-2022830ACE61}">
      <dgm:prSet/>
      <dgm:spPr/>
      <dgm:t>
        <a:bodyPr/>
        <a:lstStyle/>
        <a:p>
          <a:endParaRPr lang="zh-CN" altLang="en-US"/>
        </a:p>
      </dgm:t>
    </dgm:pt>
    <dgm:pt modelId="{789BFC02-890F-4D43-A6A1-A610866189AE}">
      <dgm:prSet phldrT="[文本]" custT="1"/>
      <dgm:spPr/>
      <dgm:t>
        <a:bodyPr/>
        <a:lstStyle/>
        <a:p>
          <a:r>
            <a:rPr lang="zh-CN" altLang="en-US" sz="1600"/>
            <a:t>从“试错”到“推演”；</a:t>
          </a:r>
        </a:p>
      </dgm:t>
    </dgm:pt>
    <dgm:pt modelId="{00080F3C-C13C-4E71-A91E-AB29C764A87D}" type="parTrans" cxnId="{5EE6721A-EE9C-426F-99B4-12548141D226}">
      <dgm:prSet/>
      <dgm:spPr/>
      <dgm:t>
        <a:bodyPr/>
        <a:lstStyle/>
        <a:p>
          <a:endParaRPr lang="zh-CN" altLang="en-US"/>
        </a:p>
      </dgm:t>
    </dgm:pt>
    <dgm:pt modelId="{3CF5E5C6-8880-4F1B-BDE8-41CD42B70E3F}" type="sibTrans" cxnId="{5EE6721A-EE9C-426F-99B4-12548141D226}">
      <dgm:prSet/>
      <dgm:spPr/>
      <dgm:t>
        <a:bodyPr/>
        <a:lstStyle/>
        <a:p>
          <a:endParaRPr lang="zh-CN" altLang="en-US"/>
        </a:p>
      </dgm:t>
    </dgm:pt>
    <dgm:pt modelId="{1BD501FD-8764-4E36-84AA-DAED100EE000}">
      <dgm:prSet phldrT="[文本]" custT="1"/>
      <dgm:spPr/>
      <dgm:t>
        <a:bodyPr/>
        <a:lstStyle/>
        <a:p>
          <a:r>
            <a:rPr lang="zh-CN" altLang="en-US" sz="1600"/>
            <a:t>帮助发现需求中的模糊和矛盾之处。</a:t>
          </a:r>
        </a:p>
      </dgm:t>
    </dgm:pt>
    <dgm:pt modelId="{00E67A13-252F-4028-88C9-C5FE4CA07644}" type="parTrans" cxnId="{37A49B2C-AB38-4803-B580-2BF09385E6F3}">
      <dgm:prSet/>
      <dgm:spPr/>
      <dgm:t>
        <a:bodyPr/>
        <a:lstStyle/>
        <a:p>
          <a:endParaRPr lang="zh-CN" altLang="en-US"/>
        </a:p>
      </dgm:t>
    </dgm:pt>
    <dgm:pt modelId="{348C8ABF-59AA-4499-8679-C734C6B18D2E}" type="sibTrans" cxnId="{37A49B2C-AB38-4803-B580-2BF09385E6F3}">
      <dgm:prSet/>
      <dgm:spPr/>
      <dgm:t>
        <a:bodyPr/>
        <a:lstStyle/>
        <a:p>
          <a:endParaRPr lang="zh-CN" altLang="en-US"/>
        </a:p>
      </dgm:t>
    </dgm:pt>
    <dgm:pt modelId="{EF96094D-E712-46C2-ADBA-F74B8C00EFC7}">
      <dgm:prSet phldrT="[文本]" custT="1"/>
      <dgm:spPr/>
      <dgm:t>
        <a:bodyPr/>
        <a:lstStyle/>
        <a:p>
          <a:r>
            <a:rPr lang="zh-CN" altLang="en-US" sz="1600"/>
            <a:t>蓝图阶段进行“应力测试”，进行前置验证；</a:t>
          </a:r>
        </a:p>
      </dgm:t>
    </dgm:pt>
    <dgm:pt modelId="{2637B661-9824-4FAD-B8E8-E34FF2091D02}" type="parTrans" cxnId="{42EC734B-98CF-4B7E-AC01-38468BEC5553}">
      <dgm:prSet/>
      <dgm:spPr/>
      <dgm:t>
        <a:bodyPr/>
        <a:lstStyle/>
        <a:p>
          <a:endParaRPr lang="zh-CN" altLang="en-US"/>
        </a:p>
      </dgm:t>
    </dgm:pt>
    <dgm:pt modelId="{FC406DEE-647C-4760-8492-AA4AE96E786E}" type="sibTrans" cxnId="{42EC734B-98CF-4B7E-AC01-38468BEC5553}">
      <dgm:prSet/>
      <dgm:spPr/>
      <dgm:t>
        <a:bodyPr/>
        <a:lstStyle/>
        <a:p>
          <a:endParaRPr lang="zh-CN" altLang="en-US"/>
        </a:p>
      </dgm:t>
    </dgm:pt>
    <dgm:pt modelId="{5B1AF4A0-C550-4741-8313-6B3ACD938141}">
      <dgm:prSet phldrT="[文本]" custT="1"/>
      <dgm:spPr/>
      <dgm:t>
        <a:bodyPr/>
        <a:lstStyle/>
        <a:p>
          <a:r>
            <a:rPr lang="zh-CN" altLang="en-US" sz="1600"/>
            <a:t>节省大量后期返工和故障修复成本。</a:t>
          </a:r>
        </a:p>
      </dgm:t>
    </dgm:pt>
    <dgm:pt modelId="{47A61DDB-030C-485E-8DD5-1C5EDB23D4DE}" type="parTrans" cxnId="{6F85359D-05FC-4B20-935D-19E335F37DD5}">
      <dgm:prSet/>
      <dgm:spPr/>
      <dgm:t>
        <a:bodyPr/>
        <a:lstStyle/>
        <a:p>
          <a:endParaRPr lang="zh-CN" altLang="en-US"/>
        </a:p>
      </dgm:t>
    </dgm:pt>
    <dgm:pt modelId="{52B0087A-3E95-4E7E-A451-4C219BE0D690}" type="sibTrans" cxnId="{6F85359D-05FC-4B20-935D-19E335F37DD5}">
      <dgm:prSet/>
      <dgm:spPr/>
      <dgm:t>
        <a:bodyPr/>
        <a:lstStyle/>
        <a:p>
          <a:endParaRPr lang="zh-CN" altLang="en-US"/>
        </a:p>
      </dgm:t>
    </dgm:pt>
    <dgm:pt modelId="{85ED9B11-DCE5-40F3-88D3-22CD93A7D5D5}">
      <dgm:prSet custT="1"/>
      <dgm:spPr/>
      <dgm:t>
        <a:bodyPr/>
        <a:lstStyle/>
        <a:p>
          <a:r>
            <a:rPr lang="zh-CN" altLang="en-US" sz="1600"/>
            <a:t>可以忽略网络传输、</a:t>
          </a:r>
          <a:r>
            <a:rPr lang="en-US" altLang="en-US" sz="1600"/>
            <a:t>IO</a:t>
          </a:r>
          <a:r>
            <a:rPr lang="zh-CN" altLang="en-US" sz="1600"/>
            <a:t>延迟等底层细节；</a:t>
          </a:r>
        </a:p>
      </dgm:t>
    </dgm:pt>
    <dgm:pt modelId="{5E5A69FA-8D48-4991-A53A-2C8F1D68266D}" type="parTrans" cxnId="{095EAF4A-BF1C-4F0E-B6A3-B69E460C4638}">
      <dgm:prSet/>
      <dgm:spPr/>
      <dgm:t>
        <a:bodyPr/>
        <a:lstStyle/>
        <a:p>
          <a:endParaRPr lang="zh-CN" altLang="en-US"/>
        </a:p>
      </dgm:t>
    </dgm:pt>
    <dgm:pt modelId="{17821333-AD50-4CB1-89AE-F1643DB27795}" type="sibTrans" cxnId="{095EAF4A-BF1C-4F0E-B6A3-B69E460C4638}">
      <dgm:prSet/>
      <dgm:spPr/>
      <dgm:t>
        <a:bodyPr/>
        <a:lstStyle/>
        <a:p>
          <a:endParaRPr lang="zh-CN" altLang="en-US"/>
        </a:p>
      </dgm:t>
    </dgm:pt>
    <dgm:pt modelId="{E7E28AD4-9AE6-4C1B-BF44-8F1B871E26D8}">
      <dgm:prSet custT="1"/>
      <dgm:spPr/>
      <dgm:t>
        <a:bodyPr/>
        <a:lstStyle/>
        <a:p>
          <a:r>
            <a:rPr lang="zh-CN" altLang="en-US" sz="1600"/>
            <a:t>专注于系统核心状态和动。</a:t>
          </a:r>
        </a:p>
      </dgm:t>
    </dgm:pt>
    <dgm:pt modelId="{BFA46C16-ACB8-4515-8DD1-1203DD54D3B6}" type="parTrans" cxnId="{F609ED2B-0794-420D-9447-EEBDC939021B}">
      <dgm:prSet/>
      <dgm:spPr/>
      <dgm:t>
        <a:bodyPr/>
        <a:lstStyle/>
        <a:p>
          <a:endParaRPr lang="zh-CN" altLang="en-US"/>
        </a:p>
      </dgm:t>
    </dgm:pt>
    <dgm:pt modelId="{68E23C8A-8A14-432A-8CBA-3583179BB9C8}" type="sibTrans" cxnId="{F609ED2B-0794-420D-9447-EEBDC939021B}">
      <dgm:prSet/>
      <dgm:spPr/>
      <dgm:t>
        <a:bodyPr/>
        <a:lstStyle/>
        <a:p>
          <a:endParaRPr lang="zh-CN" altLang="en-US"/>
        </a:p>
      </dgm:t>
    </dgm:pt>
    <dgm:pt modelId="{F591D16C-7CD1-40B0-ADB8-2AD535CE9E9D}">
      <dgm:prSet phldrT="[文本]" custT="1"/>
      <dgm:spPr/>
      <dgm:t>
        <a:bodyPr/>
        <a:lstStyle/>
        <a:p>
          <a:r>
            <a:rPr lang="en-US" altLang="en-US" sz="1600"/>
            <a:t>2023</a:t>
          </a:r>
          <a:r>
            <a:rPr lang="zh-CN" altLang="en-US" sz="1600"/>
            <a:t>年，</a:t>
          </a:r>
          <a:r>
            <a:rPr lang="en-US" altLang="en-US" sz="1600"/>
            <a:t>TLA+</a:t>
          </a:r>
          <a:r>
            <a:rPr lang="zh-CN" altLang="en-US" sz="1600"/>
            <a:t>基金会成立；</a:t>
          </a:r>
        </a:p>
      </dgm:t>
    </dgm:pt>
    <dgm:pt modelId="{0BDAB40E-692A-4D00-AF59-DA6821043A09}" type="parTrans" cxnId="{A02EC54B-DBC4-40AC-B97F-B98967633AA4}">
      <dgm:prSet/>
      <dgm:spPr/>
      <dgm:t>
        <a:bodyPr/>
        <a:lstStyle/>
        <a:p>
          <a:endParaRPr lang="zh-CN" altLang="en-US"/>
        </a:p>
      </dgm:t>
    </dgm:pt>
    <dgm:pt modelId="{3D8B29E1-9983-4616-9A2C-C843E03E66EF}" type="sibTrans" cxnId="{A02EC54B-DBC4-40AC-B97F-B98967633AA4}">
      <dgm:prSet/>
      <dgm:spPr/>
      <dgm:t>
        <a:bodyPr/>
        <a:lstStyle/>
        <a:p>
          <a:endParaRPr lang="zh-CN" altLang="en-US"/>
        </a:p>
      </dgm:t>
    </dgm:pt>
    <dgm:pt modelId="{EF59518B-081C-4AC9-8ACD-0E758F94D92F}">
      <dgm:prSet phldrT="[文本]" custT="1"/>
      <dgm:spPr/>
      <dgm:t>
        <a:bodyPr/>
        <a:lstStyle/>
        <a:p>
          <a:r>
            <a:rPr lang="zh-CN" altLang="en-US" sz="1600"/>
            <a:t>从一项个人主导技术演变为拥有工业界支持的开放生态；</a:t>
          </a:r>
        </a:p>
      </dgm:t>
    </dgm:pt>
    <dgm:pt modelId="{B6E3DCFE-2A17-4A88-8200-69976F5543E2}" type="parTrans" cxnId="{F94E5FC6-1253-48C8-80BF-1A8398238E57}">
      <dgm:prSet/>
      <dgm:spPr/>
      <dgm:t>
        <a:bodyPr/>
        <a:lstStyle/>
        <a:p>
          <a:endParaRPr lang="zh-CN" altLang="en-US"/>
        </a:p>
      </dgm:t>
    </dgm:pt>
    <dgm:pt modelId="{D458026C-507A-4C27-800A-EDF8D22AC99C}" type="sibTrans" cxnId="{F94E5FC6-1253-48C8-80BF-1A8398238E57}">
      <dgm:prSet/>
      <dgm:spPr/>
      <dgm:t>
        <a:bodyPr/>
        <a:lstStyle/>
        <a:p>
          <a:endParaRPr lang="zh-CN" altLang="en-US"/>
        </a:p>
      </dgm:t>
    </dgm:pt>
    <dgm:pt modelId="{1BACF817-6309-403D-B1C5-01579AFEFBF2}">
      <dgm:prSet phldrT="[文本]" custT="1"/>
      <dgm:spPr/>
      <dgm:t>
        <a:bodyPr/>
        <a:lstStyle/>
        <a:p>
          <a:r>
            <a:rPr lang="zh-CN" altLang="en-US" sz="1600"/>
            <a:t>其未来的持续发展和广泛应用值得期待。</a:t>
          </a:r>
        </a:p>
      </dgm:t>
    </dgm:pt>
    <dgm:pt modelId="{972476F1-706F-4AF9-8914-988C18C0D110}" type="parTrans" cxnId="{7BB2322A-7D99-4442-A14F-D45760203D1E}">
      <dgm:prSet/>
      <dgm:spPr/>
      <dgm:t>
        <a:bodyPr/>
        <a:lstStyle/>
        <a:p>
          <a:endParaRPr lang="zh-CN" altLang="en-US"/>
        </a:p>
      </dgm:t>
    </dgm:pt>
    <dgm:pt modelId="{B54ED195-C7E3-4EAD-935D-1600EE736012}" type="sibTrans" cxnId="{7BB2322A-7D99-4442-A14F-D45760203D1E}">
      <dgm:prSet/>
      <dgm:spPr/>
      <dgm:t>
        <a:bodyPr/>
        <a:lstStyle/>
        <a:p>
          <a:endParaRPr lang="zh-CN" altLang="en-US"/>
        </a:p>
      </dgm:t>
    </dgm:pt>
    <dgm:pt modelId="{6BE5D3F3-B363-4CF7-AB30-B84794EAE9AA}">
      <dgm:prSet phldrT="[文本]" custT="1"/>
      <dgm:spPr/>
      <dgm:t>
        <a:bodyPr/>
        <a:lstStyle/>
        <a:p>
          <a:r>
            <a:rPr lang="zh-CN" altLang="en-US" sz="1800"/>
            <a:t>思维范式的转变</a:t>
          </a:r>
        </a:p>
      </dgm:t>
    </dgm:pt>
    <dgm:pt modelId="{E4BD80D6-29F1-467F-A164-37E89D110EFC}" type="sibTrans" cxnId="{C58D6384-6FF5-4EA2-87BB-87DD9991CE48}">
      <dgm:prSet/>
      <dgm:spPr/>
      <dgm:t>
        <a:bodyPr/>
        <a:lstStyle/>
        <a:p>
          <a:endParaRPr lang="zh-CN" altLang="en-US"/>
        </a:p>
      </dgm:t>
    </dgm:pt>
    <dgm:pt modelId="{D420FC2A-B9F2-4356-9548-F5157F7209AB}" type="parTrans" cxnId="{C58D6384-6FF5-4EA2-87BB-87DD9991CE48}">
      <dgm:prSet/>
      <dgm:spPr/>
      <dgm:t>
        <a:bodyPr/>
        <a:lstStyle/>
        <a:p>
          <a:endParaRPr lang="zh-CN" altLang="en-US"/>
        </a:p>
      </dgm:t>
    </dgm:pt>
    <dgm:pt modelId="{7DBB56F8-8B21-4CAD-B21D-CE812C56B4E5}" type="pres">
      <dgm:prSet presAssocID="{3DE4E2F3-6C01-4A0E-9002-9002F5BE104B}" presName="Name0" presStyleCnt="0">
        <dgm:presLayoutVars>
          <dgm:dir/>
          <dgm:animLvl val="lvl"/>
          <dgm:resizeHandles val="exact"/>
        </dgm:presLayoutVars>
      </dgm:prSet>
      <dgm:spPr/>
    </dgm:pt>
    <dgm:pt modelId="{9610CB17-2784-4A01-B2EC-423C1AF8ABD2}" type="pres">
      <dgm:prSet presAssocID="{6BE5D3F3-B363-4CF7-AB30-B84794EAE9AA}" presName="linNode" presStyleCnt="0"/>
      <dgm:spPr/>
    </dgm:pt>
    <dgm:pt modelId="{F819F45E-7BA4-439D-AFEB-5D1E3F68B5DF}" type="pres">
      <dgm:prSet presAssocID="{6BE5D3F3-B363-4CF7-AB30-B84794EAE9AA}" presName="parentText" presStyleLbl="node1" presStyleIdx="0" presStyleCnt="4" custScaleX="74215" custScaleY="62051">
        <dgm:presLayoutVars>
          <dgm:chMax val="1"/>
          <dgm:bulletEnabled val="1"/>
        </dgm:presLayoutVars>
      </dgm:prSet>
      <dgm:spPr/>
    </dgm:pt>
    <dgm:pt modelId="{AF38B531-FA8B-4073-95D5-9DAFF379A083}" type="pres">
      <dgm:prSet presAssocID="{6BE5D3F3-B363-4CF7-AB30-B84794EAE9AA}" presName="descendantText" presStyleLbl="alignAccFollowNode1" presStyleIdx="0" presStyleCnt="4">
        <dgm:presLayoutVars>
          <dgm:bulletEnabled val="1"/>
        </dgm:presLayoutVars>
      </dgm:prSet>
      <dgm:spPr/>
    </dgm:pt>
    <dgm:pt modelId="{0249D6DB-0568-40CF-90DC-F7DBCEC904F4}" type="pres">
      <dgm:prSet presAssocID="{E4BD80D6-29F1-467F-A164-37E89D110EFC}" presName="sp" presStyleCnt="0"/>
      <dgm:spPr/>
    </dgm:pt>
    <dgm:pt modelId="{2F415EC6-5950-4014-A764-051D6462C7B4}" type="pres">
      <dgm:prSet presAssocID="{69DEBA9E-F639-41A1-B126-EB1B21783597}" presName="linNode" presStyleCnt="0"/>
      <dgm:spPr/>
    </dgm:pt>
    <dgm:pt modelId="{AA0D7C20-2617-4C65-9231-75718F847C1C}" type="pres">
      <dgm:prSet presAssocID="{69DEBA9E-F639-41A1-B126-EB1B21783597}" presName="parentText" presStyleLbl="node1" presStyleIdx="1" presStyleCnt="4" custScaleX="74344" custScaleY="57276">
        <dgm:presLayoutVars>
          <dgm:chMax val="1"/>
          <dgm:bulletEnabled val="1"/>
        </dgm:presLayoutVars>
      </dgm:prSet>
      <dgm:spPr/>
    </dgm:pt>
    <dgm:pt modelId="{21E5EEA4-F782-4D50-9BB5-0209805FCD6D}" type="pres">
      <dgm:prSet presAssocID="{69DEBA9E-F639-41A1-B126-EB1B21783597}" presName="descendantText" presStyleLbl="alignAccFollowNode1" presStyleIdx="1" presStyleCnt="4">
        <dgm:presLayoutVars>
          <dgm:bulletEnabled val="1"/>
        </dgm:presLayoutVars>
      </dgm:prSet>
      <dgm:spPr/>
    </dgm:pt>
    <dgm:pt modelId="{DFC43CD9-29CF-4FDC-971C-0CE23AB567AE}" type="pres">
      <dgm:prSet presAssocID="{FA501BC6-F4F5-442E-A697-175EB177D547}" presName="sp" presStyleCnt="0"/>
      <dgm:spPr/>
    </dgm:pt>
    <dgm:pt modelId="{075F05F0-49B5-49A9-9094-ACE90182E46E}" type="pres">
      <dgm:prSet presAssocID="{11D85EF1-6A06-4B4E-B153-E6A6C3B0AE33}" presName="linNode" presStyleCnt="0"/>
      <dgm:spPr/>
    </dgm:pt>
    <dgm:pt modelId="{C65DF84F-1866-4FA6-9AF5-EED545063F58}" type="pres">
      <dgm:prSet presAssocID="{11D85EF1-6A06-4B4E-B153-E6A6C3B0AE33}" presName="parentText" presStyleLbl="node1" presStyleIdx="2" presStyleCnt="4" custScaleX="74800" custScaleY="67729">
        <dgm:presLayoutVars>
          <dgm:chMax val="1"/>
          <dgm:bulletEnabled val="1"/>
        </dgm:presLayoutVars>
      </dgm:prSet>
      <dgm:spPr/>
    </dgm:pt>
    <dgm:pt modelId="{A4FDD551-2AED-4736-B3CA-2B69E3468611}" type="pres">
      <dgm:prSet presAssocID="{11D85EF1-6A06-4B4E-B153-E6A6C3B0AE33}" presName="descendantText" presStyleLbl="alignAccFollowNode1" presStyleIdx="2" presStyleCnt="4">
        <dgm:presLayoutVars>
          <dgm:bulletEnabled val="1"/>
        </dgm:presLayoutVars>
      </dgm:prSet>
      <dgm:spPr/>
    </dgm:pt>
    <dgm:pt modelId="{06377402-C8D5-47BE-99BA-ACDACBEC4D75}" type="pres">
      <dgm:prSet presAssocID="{90061A44-C232-40E1-9CFA-AC3A876A4542}" presName="sp" presStyleCnt="0"/>
      <dgm:spPr/>
    </dgm:pt>
    <dgm:pt modelId="{4B22B7F9-D0A6-4B38-836B-8071663F1D70}" type="pres">
      <dgm:prSet presAssocID="{75F727A4-7BA3-4161-8B6F-D3A321B8D390}" presName="linNode" presStyleCnt="0"/>
      <dgm:spPr/>
    </dgm:pt>
    <dgm:pt modelId="{1DE9D994-F548-460E-9883-61E6B6A55C22}" type="pres">
      <dgm:prSet presAssocID="{75F727A4-7BA3-4161-8B6F-D3A321B8D390}" presName="parentText" presStyleLbl="node1" presStyleIdx="3" presStyleCnt="4" custScaleX="75516" custScaleY="63650">
        <dgm:presLayoutVars>
          <dgm:chMax val="1"/>
          <dgm:bulletEnabled val="1"/>
        </dgm:presLayoutVars>
      </dgm:prSet>
      <dgm:spPr/>
    </dgm:pt>
    <dgm:pt modelId="{0ED92D7A-D911-4C79-8E5F-546D95DE61C5}" type="pres">
      <dgm:prSet presAssocID="{75F727A4-7BA3-4161-8B6F-D3A321B8D390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5A99F503-7ED3-4B1E-9AC6-697476312AC8}" type="presOf" srcId="{EF59518B-081C-4AC9-8ACD-0E758F94D92F}" destId="{0ED92D7A-D911-4C79-8E5F-546D95DE61C5}" srcOrd="0" destOrd="1" presId="urn:microsoft.com/office/officeart/2005/8/layout/vList5"/>
    <dgm:cxn modelId="{B913DA05-8127-4B70-9F68-F0C544CE63EC}" type="presOf" srcId="{75F727A4-7BA3-4161-8B6F-D3A321B8D390}" destId="{1DE9D994-F548-460E-9883-61E6B6A55C22}" srcOrd="0" destOrd="0" presId="urn:microsoft.com/office/officeart/2005/8/layout/vList5"/>
    <dgm:cxn modelId="{5EE6721A-EE9C-426F-99B4-12548141D226}" srcId="{6BE5D3F3-B363-4CF7-AB30-B84794EAE9AA}" destId="{789BFC02-890F-4D43-A6A1-A610866189AE}" srcOrd="0" destOrd="0" parTransId="{00080F3C-C13C-4E71-A91E-AB29C764A87D}" sibTransId="{3CF5E5C6-8880-4F1B-BDE8-41CD42B70E3F}"/>
    <dgm:cxn modelId="{0027BB20-DFD3-48F0-9A4F-6BB2383BCD82}" type="presOf" srcId="{8A22A5D4-30D3-4020-B170-0526253D4925}" destId="{AF38B531-FA8B-4073-95D5-9DAFF379A083}" srcOrd="0" destOrd="1" presId="urn:microsoft.com/office/officeart/2005/8/layout/vList5"/>
    <dgm:cxn modelId="{7BB2322A-7D99-4442-A14F-D45760203D1E}" srcId="{75F727A4-7BA3-4161-8B6F-D3A321B8D390}" destId="{1BACF817-6309-403D-B1C5-01579AFEFBF2}" srcOrd="2" destOrd="0" parTransId="{972476F1-706F-4AF9-8914-988C18C0D110}" sibTransId="{B54ED195-C7E3-4EAD-935D-1600EE736012}"/>
    <dgm:cxn modelId="{F609ED2B-0794-420D-9447-EEBDC939021B}" srcId="{11D85EF1-6A06-4B4E-B153-E6A6C3B0AE33}" destId="{E7E28AD4-9AE6-4C1B-BF44-8F1B871E26D8}" srcOrd="1" destOrd="0" parTransId="{BFA46C16-ACB8-4515-8DD1-1203DD54D3B6}" sibTransId="{68E23C8A-8A14-432A-8CBA-3583179BB9C8}"/>
    <dgm:cxn modelId="{37A49B2C-AB38-4803-B580-2BF09385E6F3}" srcId="{6BE5D3F3-B363-4CF7-AB30-B84794EAE9AA}" destId="{1BD501FD-8764-4E36-84AA-DAED100EE000}" srcOrd="2" destOrd="0" parTransId="{00E67A13-252F-4028-88C9-C5FE4CA07644}" sibTransId="{348C8ABF-59AA-4499-8679-C734C6B18D2E}"/>
    <dgm:cxn modelId="{403DD92E-3EEA-404F-A119-19B745675CFD}" type="presOf" srcId="{F591D16C-7CD1-40B0-ADB8-2AD535CE9E9D}" destId="{0ED92D7A-D911-4C79-8E5F-546D95DE61C5}" srcOrd="0" destOrd="0" presId="urn:microsoft.com/office/officeart/2005/8/layout/vList5"/>
    <dgm:cxn modelId="{58D92731-55D1-4ECF-804D-D0B99A15A19F}" type="presOf" srcId="{5B1AF4A0-C550-4741-8313-6B3ACD938141}" destId="{21E5EEA4-F782-4D50-9BB5-0209805FCD6D}" srcOrd="0" destOrd="2" presId="urn:microsoft.com/office/officeart/2005/8/layout/vList5"/>
    <dgm:cxn modelId="{1EFAF331-ACB6-4F46-9CFD-37CFA5360148}" type="presOf" srcId="{789BFC02-890F-4D43-A6A1-A610866189AE}" destId="{AF38B531-FA8B-4073-95D5-9DAFF379A083}" srcOrd="0" destOrd="0" presId="urn:microsoft.com/office/officeart/2005/8/layout/vList5"/>
    <dgm:cxn modelId="{844B6467-F0C5-45FE-BC7F-ABA92B914455}" type="presOf" srcId="{1BACF817-6309-403D-B1C5-01579AFEFBF2}" destId="{0ED92D7A-D911-4C79-8E5F-546D95DE61C5}" srcOrd="0" destOrd="2" presId="urn:microsoft.com/office/officeart/2005/8/layout/vList5"/>
    <dgm:cxn modelId="{095EAF4A-BF1C-4F0E-B6A3-B69E460C4638}" srcId="{11D85EF1-6A06-4B4E-B153-E6A6C3B0AE33}" destId="{85ED9B11-DCE5-40F3-88D3-22CD93A7D5D5}" srcOrd="0" destOrd="0" parTransId="{5E5A69FA-8D48-4991-A53A-2C8F1D68266D}" sibTransId="{17821333-AD50-4CB1-89AE-F1643DB27795}"/>
    <dgm:cxn modelId="{42EC734B-98CF-4B7E-AC01-38468BEC5553}" srcId="{69DEBA9E-F639-41A1-B126-EB1B21783597}" destId="{EF96094D-E712-46C2-ADBA-F74B8C00EFC7}" srcOrd="1" destOrd="0" parTransId="{2637B661-9824-4FAD-B8E8-E34FF2091D02}" sibTransId="{FC406DEE-647C-4760-8492-AA4AE96E786E}"/>
    <dgm:cxn modelId="{A02EC54B-DBC4-40AC-B97F-B98967633AA4}" srcId="{75F727A4-7BA3-4161-8B6F-D3A321B8D390}" destId="{F591D16C-7CD1-40B0-ADB8-2AD535CE9E9D}" srcOrd="0" destOrd="0" parTransId="{0BDAB40E-692A-4D00-AF59-DA6821043A09}" sibTransId="{3D8B29E1-9983-4616-9A2C-C843E03E66EF}"/>
    <dgm:cxn modelId="{37132653-CA10-4D34-8D78-D8D140345E54}" srcId="{3DE4E2F3-6C01-4A0E-9002-9002F5BE104B}" destId="{69DEBA9E-F639-41A1-B126-EB1B21783597}" srcOrd="1" destOrd="0" parTransId="{2892A16D-097F-4331-B7F2-DF8C2BC5D45F}" sibTransId="{FA501BC6-F4F5-442E-A697-175EB177D547}"/>
    <dgm:cxn modelId="{4F07E575-A84E-4120-B283-F308DFAA6825}" type="presOf" srcId="{EF96094D-E712-46C2-ADBA-F74B8C00EFC7}" destId="{21E5EEA4-F782-4D50-9BB5-0209805FCD6D}" srcOrd="0" destOrd="1" presId="urn:microsoft.com/office/officeart/2005/8/layout/vList5"/>
    <dgm:cxn modelId="{C58D6384-6FF5-4EA2-87BB-87DD9991CE48}" srcId="{3DE4E2F3-6C01-4A0E-9002-9002F5BE104B}" destId="{6BE5D3F3-B363-4CF7-AB30-B84794EAE9AA}" srcOrd="0" destOrd="0" parTransId="{D420FC2A-B9F2-4356-9548-F5157F7209AB}" sibTransId="{E4BD80D6-29F1-467F-A164-37E89D110EFC}"/>
    <dgm:cxn modelId="{6F85359D-05FC-4B20-935D-19E335F37DD5}" srcId="{69DEBA9E-F639-41A1-B126-EB1B21783597}" destId="{5B1AF4A0-C550-4741-8313-6B3ACD938141}" srcOrd="2" destOrd="0" parTransId="{47A61DDB-030C-485E-8DD5-1C5EDB23D4DE}" sibTransId="{52B0087A-3E95-4E7E-A451-4C219BE0D690}"/>
    <dgm:cxn modelId="{F00CD09F-4B24-4614-8AFF-78E1A62B5D8F}" srcId="{69DEBA9E-F639-41A1-B126-EB1B21783597}" destId="{11ED9B04-7E20-4DC7-AA31-442225AB8E2D}" srcOrd="0" destOrd="0" parTransId="{28978D8B-E837-4686-9510-1176C0259FC1}" sibTransId="{AFE2D9BC-2471-4DCC-8A90-E6DCB007A7CD}"/>
    <dgm:cxn modelId="{06C34FA0-5276-489A-8EBC-73828E1D71DF}" type="presOf" srcId="{85ED9B11-DCE5-40F3-88D3-22CD93A7D5D5}" destId="{A4FDD551-2AED-4736-B3CA-2B69E3468611}" srcOrd="0" destOrd="0" presId="urn:microsoft.com/office/officeart/2005/8/layout/vList5"/>
    <dgm:cxn modelId="{6AD259AA-0979-451F-8A78-D5533D1C4CD9}" srcId="{6BE5D3F3-B363-4CF7-AB30-B84794EAE9AA}" destId="{8A22A5D4-30D3-4020-B170-0526253D4925}" srcOrd="1" destOrd="0" parTransId="{EB78742D-6F11-487E-917A-D5EA22F56890}" sibTransId="{9EA6D873-53F8-44AA-8A2F-C18DEECDBC0A}"/>
    <dgm:cxn modelId="{A361BAAD-6BC9-4CD5-9ACA-BF2D3FBADB05}" type="presOf" srcId="{11ED9B04-7E20-4DC7-AA31-442225AB8E2D}" destId="{21E5EEA4-F782-4D50-9BB5-0209805FCD6D}" srcOrd="0" destOrd="0" presId="urn:microsoft.com/office/officeart/2005/8/layout/vList5"/>
    <dgm:cxn modelId="{1F767CB3-17FE-46C4-B113-D2E00012C86D}" type="presOf" srcId="{69DEBA9E-F639-41A1-B126-EB1B21783597}" destId="{AA0D7C20-2617-4C65-9231-75718F847C1C}" srcOrd="0" destOrd="0" presId="urn:microsoft.com/office/officeart/2005/8/layout/vList5"/>
    <dgm:cxn modelId="{EE3F10B5-7062-4112-B06A-A94F089A30AF}" type="presOf" srcId="{E7E28AD4-9AE6-4C1B-BF44-8F1B871E26D8}" destId="{A4FDD551-2AED-4736-B3CA-2B69E3468611}" srcOrd="0" destOrd="1" presId="urn:microsoft.com/office/officeart/2005/8/layout/vList5"/>
    <dgm:cxn modelId="{065D19BE-3E4D-47A3-ADA7-B76E93CD8AF8}" type="presOf" srcId="{11D85EF1-6A06-4B4E-B153-E6A6C3B0AE33}" destId="{C65DF84F-1866-4FA6-9AF5-EED545063F58}" srcOrd="0" destOrd="0" presId="urn:microsoft.com/office/officeart/2005/8/layout/vList5"/>
    <dgm:cxn modelId="{F94E5FC6-1253-48C8-80BF-1A8398238E57}" srcId="{75F727A4-7BA3-4161-8B6F-D3A321B8D390}" destId="{EF59518B-081C-4AC9-8ACD-0E758F94D92F}" srcOrd="1" destOrd="0" parTransId="{B6E3DCFE-2A17-4A88-8200-69976F5543E2}" sibTransId="{D458026C-507A-4C27-800A-EDF8D22AC99C}"/>
    <dgm:cxn modelId="{DA2B4EC6-AC40-48BE-8894-894F294F76EE}" type="presOf" srcId="{1BD501FD-8764-4E36-84AA-DAED100EE000}" destId="{AF38B531-FA8B-4073-95D5-9DAFF379A083}" srcOrd="0" destOrd="2" presId="urn:microsoft.com/office/officeart/2005/8/layout/vList5"/>
    <dgm:cxn modelId="{96EE3BC7-7958-48FA-A688-DDB1A7321A99}" srcId="{3DE4E2F3-6C01-4A0E-9002-9002F5BE104B}" destId="{11D85EF1-6A06-4B4E-B153-E6A6C3B0AE33}" srcOrd="2" destOrd="0" parTransId="{29D2E167-905A-45A3-AE53-EB80EAE67165}" sibTransId="{90061A44-C232-40E1-9CFA-AC3A876A4542}"/>
    <dgm:cxn modelId="{17176DC7-35FB-4FE3-A3AF-41E5F06AF0CC}" type="presOf" srcId="{6BE5D3F3-B363-4CF7-AB30-B84794EAE9AA}" destId="{F819F45E-7BA4-439D-AFEB-5D1E3F68B5DF}" srcOrd="0" destOrd="0" presId="urn:microsoft.com/office/officeart/2005/8/layout/vList5"/>
    <dgm:cxn modelId="{527A68D3-162F-4788-9526-022F71356F7F}" type="presOf" srcId="{3DE4E2F3-6C01-4A0E-9002-9002F5BE104B}" destId="{7DBB56F8-8B21-4CAD-B21D-CE812C56B4E5}" srcOrd="0" destOrd="0" presId="urn:microsoft.com/office/officeart/2005/8/layout/vList5"/>
    <dgm:cxn modelId="{FCC352DB-D940-45FC-8C38-2022830ACE61}" srcId="{3DE4E2F3-6C01-4A0E-9002-9002F5BE104B}" destId="{75F727A4-7BA3-4161-8B6F-D3A321B8D390}" srcOrd="3" destOrd="0" parTransId="{05C235FD-DD8E-4FDC-B020-440518BB8A3A}" sibTransId="{E09D5A32-049E-4866-B2D0-910D133EADE2}"/>
    <dgm:cxn modelId="{C62EA1C3-A5E1-4389-995A-D629DC3AB1A6}" type="presParOf" srcId="{7DBB56F8-8B21-4CAD-B21D-CE812C56B4E5}" destId="{9610CB17-2784-4A01-B2EC-423C1AF8ABD2}" srcOrd="0" destOrd="0" presId="urn:microsoft.com/office/officeart/2005/8/layout/vList5"/>
    <dgm:cxn modelId="{309AA8AC-FCBC-46A6-950C-56AD0C2928E7}" type="presParOf" srcId="{9610CB17-2784-4A01-B2EC-423C1AF8ABD2}" destId="{F819F45E-7BA4-439D-AFEB-5D1E3F68B5DF}" srcOrd="0" destOrd="0" presId="urn:microsoft.com/office/officeart/2005/8/layout/vList5"/>
    <dgm:cxn modelId="{79433C20-28FE-46EE-AB80-1C58F5D14347}" type="presParOf" srcId="{9610CB17-2784-4A01-B2EC-423C1AF8ABD2}" destId="{AF38B531-FA8B-4073-95D5-9DAFF379A083}" srcOrd="1" destOrd="0" presId="urn:microsoft.com/office/officeart/2005/8/layout/vList5"/>
    <dgm:cxn modelId="{A66ADF9D-09A6-4317-B15A-A36849F73593}" type="presParOf" srcId="{7DBB56F8-8B21-4CAD-B21D-CE812C56B4E5}" destId="{0249D6DB-0568-40CF-90DC-F7DBCEC904F4}" srcOrd="1" destOrd="0" presId="urn:microsoft.com/office/officeart/2005/8/layout/vList5"/>
    <dgm:cxn modelId="{0C383341-3613-496A-9EC4-6CE3A3D398A3}" type="presParOf" srcId="{7DBB56F8-8B21-4CAD-B21D-CE812C56B4E5}" destId="{2F415EC6-5950-4014-A764-051D6462C7B4}" srcOrd="2" destOrd="0" presId="urn:microsoft.com/office/officeart/2005/8/layout/vList5"/>
    <dgm:cxn modelId="{23DC89EE-1B16-4742-8D26-B3371E106293}" type="presParOf" srcId="{2F415EC6-5950-4014-A764-051D6462C7B4}" destId="{AA0D7C20-2617-4C65-9231-75718F847C1C}" srcOrd="0" destOrd="0" presId="urn:microsoft.com/office/officeart/2005/8/layout/vList5"/>
    <dgm:cxn modelId="{92ED8CC2-42BA-4784-8832-2C07874FEA6B}" type="presParOf" srcId="{2F415EC6-5950-4014-A764-051D6462C7B4}" destId="{21E5EEA4-F782-4D50-9BB5-0209805FCD6D}" srcOrd="1" destOrd="0" presId="urn:microsoft.com/office/officeart/2005/8/layout/vList5"/>
    <dgm:cxn modelId="{6E1C18E4-77C4-4AC8-A711-D6124576896C}" type="presParOf" srcId="{7DBB56F8-8B21-4CAD-B21D-CE812C56B4E5}" destId="{DFC43CD9-29CF-4FDC-971C-0CE23AB567AE}" srcOrd="3" destOrd="0" presId="urn:microsoft.com/office/officeart/2005/8/layout/vList5"/>
    <dgm:cxn modelId="{D654A2F1-A139-4D49-B45F-C89DB05DB649}" type="presParOf" srcId="{7DBB56F8-8B21-4CAD-B21D-CE812C56B4E5}" destId="{075F05F0-49B5-49A9-9094-ACE90182E46E}" srcOrd="4" destOrd="0" presId="urn:microsoft.com/office/officeart/2005/8/layout/vList5"/>
    <dgm:cxn modelId="{FC8FD3E1-FAA2-4832-99C1-687130A1FC88}" type="presParOf" srcId="{075F05F0-49B5-49A9-9094-ACE90182E46E}" destId="{C65DF84F-1866-4FA6-9AF5-EED545063F58}" srcOrd="0" destOrd="0" presId="urn:microsoft.com/office/officeart/2005/8/layout/vList5"/>
    <dgm:cxn modelId="{BB27EBD2-AC21-429A-BDC3-2381B893E2C4}" type="presParOf" srcId="{075F05F0-49B5-49A9-9094-ACE90182E46E}" destId="{A4FDD551-2AED-4736-B3CA-2B69E3468611}" srcOrd="1" destOrd="0" presId="urn:microsoft.com/office/officeart/2005/8/layout/vList5"/>
    <dgm:cxn modelId="{3B74D40C-5E26-4192-ADDA-2A49302931C7}" type="presParOf" srcId="{7DBB56F8-8B21-4CAD-B21D-CE812C56B4E5}" destId="{06377402-C8D5-47BE-99BA-ACDACBEC4D75}" srcOrd="5" destOrd="0" presId="urn:microsoft.com/office/officeart/2005/8/layout/vList5"/>
    <dgm:cxn modelId="{82CB6772-3F05-4831-AA3F-49487DAA632A}" type="presParOf" srcId="{7DBB56F8-8B21-4CAD-B21D-CE812C56B4E5}" destId="{4B22B7F9-D0A6-4B38-836B-8071663F1D70}" srcOrd="6" destOrd="0" presId="urn:microsoft.com/office/officeart/2005/8/layout/vList5"/>
    <dgm:cxn modelId="{1803637D-BBD6-42CF-BDCC-5A23ADB55EC2}" type="presParOf" srcId="{4B22B7F9-D0A6-4B38-836B-8071663F1D70}" destId="{1DE9D994-F548-460E-9883-61E6B6A55C22}" srcOrd="0" destOrd="0" presId="urn:microsoft.com/office/officeart/2005/8/layout/vList5"/>
    <dgm:cxn modelId="{03640ED8-4DFD-4DDC-8625-8197FE33A3FB}" type="presParOf" srcId="{4B22B7F9-D0A6-4B38-836B-8071663F1D70}" destId="{0ED92D7A-D911-4C79-8E5F-546D95DE61C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9119F-076B-466A-B6A9-D2BE8DF348A7}">
      <dsp:nvSpPr>
        <dsp:cNvPr id="0" name=""/>
        <dsp:cNvSpPr/>
      </dsp:nvSpPr>
      <dsp:spPr>
        <a:xfrm>
          <a:off x="0" y="15820"/>
          <a:ext cx="4996235" cy="599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节省成本</a:t>
          </a:r>
        </a:p>
      </dsp:txBody>
      <dsp:txXfrm>
        <a:off x="29243" y="45063"/>
        <a:ext cx="4937749" cy="540554"/>
      </dsp:txXfrm>
    </dsp:sp>
    <dsp:sp modelId="{72AA494E-8A08-4D5A-90D8-74BDE8CB8819}">
      <dsp:nvSpPr>
        <dsp:cNvPr id="0" name=""/>
        <dsp:cNvSpPr/>
      </dsp:nvSpPr>
      <dsp:spPr>
        <a:xfrm>
          <a:off x="0" y="614860"/>
          <a:ext cx="4996235" cy="1126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30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/>
            <a:t>极早地发现深层设计缺陷，避免其在开发后期甚至生产环境中引发灾难性故障，修复成本呈数量级下降。</a:t>
          </a:r>
        </a:p>
      </dsp:txBody>
      <dsp:txXfrm>
        <a:off x="0" y="614860"/>
        <a:ext cx="4996235" cy="1126080"/>
      </dsp:txXfrm>
    </dsp:sp>
    <dsp:sp modelId="{8F6BC556-BE1F-483B-A11C-7EC5799A91A7}">
      <dsp:nvSpPr>
        <dsp:cNvPr id="0" name=""/>
        <dsp:cNvSpPr/>
      </dsp:nvSpPr>
      <dsp:spPr>
        <a:xfrm>
          <a:off x="0" y="1740940"/>
          <a:ext cx="4996235" cy="599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清晰沟通</a:t>
          </a:r>
          <a:endParaRPr lang="en-US" altLang="zh-CN" sz="1800" kern="1200"/>
        </a:p>
      </dsp:txBody>
      <dsp:txXfrm>
        <a:off x="29243" y="1770183"/>
        <a:ext cx="4937749" cy="540554"/>
      </dsp:txXfrm>
    </dsp:sp>
    <dsp:sp modelId="{D18948BE-74CE-4FA8-AECE-59311DB2D34B}">
      <dsp:nvSpPr>
        <dsp:cNvPr id="0" name=""/>
        <dsp:cNvSpPr/>
      </dsp:nvSpPr>
      <dsp:spPr>
        <a:xfrm>
          <a:off x="0" y="2339980"/>
          <a:ext cx="4996235" cy="76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30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/>
            <a:t>创建一份无歧义、可推导的设计文档，作为团队成员和利益相关者之间的单一事实来源。</a:t>
          </a:r>
        </a:p>
      </dsp:txBody>
      <dsp:txXfrm>
        <a:off x="0" y="2339980"/>
        <a:ext cx="4996235" cy="761760"/>
      </dsp:txXfrm>
    </dsp:sp>
    <dsp:sp modelId="{B42BE139-741B-4CF4-ADF5-31D2DD247F5F}">
      <dsp:nvSpPr>
        <dsp:cNvPr id="0" name=""/>
        <dsp:cNvSpPr/>
      </dsp:nvSpPr>
      <dsp:spPr>
        <a:xfrm>
          <a:off x="0" y="3101740"/>
          <a:ext cx="4996235" cy="599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业界背书</a:t>
          </a:r>
        </a:p>
      </dsp:txBody>
      <dsp:txXfrm>
        <a:off x="29243" y="3130983"/>
        <a:ext cx="4937749" cy="540554"/>
      </dsp:txXfrm>
    </dsp:sp>
    <dsp:sp modelId="{177013CD-E954-4ECE-9FA7-5BCC405112DE}">
      <dsp:nvSpPr>
        <dsp:cNvPr id="0" name=""/>
        <dsp:cNvSpPr/>
      </dsp:nvSpPr>
      <dsp:spPr>
        <a:xfrm>
          <a:off x="0" y="3700780"/>
          <a:ext cx="4996235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630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/>
            <a:t>亚马逊</a:t>
          </a:r>
          <a:r>
            <a:rPr lang="en-US" altLang="en-US" sz="1800" kern="1200"/>
            <a:t>AWS</a:t>
          </a:r>
          <a:r>
            <a:rPr lang="zh-CN" altLang="en-US" sz="1800" kern="1200"/>
            <a:t>、微软、英特尔等公司已将其应用于关键分布式系统（如</a:t>
          </a:r>
          <a:r>
            <a:rPr lang="en-US" altLang="en-US" sz="1800" kern="1200"/>
            <a:t>DynamoDB</a:t>
          </a:r>
          <a:r>
            <a:rPr lang="zh-CN" altLang="en-US" sz="1800" kern="1200"/>
            <a:t>， </a:t>
          </a:r>
          <a:r>
            <a:rPr lang="en-US" altLang="en-US" sz="1800" kern="1200"/>
            <a:t>Cosmos DB</a:t>
          </a:r>
          <a:r>
            <a:rPr lang="zh-CN" altLang="en-US" sz="1800" kern="1200"/>
            <a:t>）和硬件协议的设计验证，并发现了传统方法无法捕获的严重错误。</a:t>
          </a:r>
        </a:p>
      </dsp:txBody>
      <dsp:txXfrm>
        <a:off x="0" y="3700780"/>
        <a:ext cx="4996235" cy="1490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F83F2-6E1B-40B3-9D28-02D8D0C6B259}">
      <dsp:nvSpPr>
        <dsp:cNvPr id="0" name=""/>
        <dsp:cNvSpPr/>
      </dsp:nvSpPr>
      <dsp:spPr>
        <a:xfrm rot="5400000">
          <a:off x="4294597" y="-1811427"/>
          <a:ext cx="1483333" cy="5107320"/>
        </a:xfrm>
        <a:prstGeom prst="round2SameRect">
          <a:avLst/>
        </a:prstGeom>
        <a:solidFill>
          <a:srgbClr val="E6D1D2"/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对所有变量的一次赋值；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系统在某一时刻的完整快照；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单从系统的角度来看，它只能观察到系统本身的变量。</a:t>
          </a:r>
        </a:p>
      </dsp:txBody>
      <dsp:txXfrm rot="-5400000">
        <a:off x="2482604" y="72976"/>
        <a:ext cx="5034910" cy="1338513"/>
      </dsp:txXfrm>
    </dsp:sp>
    <dsp:sp modelId="{64B96285-E7D5-4349-B24D-ED3DC8170068}">
      <dsp:nvSpPr>
        <dsp:cNvPr id="0" name=""/>
        <dsp:cNvSpPr/>
      </dsp:nvSpPr>
      <dsp:spPr>
        <a:xfrm>
          <a:off x="390264" y="210606"/>
          <a:ext cx="2092338" cy="106325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状态（</a:t>
          </a:r>
          <a:r>
            <a:rPr lang="en-US" altLang="zh-CN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state</a:t>
          </a: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zh-CN" altLang="en-US" sz="1800" kern="1200"/>
        </a:p>
      </dsp:txBody>
      <dsp:txXfrm>
        <a:off x="442168" y="262510"/>
        <a:ext cx="1988530" cy="959445"/>
      </dsp:txXfrm>
    </dsp:sp>
    <dsp:sp modelId="{015A9A32-C736-4789-A006-C687678B22D0}">
      <dsp:nvSpPr>
        <dsp:cNvPr id="0" name=""/>
        <dsp:cNvSpPr/>
      </dsp:nvSpPr>
      <dsp:spPr>
        <a:xfrm rot="5400000">
          <a:off x="4275693" y="-235385"/>
          <a:ext cx="1483333" cy="51073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一个状态对（</a:t>
          </a:r>
          <a:r>
            <a:rPr lang="en-US" altLang="en-US" sz="1400" kern="1200"/>
            <a:t>s, t</a:t>
          </a:r>
          <a:r>
            <a:rPr lang="zh-CN" altLang="en-US" sz="1400" kern="1200"/>
            <a:t>）；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满足一种动作（</a:t>
          </a:r>
          <a:r>
            <a:rPr lang="en-US" altLang="en-US" sz="1400" kern="1200"/>
            <a:t>action</a:t>
          </a:r>
          <a:r>
            <a:rPr lang="zh-CN" altLang="en-US" sz="1400" kern="1200"/>
            <a:t>）；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描述系统如何从一个状态变迁到另一个状态，捕捉系统的动态行为。</a:t>
          </a:r>
        </a:p>
      </dsp:txBody>
      <dsp:txXfrm rot="-5400000">
        <a:off x="2463700" y="1649018"/>
        <a:ext cx="5034910" cy="1338513"/>
      </dsp:txXfrm>
    </dsp:sp>
    <dsp:sp modelId="{6155B7B3-4663-4665-827C-D73EC973C59C}">
      <dsp:nvSpPr>
        <dsp:cNvPr id="0" name=""/>
        <dsp:cNvSpPr/>
      </dsp:nvSpPr>
      <dsp:spPr>
        <a:xfrm>
          <a:off x="390264" y="1799367"/>
          <a:ext cx="2073435" cy="10378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步骤（</a:t>
          </a:r>
          <a:r>
            <a:rPr lang="en-US" altLang="zh-CN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step</a:t>
          </a: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zh-CN" altLang="en-US" sz="1800" kern="1200"/>
        </a:p>
      </dsp:txBody>
      <dsp:txXfrm>
        <a:off x="440926" y="1850029"/>
        <a:ext cx="1972111" cy="936490"/>
      </dsp:txXfrm>
    </dsp:sp>
    <dsp:sp modelId="{9DACD7A6-E722-40EF-9E26-55C7D8BA8E0A}">
      <dsp:nvSpPr>
        <dsp:cNvPr id="0" name=""/>
        <dsp:cNvSpPr/>
      </dsp:nvSpPr>
      <dsp:spPr>
        <a:xfrm rot="5400000">
          <a:off x="4285145" y="1340655"/>
          <a:ext cx="1483333" cy="51073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一个无限的状态序列；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每个相邻对都是一个步骤；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系统终止时，后续状态重复不变；运行时，状态持续变迁。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400" kern="1200"/>
            <a:t>代表了系统的完整执行轨迹，</a:t>
          </a:r>
        </a:p>
      </dsp:txBody>
      <dsp:txXfrm rot="-5400000">
        <a:off x="2473152" y="3225058"/>
        <a:ext cx="5034910" cy="1338513"/>
      </dsp:txXfrm>
    </dsp:sp>
    <dsp:sp modelId="{0D220D4D-617A-4156-B80B-C17232237882}">
      <dsp:nvSpPr>
        <dsp:cNvPr id="0" name=""/>
        <dsp:cNvSpPr/>
      </dsp:nvSpPr>
      <dsp:spPr>
        <a:xfrm>
          <a:off x="390264" y="3311394"/>
          <a:ext cx="2082886" cy="11658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行为（</a:t>
          </a:r>
          <a:r>
            <a:rPr lang="en-US" altLang="zh-CN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behavior</a:t>
          </a: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zh-CN" altLang="en-US" sz="1800" kern="1200"/>
        </a:p>
      </dsp:txBody>
      <dsp:txXfrm>
        <a:off x="447176" y="3368306"/>
        <a:ext cx="1969062" cy="10520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8B531-FA8B-4073-95D5-9DAFF379A083}">
      <dsp:nvSpPr>
        <dsp:cNvPr id="0" name=""/>
        <dsp:cNvSpPr/>
      </dsp:nvSpPr>
      <dsp:spPr>
        <a:xfrm rot="5400000">
          <a:off x="4998068" y="-2185966"/>
          <a:ext cx="1403772" cy="57790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从“试错”到“推演”；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在动手实现之前清晰、无歧义地定义系统应该做什么；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帮助发现需求中的模糊和矛盾之处。</a:t>
          </a:r>
        </a:p>
      </dsp:txBody>
      <dsp:txXfrm rot="-5400000">
        <a:off x="2810451" y="70178"/>
        <a:ext cx="5710480" cy="1266718"/>
      </dsp:txXfrm>
    </dsp:sp>
    <dsp:sp modelId="{F819F45E-7BA4-439D-AFEB-5D1E3F68B5DF}">
      <dsp:nvSpPr>
        <dsp:cNvPr id="0" name=""/>
        <dsp:cNvSpPr/>
      </dsp:nvSpPr>
      <dsp:spPr>
        <a:xfrm>
          <a:off x="397949" y="159128"/>
          <a:ext cx="2412500" cy="10888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思维范式的转变</a:t>
          </a:r>
        </a:p>
      </dsp:txBody>
      <dsp:txXfrm>
        <a:off x="451101" y="212280"/>
        <a:ext cx="2306196" cy="982514"/>
      </dsp:txXfrm>
    </dsp:sp>
    <dsp:sp modelId="{21E5EEA4-F782-4D50-9BB5-0209805FCD6D}">
      <dsp:nvSpPr>
        <dsp:cNvPr id="0" name=""/>
        <dsp:cNvSpPr/>
      </dsp:nvSpPr>
      <dsp:spPr>
        <a:xfrm rot="5400000">
          <a:off x="5002261" y="-694458"/>
          <a:ext cx="1403772" cy="57790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修复设计成本远低于代码完成</a:t>
          </a:r>
          <a:r>
            <a:rPr lang="en-US" altLang="zh-CN" sz="1600" kern="1200"/>
            <a:t>/</a:t>
          </a:r>
          <a:r>
            <a:rPr lang="zh-CN" altLang="en-US" sz="1600" kern="1200"/>
            <a:t>上线后；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蓝图阶段进行“应力测试”，进行前置验证；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节省大量后期返工和故障修复成本。</a:t>
          </a:r>
        </a:p>
      </dsp:txBody>
      <dsp:txXfrm rot="-5400000">
        <a:off x="2814644" y="1561686"/>
        <a:ext cx="5710480" cy="1266718"/>
      </dsp:txXfrm>
    </dsp:sp>
    <dsp:sp modelId="{AA0D7C20-2617-4C65-9231-75718F847C1C}">
      <dsp:nvSpPr>
        <dsp:cNvPr id="0" name=""/>
        <dsp:cNvSpPr/>
      </dsp:nvSpPr>
      <dsp:spPr>
        <a:xfrm>
          <a:off x="397949" y="1692530"/>
          <a:ext cx="2416694" cy="10050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“蓝图”优于“修补”</a:t>
          </a:r>
        </a:p>
      </dsp:txBody>
      <dsp:txXfrm>
        <a:off x="447011" y="1741592"/>
        <a:ext cx="2318570" cy="906906"/>
      </dsp:txXfrm>
    </dsp:sp>
    <dsp:sp modelId="{A4FDD551-2AED-4736-B3CA-2B69E3468611}">
      <dsp:nvSpPr>
        <dsp:cNvPr id="0" name=""/>
        <dsp:cNvSpPr/>
      </dsp:nvSpPr>
      <dsp:spPr>
        <a:xfrm rot="5400000">
          <a:off x="5017084" y="797049"/>
          <a:ext cx="1403772" cy="57790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可以忽略网络传输、</a:t>
          </a:r>
          <a:r>
            <a:rPr lang="en-US" altLang="en-US" sz="1600" kern="1200"/>
            <a:t>IO</a:t>
          </a:r>
          <a:r>
            <a:rPr lang="zh-CN" altLang="en-US" sz="1600" kern="1200"/>
            <a:t>延迟等底层细节；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专注于系统核心状态和动。</a:t>
          </a:r>
        </a:p>
      </dsp:txBody>
      <dsp:txXfrm rot="-5400000">
        <a:off x="2829467" y="3053194"/>
        <a:ext cx="5710480" cy="1266718"/>
      </dsp:txXfrm>
    </dsp:sp>
    <dsp:sp modelId="{C65DF84F-1866-4FA6-9AF5-EED545063F58}">
      <dsp:nvSpPr>
        <dsp:cNvPr id="0" name=""/>
        <dsp:cNvSpPr/>
      </dsp:nvSpPr>
      <dsp:spPr>
        <a:xfrm>
          <a:off x="397949" y="3092327"/>
          <a:ext cx="2431517" cy="118845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抽象的力量</a:t>
          </a:r>
        </a:p>
      </dsp:txBody>
      <dsp:txXfrm>
        <a:off x="455964" y="3150342"/>
        <a:ext cx="2315487" cy="1072421"/>
      </dsp:txXfrm>
    </dsp:sp>
    <dsp:sp modelId="{0ED92D7A-D911-4C79-8E5F-546D95DE61C5}">
      <dsp:nvSpPr>
        <dsp:cNvPr id="0" name=""/>
        <dsp:cNvSpPr/>
      </dsp:nvSpPr>
      <dsp:spPr>
        <a:xfrm rot="5400000">
          <a:off x="5040359" y="2288557"/>
          <a:ext cx="1403772" cy="57790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600" kern="1200"/>
            <a:t>2023</a:t>
          </a:r>
          <a:r>
            <a:rPr lang="zh-CN" altLang="en-US" sz="1600" kern="1200"/>
            <a:t>年，</a:t>
          </a:r>
          <a:r>
            <a:rPr lang="en-US" altLang="en-US" sz="1600" kern="1200"/>
            <a:t>TLA+</a:t>
          </a:r>
          <a:r>
            <a:rPr lang="zh-CN" altLang="en-US" sz="1600" kern="1200"/>
            <a:t>基金会成立；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从一项个人主导技术演变为拥有工业界支持的开放生态；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/>
            <a:t>其未来的持续发展和广泛应用值得期待。</a:t>
          </a:r>
        </a:p>
      </dsp:txBody>
      <dsp:txXfrm rot="-5400000">
        <a:off x="2852742" y="4544702"/>
        <a:ext cx="5710480" cy="1266718"/>
      </dsp:txXfrm>
    </dsp:sp>
    <dsp:sp modelId="{1DE9D994-F548-460E-9883-61E6B6A55C22}">
      <dsp:nvSpPr>
        <dsp:cNvPr id="0" name=""/>
        <dsp:cNvSpPr/>
      </dsp:nvSpPr>
      <dsp:spPr>
        <a:xfrm>
          <a:off x="397949" y="4619623"/>
          <a:ext cx="2454792" cy="11168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/>
            <a:t>社区与生态的发展</a:t>
          </a:r>
        </a:p>
      </dsp:txBody>
      <dsp:txXfrm>
        <a:off x="452470" y="4674144"/>
        <a:ext cx="2345750" cy="100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9C03E7F-BD71-4F7F-BEAF-CA83D5F341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charset="-122"/>
                <a:ea typeface="等线" charset="-122"/>
                <a:cs typeface="+mn-cs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charset="-122"/>
              <a:ea typeface="等线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421373" y="284403"/>
            <a:ext cx="1154483" cy="67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XDU</a:t>
            </a:r>
            <a:endParaRPr lang="zh-CN" altLang="en-US" sz="32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080179" y="997618"/>
            <a:ext cx="4436181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932613" y="1124653"/>
            <a:ext cx="4421187" cy="294334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2290573"/>
            <a:ext cx="12192000" cy="3094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 rot="20772240">
            <a:off x="7401365" y="1683034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9"/>
          <p:cNvSpPr>
            <a:spLocks noGrp="1"/>
          </p:cNvSpPr>
          <p:nvPr>
            <p:ph type="pic" sz="quarter" idx="15"/>
          </p:nvPr>
        </p:nvSpPr>
        <p:spPr>
          <a:xfrm rot="668217">
            <a:off x="7665854" y="3726070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85565" y="1398880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493965" y="1410888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9"/>
          <p:cNvSpPr>
            <a:spLocks noGrp="1"/>
          </p:cNvSpPr>
          <p:nvPr>
            <p:ph type="pic" sz="quarter" idx="16"/>
          </p:nvPr>
        </p:nvSpPr>
        <p:spPr>
          <a:xfrm>
            <a:off x="8239589" y="1386104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项横向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24221" y="148619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624220" y="358132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148169" y="148254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148168" y="357767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 userDrawn="1"/>
        </p:nvSpPr>
        <p:spPr>
          <a:xfrm flipH="1" flipV="1">
            <a:off x="5425531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 flipV="1">
            <a:off x="10962103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 userDrawn="1"/>
        </p:nvSpPr>
        <p:spPr>
          <a:xfrm flipH="1" flipV="1">
            <a:off x="5425531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 userDrawn="1"/>
        </p:nvSpPr>
        <p:spPr>
          <a:xfrm flipH="1" flipV="1">
            <a:off x="10962103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50888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62300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6278410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6289822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421373" y="284403"/>
            <a:ext cx="1154483" cy="67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XDU</a:t>
            </a:r>
            <a:endParaRPr lang="zh-CN" altLang="en-US" sz="32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6545484"/>
            <a:ext cx="12192000" cy="312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 rot="5400000">
            <a:off x="178349" y="-178349"/>
            <a:ext cx="815032" cy="1171729"/>
            <a:chOff x="136270" y="441325"/>
            <a:chExt cx="2690232" cy="1572670"/>
          </a:xfrm>
        </p:grpSpPr>
        <p:sp>
          <p:nvSpPr>
            <p:cNvPr id="12" name="矩形 11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 rot="16200000">
            <a:off x="10974982" y="5053481"/>
            <a:ext cx="1846660" cy="587375"/>
            <a:chOff x="136270" y="441325"/>
            <a:chExt cx="2690232" cy="1572670"/>
          </a:xfrm>
        </p:grpSpPr>
        <p:sp>
          <p:nvSpPr>
            <p:cNvPr id="18" name="矩形 17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07809" y="6519179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>
                    <a:lumMod val="9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82711" y="226821"/>
            <a:ext cx="10515600" cy="598246"/>
          </a:xfrm>
        </p:spPr>
        <p:txBody>
          <a:bodyPr>
            <a:noAutofit/>
          </a:bodyPr>
          <a:lstStyle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截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2438400"/>
            <a:ext cx="12192000" cy="2651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640" y="1227371"/>
            <a:ext cx="6553200" cy="518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5"/>
          </p:nvPr>
        </p:nvSpPr>
        <p:spPr>
          <a:xfrm>
            <a:off x="4094003" y="146110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6"/>
          </p:nvPr>
        </p:nvSpPr>
        <p:spPr>
          <a:xfrm>
            <a:off x="1360455" y="147126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7"/>
          </p:nvPr>
        </p:nvSpPr>
        <p:spPr>
          <a:xfrm>
            <a:off x="-1403065" y="1466132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65422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5"/>
          </p:nvPr>
        </p:nvSpPr>
        <p:spPr>
          <a:xfrm>
            <a:off x="2591276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6"/>
          </p:nvPr>
        </p:nvSpPr>
        <p:spPr>
          <a:xfrm>
            <a:off x="565422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7"/>
          </p:nvPr>
        </p:nvSpPr>
        <p:spPr>
          <a:xfrm>
            <a:off x="2591276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8"/>
          </p:nvPr>
        </p:nvSpPr>
        <p:spPr>
          <a:xfrm>
            <a:off x="565422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591276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480" y="1171575"/>
            <a:ext cx="6255849" cy="4558665"/>
          </a:xfrm>
          <a:prstGeom prst="rect">
            <a:avLst/>
          </a:prstGeom>
        </p:spPr>
      </p:pic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335088" y="1554163"/>
            <a:ext cx="4297362" cy="28511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 userDrawn="1"/>
        </p:nvSpPr>
        <p:spPr>
          <a:xfrm>
            <a:off x="587375" y="6030223"/>
            <a:ext cx="1444197" cy="38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▶▶▶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7421356" y="-2690075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7634978" y="-2781431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8534112" y="922705"/>
            <a:ext cx="3814482" cy="61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厚德 求真 励学 笃行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174732" y="1718517"/>
            <a:ext cx="1736243" cy="83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西军电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8359629" y="4756895"/>
            <a:ext cx="3685888" cy="53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团结 勤奋 求实 创新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9046317" y="5895921"/>
            <a:ext cx="2888781" cy="389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团结 和谐 包容 进取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969018" y="3520356"/>
            <a:ext cx="2504461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崇尚学术 追求卓越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507665" y="3034206"/>
            <a:ext cx="1488534" cy="863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艰苦奋斗</a:t>
            </a:r>
            <a:endParaRPr kumimoji="0" lang="en-US" altLang="zh-CN" sz="2000" b="0" i="1" u="none" strike="noStrike" kern="1200" cap="none" spc="100" normalizeH="0" baseline="0" noProof="0" dirty="0">
              <a:ln>
                <a:noFill/>
              </a:ln>
              <a:solidFill>
                <a:schemeClr val="accent4">
                  <a:alpha val="28000"/>
                </a:schemeClr>
              </a:solidFill>
              <a:effectLst/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+mn-cs"/>
            </a:endParaRPr>
          </a:p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自强不息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10003049" y="1992254"/>
            <a:ext cx="2086209" cy="389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求真务实 爱国为民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068030" y="3964348"/>
            <a:ext cx="3685889" cy="83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半部电台起家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8874476" y="507887"/>
            <a:ext cx="1553430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传承红色基因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8567952" y="1485863"/>
            <a:ext cx="3367146" cy="46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西北电讯工程学院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969018" y="2897465"/>
            <a:ext cx="2358323" cy="61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长征路上办学</a:t>
            </a: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7969019" y="2429744"/>
            <a:ext cx="4027180" cy="46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雷达信号处理国家重点实验室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0417963" y="489324"/>
            <a:ext cx="1836310" cy="46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与共和国同行</a:t>
            </a: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8627939" y="5247495"/>
            <a:ext cx="3417578" cy="61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青春告白祖国</a:t>
            </a: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640991" y="381570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669346" y="1003900"/>
            <a:ext cx="3814482" cy="61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厚德 求真 励学 笃行</a:t>
            </a:r>
          </a:p>
        </p:txBody>
      </p:sp>
      <p:sp>
        <p:nvSpPr>
          <p:cNvPr id="10" name="文本框 9"/>
          <p:cNvSpPr txBox="1"/>
          <p:nvPr userDrawn="1"/>
        </p:nvSpPr>
        <p:spPr>
          <a:xfrm>
            <a:off x="669346" y="1799712"/>
            <a:ext cx="1736243" cy="83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西军电</a:t>
            </a: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69346" y="4838090"/>
            <a:ext cx="3953454" cy="53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团结 勤奋 求实 创新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669346" y="5977116"/>
            <a:ext cx="3343854" cy="389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团结 和谐 包容 进取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2443223" y="3627629"/>
            <a:ext cx="2504461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崇尚学术 追求卓越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701794" y="3163710"/>
            <a:ext cx="1488534" cy="863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艰苦奋斗</a:t>
            </a:r>
            <a:endParaRPr kumimoji="0" lang="en-US" altLang="zh-CN" sz="2000" b="0" i="1" u="none" strike="noStrike" kern="1200" cap="none" spc="100" normalizeH="0" baseline="0" noProof="0" dirty="0">
              <a:ln>
                <a:noFill/>
              </a:ln>
              <a:solidFill>
                <a:schemeClr val="accent4">
                  <a:alpha val="28000"/>
                </a:schemeClr>
              </a:solidFill>
              <a:effectLst/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+mn-cs"/>
            </a:endParaRPr>
          </a:p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自强不息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527392" y="2033993"/>
            <a:ext cx="2464352" cy="389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求真务实 爱国为民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669346" y="4045543"/>
            <a:ext cx="4278338" cy="83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半部电台起家</a:t>
            </a: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669346" y="589082"/>
            <a:ext cx="1553430" cy="426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传承红色基因</a:t>
            </a: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822960" y="1541698"/>
            <a:ext cx="3925334" cy="46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西北电讯工程学院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2633421" y="2965222"/>
            <a:ext cx="2358323" cy="61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长征路上办学</a:t>
            </a: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69346" y="2510939"/>
            <a:ext cx="4535114" cy="46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雷达信号处理国家重点实验室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2443223" y="570519"/>
            <a:ext cx="1836310" cy="46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与共和国同行</a:t>
            </a: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669345" y="5328690"/>
            <a:ext cx="3610187" cy="61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1" u="none" strike="noStrike" kern="1200" cap="none" spc="100" normalizeH="0" baseline="0" noProof="0" dirty="0">
                <a:ln>
                  <a:noFill/>
                </a:ln>
                <a:solidFill>
                  <a:schemeClr val="accent4">
                    <a:alpha val="28000"/>
                  </a:schemeClr>
                </a:solidFill>
                <a:effectLst/>
                <a:uLnTx/>
                <a:uFillTx/>
                <a:latin typeface="优设标题黑" panose="00000500000000000000" pitchFamily="2" charset="-122"/>
                <a:ea typeface="优设标题黑" panose="00000500000000000000" pitchFamily="2" charset="-122"/>
                <a:cs typeface="+mn-cs"/>
              </a:rPr>
              <a:t>青春告白祖国</a:t>
            </a: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95301"/>
            <a:ext cx="8364310" cy="51696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60500" y="6362699"/>
            <a:ext cx="2743200" cy="365125"/>
          </a:xfrm>
        </p:spPr>
        <p:txBody>
          <a:bodyPr/>
          <a:lstStyle/>
          <a:p>
            <a:fld id="{F548A5D5-F967-4973-BC3E-B6E1F1E79406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864102" y="6362699"/>
            <a:ext cx="3124200" cy="365124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48704" y="6362698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828800" y="1084462"/>
            <a:ext cx="5956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0" y="11151"/>
            <a:ext cx="1244600" cy="172243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0" y="1721005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0" y="3443443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0" y="5165881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00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548A5D5-F967-4973-BC3E-B6E1F1E79406}" type="datetime1">
              <a:rPr lang="zh-CN" altLang="en-US" smtClean="0"/>
              <a:t>2026/1/18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928737" y="2089851"/>
            <a:ext cx="8168640" cy="212280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TLA+</a:t>
            </a:r>
            <a:r>
              <a:rPr lang="zh-CN" altLang="en-US" sz="6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介绍及使用方法</a:t>
            </a:r>
          </a:p>
          <a:p>
            <a:pPr algn="ctr"/>
            <a:endParaRPr lang="zh-CN" altLang="en-US" sz="66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60186" y="3525916"/>
            <a:ext cx="410527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Introduction to TLA+ and Its Usage</a:t>
            </a:r>
            <a:endParaRPr lang="zh-CN" altLang="en-US" sz="20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-1"/>
            <a:ext cx="12192000" cy="31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0" y="6545484"/>
            <a:ext cx="12192000" cy="312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 rot="16200000">
            <a:off x="-629641" y="2414059"/>
            <a:ext cx="1846660" cy="587375"/>
            <a:chOff x="136270" y="441325"/>
            <a:chExt cx="2690232" cy="1572670"/>
          </a:xfrm>
        </p:grpSpPr>
        <p:sp>
          <p:nvSpPr>
            <p:cNvPr id="60" name="矩形 59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 rot="16200000">
            <a:off x="10974983" y="2414059"/>
            <a:ext cx="1846660" cy="587375"/>
            <a:chOff x="136270" y="441325"/>
            <a:chExt cx="2690232" cy="1572670"/>
          </a:xfrm>
        </p:grpSpPr>
        <p:sp>
          <p:nvSpPr>
            <p:cNvPr id="66" name="矩形 65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4670868" y="4695469"/>
            <a:ext cx="285064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小组成员：邓婉君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吴增瑞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/>
          <p:nvPr/>
        </p:nvSpPr>
        <p:spPr>
          <a:xfrm>
            <a:off x="823565" y="1447967"/>
            <a:ext cx="33746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600" b="1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目  录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1018330" y="3132486"/>
            <a:ext cx="30612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4000" dirty="0">
                <a:solidFill>
                  <a:schemeClr val="accent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CONTENT</a:t>
            </a:r>
            <a:endParaRPr lang="zh-CN" altLang="en-US" sz="4000" dirty="0">
              <a:solidFill>
                <a:schemeClr val="accent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73" name="表格 9"/>
          <p:cNvGraphicFramePr>
            <a:graphicFrameLocks noGrp="1"/>
          </p:cNvGraphicFramePr>
          <p:nvPr/>
        </p:nvGraphicFramePr>
        <p:xfrm>
          <a:off x="4853305" y="1188085"/>
          <a:ext cx="6043295" cy="4581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7890">
                <a:tc>
                  <a:txBody>
                    <a:bodyPr/>
                    <a:lstStyle/>
                    <a:p>
                      <a:pPr marL="0" indent="0" algn="just" hangingPunct="0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壹</a:t>
                      </a:r>
                      <a:endParaRPr lang="en-US" altLang="zh-CN" sz="2800" b="1" spc="100" dirty="0">
                        <a:solidFill>
                          <a:schemeClr val="accent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hangingPunct="0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引言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kern="1200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03</a:t>
                      </a:r>
                      <a:endParaRPr lang="zh-CN" altLang="en-US" sz="2800" b="1" kern="1200" spc="10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贰</a:t>
                      </a:r>
                      <a:endParaRPr lang="en-US" altLang="zh-CN" sz="2800" b="1" spc="100" dirty="0">
                        <a:solidFill>
                          <a:schemeClr val="accent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TLA+</a:t>
                      </a: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介绍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kern="1200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12</a:t>
                      </a:r>
                      <a:endParaRPr lang="zh-CN" altLang="en-US" sz="2800" b="1" kern="1200" spc="10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2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叁</a:t>
                      </a:r>
                      <a:endParaRPr lang="en-US" altLang="zh-CN" sz="2800" b="1" spc="100" dirty="0">
                        <a:solidFill>
                          <a:schemeClr val="accent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TLA+</a:t>
                      </a: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使用方法（案例一）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kern="1200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16</a:t>
                      </a:r>
                      <a:endParaRPr lang="zh-CN" altLang="en-US" sz="2800" b="1" kern="1200" spc="10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肆</a:t>
                      </a:r>
                      <a:endParaRPr lang="en-US" altLang="zh-CN" sz="2800" b="1" spc="100" dirty="0">
                        <a:solidFill>
                          <a:schemeClr val="accent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TLA+</a:t>
                      </a: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使用方法（案例二）</a:t>
                      </a:r>
                      <a:endParaRPr lang="en-US" altLang="zh-CN" sz="2800" b="1" spc="10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kern="1200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20</a:t>
                      </a:r>
                      <a:endParaRPr lang="zh-CN" altLang="en-US" sz="2800" b="1" kern="1200" spc="10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8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effectLst>
                            <a:outerShdw blurRad="50800" dist="38100" dir="2700000" algn="tl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伍</a:t>
                      </a:r>
                      <a:endParaRPr lang="en-US" altLang="zh-CN" sz="2800" b="1" spc="100" dirty="0">
                        <a:solidFill>
                          <a:schemeClr val="accent1"/>
                        </a:solidFill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TLA+</a:t>
                      </a:r>
                      <a:r>
                        <a:rPr lang="zh-CN" altLang="en-US" sz="2800" b="1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应用前景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b="1" kern="1200" spc="100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30</a:t>
                      </a:r>
                      <a:endParaRPr lang="zh-CN" altLang="en-US" sz="2800" b="1" kern="1200" spc="100" dirty="0">
                        <a:solidFill>
                          <a:schemeClr val="accent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0" name="矩形 79"/>
          <p:cNvSpPr/>
          <p:nvPr/>
        </p:nvSpPr>
        <p:spPr>
          <a:xfrm>
            <a:off x="0" y="6545484"/>
            <a:ext cx="12192000" cy="312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81" name="组合 80"/>
          <p:cNvGrpSpPr/>
          <p:nvPr/>
        </p:nvGrpSpPr>
        <p:grpSpPr>
          <a:xfrm rot="5400000">
            <a:off x="178349" y="-178349"/>
            <a:ext cx="815032" cy="1171729"/>
            <a:chOff x="136270" y="441325"/>
            <a:chExt cx="2690232" cy="1572670"/>
          </a:xfrm>
        </p:grpSpPr>
        <p:sp>
          <p:nvSpPr>
            <p:cNvPr id="82" name="矩形 81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7" name="组合 86"/>
          <p:cNvGrpSpPr/>
          <p:nvPr/>
        </p:nvGrpSpPr>
        <p:grpSpPr>
          <a:xfrm rot="16200000">
            <a:off x="10974982" y="5053481"/>
            <a:ext cx="1846660" cy="587375"/>
            <a:chOff x="136270" y="441325"/>
            <a:chExt cx="2690232" cy="1572670"/>
          </a:xfrm>
        </p:grpSpPr>
        <p:sp>
          <p:nvSpPr>
            <p:cNvPr id="88" name="矩形 87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600" y="460744"/>
            <a:ext cx="10617200" cy="728980"/>
          </a:xfrm>
        </p:spPr>
        <p:txBody>
          <a:bodyPr>
            <a:norm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引言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4921" y="1234240"/>
            <a:ext cx="5357397" cy="2137318"/>
          </a:xfrm>
        </p:spPr>
        <p:txBody>
          <a:bodyPr>
            <a:noAutofit/>
          </a:bodyPr>
          <a:lstStyle/>
          <a:p>
            <a:pPr marL="0" algn="l">
              <a:lnSpc>
                <a:spcPct val="120000"/>
              </a:lnSpc>
              <a:buClrTx/>
              <a:buSzTx/>
              <a:buNone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大多数软件缺陷主要来自两个原因之一：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" indent="-342900" algn="l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代码错误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360000" algn="l">
              <a:lnSpc>
                <a:spcPct val="120000"/>
              </a:lnSpc>
              <a:buClrTx/>
              <a:buSzTx/>
              <a:buNone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指编写的代码与我们的设计不符，现在已有很多发现代码漏洞的技术。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" indent="-342900" algn="l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设计缺陷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360000">
              <a:lnSpc>
                <a:spcPct val="120000"/>
              </a:lnSpc>
              <a:buNone/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设计的系统或算法存在缺陷，使得系统不能完成预期要求。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172177-EE6C-63F8-841D-03514EF43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225" y="3995358"/>
            <a:ext cx="5012787" cy="1941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1400" b="1">
                <a:latin typeface="微软雅黑" panose="020B0503020204020204" pitchFamily="34" charset="-122"/>
                <a:ea typeface="微软雅黑" panose="020B0503020204020204" pitchFamily="34" charset="-122"/>
              </a:rPr>
              <a:t>传统开发流程的隐忧：</a:t>
            </a:r>
          </a:p>
          <a:p>
            <a:pPr marL="114300" marR="0" lvl="0" indent="-3429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Font typeface="Wingdings" panose="05000000000000000000" pitchFamily="2" charset="2"/>
              <a:buChar char="l"/>
              <a:tabLst/>
            </a:pP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“它应该能工作...”​ → 依赖于直觉和经验的设计决策。</a:t>
            </a:r>
          </a:p>
          <a:p>
            <a:pPr marL="114300" indent="-3429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“测试会发现问题...”​ → 但测试无法穷尽所有可能的并发时序和异常状态。</a:t>
            </a:r>
          </a:p>
          <a:p>
            <a:pPr marL="114300" indent="-342900" fontAlgn="base">
              <a:lnSpc>
                <a:spcPct val="12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“线上环境复现了...”​ → 代价高昂的缺陷发现方式，尤其是对于分布式系。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E23EA4-94E1-812C-4AF5-745FC030A396}"/>
              </a:ext>
            </a:extLst>
          </p:cNvPr>
          <p:cNvSpPr txBox="1"/>
          <p:nvPr/>
        </p:nvSpPr>
        <p:spPr>
          <a:xfrm>
            <a:off x="6359684" y="2607428"/>
            <a:ext cx="56458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/>
              <a:t>并发、分布式系统中的竞态条件、死锁、状态不一致等问题，在</a:t>
            </a:r>
            <a:r>
              <a:rPr lang="zh-CN" altLang="en-US" sz="2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设计和代码审查阶段</a:t>
            </a:r>
            <a:r>
              <a:rPr lang="zh-CN" altLang="en-US" sz="2400"/>
              <a:t>极难被完全捕获。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/>
              <a:t>我们缺少一种严格的、可重复的方法，在设计阶段就对系统逻辑进行“压力测试”。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D14D21ED-4794-EEC3-EEFD-770F1E8595D9}"/>
              </a:ext>
            </a:extLst>
          </p:cNvPr>
          <p:cNvSpPr/>
          <p:nvPr/>
        </p:nvSpPr>
        <p:spPr>
          <a:xfrm>
            <a:off x="347003" y="3470031"/>
            <a:ext cx="5805268" cy="25321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97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600" y="461010"/>
            <a:ext cx="10617200" cy="728980"/>
          </a:xfrm>
        </p:spPr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TLA+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介绍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281CC68-535B-07DE-51AC-2686A8B84824}"/>
              </a:ext>
            </a:extLst>
          </p:cNvPr>
          <p:cNvSpPr txBox="1"/>
          <p:nvPr/>
        </p:nvSpPr>
        <p:spPr>
          <a:xfrm>
            <a:off x="475005" y="2120666"/>
            <a:ext cx="6185095" cy="1061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20000"/>
              </a:lnSpc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TLA+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18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形式化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描述语言。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以编程的方式验证设计的系统或算法是否存在严重的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相当于软件版的蓝图。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箭头: 上弧形 14">
            <a:extLst>
              <a:ext uri="{FF2B5EF4-FFF2-40B4-BE49-F238E27FC236}">
                <a16:creationId xmlns:a16="http://schemas.microsoft.com/office/drawing/2014/main" id="{262D9A0C-EB81-B899-95AE-EB347D213F9D}"/>
              </a:ext>
            </a:extLst>
          </p:cNvPr>
          <p:cNvSpPr/>
          <p:nvPr/>
        </p:nvSpPr>
        <p:spPr>
          <a:xfrm rot="20778585">
            <a:off x="1949916" y="947114"/>
            <a:ext cx="2668813" cy="929767"/>
          </a:xfrm>
          <a:prstGeom prst="curved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4241656-8F5F-DE82-7D16-E4CFEDBA4E59}"/>
              </a:ext>
            </a:extLst>
          </p:cNvPr>
          <p:cNvSpPr txBox="1"/>
          <p:nvPr/>
        </p:nvSpPr>
        <p:spPr>
          <a:xfrm>
            <a:off x="4149092" y="1643878"/>
            <a:ext cx="1683434" cy="41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不是编程语言</a:t>
            </a:r>
            <a:endParaRPr lang="zh-CN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3969E2CA-3678-D487-D210-825F61E5C863}"/>
              </a:ext>
            </a:extLst>
          </p:cNvPr>
          <p:cNvSpPr/>
          <p:nvPr/>
        </p:nvSpPr>
        <p:spPr>
          <a:xfrm>
            <a:off x="3786700" y="5919815"/>
            <a:ext cx="1143977" cy="70184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终止 19">
            <a:extLst>
              <a:ext uri="{FF2B5EF4-FFF2-40B4-BE49-F238E27FC236}">
                <a16:creationId xmlns:a16="http://schemas.microsoft.com/office/drawing/2014/main" id="{886C2C0F-6160-6120-8369-FAD29173DB6C}"/>
              </a:ext>
            </a:extLst>
          </p:cNvPr>
          <p:cNvSpPr/>
          <p:nvPr/>
        </p:nvSpPr>
        <p:spPr>
          <a:xfrm>
            <a:off x="2470468" y="5951136"/>
            <a:ext cx="1143977" cy="646331"/>
          </a:xfrm>
          <a:prstGeom prst="flowChartTermina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C2A3035-2F96-E9DF-AAED-3784A31319D2}"/>
              </a:ext>
            </a:extLst>
          </p:cNvPr>
          <p:cNvSpPr txBox="1"/>
          <p:nvPr/>
        </p:nvSpPr>
        <p:spPr>
          <a:xfrm>
            <a:off x="2517261" y="6069997"/>
            <a:ext cx="1050389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系统设计</a:t>
            </a:r>
            <a:endParaRPr lang="zh-CN" altLang="en-US" sz="1600" spc="1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流程图: 终止 21">
            <a:extLst>
              <a:ext uri="{FF2B5EF4-FFF2-40B4-BE49-F238E27FC236}">
                <a16:creationId xmlns:a16="http://schemas.microsoft.com/office/drawing/2014/main" id="{5086B725-6D92-FB04-2824-CA16357E1B74}"/>
              </a:ext>
            </a:extLst>
          </p:cNvPr>
          <p:cNvSpPr/>
          <p:nvPr/>
        </p:nvSpPr>
        <p:spPr>
          <a:xfrm>
            <a:off x="5044562" y="5951136"/>
            <a:ext cx="1143977" cy="646331"/>
          </a:xfrm>
          <a:prstGeom prst="flowChartTermina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685CFA-793E-043D-34E5-B7EF20F59823}"/>
              </a:ext>
            </a:extLst>
          </p:cNvPr>
          <p:cNvSpPr txBox="1"/>
          <p:nvPr/>
        </p:nvSpPr>
        <p:spPr>
          <a:xfrm>
            <a:off x="5091355" y="6069997"/>
            <a:ext cx="1050389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数学模型</a:t>
            </a:r>
            <a:endParaRPr lang="zh-CN" altLang="en-US" sz="1600" spc="1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2250AD3-6D17-8AA6-9CE7-6F4396E286D7}"/>
              </a:ext>
            </a:extLst>
          </p:cNvPr>
          <p:cNvSpPr txBox="1"/>
          <p:nvPr/>
        </p:nvSpPr>
        <p:spPr>
          <a:xfrm>
            <a:off x="3891111" y="6069997"/>
            <a:ext cx="984738" cy="381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描述为</a:t>
            </a:r>
            <a:endParaRPr lang="zh-CN" altLang="en-US" sz="1600" spc="1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aphicFrame>
        <p:nvGraphicFramePr>
          <p:cNvPr id="25" name="图示 24">
            <a:extLst>
              <a:ext uri="{FF2B5EF4-FFF2-40B4-BE49-F238E27FC236}">
                <a16:creationId xmlns:a16="http://schemas.microsoft.com/office/drawing/2014/main" id="{6D5CE9B7-FADC-ACEC-6D9D-EFE964785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204747"/>
              </p:ext>
            </p:extLst>
          </p:nvPr>
        </p:nvGraphicFramePr>
        <p:xfrm>
          <a:off x="6924745" y="1189990"/>
          <a:ext cx="4996235" cy="520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D2DE9637-0DDE-DC7C-80B0-8DC5D33BA7F0}"/>
              </a:ext>
            </a:extLst>
          </p:cNvPr>
          <p:cNvSpPr/>
          <p:nvPr/>
        </p:nvSpPr>
        <p:spPr>
          <a:xfrm>
            <a:off x="8769831" y="382893"/>
            <a:ext cx="9028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优势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2F72332-7882-70A9-E7A3-67BA25D73300}"/>
              </a:ext>
            </a:extLst>
          </p:cNvPr>
          <p:cNvSpPr txBox="1"/>
          <p:nvPr/>
        </p:nvSpPr>
        <p:spPr>
          <a:xfrm>
            <a:off x="226482" y="5951544"/>
            <a:ext cx="2354871" cy="670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32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核心思想：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F074935-6221-D8F0-2D69-ABCE27EAE407}"/>
              </a:ext>
            </a:extLst>
          </p:cNvPr>
          <p:cNvSpPr txBox="1"/>
          <p:nvPr/>
        </p:nvSpPr>
        <p:spPr>
          <a:xfrm>
            <a:off x="474921" y="3793490"/>
            <a:ext cx="6096000" cy="1005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TLA+</a:t>
            </a:r>
            <a:r>
              <a:rPr lang="zh-CN" altLang="en-US"/>
              <a:t>的</a:t>
            </a:r>
            <a:r>
              <a: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设计初衷</a:t>
            </a:r>
            <a:r>
              <a:rPr lang="zh-CN" altLang="en-US"/>
              <a:t>是：</a:t>
            </a:r>
            <a:endParaRPr lang="en-US" altLang="zh-CN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用简单的数学理论和公式精准地对系统进行描述；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消除程序中很难找到、纠错成本高的基本错误。</a:t>
            </a:r>
          </a:p>
        </p:txBody>
      </p:sp>
      <p:sp>
        <p:nvSpPr>
          <p:cNvPr id="31" name="箭头: 下 30">
            <a:extLst>
              <a:ext uri="{FF2B5EF4-FFF2-40B4-BE49-F238E27FC236}">
                <a16:creationId xmlns:a16="http://schemas.microsoft.com/office/drawing/2014/main" id="{9A1B8EE3-6B0F-3EF7-3883-C36D5E96DDEF}"/>
              </a:ext>
            </a:extLst>
          </p:cNvPr>
          <p:cNvSpPr/>
          <p:nvPr/>
        </p:nvSpPr>
        <p:spPr>
          <a:xfrm>
            <a:off x="2752577" y="3234749"/>
            <a:ext cx="482991" cy="66851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下 31">
            <a:extLst>
              <a:ext uri="{FF2B5EF4-FFF2-40B4-BE49-F238E27FC236}">
                <a16:creationId xmlns:a16="http://schemas.microsoft.com/office/drawing/2014/main" id="{FEB05A8A-D52D-657A-221C-714A3622C397}"/>
              </a:ext>
            </a:extLst>
          </p:cNvPr>
          <p:cNvSpPr/>
          <p:nvPr/>
        </p:nvSpPr>
        <p:spPr>
          <a:xfrm>
            <a:off x="2696306" y="4872095"/>
            <a:ext cx="595532" cy="97464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流程图: 离页连接符 33">
            <a:extLst>
              <a:ext uri="{FF2B5EF4-FFF2-40B4-BE49-F238E27FC236}">
                <a16:creationId xmlns:a16="http://schemas.microsoft.com/office/drawing/2014/main" id="{75D03F6A-3BA4-6B87-4477-60873D91AB49}"/>
              </a:ext>
            </a:extLst>
          </p:cNvPr>
          <p:cNvSpPr/>
          <p:nvPr/>
        </p:nvSpPr>
        <p:spPr>
          <a:xfrm>
            <a:off x="6724098" y="689036"/>
            <a:ext cx="130877" cy="5908431"/>
          </a:xfrm>
          <a:prstGeom prst="flowChartOffpage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72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600" y="461010"/>
            <a:ext cx="10617200" cy="728980"/>
          </a:xfrm>
        </p:spPr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TLA+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介绍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F074935-6221-D8F0-2D69-ABCE27EAE407}"/>
              </a:ext>
            </a:extLst>
          </p:cNvPr>
          <p:cNvSpPr txBox="1"/>
          <p:nvPr/>
        </p:nvSpPr>
        <p:spPr>
          <a:xfrm>
            <a:off x="538716" y="12905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TLA+</a:t>
            </a:r>
            <a:r>
              <a:rPr lang="zh-CN" altLang="en-US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基于状态的模型</a:t>
            </a:r>
            <a:r>
              <a:rPr lang="zh-CN" altLang="en-US"/>
              <a:t>形式化描述系统，包含了三种要素：</a:t>
            </a:r>
            <a:endParaRPr lang="en-US" altLang="zh-CN"/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76837A4E-7DE7-807D-C0C2-8B9AB8E0FF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104745"/>
              </p:ext>
            </p:extLst>
          </p:nvPr>
        </p:nvGraphicFramePr>
        <p:xfrm>
          <a:off x="-188739" y="1822768"/>
          <a:ext cx="7980189" cy="4636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9C163406-54D6-BF6B-2592-9D969E1CED06}"/>
              </a:ext>
            </a:extLst>
          </p:cNvPr>
          <p:cNvSpPr/>
          <p:nvPr/>
        </p:nvSpPr>
        <p:spPr>
          <a:xfrm>
            <a:off x="7560657" y="3100625"/>
            <a:ext cx="3558209" cy="1264256"/>
          </a:xfrm>
          <a:prstGeom prst="roundRect">
            <a:avLst/>
          </a:prstGeom>
          <a:solidFill>
            <a:srgbClr val="E6D1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动作（</a:t>
            </a:r>
            <a:r>
              <a:rPr lang="en-US" altLang="zh-CN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Action</a:t>
            </a: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）：</a:t>
            </a:r>
            <a:endParaRPr lang="en-US" altLang="zh-CN" sz="11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微软雅黑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一个布尔公式；</a:t>
            </a:r>
            <a:endParaRPr lang="en-US" altLang="zh-CN" sz="11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微软雅黑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同时引用变量的旧值</a:t>
            </a:r>
            <a:r>
              <a:rPr lang="en-US" altLang="zh-CN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x</a:t>
            </a: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和新值</a:t>
            </a:r>
            <a:r>
              <a:rPr lang="en-US" altLang="zh-CN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x‘</a:t>
            </a: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，如动作</a:t>
            </a:r>
            <a:r>
              <a:rPr lang="en-US" altLang="zh-CN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x’ = x + 1</a:t>
            </a: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；</a:t>
            </a:r>
            <a:endParaRPr lang="en-US" altLang="zh-CN" sz="11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微软雅黑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动作必须求值为真，这定义状态转换是否合法；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动作公式为真时，可能</a:t>
            </a:r>
            <a:r>
              <a:rPr lang="zh-CN" altLang="en-US" sz="110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Arial"/>
                <a:ea typeface="微软雅黑"/>
              </a:rPr>
              <a:t>推导出新的状态。</a:t>
            </a:r>
          </a:p>
        </p:txBody>
      </p:sp>
      <p:sp>
        <p:nvSpPr>
          <p:cNvPr id="5" name="箭头: 上弧形 4">
            <a:extLst>
              <a:ext uri="{FF2B5EF4-FFF2-40B4-BE49-F238E27FC236}">
                <a16:creationId xmlns:a16="http://schemas.microsoft.com/office/drawing/2014/main" id="{2DB05F0C-D994-262B-44AE-843E4CF863E9}"/>
              </a:ext>
            </a:extLst>
          </p:cNvPr>
          <p:cNvSpPr/>
          <p:nvPr/>
        </p:nvSpPr>
        <p:spPr>
          <a:xfrm rot="21086379">
            <a:off x="4157352" y="3121099"/>
            <a:ext cx="3877297" cy="505860"/>
          </a:xfrm>
          <a:prstGeom prst="curved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51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600" y="461010"/>
            <a:ext cx="10617200" cy="72898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案例：互斥锁问题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(Mutual Exclusion)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02615" y="125349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一、问题描述与目标</a:t>
            </a:r>
          </a:p>
          <a:p>
            <a:pPr marL="0" indent="0">
              <a:buNone/>
            </a:pP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问题描述：设计一个系统（如两个进程 P1 和 P2），确保它们在尝试进入临界区时，永远不会同时处于临界区。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系统变量：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每个进程都有一个控制流程的程序计数器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(pc)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pc_1: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的状态，取值范围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{“non_critical”,”trying”,”critical”}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457200">
              <a:lnSpc>
                <a:spcPct val="120000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pc_2: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的状态，取值范围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{“non_critical”,”trying”,”critical”}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TLA+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证明系统设计满足安全属性（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Safety Property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）：互斥性。</a:t>
            </a: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600" y="461010"/>
            <a:ext cx="10617200" cy="72898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案例：互斥锁问题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(Mutual Exclusion)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02615" y="125349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TLA+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建模思路（状态机）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(State):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系统的状态由所有变量的当前值组成，即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(pc_1, pc_2)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的组合。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(Action):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进程从一个状态转移到下一个状态的操作。例如，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尝试进入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转移到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临界区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(Spec):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描述系统的所有可能行为。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(Check):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TLC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模型检测器检验系统行为是否始终满足互斥性不变式。</a:t>
            </a: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600" y="461010"/>
            <a:ext cx="10617200" cy="72898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案例：互斥锁问题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(Mutual Exclusion)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02615" y="125349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TLA+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实现过程与具体步骤</a:t>
            </a:r>
          </a:p>
          <a:p>
            <a:pPr marL="0" indent="0"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我们借助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基于共享变量的互斥算法（有缺陷）来展示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TLA+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的使用方法。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TLA+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语言抽象建模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定义一个简单的共享变量来决定谁能进入临界区（这是一个有缺陷的设计，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TLC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会发现它的缺陷）。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定义核心概念：变量、初始状态（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Init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）、动作（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）、各个动作的定义。（具体见代码）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定义不变式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(Invariant)</a:t>
            </a:r>
          </a:p>
          <a:p>
            <a:pPr marL="0" indent="0"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TLA+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的核心步骤：用数学公式描述必须永远保持为真的性质。（具体见代码）</a:t>
            </a:r>
          </a:p>
          <a:p>
            <a:pPr marL="0" indent="0"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02615" y="1784350"/>
            <a:ext cx="7397750" cy="449072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690" y="461010"/>
            <a:ext cx="10515600" cy="66294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代码实现</a:t>
            </a: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3845429" y="3660994"/>
            <a:ext cx="359979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4311772" y="4743559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4311772" y="5311118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311772" y="5878677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311772" y="6425215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95" t="-201" r="18931" b="-619"/>
          <a:stretch>
            <a:fillRect/>
          </a:stretch>
        </p:blipFill>
        <p:spPr>
          <a:xfrm>
            <a:off x="924560" y="2091055"/>
            <a:ext cx="6720840" cy="38284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71800" y="1108710"/>
            <a:ext cx="6468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定义变量、初始状态（</a:t>
            </a:r>
            <a:r>
              <a:rPr lang="en-US" altLang="zh-CN" sz="2400"/>
              <a:t>Init</a:t>
            </a:r>
            <a:r>
              <a:rPr lang="zh-CN" altLang="en-US" sz="2400"/>
              <a:t>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70595" y="2903855"/>
            <a:ext cx="27914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定义变量：</a:t>
            </a:r>
          </a:p>
          <a:p>
            <a:r>
              <a:rPr lang="en-US" altLang="zh-CN" sz="2000"/>
              <a:t>pc_i </a:t>
            </a:r>
            <a:r>
              <a:rPr lang="zh-CN" altLang="en-US" sz="2000"/>
              <a:t>是进程状态，</a:t>
            </a:r>
          </a:p>
          <a:p>
            <a:r>
              <a:rPr lang="en-US" altLang="zh-CN" sz="2000"/>
              <a:t>turn </a:t>
            </a:r>
            <a:r>
              <a:rPr lang="zh-CN" altLang="en-US" sz="2000"/>
              <a:t>是一个共享变量，表示下一个应该尝试进入的进程。</a:t>
            </a:r>
          </a:p>
          <a:p>
            <a:endParaRPr lang="zh-CN" altLang="en-US" sz="2000"/>
          </a:p>
          <a:p>
            <a:r>
              <a:rPr lang="zh-CN" altLang="en-US" sz="2000"/>
              <a:t>定义初始状态</a:t>
            </a:r>
            <a:r>
              <a:rPr lang="en-US" altLang="zh-CN" sz="2000"/>
              <a:t>(Init)</a:t>
            </a:r>
            <a:r>
              <a:rPr lang="zh-CN" altLang="en-US" sz="2000"/>
              <a:t>：</a:t>
            </a:r>
          </a:p>
          <a:p>
            <a:r>
              <a:rPr lang="zh-CN" altLang="en-US" sz="2000"/>
              <a:t>两个进程都处于非临界区，</a:t>
            </a:r>
            <a:r>
              <a:rPr lang="en-US" altLang="zh-CN" sz="2000"/>
              <a:t>turn </a:t>
            </a:r>
            <a:r>
              <a:rPr lang="zh-CN" altLang="en-US" sz="2000"/>
              <a:t>随机初始化。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29260" y="1426210"/>
            <a:ext cx="6457315" cy="526224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690" y="461010"/>
            <a:ext cx="10515600" cy="66294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代码实现</a:t>
            </a: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3908547" y="4395579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908547" y="4963138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908547" y="5530697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908547" y="6077235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298797" y="4395579"/>
            <a:ext cx="0" cy="16816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5510" r="16426" b="-193"/>
          <a:stretch>
            <a:fillRect/>
          </a:stretch>
        </p:blipFill>
        <p:spPr>
          <a:xfrm>
            <a:off x="602615" y="1620520"/>
            <a:ext cx="6028055" cy="48888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72995" y="965835"/>
            <a:ext cx="6468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定义</a:t>
            </a:r>
            <a:r>
              <a:rPr lang="en-US" altLang="zh-CN" sz="2400"/>
              <a:t>P1</a:t>
            </a:r>
            <a:r>
              <a:rPr lang="zh-CN" altLang="en-US" sz="2400"/>
              <a:t>动作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291070" y="1620520"/>
            <a:ext cx="418211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P1_Try</a:t>
            </a:r>
            <a:r>
              <a:rPr lang="zh-CN" altLang="en-US" sz="2000"/>
              <a:t>：</a:t>
            </a:r>
            <a:r>
              <a:rPr lang="en-US" altLang="zh-CN" sz="2000"/>
              <a:t>(P1 </a:t>
            </a:r>
            <a:r>
              <a:rPr lang="zh-CN" altLang="en-US" sz="2000"/>
              <a:t>尝试参与竞争</a:t>
            </a:r>
            <a:r>
              <a:rPr lang="en-US" altLang="zh-CN" sz="2000"/>
              <a:t>)</a:t>
            </a:r>
          </a:p>
          <a:p>
            <a:r>
              <a:rPr lang="en-US" altLang="zh-CN" sz="2000"/>
              <a:t>P1 </a:t>
            </a:r>
            <a:r>
              <a:rPr lang="zh-CN" altLang="en-US" sz="2000"/>
              <a:t>从</a:t>
            </a:r>
            <a:r>
              <a:rPr lang="en-US" altLang="zh-CN" sz="2000"/>
              <a:t> {"non_critical"} </a:t>
            </a:r>
            <a:r>
              <a:rPr lang="zh-CN" altLang="en-US" sz="2000"/>
              <a:t>状态转移到</a:t>
            </a:r>
            <a:r>
              <a:rPr lang="en-US" altLang="zh-CN" sz="2000"/>
              <a:t> {"trying"} </a:t>
            </a:r>
            <a:r>
              <a:rPr lang="zh-CN" altLang="en-US" sz="2000"/>
              <a:t>状态。这个动作不依赖于</a:t>
            </a:r>
            <a:r>
              <a:rPr lang="en-US" altLang="zh-CN" sz="2000"/>
              <a:t> turn </a:t>
            </a:r>
            <a:r>
              <a:rPr lang="zh-CN" altLang="en-US" sz="2000"/>
              <a:t>变量。</a:t>
            </a:r>
          </a:p>
          <a:p>
            <a:endParaRPr lang="zh-CN" altLang="en-US" sz="2000"/>
          </a:p>
          <a:p>
            <a:r>
              <a:rPr lang="en-US" altLang="zh-CN" sz="2000"/>
              <a:t>P1_Enter</a:t>
            </a:r>
            <a:r>
              <a:rPr lang="zh-CN" altLang="en-US" sz="2000"/>
              <a:t>：</a:t>
            </a:r>
            <a:r>
              <a:rPr lang="en-US" altLang="zh-CN" sz="2000"/>
              <a:t>(P1 </a:t>
            </a:r>
            <a:r>
              <a:rPr lang="zh-CN" altLang="en-US" sz="2000"/>
              <a:t>尝试进入临界区</a:t>
            </a:r>
            <a:r>
              <a:rPr lang="en-US" altLang="zh-CN" sz="2000"/>
              <a:t>)</a:t>
            </a:r>
          </a:p>
          <a:p>
            <a:r>
              <a:rPr lang="en-US" altLang="zh-CN" sz="2000"/>
              <a:t>P1 </a:t>
            </a:r>
            <a:r>
              <a:rPr lang="zh-CN" altLang="en-US" sz="2000"/>
              <a:t>只有在</a:t>
            </a:r>
            <a:r>
              <a:rPr lang="en-US" altLang="zh-CN" sz="2000"/>
              <a:t> pc_1 </a:t>
            </a:r>
            <a:r>
              <a:rPr lang="zh-CN" altLang="en-US" sz="2000"/>
              <a:t>处于</a:t>
            </a:r>
            <a:r>
              <a:rPr lang="en-US" altLang="zh-CN" sz="2000"/>
              <a:t> {"trying"} </a:t>
            </a:r>
            <a:r>
              <a:rPr lang="zh-CN" altLang="en-US" sz="2000"/>
              <a:t>状态，并且</a:t>
            </a:r>
            <a:r>
              <a:rPr lang="en-US" altLang="zh-CN" sz="2000"/>
              <a:t> turn </a:t>
            </a:r>
            <a:r>
              <a:rPr lang="zh-CN" altLang="en-US" sz="2000"/>
              <a:t>等于</a:t>
            </a:r>
            <a:r>
              <a:rPr lang="en-US" altLang="zh-CN" sz="2000"/>
              <a:t> 1 </a:t>
            </a:r>
            <a:r>
              <a:rPr lang="zh-CN" altLang="en-US" sz="2000"/>
              <a:t>时，才能进入临界区。进入后，它将</a:t>
            </a:r>
            <a:r>
              <a:rPr lang="en-US" altLang="zh-CN" sz="2000"/>
              <a:t> turn </a:t>
            </a:r>
            <a:r>
              <a:rPr lang="zh-CN" altLang="en-US" sz="2000"/>
              <a:t>传递给</a:t>
            </a:r>
            <a:r>
              <a:rPr lang="en-US" altLang="zh-CN" sz="2000"/>
              <a:t> P2 (turn'=2)</a:t>
            </a:r>
            <a:r>
              <a:rPr lang="zh-CN" altLang="en-US" sz="2000"/>
              <a:t>。</a:t>
            </a:r>
          </a:p>
          <a:p>
            <a:endParaRPr lang="zh-CN" altLang="en-US" sz="2000"/>
          </a:p>
          <a:p>
            <a:r>
              <a:rPr lang="en-US" altLang="zh-CN" sz="2000"/>
              <a:t>P1_Exit</a:t>
            </a:r>
            <a:r>
              <a:rPr lang="zh-CN" altLang="en-US" sz="2000"/>
              <a:t>：</a:t>
            </a:r>
            <a:r>
              <a:rPr lang="en-US" altLang="zh-CN" sz="2000"/>
              <a:t>(P1 </a:t>
            </a:r>
            <a:r>
              <a:rPr lang="zh-CN" altLang="en-US" sz="2000"/>
              <a:t>退出临界区</a:t>
            </a:r>
            <a:r>
              <a:rPr lang="en-US" altLang="zh-CN" sz="2000"/>
              <a:t>)</a:t>
            </a:r>
          </a:p>
          <a:p>
            <a:r>
              <a:rPr lang="en-US" altLang="zh-CN" sz="2000"/>
              <a:t>P1 </a:t>
            </a:r>
            <a:r>
              <a:rPr lang="zh-CN" altLang="en-US" sz="2000"/>
              <a:t>处于</a:t>
            </a:r>
            <a:r>
              <a:rPr lang="en-US" altLang="zh-CN" sz="2000"/>
              <a:t> {"critical"} </a:t>
            </a:r>
            <a:r>
              <a:rPr lang="zh-CN" altLang="en-US" sz="2000"/>
              <a:t>状态时，随时可以退出临界区，返回</a:t>
            </a:r>
            <a:r>
              <a:rPr lang="en-US" altLang="zh-CN" sz="2000"/>
              <a:t> {"non_critical"} </a:t>
            </a:r>
            <a:r>
              <a:rPr lang="zh-CN" altLang="en-US" sz="2000"/>
              <a:t>状态。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627505" y="1123950"/>
            <a:ext cx="5452110" cy="54724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690" y="461010"/>
            <a:ext cx="10515600" cy="66294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代码实现</a:t>
            </a: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>
            <a:off x="4036817" y="4222859"/>
            <a:ext cx="4540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4036817" y="4790418"/>
            <a:ext cx="4540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036817" y="5357977"/>
            <a:ext cx="4540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036817" y="5904515"/>
            <a:ext cx="45402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427067" y="4059664"/>
            <a:ext cx="0" cy="19843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-480" r="20592"/>
          <a:stretch>
            <a:fillRect/>
          </a:stretch>
        </p:blipFill>
        <p:spPr>
          <a:xfrm>
            <a:off x="1845310" y="1377315"/>
            <a:ext cx="4932045" cy="48736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694295" y="1887220"/>
            <a:ext cx="64681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定义</a:t>
            </a:r>
            <a:r>
              <a:rPr lang="en-US" altLang="zh-CN" sz="2400"/>
              <a:t>P2</a:t>
            </a:r>
            <a:r>
              <a:rPr lang="zh-CN" altLang="en-US" sz="2400"/>
              <a:t>动作</a:t>
            </a:r>
          </a:p>
          <a:p>
            <a:r>
              <a:rPr lang="en-US" altLang="zh-CN" sz="2400"/>
              <a:t>(</a:t>
            </a:r>
            <a:r>
              <a:rPr lang="zh-CN" altLang="en-US" sz="2400"/>
              <a:t>和</a:t>
            </a:r>
            <a:r>
              <a:rPr lang="en-US" altLang="zh-CN" sz="2400"/>
              <a:t>P1</a:t>
            </a:r>
            <a:r>
              <a:rPr lang="zh-CN" altLang="en-US" sz="2400"/>
              <a:t>原理相同，不做赘述</a:t>
            </a:r>
            <a:r>
              <a:rPr lang="en-US" altLang="zh-CN" sz="240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52575" y="1580515"/>
            <a:ext cx="7797165" cy="249999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690" y="461010"/>
            <a:ext cx="10515600" cy="662940"/>
          </a:xfrm>
        </p:spPr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代码实现</a:t>
            </a: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395339" y="3602574"/>
            <a:ext cx="3599793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081902" y="5386552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081902" y="5933090"/>
            <a:ext cx="390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00" y="1800860"/>
            <a:ext cx="7143750" cy="20764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24455" y="1028065"/>
            <a:ext cx="6468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定义</a:t>
            </a:r>
            <a:r>
              <a:rPr lang="en-US" altLang="zh-CN" sz="2400"/>
              <a:t>Next</a:t>
            </a:r>
            <a:r>
              <a:rPr lang="zh-CN" altLang="en-US" sz="2400"/>
              <a:t>、</a:t>
            </a:r>
            <a:r>
              <a:rPr lang="en-US" altLang="zh-CN" sz="2400"/>
              <a:t>Spec</a:t>
            </a:r>
            <a:r>
              <a:rPr lang="zh-CN" altLang="en-US" sz="2400"/>
              <a:t>、不变式</a:t>
            </a:r>
            <a:r>
              <a:rPr lang="en-US" altLang="zh-CN" sz="2400"/>
              <a:t>(Invariant)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292860" y="4371975"/>
            <a:ext cx="880745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Next</a:t>
            </a:r>
            <a:r>
              <a:rPr lang="zh-CN" altLang="en-US"/>
              <a:t>关系：系统的下一步操作</a:t>
            </a:r>
            <a:r>
              <a:rPr lang="en-US" altLang="zh-CN"/>
              <a:t> (Next) </a:t>
            </a:r>
            <a:r>
              <a:rPr lang="zh-CN" altLang="en-US"/>
              <a:t>是上述六个核心动作的任意一个，因为这是个并发系统，</a:t>
            </a:r>
            <a:r>
              <a:rPr lang="en-US" altLang="zh-CN"/>
              <a:t>P1 </a:t>
            </a:r>
            <a:r>
              <a:rPr lang="zh-CN" altLang="en-US"/>
              <a:t>和</a:t>
            </a:r>
            <a:r>
              <a:rPr lang="en-US" altLang="zh-CN"/>
              <a:t> P2 </a:t>
            </a:r>
            <a:r>
              <a:rPr lang="zh-CN" altLang="en-US"/>
              <a:t>可以在任何时候执行其动作。</a:t>
            </a:r>
          </a:p>
          <a:p>
            <a:endParaRPr lang="zh-CN" altLang="en-US"/>
          </a:p>
          <a:p>
            <a:r>
              <a:rPr lang="zh-CN" altLang="en-US"/>
              <a:t>系统规约</a:t>
            </a:r>
            <a:r>
              <a:rPr lang="en-US" altLang="zh-CN"/>
              <a:t>Spec</a:t>
            </a:r>
            <a:r>
              <a:rPr lang="zh-CN" altLang="en-US"/>
              <a:t>：一个系统行为（</a:t>
            </a:r>
            <a:r>
              <a:rPr lang="en-US" altLang="zh-CN"/>
              <a:t>Spec</a:t>
            </a:r>
            <a:r>
              <a:rPr lang="zh-CN" altLang="en-US"/>
              <a:t>）是正确的，当且仅当它从一个满足</a:t>
            </a:r>
            <a:r>
              <a:rPr lang="en-US" altLang="zh-CN"/>
              <a:t> {Init} </a:t>
            </a:r>
            <a:r>
              <a:rPr lang="zh-CN" altLang="en-US"/>
              <a:t>条件的状态开始，并且之后每一步状态转换都遵循</a:t>
            </a:r>
            <a:r>
              <a:rPr lang="en-US" altLang="zh-CN"/>
              <a:t> {Next} </a:t>
            </a:r>
            <a:r>
              <a:rPr lang="zh-CN" altLang="en-US"/>
              <a:t>关系（或者停滞不前）。</a:t>
            </a:r>
          </a:p>
          <a:p>
            <a:endParaRPr lang="zh-CN" altLang="en-US"/>
          </a:p>
          <a:p>
            <a:r>
              <a:rPr lang="zh-CN" altLang="en-US"/>
              <a:t>不变式</a:t>
            </a:r>
            <a:r>
              <a:rPr lang="en-US" altLang="zh-CN"/>
              <a:t>(Invariant)</a:t>
            </a:r>
            <a:r>
              <a:rPr lang="zh-CN" altLang="en-US"/>
              <a:t>：满足互斥性，即两个进程永远不能同时处于临界区。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" y="1576070"/>
            <a:ext cx="7658100" cy="49072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3865" y="413715"/>
            <a:ext cx="10515600" cy="770255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TLC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模型检测器配置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3580" y="113157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对模型进行如下配置</a:t>
            </a:r>
          </a:p>
          <a:p>
            <a:pPr marL="0" indent="0"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446770" y="1473200"/>
            <a:ext cx="2695575" cy="12452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zh-CN" altLang="en-US" b="1"/>
              <a:t>告诉</a:t>
            </a:r>
            <a:r>
              <a:rPr lang="en-US" altLang="zh-CN" b="1"/>
              <a:t>TLC</a:t>
            </a:r>
            <a:r>
              <a:rPr lang="zh-CN" altLang="en-US" b="1"/>
              <a:t>模型检查器初始状态</a:t>
            </a:r>
            <a:r>
              <a:rPr lang="en-US" altLang="zh-CN" b="1"/>
              <a:t>Init</a:t>
            </a:r>
            <a:r>
              <a:rPr lang="zh-CN" altLang="en-US" b="1"/>
              <a:t>和下一个状态</a:t>
            </a:r>
            <a:r>
              <a:rPr lang="en-US" altLang="zh-CN" b="1"/>
              <a:t>Next</a:t>
            </a:r>
            <a:r>
              <a:rPr lang="zh-CN" altLang="en-US" b="1"/>
              <a:t>（从一个状态转移到下一个状态的规则）</a:t>
            </a:r>
          </a:p>
        </p:txBody>
      </p:sp>
      <p:cxnSp>
        <p:nvCxnSpPr>
          <p:cNvPr id="6" name="直接箭头连接符 5"/>
          <p:cNvCxnSpPr>
            <a:endCxn id="5" idx="1"/>
          </p:cNvCxnSpPr>
          <p:nvPr/>
        </p:nvCxnSpPr>
        <p:spPr>
          <a:xfrm flipV="1">
            <a:off x="4952365" y="2096135"/>
            <a:ext cx="3494405" cy="1722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8744585" y="3654425"/>
            <a:ext cx="1799590" cy="7505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检查死锁</a:t>
            </a:r>
          </a:p>
        </p:txBody>
      </p:sp>
      <p:cxnSp>
        <p:nvCxnSpPr>
          <p:cNvPr id="9" name="直接箭头连接符 8"/>
          <p:cNvCxnSpPr>
            <a:endCxn id="8" idx="1"/>
          </p:cNvCxnSpPr>
          <p:nvPr/>
        </p:nvCxnSpPr>
        <p:spPr>
          <a:xfrm flipV="1">
            <a:off x="1540510" y="4029710"/>
            <a:ext cx="7204075" cy="514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574405" y="5074285"/>
            <a:ext cx="2139950" cy="10185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/>
              <a:t>检查不变量</a:t>
            </a:r>
          </a:p>
        </p:txBody>
      </p:sp>
      <p:cxnSp>
        <p:nvCxnSpPr>
          <p:cNvPr id="11" name="直接箭头连接符 10"/>
          <p:cNvCxnSpPr>
            <a:endCxn id="10" idx="1"/>
          </p:cNvCxnSpPr>
          <p:nvPr/>
        </p:nvCxnSpPr>
        <p:spPr>
          <a:xfrm>
            <a:off x="1584960" y="5164455"/>
            <a:ext cx="6989445" cy="419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8" grpId="0" bldLvl="0" animBg="1"/>
      <p:bldP spid="8" grpId="1" animBg="1"/>
      <p:bldP spid="10" grpId="0" bldLvl="0" animBg="1"/>
      <p:bldP spid="1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15" y="1661160"/>
            <a:ext cx="8768715" cy="50552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3800" y="424225"/>
            <a:ext cx="10515600" cy="749935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TLC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模型检测器运行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980" y="121094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运行模型得到如下结果</a:t>
            </a:r>
          </a:p>
          <a:p>
            <a:pPr marL="0" indent="0"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226050" y="897255"/>
            <a:ext cx="2479675" cy="10388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/>
              <a:t>出现错误并停止运行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1700530" y="1416685"/>
            <a:ext cx="3525520" cy="12668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" y="1807845"/>
            <a:ext cx="8105775" cy="45885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5965" y="324376"/>
            <a:ext cx="10617835" cy="922020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TLC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模型检测器运行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132143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查看错误即可获得如下信息</a:t>
            </a:r>
          </a:p>
          <a:p>
            <a:pPr marL="0" indent="0">
              <a:buNone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179560" y="3187065"/>
            <a:ext cx="2757170" cy="2037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zh-CN" b="1" dirty="0"/>
              <a:t>pc_1={“critical”}</a:t>
            </a:r>
            <a:r>
              <a:rPr lang="zh-CN" altLang="en-US" b="1" dirty="0"/>
              <a:t>且</a:t>
            </a:r>
          </a:p>
          <a:p>
            <a:pPr algn="l"/>
            <a:r>
              <a:rPr lang="en-US" altLang="zh-CN" b="1" dirty="0"/>
              <a:t>pc_2</a:t>
            </a:r>
            <a:r>
              <a:rPr lang="en-US" altLang="zh-CN" b="1" dirty="0">
                <a:sym typeface="+mn-ea"/>
              </a:rPr>
              <a:t>={“critical”},</a:t>
            </a:r>
            <a:r>
              <a:rPr lang="zh-CN" altLang="en-US" b="1" dirty="0">
                <a:sym typeface="+mn-ea"/>
              </a:rPr>
              <a:t>这一状态与系统的互斥性</a:t>
            </a:r>
            <a:r>
              <a:rPr lang="en-US" altLang="zh-CN" b="1" dirty="0">
                <a:sym typeface="+mn-ea"/>
              </a:rPr>
              <a:t>(Mutex)</a:t>
            </a:r>
            <a:r>
              <a:rPr lang="zh-CN" altLang="en-US" b="1" dirty="0">
                <a:sym typeface="+mn-ea"/>
              </a:rPr>
              <a:t>相违背。</a:t>
            </a:r>
          </a:p>
          <a:p>
            <a:pPr algn="l"/>
            <a:r>
              <a:rPr lang="zh-CN" altLang="en-US" b="1" dirty="0">
                <a:sym typeface="+mn-ea"/>
              </a:rPr>
              <a:t>即验证出该算法的缺陷。</a:t>
            </a:r>
          </a:p>
        </p:txBody>
      </p:sp>
      <p:cxnSp>
        <p:nvCxnSpPr>
          <p:cNvPr id="9" name="直接箭头连接符 8"/>
          <p:cNvCxnSpPr>
            <a:endCxn id="8" idx="1"/>
          </p:cNvCxnSpPr>
          <p:nvPr/>
        </p:nvCxnSpPr>
        <p:spPr>
          <a:xfrm flipV="1">
            <a:off x="7568565" y="4205605"/>
            <a:ext cx="1610995" cy="16948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600" y="461010"/>
            <a:ext cx="10617200" cy="728980"/>
          </a:xfrm>
        </p:spPr>
        <p:txBody>
          <a:bodyPr>
            <a:normAutofit/>
          </a:bodyPr>
          <a:lstStyle/>
          <a:p>
            <a:r>
              <a:rPr lang="en-US" altLang="zh-CN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TLA+</a:t>
            </a:r>
            <a:r>
              <a:rPr lang="zh-CN" altLang="en-US"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应用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01380B7-2393-5827-8178-8638E9D2E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498749"/>
              </p:ext>
            </p:extLst>
          </p:nvPr>
        </p:nvGraphicFramePr>
        <p:xfrm>
          <a:off x="1245274" y="1682719"/>
          <a:ext cx="9599851" cy="4714271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1968865">
                  <a:extLst>
                    <a:ext uri="{9D8B030D-6E8A-4147-A177-3AD203B41FA5}">
                      <a16:colId xmlns:a16="http://schemas.microsoft.com/office/drawing/2014/main" val="4061428973"/>
                    </a:ext>
                  </a:extLst>
                </a:gridCol>
                <a:gridCol w="2416724">
                  <a:extLst>
                    <a:ext uri="{9D8B030D-6E8A-4147-A177-3AD203B41FA5}">
                      <a16:colId xmlns:a16="http://schemas.microsoft.com/office/drawing/2014/main" val="3211650229"/>
                    </a:ext>
                  </a:extLst>
                </a:gridCol>
                <a:gridCol w="2670600">
                  <a:extLst>
                    <a:ext uri="{9D8B030D-6E8A-4147-A177-3AD203B41FA5}">
                      <a16:colId xmlns:a16="http://schemas.microsoft.com/office/drawing/2014/main" val="1479905302"/>
                    </a:ext>
                  </a:extLst>
                </a:gridCol>
                <a:gridCol w="2543662">
                  <a:extLst>
                    <a:ext uri="{9D8B030D-6E8A-4147-A177-3AD203B41FA5}">
                      <a16:colId xmlns:a16="http://schemas.microsoft.com/office/drawing/2014/main" val="42771438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/>
                        <a:t>应用领域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/>
                        <a:t>解决的核心问题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/>
                        <a:t>代表性案例</a:t>
                      </a:r>
                      <a:r>
                        <a:rPr lang="en-US" altLang="zh-CN" sz="1700"/>
                        <a:t>/</a:t>
                      </a:r>
                      <a:r>
                        <a:rPr lang="zh-CN" altLang="en-US" sz="1700"/>
                        <a:t>验证对象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/>
                        <a:t>核心价值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4020598"/>
                  </a:ext>
                </a:extLst>
              </a:tr>
              <a:tr h="11639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/>
                        <a:t>分布式共识算法</a:t>
                      </a:r>
                      <a:r>
                        <a:rPr lang="zh-CN" altLang="en-US" sz="1700"/>
                        <a:t>​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确保在节点故障、网络分区等情况下，多个节点仍能就某个值达成一致。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/>
                        <a:t>Paxos, Raft, EPaxos​ </a:t>
                      </a:r>
                      <a:r>
                        <a:rPr lang="zh-CN" altLang="en-US" sz="1700" b="0"/>
                        <a:t>等共识算法。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/>
                        <a:t>验证算法的安全属性（如不会产生不一致）和活性属性（如最终能达成一致）。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546536"/>
                  </a:ext>
                </a:extLst>
              </a:tr>
              <a:tr h="14325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/>
                        <a:t>工业级分布式系统</a:t>
                      </a:r>
                      <a:r>
                        <a:rPr lang="zh-CN" altLang="en-US" sz="1700"/>
                        <a:t>​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验证复杂云服务（存储、计算等）核心组件的设计正确性。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/>
                        <a:t>Amazon AWS​ (DynamoDB, S3</a:t>
                      </a:r>
                      <a:r>
                        <a:rPr lang="zh-CN" altLang="en-US" sz="1700" b="0"/>
                        <a:t>等</a:t>
                      </a:r>
                      <a:r>
                        <a:rPr lang="en-US" altLang="zh-CN" sz="1700" b="0"/>
                        <a:t>)</a:t>
                      </a:r>
                      <a:r>
                        <a:rPr lang="zh-CN" altLang="en-US" sz="1700" b="0"/>
                        <a:t>、</a:t>
                      </a:r>
                      <a:r>
                        <a:rPr lang="en-US" sz="1700" b="0"/>
                        <a:t>Oracle Cloud​ (</a:t>
                      </a:r>
                      <a:r>
                        <a:rPr lang="zh-CN" altLang="en-US" sz="1700" b="0"/>
                        <a:t>块存储、文件存储</a:t>
                      </a:r>
                      <a:r>
                        <a:rPr lang="en-US" altLang="zh-CN" sz="1700" b="0"/>
                        <a:t>)</a:t>
                      </a:r>
                      <a:r>
                        <a:rPr lang="zh-CN" altLang="en-US" sz="1700" b="0"/>
                        <a:t>、微软、阿里云女娲服务​ 的关键组件。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/>
                        <a:t>在生产代码编写前发现设计层面的根本性错误，避免线上故障，节省巨大成本。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3893833"/>
                  </a:ext>
                </a:extLst>
              </a:tr>
              <a:tr h="8953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/>
                        <a:t>并发程序与数据结构</a:t>
                      </a:r>
                      <a:r>
                        <a:rPr lang="zh-CN" altLang="en-US" sz="1700"/>
                        <a:t>​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发现多线程环境下因执行时序不确定而引发的死锁、竞态条件等问题。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/>
                        <a:t>生产者</a:t>
                      </a:r>
                      <a:r>
                        <a:rPr lang="en-US" altLang="zh-CN" sz="1700" b="0"/>
                        <a:t>-</a:t>
                      </a:r>
                      <a:r>
                        <a:rPr lang="zh-CN" altLang="en-US" sz="1700" b="0"/>
                        <a:t>消费者模型中的死锁，以及各种并发数据结构和同步原语。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/>
                        <a:t>系统性地遍历所有可能的线程交错执行路径，暴露罕见的并发</a:t>
                      </a:r>
                      <a:r>
                        <a:rPr lang="en-US" altLang="zh-CN" sz="1700" b="0"/>
                        <a:t>Bug</a:t>
                      </a:r>
                      <a:r>
                        <a:rPr lang="zh-CN" altLang="en-US" sz="1700" b="0"/>
                        <a:t>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2396665"/>
                  </a:ext>
                </a:extLst>
              </a:tr>
              <a:tr h="6267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700" b="1"/>
                        <a:t>区块链协议</a:t>
                      </a:r>
                      <a:r>
                        <a:rPr lang="zh-CN" altLang="en-US" sz="1700"/>
                        <a:t>​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/>
                        <a:t>验证区块链底层共识机制和通信协议的安全性。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700" b="0"/>
                        <a:t>Tendermint</a:t>
                      </a:r>
                      <a:r>
                        <a:rPr lang="zh-CN" altLang="en-US" sz="1700" b="0"/>
                        <a:t>共识、区块链间通信协议（</a:t>
                      </a:r>
                      <a:r>
                        <a:rPr lang="en-US" altLang="zh-CN" sz="1700" b="0"/>
                        <a:t>IBC</a:t>
                      </a:r>
                      <a:r>
                        <a:rPr lang="zh-CN" altLang="en-US" sz="1700" b="0"/>
                        <a:t>）。</a:t>
                      </a:r>
                    </a:p>
                  </a:txBody>
                  <a:tcPr marL="87027" marR="87027" marT="43513" marB="43513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00" b="0"/>
                        <a:t>在复杂的异步网络环境中，形式化地证明协议的关键安全属性。</a:t>
                      </a:r>
                    </a:p>
                  </a:txBody>
                  <a:tcPr marL="87027" marR="87027" marT="43513" marB="4351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0725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155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600" y="461010"/>
            <a:ext cx="10617200" cy="728980"/>
          </a:xfrm>
        </p:spPr>
        <p:txBody>
          <a:bodyPr>
            <a:normAutofit/>
          </a:bodyPr>
          <a:lstStyle/>
          <a:p>
            <a:r>
              <a:rPr lang="zh-CN" altLang="en-US" sz="28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思考</a:t>
            </a:r>
            <a:endParaRPr lang="en-US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4921" y="460744"/>
            <a:ext cx="127591" cy="567070"/>
          </a:xfrm>
          <a:prstGeom prst="rect">
            <a:avLst/>
          </a:prstGeom>
          <a:solidFill>
            <a:srgbClr val="AF21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91773E13-2BD0-D012-8DEA-A27C7DBA57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1337421"/>
              </p:ext>
            </p:extLst>
          </p:nvPr>
        </p:nvGraphicFramePr>
        <p:xfrm>
          <a:off x="1795462" y="862013"/>
          <a:ext cx="9029699" cy="5881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910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DB44E30-715F-4973-8179-B4178D7E09F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charset="0"/>
                <a:ea typeface="微软雅黑" pitchFamily="34" charset="-122"/>
                <a:cs typeface="+mn-ea"/>
                <a:sym typeface="Arial" charset="0"/>
              </a:rPr>
              <a:t>2026/1/18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charset="0"/>
              <a:ea typeface="微软雅黑" pitchFamily="34" charset="-122"/>
              <a:cs typeface="+mn-ea"/>
              <a:sym typeface="Arial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charset="0"/>
                <a:ea typeface="微软雅黑" pitchFamily="34" charset="-122"/>
                <a:cs typeface="+mn-ea"/>
                <a:sym typeface="Arial" charset="0"/>
              </a:rPr>
              <a:t>西安电子科技大学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charset="0"/>
              <a:ea typeface="微软雅黑" pitchFamily="34" charset="-122"/>
              <a:cs typeface="+mn-ea"/>
              <a:sym typeface="Arial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3B9A5AF-BDD6-4E14-989F-CF034C94E4C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charset="0"/>
                <a:ea typeface="微软雅黑" pitchFamily="34" charset="-122"/>
                <a:cs typeface="+mn-ea"/>
                <a:sym typeface="Arial" charset="0"/>
              </a:r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charset="0"/>
              <a:ea typeface="微软雅黑" pitchFamily="34" charset="-122"/>
              <a:cs typeface="+mn-ea"/>
              <a:sym typeface="Arial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25583" y="2310591"/>
            <a:ext cx="3005951" cy="1065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0" i="0" u="none" strike="noStrike" kern="1200" cap="none" spc="100" normalizeH="0" baseline="0" noProof="0" dirty="0">
                <a:ln>
                  <a:noFill/>
                </a:ln>
                <a:solidFill>
                  <a:srgbClr val="AF2125"/>
                </a:solidFill>
                <a:effectLst/>
                <a:uLnTx/>
                <a:uFillTx/>
                <a:latin typeface="Arial" charset="0"/>
                <a:ea typeface="微软雅黑" pitchFamily="34" charset="-122"/>
                <a:cs typeface="+mn-ea"/>
                <a:sym typeface="Arial" charset="0"/>
              </a:rPr>
              <a:t>感谢聆听</a:t>
            </a:r>
          </a:p>
        </p:txBody>
      </p:sp>
      <p:sp>
        <p:nvSpPr>
          <p:cNvPr id="17" name="任意多边形: 形状 16"/>
          <p:cNvSpPr/>
          <p:nvPr/>
        </p:nvSpPr>
        <p:spPr>
          <a:xfrm>
            <a:off x="1132990" y="1824137"/>
            <a:ext cx="1800000" cy="1800000"/>
          </a:xfrm>
          <a:custGeom>
            <a:avLst/>
            <a:gdLst>
              <a:gd name="connsiteX0" fmla="*/ 0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366040 h 1800000"/>
              <a:gd name="connsiteX3" fmla="*/ 1656604 w 1800000"/>
              <a:gd name="connsiteY3" fmla="*/ 366040 h 1800000"/>
              <a:gd name="connsiteX4" fmla="*/ 1656604 w 1800000"/>
              <a:gd name="connsiteY4" fmla="*/ 157793 h 1800000"/>
              <a:gd name="connsiteX5" fmla="*/ 172635 w 1800000"/>
              <a:gd name="connsiteY5" fmla="*/ 157793 h 1800000"/>
              <a:gd name="connsiteX6" fmla="*/ 172635 w 1800000"/>
              <a:gd name="connsiteY6" fmla="*/ 1641762 h 1800000"/>
              <a:gd name="connsiteX7" fmla="*/ 900000 w 1800000"/>
              <a:gd name="connsiteY7" fmla="*/ 1641762 h 1800000"/>
              <a:gd name="connsiteX8" fmla="*/ 900000 w 1800000"/>
              <a:gd name="connsiteY8" fmla="*/ 1800000 h 1800000"/>
              <a:gd name="connsiteX9" fmla="*/ 0 w 1800000"/>
              <a:gd name="connsiteY9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lnTo>
                  <a:pt x="1800000" y="0"/>
                </a:lnTo>
                <a:lnTo>
                  <a:pt x="1800000" y="366040"/>
                </a:lnTo>
                <a:lnTo>
                  <a:pt x="1656604" y="366040"/>
                </a:lnTo>
                <a:lnTo>
                  <a:pt x="1656604" y="157793"/>
                </a:lnTo>
                <a:lnTo>
                  <a:pt x="172635" y="157793"/>
                </a:lnTo>
                <a:lnTo>
                  <a:pt x="172635" y="1641762"/>
                </a:lnTo>
                <a:lnTo>
                  <a:pt x="900000" y="1641762"/>
                </a:lnTo>
                <a:lnTo>
                  <a:pt x="900000" y="1800000"/>
                </a:lnTo>
                <a:lnTo>
                  <a:pt x="0" y="18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微软雅黑" pitchFamily="34" charset="-122"/>
              <a:cs typeface="+mn-ea"/>
              <a:sym typeface="Arial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30480" y="5598160"/>
            <a:ext cx="12202160" cy="1259840"/>
          </a:xfrm>
          <a:custGeom>
            <a:avLst/>
            <a:gdLst>
              <a:gd name="connsiteX0" fmla="*/ 10160 w 12222480"/>
              <a:gd name="connsiteY0" fmla="*/ 1087120 h 1910080"/>
              <a:gd name="connsiteX1" fmla="*/ 12222480 w 12222480"/>
              <a:gd name="connsiteY1" fmla="*/ 0 h 1910080"/>
              <a:gd name="connsiteX2" fmla="*/ 12222480 w 12222480"/>
              <a:gd name="connsiteY2" fmla="*/ 1910080 h 1910080"/>
              <a:gd name="connsiteX3" fmla="*/ 0 w 12222480"/>
              <a:gd name="connsiteY3" fmla="*/ 1899920 h 1910080"/>
              <a:gd name="connsiteX4" fmla="*/ 10160 w 12222480"/>
              <a:gd name="connsiteY4" fmla="*/ 1087120 h 19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2480" h="1910080">
                <a:moveTo>
                  <a:pt x="10160" y="1087120"/>
                </a:moveTo>
                <a:lnTo>
                  <a:pt x="12222480" y="0"/>
                </a:lnTo>
                <a:lnTo>
                  <a:pt x="12222480" y="1910080"/>
                </a:lnTo>
                <a:lnTo>
                  <a:pt x="0" y="1899920"/>
                </a:lnTo>
                <a:lnTo>
                  <a:pt x="10160" y="108712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微软雅黑" pitchFamily="34" charset="-122"/>
              <a:cs typeface="+mn-ea"/>
              <a:sym typeface="Arial" charset="0"/>
            </a:endParaRPr>
          </a:p>
        </p:txBody>
      </p:sp>
      <p:sp>
        <p:nvSpPr>
          <p:cNvPr id="20" name="任意多边形: 形状 19"/>
          <p:cNvSpPr/>
          <p:nvPr/>
        </p:nvSpPr>
        <p:spPr>
          <a:xfrm flipH="1">
            <a:off x="-40640" y="5585460"/>
            <a:ext cx="12273280" cy="1259840"/>
          </a:xfrm>
          <a:custGeom>
            <a:avLst/>
            <a:gdLst>
              <a:gd name="connsiteX0" fmla="*/ 10160 w 12222480"/>
              <a:gd name="connsiteY0" fmla="*/ 1087120 h 1910080"/>
              <a:gd name="connsiteX1" fmla="*/ 12222480 w 12222480"/>
              <a:gd name="connsiteY1" fmla="*/ 0 h 1910080"/>
              <a:gd name="connsiteX2" fmla="*/ 12222480 w 12222480"/>
              <a:gd name="connsiteY2" fmla="*/ 1910080 h 1910080"/>
              <a:gd name="connsiteX3" fmla="*/ 0 w 12222480"/>
              <a:gd name="connsiteY3" fmla="*/ 1899920 h 1910080"/>
              <a:gd name="connsiteX4" fmla="*/ 10160 w 12222480"/>
              <a:gd name="connsiteY4" fmla="*/ 1087120 h 19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2480" h="1910080">
                <a:moveTo>
                  <a:pt x="10160" y="1087120"/>
                </a:moveTo>
                <a:lnTo>
                  <a:pt x="12222480" y="0"/>
                </a:lnTo>
                <a:lnTo>
                  <a:pt x="12222480" y="1910080"/>
                </a:lnTo>
                <a:lnTo>
                  <a:pt x="0" y="1899920"/>
                </a:lnTo>
                <a:lnTo>
                  <a:pt x="10160" y="1087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微软雅黑" pitchFamily="34" charset="-122"/>
              <a:cs typeface="+mn-ea"/>
              <a:sym typeface="Arial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33520" y="6134875"/>
            <a:ext cx="4196080" cy="417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srgbClr val="EB9597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" charset="0"/>
                <a:ea typeface="微软雅黑" pitchFamily="34" charset="-122"/>
                <a:cs typeface="+mn-ea"/>
                <a:sym typeface="Arial" charset="0"/>
              </a:rPr>
              <a:t>厚德 求真 励学 笃行</a:t>
            </a:r>
            <a:endParaRPr kumimoji="0" lang="en-US" altLang="zh-CN" sz="1800" b="0" i="0" u="none" strike="noStrike" kern="1200" cap="none" spc="100" normalizeH="0" baseline="0" noProof="0" dirty="0">
              <a:ln>
                <a:noFill/>
              </a:ln>
              <a:solidFill>
                <a:srgbClr val="EB9597">
                  <a:lumMod val="20000"/>
                  <a:lumOff val="80000"/>
                </a:srgbClr>
              </a:solidFill>
              <a:effectLst/>
              <a:uLnTx/>
              <a:uFillTx/>
              <a:latin typeface="Arial" charset="0"/>
              <a:ea typeface="微软雅黑" pitchFamily="34" charset="-122"/>
              <a:cs typeface="+mn-ea"/>
              <a:sym typeface="Arial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西电_红色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F2125"/>
      </a:accent1>
      <a:accent2>
        <a:srgbClr val="DC484C"/>
      </a:accent2>
      <a:accent3>
        <a:srgbClr val="EB9597"/>
      </a:accent3>
      <a:accent4>
        <a:srgbClr val="FFF2CC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sz="1600" spc="100" dirty="0">
            <a:solidFill>
              <a:schemeClr val="accent4">
                <a:lumMod val="20000"/>
                <a:lumOff val="80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1766</Words>
  <Application>Microsoft Office PowerPoint</Application>
  <PresentationFormat>宽屏</PresentationFormat>
  <Paragraphs>188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思源黑体 CN Heavy</vt:lpstr>
      <vt:lpstr>思源黑体 CN Medium</vt:lpstr>
      <vt:lpstr>思源黑体 CN Normal</vt:lpstr>
      <vt:lpstr>微软雅黑</vt:lpstr>
      <vt:lpstr>优设标题黑</vt:lpstr>
      <vt:lpstr>Arial</vt:lpstr>
      <vt:lpstr>Calibri</vt:lpstr>
      <vt:lpstr>Wingdings</vt:lpstr>
      <vt:lpstr>WPS</vt:lpstr>
      <vt:lpstr>Office 主题​​</vt:lpstr>
      <vt:lpstr>PowerPoint 演示文稿</vt:lpstr>
      <vt:lpstr>PowerPoint 演示文稿</vt:lpstr>
      <vt:lpstr>引言</vt:lpstr>
      <vt:lpstr>TLA+介绍</vt:lpstr>
      <vt:lpstr>TLA+介绍</vt:lpstr>
      <vt:lpstr>案例：互斥锁问题 (Mutual Exclusion)</vt:lpstr>
      <vt:lpstr>案例：互斥锁问题 (Mutual Exclusion)</vt:lpstr>
      <vt:lpstr>案例：互斥锁问题 (Mutual Exclusion)</vt:lpstr>
      <vt:lpstr>代码实现</vt:lpstr>
      <vt:lpstr>代码实现</vt:lpstr>
      <vt:lpstr>代码实现</vt:lpstr>
      <vt:lpstr>代码实现</vt:lpstr>
      <vt:lpstr>TLC模型检测器配置</vt:lpstr>
      <vt:lpstr>TLC模型检测器运行</vt:lpstr>
      <vt:lpstr>TLC模型检测器运行</vt:lpstr>
      <vt:lpstr>TLA+应用</vt:lpstr>
      <vt:lpstr>思考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@ 吴</cp:lastModifiedBy>
  <cp:revision>20</cp:revision>
  <dcterms:created xsi:type="dcterms:W3CDTF">2023-08-09T12:44:00Z</dcterms:created>
  <dcterms:modified xsi:type="dcterms:W3CDTF">2026-01-18T13:38:13Z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A107AD08479547ED9EC8694EE65B1602_12</vt:lpwstr>
  </property>
</Properties>
</file>