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Azeret Mono" panose="02010600030101010101" charset="0"/>
      <p:regular r:id="rId19"/>
      <p:bold r:id="rId20"/>
      <p:italic r:id="rId21"/>
      <p:boldItalic r:id="rId22"/>
    </p:embeddedFont>
    <p:embeddedFont>
      <p:font typeface="Merriweather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40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EDFDD5E5-F97C-4B9A-E8BD-37353F036381}"/>
              </a:ext>
            </a:extLst>
          </p:cNvPr>
          <p:cNvSpPr txBox="1"/>
          <p:nvPr/>
        </p:nvSpPr>
        <p:spPr>
          <a:xfrm>
            <a:off x="3250644" y="2529780"/>
            <a:ext cx="569071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TLA+ </a:t>
            </a:r>
            <a:r>
              <a:rPr lang="zh-CN" altLang="en-US" sz="5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介绍与</a:t>
            </a:r>
            <a:r>
              <a:rPr lang="en-US" sz="5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实践</a:t>
            </a:r>
            <a:endParaRPr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6F5677-D31A-EE12-91F1-00FCCBCB0491}"/>
              </a:ext>
            </a:extLst>
          </p:cNvPr>
          <p:cNvSpPr txBox="1"/>
          <p:nvPr/>
        </p:nvSpPr>
        <p:spPr>
          <a:xfrm>
            <a:off x="8229600" y="3657599"/>
            <a:ext cx="3114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学号：</a:t>
            </a:r>
            <a:r>
              <a:rPr lang="en-US" altLang="zh-CN" sz="1800" dirty="0"/>
              <a:t>25031212338</a:t>
            </a:r>
          </a:p>
          <a:p>
            <a:r>
              <a:rPr lang="zh-CN" altLang="en-US" sz="1800" dirty="0"/>
              <a:t>姓名：吕彤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400175"/>
            <a:ext cx="52673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533400" y="20097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600075" y="1952625"/>
            <a:ext cx="5029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一种用于数字系统（算法、程序、系统）的 </a:t>
            </a:r>
            <a:r>
              <a:rPr lang="en-US" sz="1500" b="1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高级建模语言</a:t>
            </a:r>
            <a:endParaRPr dirty="0"/>
          </a:p>
        </p:txBody>
      </p:sp>
      <p:sp>
        <p:nvSpPr>
          <p:cNvPr id="92" name="Google Shape;92;p14"/>
          <p:cNvSpPr txBox="1"/>
          <p:nvPr/>
        </p:nvSpPr>
        <p:spPr>
          <a:xfrm>
            <a:off x="533400" y="24574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609600" y="2376488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由图灵奖得主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Leslie Lamport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开发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533400" y="29051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00075" y="2831306"/>
            <a:ext cx="5029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它是一种规范语言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(Specification Language)，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而非编程语言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533400" y="33528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09600" y="3276601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核心思想：将系统抽象为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1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状态机</a:t>
            </a:r>
            <a:r>
              <a:rPr lang="en-US" sz="15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(State Machine)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533400" y="38481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09600" y="3743325"/>
            <a:ext cx="5029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我们只需定义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771525" y="41052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7725" y="4038600"/>
            <a:ext cx="4791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所有合法的初始状态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5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)。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771525" y="45529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38200" y="4438650"/>
            <a:ext cx="4791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从一个状态转移到下一个状态的合法规则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5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)。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590550" y="495300"/>
            <a:ext cx="115614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什么是 TLA+？</a:t>
            </a:r>
            <a:endParaRPr/>
          </a:p>
        </p:txBody>
      </p:sp>
      <p:pic>
        <p:nvPicPr>
          <p:cNvPr id="2" name="Google Shape;100;p14" descr="image.png">
            <a:extLst>
              <a:ext uri="{FF2B5EF4-FFF2-40B4-BE49-F238E27FC236}">
                <a16:creationId xmlns:a16="http://schemas.microsoft.com/office/drawing/2014/main" id="{93BDF72B-C06E-1895-3171-753EA34C2FE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1400175"/>
            <a:ext cx="524827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428750"/>
            <a:ext cx="52673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90550" y="1619250"/>
            <a:ext cx="5267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传统的测试（Testing）难以覆盖复杂系统的所有可能执行路径，尤其是在分布式系统中。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90550" y="2419350"/>
            <a:ext cx="553069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痛点：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90550" y="4781550"/>
            <a:ext cx="5267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TLA+ 允许我们在编写代码之前，对系统设计进行穷举检查，发现深层次的设计缺陷。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62000" y="29432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1295" y="28575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并发问题</a:t>
            </a:r>
            <a:r>
              <a:rPr lang="en-US" sz="15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竞态条件、死锁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762000" y="33909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28675" y="333375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不确定性</a:t>
            </a:r>
            <a:r>
              <a:rPr lang="en-US" sz="15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网络延迟、消息丢失、节点失败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38385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38200" y="379095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我的设计在并发下是否安全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？"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42862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28675" y="424815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这个算法会不会导致数据不一致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？"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590550" y="495300"/>
            <a:ext cx="1156144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TLA+ 解决了什么问题？</a:t>
            </a:r>
            <a:endParaRPr/>
          </a:p>
        </p:txBody>
      </p:sp>
      <p:pic>
        <p:nvPicPr>
          <p:cNvPr id="2" name="Google Shape;122;p15" descr="image.png">
            <a:extLst>
              <a:ext uri="{FF2B5EF4-FFF2-40B4-BE49-F238E27FC236}">
                <a16:creationId xmlns:a16="http://schemas.microsoft.com/office/drawing/2014/main" id="{AD41F20C-6058-ADB5-B89B-96CEE6655D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409700"/>
            <a:ext cx="524827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" y="1797397"/>
            <a:ext cx="3416349" cy="3192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7899" y="1797397"/>
            <a:ext cx="3416349" cy="3192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85249" y="1797397"/>
            <a:ext cx="3416349" cy="319266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90550" y="5371058"/>
            <a:ext cx="9299823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流程: 我们编写 PlusCal ➔ [翻译器] ➔ 生成 TLA+ 规范 ➔ [TLC模型检测器] ➔ 输出验证结果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158976" y="2807047"/>
            <a:ext cx="22793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PlusCal (P-Syntax)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85825" y="3426172"/>
            <a:ext cx="28257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一种我们用来编写算法的伪代码语言。语法类似 Pascal，对工程师友好。我们工作的起点。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008832" y="2807047"/>
            <a:ext cx="217433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TLA+ (M-Syntax)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683174" y="3426172"/>
            <a:ext cx="28257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PlusCal 算法的“编译”产物。它是纯粹的、数学化的 TLA+ 规范（即 Init 和 Next 的定义）。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55678" y="2807047"/>
            <a:ext cx="267549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TLC (Model Checker)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480524" y="3426172"/>
            <a:ext cx="28257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TLA+ 规范的“运行”和“验证”工具。TLC 会穷举系统所有可能的执行路径，检查是否违反了我们定义的属性。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20800" y="2130772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18150" y="2130772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0" y="2130772"/>
            <a:ext cx="3556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90550" y="495300"/>
            <a:ext cx="115614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TLA+ 生态系统：TLA+、PlusCal、TLC 的关系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/>
          <p:nvPr/>
        </p:nvSpPr>
        <p:spPr>
          <a:xfrm>
            <a:off x="971550" y="1428750"/>
            <a:ext cx="106299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编写 (Write):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在 TLA+ 模块中编写 PlusCal 算法 (*--algorithm ... *)。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71550" y="1933575"/>
            <a:ext cx="10629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翻译 (Translate):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运行 PlusCal 翻译器 (例如在 TLA+ Toolbox 中点击 "Translate Algorithm")。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71550" y="2428875"/>
            <a:ext cx="106299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生成 (Generate):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翻译器自动生成 TLA+ M-Syntax (即 Init, Next, Spec) 规范。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71550" y="2933700"/>
            <a:ext cx="10629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建模 (Model):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创建一个 TLC 模型，在模型中指定要检查的内容。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71550" y="3429000"/>
            <a:ext cx="10629900" cy="160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配置 (Configure):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71550" y="5229225"/>
            <a:ext cx="10629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运行 (Run):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运行 TLC 模型检测器。TLC 开始穷举所有可能的状态。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71550" y="5724525"/>
            <a:ext cx="10629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分析 (Analyze):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TLC 报告 </a:t>
            </a: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"No errors found."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或 </a:t>
            </a: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"Error: ..."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(并提供导致错误的 Error-Trace)。</a:t>
            </a:r>
            <a:endParaRPr/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" y="1476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50" y="19812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476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" y="29813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50" y="34766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" y="52768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0550" y="577215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1352550" y="3733800"/>
            <a:ext cx="10248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检查 </a:t>
            </a: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Deadlock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(死锁)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352550" y="4229100"/>
            <a:ext cx="102489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添加 </a:t>
            </a: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Invariants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(不变式，例如: NoInconsistency, TypeOK)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352550" y="4733925"/>
            <a:ext cx="10248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(可选) 添加 </a:t>
            </a: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Properties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(活性属性)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590550" y="495300"/>
            <a:ext cx="1156144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PlusCal ➔ TLC：完整的验证流程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/>
        </p:nvSpPr>
        <p:spPr>
          <a:xfrm>
            <a:off x="2190750" y="14287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(*--algorithm ... *):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算法定义块。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2190750" y="19240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...;: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定义系统的全局状态 (所有进程共享)。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2190750" y="24193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...: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定义一个并发进程（线程）。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2190750" y="2914650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标签 (Labels) (例如: TmVoteReq:):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两个标签之间的代码块被视为一个原子的、不可分割的操作。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2190750" y="37147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await ;: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守卫 (Guard)。进程必须等待 condition 为 TRUE 时，才能执行这个原子步骤。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2190750" y="42100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either { ... } or { ... };: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非确定性 (Nondeterminism)。TLC 会探索所有分支。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2190750" y="47053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goto ...;: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跳转到另一个标签。</a:t>
            </a:r>
            <a:endParaRPr/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14763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9716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4669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29622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3762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2576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09750" y="475297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590550" y="495300"/>
            <a:ext cx="1156144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PlusCal</a:t>
            </a:r>
            <a:r>
              <a:rPr lang="en-US" sz="3000" b="1" i="0" u="none" strike="noStrike" cap="none" dirty="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1" i="0" u="none" strike="noStrike" cap="none" dirty="0" err="1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语法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3" y="1081087"/>
            <a:ext cx="5410200" cy="560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885825" y="1376362"/>
            <a:ext cx="506063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PlusCal 如何转换？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85825" y="1928812"/>
            <a:ext cx="4819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PlusCal 翻译器将“伪代码”转换成 Init 和 Next 状态机：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486525" y="1376362"/>
            <a:ext cx="506063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示例: 标签到 Action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305550" y="3713274"/>
            <a:ext cx="4819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翻译器生成的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TLA+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动作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概念上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):</a:t>
            </a:r>
            <a:endParaRPr dirty="0"/>
          </a:p>
        </p:txBody>
      </p:sp>
      <p:sp>
        <p:nvSpPr>
          <p:cNvPr id="194" name="Google Shape;194;p19"/>
          <p:cNvSpPr txBox="1"/>
          <p:nvPr/>
        </p:nvSpPr>
        <p:spPr>
          <a:xfrm>
            <a:off x="1066800" y="242316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233487" y="2340322"/>
            <a:ext cx="45815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-&gt; TLA+ VARIABLES: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成为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TLA+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的全局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VARIABLES。</a:t>
            </a:r>
            <a:endParaRPr dirty="0"/>
          </a:p>
        </p:txBody>
      </p:sp>
      <p:sp>
        <p:nvSpPr>
          <p:cNvPr id="196" name="Google Shape;196;p19"/>
          <p:cNvSpPr txBox="1"/>
          <p:nvPr/>
        </p:nvSpPr>
        <p:spPr>
          <a:xfrm>
            <a:off x="1066800" y="311461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123950" y="3049399"/>
            <a:ext cx="45815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魔法”变量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pc: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自动添加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pc (Program Counter)，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保存每个进程的当前标签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 (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例如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pc["TM"] = "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TmDecision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")</a:t>
            </a:r>
            <a:endParaRPr dirty="0"/>
          </a:p>
        </p:txBody>
      </p:sp>
      <p:sp>
        <p:nvSpPr>
          <p:cNvPr id="198" name="Google Shape;198;p19"/>
          <p:cNvSpPr txBox="1"/>
          <p:nvPr/>
        </p:nvSpPr>
        <p:spPr>
          <a:xfrm>
            <a:off x="1066800" y="380607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dirty="0"/>
          </a:p>
        </p:txBody>
      </p:sp>
      <p:sp>
        <p:nvSpPr>
          <p:cNvPr id="199" name="Google Shape;199;p19"/>
          <p:cNvSpPr txBox="1"/>
          <p:nvPr/>
        </p:nvSpPr>
        <p:spPr>
          <a:xfrm>
            <a:off x="1123950" y="3771899"/>
            <a:ext cx="45815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标签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-&gt; TLA+ Action: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每一个标签被翻译成一个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TLA+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动作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(Action)。</a:t>
            </a:r>
            <a:endParaRPr dirty="0"/>
          </a:p>
        </p:txBody>
      </p:sp>
      <p:sp>
        <p:nvSpPr>
          <p:cNvPr id="202" name="Google Shape;202;p19"/>
          <p:cNvSpPr txBox="1"/>
          <p:nvPr/>
        </p:nvSpPr>
        <p:spPr>
          <a:xfrm>
            <a:off x="6296025" y="4188976"/>
            <a:ext cx="54102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D90007"/>
                </a:solidFill>
                <a:latin typeface="Azeret Mono"/>
                <a:ea typeface="Azeret Mono"/>
                <a:cs typeface="Azeret Mono"/>
                <a:sym typeface="Azeret Mono"/>
              </a:rPr>
              <a:t>Action_L1(self) ==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D90007"/>
                </a:solidFill>
                <a:latin typeface="Azeret Mono"/>
                <a:ea typeface="Azeret Mono"/>
                <a:cs typeface="Azeret Mono"/>
                <a:sym typeface="Azeret Mono"/>
              </a:rPr>
              <a:t>      /\ pc[self] = “L1”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D90007"/>
                </a:solidFill>
                <a:latin typeface="Azeret Mono"/>
                <a:ea typeface="Azeret Mono"/>
                <a:cs typeface="Azeret Mono"/>
                <a:sym typeface="Azeret Mono"/>
              </a:rPr>
              <a:t>      /\ x &gt; 0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D90007"/>
                </a:solidFill>
                <a:latin typeface="Azeret Mono"/>
                <a:ea typeface="Azeret Mono"/>
                <a:cs typeface="Azeret Mono"/>
                <a:sym typeface="Azeret Mono"/>
              </a:rPr>
              <a:t>      /\ x’= x – 1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D90007"/>
                </a:solidFill>
                <a:latin typeface="Azeret Mono"/>
                <a:ea typeface="Azeret Mono"/>
                <a:cs typeface="Azeret Mono"/>
                <a:sym typeface="Azeret Mono"/>
              </a:rPr>
              <a:t>      /\ pc’=[pc EXCEPT ![self] = “L2”]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D90007"/>
                </a:solidFill>
                <a:latin typeface="Azeret Mono"/>
                <a:ea typeface="Azeret Mono"/>
                <a:cs typeface="Azeret Mono"/>
                <a:sym typeface="Azeret Mono"/>
              </a:rPr>
              <a:t>      /\ UNCHANGED &lt;- …&gt;&gt;</a:t>
            </a:r>
            <a:endParaRPr lang="en-US" b="1" i="0" u="none" strike="noStrike" cap="none" dirty="0">
              <a:solidFill>
                <a:srgbClr val="D90007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D90007"/>
                </a:solidFill>
                <a:latin typeface="Azeret Mono"/>
                <a:ea typeface="Azeret Mono"/>
                <a:cs typeface="Azeret Mono"/>
                <a:sym typeface="Azeret Mono"/>
              </a:rPr>
              <a:t>Next == \E self \in Procs: (Action_L1(self) \/ Action_L2(self) \/ ...)</a:t>
            </a:r>
            <a:endParaRPr dirty="0"/>
          </a:p>
        </p:txBody>
      </p:sp>
      <p:sp>
        <p:nvSpPr>
          <p:cNvPr id="203" name="Google Shape;203;p19"/>
          <p:cNvSpPr txBox="1"/>
          <p:nvPr/>
        </p:nvSpPr>
        <p:spPr>
          <a:xfrm>
            <a:off x="590550" y="176212"/>
            <a:ext cx="1156144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PlusCal</a:t>
            </a:r>
            <a:r>
              <a:rPr lang="en-US" sz="3000" b="1" i="0" u="none" strike="noStrike" cap="none" dirty="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1" i="0" u="none" strike="noStrike" cap="none" dirty="0" err="1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编译</a:t>
            </a:r>
            <a:endParaRPr dirty="0"/>
          </a:p>
        </p:txBody>
      </p:sp>
      <p:sp>
        <p:nvSpPr>
          <p:cNvPr id="3" name="Google Shape;202;p19">
            <a:extLst>
              <a:ext uri="{FF2B5EF4-FFF2-40B4-BE49-F238E27FC236}">
                <a16:creationId xmlns:a16="http://schemas.microsoft.com/office/drawing/2014/main" id="{3C623148-E166-4C6D-E592-73D6EE670EC4}"/>
              </a:ext>
            </a:extLst>
          </p:cNvPr>
          <p:cNvSpPr txBox="1"/>
          <p:nvPr/>
        </p:nvSpPr>
        <p:spPr>
          <a:xfrm>
            <a:off x="6296025" y="2145118"/>
            <a:ext cx="3971925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D90007"/>
                </a:solidFill>
                <a:latin typeface="Azeret Mono"/>
                <a:ea typeface="Azeret Mono"/>
                <a:cs typeface="Azeret Mono"/>
                <a:sym typeface="Azeret Mono"/>
              </a:rPr>
              <a:t>L1: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D90007"/>
                </a:solidFill>
                <a:latin typeface="Azeret Mono"/>
                <a:ea typeface="Azeret Mono"/>
                <a:cs typeface="Azeret Mono"/>
                <a:sym typeface="Azeret Mono"/>
              </a:rPr>
              <a:t>   await x </a:t>
            </a:r>
            <a:r>
              <a:rPr lang="en-US" b="1" dirty="0">
                <a:solidFill>
                  <a:srgbClr val="D90007"/>
                </a:solidFill>
                <a:latin typeface="Azeret Mono"/>
                <a:ea typeface="Azeret Mono"/>
                <a:cs typeface="Azeret Mono"/>
                <a:sym typeface="Azeret Mono"/>
              </a:rPr>
              <a:t>&gt; 0: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D90007"/>
                </a:solidFill>
                <a:latin typeface="Azeret Mono"/>
                <a:ea typeface="Azeret Mono"/>
                <a:cs typeface="Azeret Mono"/>
                <a:sym typeface="Azeret Mono"/>
              </a:rPr>
              <a:t>   x:=x-1;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D90007"/>
                </a:solidFill>
                <a:latin typeface="Azeret Mono"/>
                <a:ea typeface="Azeret Mono"/>
                <a:cs typeface="Azeret Mono"/>
                <a:sym typeface="Azeret Mono"/>
              </a:rPr>
              <a:t>   </a:t>
            </a:r>
            <a:r>
              <a:rPr lang="en-US" b="1" dirty="0" err="1">
                <a:solidFill>
                  <a:srgbClr val="D90007"/>
                </a:solidFill>
                <a:latin typeface="Azeret Mono"/>
                <a:ea typeface="Azeret Mono"/>
                <a:cs typeface="Azeret Mono"/>
                <a:sym typeface="Azeret Mono"/>
              </a:rPr>
              <a:t>goto</a:t>
            </a:r>
            <a:r>
              <a:rPr lang="en-US" b="1" dirty="0">
                <a:solidFill>
                  <a:srgbClr val="D90007"/>
                </a:solidFill>
                <a:latin typeface="Azeret Mono"/>
                <a:ea typeface="Azeret Mono"/>
                <a:cs typeface="Azeret Mono"/>
                <a:sym typeface="Azeret Mono"/>
              </a:rPr>
              <a:t> L2;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0416EE-9B82-F232-7542-E6A93FFBE509}"/>
              </a:ext>
            </a:extLst>
          </p:cNvPr>
          <p:cNvSpPr txBox="1"/>
          <p:nvPr/>
        </p:nvSpPr>
        <p:spPr>
          <a:xfrm>
            <a:off x="6219825" y="181289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你的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PlusCal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/>
        </p:nvSpPr>
        <p:spPr>
          <a:xfrm>
            <a:off x="2190750" y="1400175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目标: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在分布式系统中实现原子事务 (Atomic Transaction)。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2190750" y="1905000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原子性要求: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确保所有参与者必须要么 </a:t>
            </a: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全部提交 (Commit)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，要么 </a:t>
            </a: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全部中止 (Abort)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2190750" y="2409825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角色: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1x 协调者 (TM) 和 Nx 参与者 (RM)。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2190750" y="2914650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流程: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 投票阶段 (Voting) 2. 决定阶段 (Decision)。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2190750" y="3419475"/>
            <a:ext cx="8191500" cy="160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实际应用:</a:t>
            </a:r>
            <a:endParaRPr/>
          </a:p>
        </p:txBody>
      </p:sp>
      <p:pic>
        <p:nvPicPr>
          <p:cNvPr id="213" name="Google Shape;21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1447800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952625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457450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2962275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3467100"/>
            <a:ext cx="177849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2571750" y="3733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分布式数据库 (例如 MySQL Cluster, PostgreSQL)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2571750" y="42291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事务性消息队列 (MSMQ)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2571750" y="47244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金融支付系统 (确保支付和订单状态一致)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590550" y="495300"/>
            <a:ext cx="115614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案例：两阶段提交 (2PC) - 背景与应用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" y="1300162"/>
            <a:ext cx="5267325" cy="51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885825" y="1595437"/>
            <a:ext cx="491061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(系统状态)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1057275" y="3614737"/>
            <a:ext cx="491061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(并发进程)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629400" y="1595437"/>
            <a:ext cx="491061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我们要检查的属性 (Invariants)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629400" y="2147887"/>
            <a:ext cx="46767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一致性 (Safety):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绝不能一个 RM 提交，另一个 RM 中止。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629400" y="4186237"/>
            <a:ext cx="46767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1500" b="1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类型安全</a:t>
            </a:r>
            <a:r>
              <a:rPr lang="en-US" sz="15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(Sanity Check):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变量永远不会处于“未定义”状态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 dirty="0"/>
          </a:p>
        </p:txBody>
      </p:sp>
      <p:sp>
        <p:nvSpPr>
          <p:cNvPr id="233" name="Google Shape;233;p21"/>
          <p:cNvSpPr txBox="1"/>
          <p:nvPr/>
        </p:nvSpPr>
        <p:spPr>
          <a:xfrm>
            <a:off x="1057275" y="21002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1123950" y="2052637"/>
            <a:ext cx="44386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tm_state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协调者的状态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("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", "voting", "committed", "aborted", "failed")</a:t>
            </a:r>
            <a:endParaRPr dirty="0"/>
          </a:p>
        </p:txBody>
      </p:sp>
      <p:sp>
        <p:nvSpPr>
          <p:cNvPr id="235" name="Google Shape;235;p21"/>
          <p:cNvSpPr txBox="1"/>
          <p:nvPr/>
        </p:nvSpPr>
        <p:spPr>
          <a:xfrm>
            <a:off x="1057275" y="28622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1123950" y="2814637"/>
            <a:ext cx="44386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rm_state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函数，映射每个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RM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到它的状态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("working", "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voted_abort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", "committed", ...)</a:t>
            </a:r>
            <a:endParaRPr dirty="0"/>
          </a:p>
        </p:txBody>
      </p:sp>
      <p:sp>
        <p:nvSpPr>
          <p:cNvPr id="237" name="Google Shape;237;p21"/>
          <p:cNvSpPr txBox="1"/>
          <p:nvPr/>
        </p:nvSpPr>
        <p:spPr>
          <a:xfrm>
            <a:off x="1057275" y="41290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1123950" y="4052887"/>
            <a:ext cx="4438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Coordinator (TM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进程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</p:txBody>
      </p:sp>
      <p:sp>
        <p:nvSpPr>
          <p:cNvPr id="239" name="Google Shape;239;p21"/>
          <p:cNvSpPr txBox="1"/>
          <p:nvPr/>
        </p:nvSpPr>
        <p:spPr>
          <a:xfrm>
            <a:off x="1057275" y="45862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1123950" y="4481512"/>
            <a:ext cx="4438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Participant (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多个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RM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进程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</p:txBody>
      </p:sp>
      <p:sp>
        <p:nvSpPr>
          <p:cNvPr id="241" name="Google Shape;241;p21"/>
          <p:cNvSpPr txBox="1"/>
          <p:nvPr/>
        </p:nvSpPr>
        <p:spPr>
          <a:xfrm>
            <a:off x="6707981" y="2947987"/>
            <a:ext cx="5006818" cy="8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t-IT" altLang="zh-CN" sz="1125" b="1" dirty="0">
                <a:solidFill>
                  <a:srgbClr val="D90007"/>
                </a:solidFill>
                <a:latin typeface="Azeret Mono"/>
                <a:cs typeface="Azeret Mono"/>
              </a:rPr>
              <a:t>Inconsistent == \E i, j \in RMs:</a:t>
            </a:r>
          </a:p>
          <a:p>
            <a:r>
              <a:rPr lang="en-US" altLang="zh-CN" sz="1125" b="1" dirty="0">
                <a:solidFill>
                  <a:srgbClr val="D90007"/>
                </a:solidFill>
                <a:latin typeface="Azeret Mono"/>
                <a:cs typeface="Azeret Mono"/>
              </a:rPr>
              <a:t>        </a:t>
            </a:r>
            <a:r>
              <a:rPr lang="en-US" altLang="zh-CN" sz="1125" b="1" dirty="0" err="1">
                <a:solidFill>
                  <a:srgbClr val="D90007"/>
                </a:solidFill>
                <a:latin typeface="Azeret Mono"/>
                <a:cs typeface="Azeret Mono"/>
              </a:rPr>
              <a:t>rm_state</a:t>
            </a:r>
            <a:r>
              <a:rPr lang="en-US" altLang="zh-CN" sz="1125" b="1" dirty="0">
                <a:solidFill>
                  <a:srgbClr val="D90007"/>
                </a:solidFill>
                <a:latin typeface="Azeret Mono"/>
                <a:cs typeface="Azeret Mono"/>
              </a:rPr>
              <a:t>[</a:t>
            </a:r>
            <a:r>
              <a:rPr lang="en-US" altLang="zh-CN" sz="1125" b="1" dirty="0" err="1">
                <a:solidFill>
                  <a:srgbClr val="D90007"/>
                </a:solidFill>
                <a:latin typeface="Azeret Mono"/>
                <a:cs typeface="Azeret Mono"/>
              </a:rPr>
              <a:t>i</a:t>
            </a:r>
            <a:r>
              <a:rPr lang="en-US" altLang="zh-CN" sz="1125" b="1" dirty="0">
                <a:solidFill>
                  <a:srgbClr val="D90007"/>
                </a:solidFill>
                <a:latin typeface="Azeret Mono"/>
                <a:cs typeface="Azeret Mono"/>
              </a:rPr>
              <a:t>] = "committed" /\ </a:t>
            </a:r>
            <a:r>
              <a:rPr lang="en-US" altLang="zh-CN" sz="1125" b="1" dirty="0" err="1">
                <a:solidFill>
                  <a:srgbClr val="D90007"/>
                </a:solidFill>
                <a:latin typeface="Azeret Mono"/>
                <a:cs typeface="Azeret Mono"/>
              </a:rPr>
              <a:t>rm_state</a:t>
            </a:r>
            <a:r>
              <a:rPr lang="en-US" altLang="zh-CN" sz="1125" b="1" dirty="0">
                <a:solidFill>
                  <a:srgbClr val="D90007"/>
                </a:solidFill>
                <a:latin typeface="Azeret Mono"/>
                <a:cs typeface="Azeret Mono"/>
              </a:rPr>
              <a:t>[j] = "aborted"</a:t>
            </a:r>
          </a:p>
          <a:p>
            <a:endParaRPr lang="zh-CN" altLang="en-US" sz="1125" b="1" dirty="0">
              <a:solidFill>
                <a:srgbClr val="D90007"/>
              </a:solidFill>
              <a:latin typeface="Azeret Mono"/>
              <a:cs typeface="Azeret Mono"/>
            </a:endParaRPr>
          </a:p>
          <a:p>
            <a:r>
              <a:rPr lang="en-US" altLang="zh-CN" sz="1125" b="1" dirty="0" err="1">
                <a:solidFill>
                  <a:srgbClr val="D90007"/>
                </a:solidFill>
                <a:latin typeface="Azeret Mono"/>
                <a:cs typeface="Azeret Mono"/>
              </a:rPr>
              <a:t>NoInconsistency</a:t>
            </a:r>
            <a:r>
              <a:rPr lang="en-US" altLang="zh-CN" sz="1125" b="1" dirty="0">
                <a:solidFill>
                  <a:srgbClr val="D90007"/>
                </a:solidFill>
                <a:latin typeface="Azeret Mono"/>
                <a:cs typeface="Azeret Mono"/>
              </a:rPr>
              <a:t> == ~Inconsistent</a:t>
            </a:r>
            <a:endParaRPr sz="1125" b="1" dirty="0">
              <a:solidFill>
                <a:srgbClr val="D90007"/>
              </a:solidFill>
              <a:latin typeface="Azeret Mono"/>
              <a:cs typeface="Azeret Mono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6781800" y="5157787"/>
            <a:ext cx="481965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50" b="1">
                <a:solidFill>
                  <a:srgbClr val="D90007"/>
                </a:solidFill>
                <a:latin typeface="Azeret Mono"/>
                <a:ea typeface="Azeret Mono"/>
                <a:cs typeface="Azeret Mono"/>
              </a:defRPr>
            </a:lvl1pPr>
          </a:lstStyle>
          <a:p>
            <a:r>
              <a:rPr lang="en-US" dirty="0" err="1">
                <a:sym typeface="Azeret Mono"/>
              </a:rPr>
              <a:t>TypeOK</a:t>
            </a:r>
            <a:r>
              <a:rPr lang="en-US" altLang="zh-CN" dirty="0"/>
              <a:t> ==</a:t>
            </a:r>
            <a:r>
              <a:rPr lang="en-US" altLang="zh-CN" dirty="0" err="1"/>
              <a:t>tm_state</a:t>
            </a:r>
            <a:r>
              <a:rPr lang="en-US" altLang="zh-CN" dirty="0"/>
              <a:t> \in {"</a:t>
            </a:r>
            <a:r>
              <a:rPr lang="en-US" altLang="zh-CN" dirty="0" err="1"/>
              <a:t>init</a:t>
            </a:r>
            <a:r>
              <a:rPr lang="en-US" altLang="zh-CN" dirty="0"/>
              <a:t>", "voting", "committed ", "aborted", "failed"}</a:t>
            </a:r>
          </a:p>
          <a:p>
            <a:r>
              <a:rPr lang="en-US" altLang="zh-CN" dirty="0"/>
              <a:t>        /\ \A r \in RMs : </a:t>
            </a:r>
            <a:r>
              <a:rPr lang="en-US" altLang="zh-CN" dirty="0" err="1"/>
              <a:t>rm_state</a:t>
            </a:r>
            <a:r>
              <a:rPr lang="en-US" altLang="zh-CN" dirty="0"/>
              <a:t>[r] \in {"working", "</a:t>
            </a:r>
            <a:r>
              <a:rPr lang="en-US" altLang="zh-CN" dirty="0" err="1"/>
              <a:t>voted_commit</a:t>
            </a:r>
            <a:r>
              <a:rPr lang="en-US" altLang="zh-CN" dirty="0"/>
              <a:t>",</a:t>
            </a:r>
          </a:p>
          <a:p>
            <a:r>
              <a:rPr lang="en-US" altLang="zh-CN" dirty="0"/>
              <a:t>                                           "</a:t>
            </a:r>
            <a:r>
              <a:rPr lang="en-US" altLang="zh-CN" dirty="0" err="1"/>
              <a:t>voted_abort</a:t>
            </a:r>
            <a:r>
              <a:rPr lang="en-US" altLang="zh-CN" dirty="0"/>
              <a:t>", "committed", "aborted"}</a:t>
            </a:r>
            <a:endParaRPr dirty="0"/>
          </a:p>
        </p:txBody>
      </p:sp>
      <p:sp>
        <p:nvSpPr>
          <p:cNvPr id="243" name="Google Shape;243;p21"/>
          <p:cNvSpPr txBox="1"/>
          <p:nvPr/>
        </p:nvSpPr>
        <p:spPr>
          <a:xfrm>
            <a:off x="590550" y="395287"/>
            <a:ext cx="115614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2PC 案例：模型变量与属性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/>
        </p:nvSpPr>
        <p:spPr>
          <a:xfrm>
            <a:off x="800100" y="1185862"/>
            <a:ext cx="506063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Coordinator (TM) </a:t>
            </a:r>
            <a:r>
              <a:rPr lang="en-US" sz="2100" b="1" i="0" u="none" strike="noStrike" cap="none" dirty="0" err="1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关键代码</a:t>
            </a:r>
            <a:endParaRPr dirty="0"/>
          </a:p>
        </p:txBody>
      </p:sp>
      <p:sp>
        <p:nvSpPr>
          <p:cNvPr id="251" name="Google Shape;251;p22"/>
          <p:cNvSpPr txBox="1"/>
          <p:nvPr/>
        </p:nvSpPr>
        <p:spPr>
          <a:xfrm>
            <a:off x="6371272" y="1185862"/>
            <a:ext cx="506063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Participant (RM) </a:t>
            </a:r>
            <a:r>
              <a:rPr lang="en-US" sz="2100" b="1" i="0" u="none" strike="noStrike" cap="none" dirty="0" err="1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关键代码</a:t>
            </a:r>
            <a:endParaRPr dirty="0"/>
          </a:p>
        </p:txBody>
      </p:sp>
      <p:sp>
        <p:nvSpPr>
          <p:cNvPr id="261" name="Google Shape;261;p22"/>
          <p:cNvSpPr txBox="1"/>
          <p:nvPr/>
        </p:nvSpPr>
        <p:spPr>
          <a:xfrm>
            <a:off x="590550" y="495300"/>
            <a:ext cx="115614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2PC </a:t>
            </a:r>
            <a:r>
              <a:rPr lang="en-US" sz="3000" b="1" i="0" u="none" strike="noStrike" cap="none" dirty="0" err="1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案例：版本</a:t>
            </a:r>
            <a:r>
              <a:rPr lang="en-US" sz="3000" b="1" i="0" u="none" strike="noStrike" cap="none" dirty="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(</a:t>
            </a:r>
            <a:r>
              <a:rPr lang="en-US" sz="3000" b="1" i="0" u="none" strike="noStrike" cap="none" dirty="0" err="1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协调者可能崩溃</a:t>
            </a:r>
            <a:r>
              <a:rPr lang="en-US" sz="3000" b="1" i="0" u="none" strike="noStrike" cap="none" dirty="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2AA1C9F-F1ED-1069-99CC-DF22FE1AA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3" y="1714499"/>
            <a:ext cx="4828562" cy="463391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576817D-3636-5E9C-ADDC-D3FF1A90A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272" y="1714499"/>
            <a:ext cx="4864429" cy="49391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"/>
          <p:cNvSpPr txBox="1"/>
          <p:nvPr/>
        </p:nvSpPr>
        <p:spPr>
          <a:xfrm>
            <a:off x="590550" y="1212613"/>
            <a:ext cx="110109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TLC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检查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Deadlock (</a:t>
            </a:r>
            <a:r>
              <a:rPr lang="en-US" sz="1500" b="1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死锁</a:t>
            </a:r>
            <a:r>
              <a:rPr lang="en-US" sz="15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时，报告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Error: Deadlock reached.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267" name="Google Shape;267;p23"/>
          <p:cNvSpPr txBox="1"/>
          <p:nvPr/>
        </p:nvSpPr>
        <p:spPr>
          <a:xfrm>
            <a:off x="971550" y="1965855"/>
            <a:ext cx="106299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1 (故事开始):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tm_state: "init", rm_state: [rm -&gt;"working"]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971550" y="2470680"/>
            <a:ext cx="106299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协调器 (TM) 行动。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971550" y="2975505"/>
            <a:ext cx="106299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2 (</a:t>
            </a:r>
            <a:r>
              <a:rPr lang="en-US" sz="1500" b="1" i="0" u="none" strike="noStrike" cap="none" dirty="0" err="1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协调器已请求投票</a:t>
            </a:r>
            <a:r>
              <a:rPr lang="en-US" sz="1500" b="1" i="0" u="none" strike="noStrike" cap="none" dirty="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tm_state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"voting"</a:t>
            </a:r>
            <a:endParaRPr dirty="0"/>
          </a:p>
        </p:txBody>
      </p:sp>
      <p:sp>
        <p:nvSpPr>
          <p:cNvPr id="270" name="Google Shape;270;p23"/>
          <p:cNvSpPr txBox="1"/>
          <p:nvPr/>
        </p:nvSpPr>
        <p:spPr>
          <a:xfrm>
            <a:off x="971550" y="3480330"/>
            <a:ext cx="106299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(x2) 两个 RM (参与者) 相继行动。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971550" y="3985155"/>
            <a:ext cx="106299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3 &amp; 4 (所有参与者均已投票):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rm_state: [rm -&gt; "voted_abort"] (两个RM都投了反对票)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971550" y="4489980"/>
            <a:ext cx="106299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协调器 (TM) 做出决定。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971550" y="4994805"/>
            <a:ext cx="106299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5 (</a:t>
            </a:r>
            <a:r>
              <a:rPr lang="en-US" sz="1500" b="1" i="0" u="none" strike="noStrike" cap="none" dirty="0" err="1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协调器决定“中止”并即将崩溃</a:t>
            </a:r>
            <a:r>
              <a:rPr lang="en-US" sz="1500" b="1" i="0" u="none" strike="noStrike" cap="none" dirty="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tm_state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"aborted", </a:t>
            </a:r>
            <a:r>
              <a:rPr lang="en-US" sz="1500" b="1" i="0" u="none" strike="noStrike" cap="none" dirty="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pc: [TM -&gt; "</a:t>
            </a:r>
            <a:r>
              <a:rPr lang="en-US" sz="1500" b="1" i="0" u="none" strike="noStrike" cap="none" dirty="0" err="1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TmFail</a:t>
            </a:r>
            <a:r>
              <a:rPr lang="en-US" sz="1500" b="1" i="0" u="none" strike="noStrike" cap="none" dirty="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"]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关键！TLC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探索了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goto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TmFail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路径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</p:txBody>
      </p:sp>
      <p:sp>
        <p:nvSpPr>
          <p:cNvPr id="274" name="Google Shape;274;p23"/>
          <p:cNvSpPr txBox="1"/>
          <p:nvPr/>
        </p:nvSpPr>
        <p:spPr>
          <a:xfrm>
            <a:off x="971550" y="5486400"/>
            <a:ext cx="106299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协调器 (TM) 执行“崩溃”。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971550" y="5991225"/>
            <a:ext cx="106299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6 (死锁状态):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tm_state: "failed", </a:t>
            </a: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pc: [TM -&gt; "Done"]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(协调器进程已死), </a:t>
            </a: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pc: [RMs -&gt; "RmExecute"]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(两个参与者卡住)</a:t>
            </a:r>
            <a:endParaRPr/>
          </a:p>
        </p:txBody>
      </p:sp>
      <p:pic>
        <p:nvPicPr>
          <p:cNvPr id="276" name="Google Shape;27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" y="2013480"/>
            <a:ext cx="1143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50" y="2518305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3023130"/>
            <a:ext cx="1143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50" y="3527955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" y="4032780"/>
            <a:ext cx="1143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50" y="4537605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50" y="5042430"/>
            <a:ext cx="1143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50" y="5534025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" y="6038850"/>
            <a:ext cx="1143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590550" y="57150"/>
            <a:ext cx="115614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2PC 错误分析：TLC 发现死锁!</a:t>
            </a: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3994204-2304-6AFD-7A96-742161DFFA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999" y="57149"/>
            <a:ext cx="6055996" cy="39280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" y="1400175"/>
            <a:ext cx="5267325" cy="493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00175"/>
            <a:ext cx="5267325" cy="493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885825" y="1695450"/>
            <a:ext cx="491061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5: 关键转折点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885825" y="2247900"/>
            <a:ext cx="46767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含义：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这是最关键的一步！协调器在 TmDecision 标签下有两个选择（either { goto TmEnd; } or { goto TmFail; }）。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885825" y="3381375"/>
            <a:ext cx="46767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模型检查器 (TLC) 为了测试所有可能性，在这里选择了 </a:t>
            </a:r>
            <a:r>
              <a:rPr lang="en-US" sz="15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"TmFail"（失败）路径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6629400" y="1695450"/>
            <a:ext cx="491061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6: 死锁状态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6629400" y="2247900"/>
            <a:ext cx="4676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含义：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这就是最终的死锁！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6629400" y="5238750"/>
            <a:ext cx="46767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结论: 证明了如果协调者在特定窗口崩溃，整个系统将永久阻塞。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6800850" y="27432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6867525" y="2743200"/>
            <a:ext cx="4438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协调器 (TM) 进程结束 (pc["TM"] = "Done")。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6800850" y="3200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6867525" y="3200400"/>
            <a:ext cx="4438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参与者 "1" 和 "2" 仍然在 RmExecute 标签处等待。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6800850" y="36576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6867525" y="3657600"/>
            <a:ext cx="44386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它们读到 tm_state = "failed"，进入 else { </a:t>
            </a:r>
            <a:r>
              <a:rPr lang="en-US" sz="15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await FALSE;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 分支。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6800850" y="44291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6867525" y="4429125"/>
            <a:ext cx="44386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await FALSE 是一个永远无法满足的条件，所以两个参与者被 </a:t>
            </a:r>
            <a:r>
              <a:rPr lang="en-US" sz="15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永久阻塞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590550" y="495300"/>
            <a:ext cx="115614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2PC 错误分析：死锁解读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5"/>
          <p:cNvSpPr txBox="1"/>
          <p:nvPr/>
        </p:nvSpPr>
        <p:spPr>
          <a:xfrm>
            <a:off x="807243" y="1183117"/>
            <a:ext cx="6191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endParaRPr dirty="0"/>
          </a:p>
        </p:txBody>
      </p:sp>
      <p:sp>
        <p:nvSpPr>
          <p:cNvPr id="314" name="Google Shape;314;p25"/>
          <p:cNvSpPr txBox="1"/>
          <p:nvPr/>
        </p:nvSpPr>
        <p:spPr>
          <a:xfrm>
            <a:off x="971550" y="1135762"/>
            <a:ext cx="4886325" cy="170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Coordinator (TM):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移除了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TmFail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路径。只验证“理想”情况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TmDecision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... (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做出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commit/abort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决定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... </a:t>
            </a:r>
            <a:r>
              <a:rPr lang="en-US" sz="1500" b="1" i="0" u="none" strike="noStrike" cap="none" dirty="0" err="1">
                <a:solidFill>
                  <a:srgbClr val="D9000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goto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TmEnd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\*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只有一个正常路径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318" name="Google Shape;318;p25"/>
          <p:cNvSpPr txBox="1"/>
          <p:nvPr/>
        </p:nvSpPr>
        <p:spPr>
          <a:xfrm>
            <a:off x="590550" y="333275"/>
            <a:ext cx="1156144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2PC </a:t>
            </a:r>
            <a:r>
              <a:rPr lang="en-US" sz="3000" b="1" i="0" u="none" strike="noStrike" cap="none" dirty="0" err="1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案例：版本</a:t>
            </a:r>
            <a:r>
              <a:rPr lang="en-US" sz="3000" b="1" i="0" u="none" strike="noStrike" cap="none" dirty="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(</a:t>
            </a:r>
            <a:r>
              <a:rPr lang="en-US" sz="3000" b="1" i="0" u="none" strike="noStrike" cap="none" dirty="0" err="1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修复版</a:t>
            </a:r>
            <a:r>
              <a:rPr lang="en-US" sz="3000" b="1" i="0" u="none" strike="noStrike" cap="none" dirty="0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DB2947-60BE-E493-2B4D-A9B698576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524125"/>
            <a:ext cx="5006159" cy="41849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F8ECF80-23F2-B4ED-3F28-55875BC6E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25" y="2865504"/>
            <a:ext cx="4705350" cy="3622206"/>
          </a:xfrm>
          <a:prstGeom prst="rect">
            <a:avLst/>
          </a:prstGeom>
        </p:spPr>
      </p:pic>
      <p:sp>
        <p:nvSpPr>
          <p:cNvPr id="4" name="Google Shape;315;p25">
            <a:extLst>
              <a:ext uri="{FF2B5EF4-FFF2-40B4-BE49-F238E27FC236}">
                <a16:creationId xmlns:a16="http://schemas.microsoft.com/office/drawing/2014/main" id="{079E409E-AA4D-3CF0-EEF4-1D882E38B843}"/>
              </a:ext>
            </a:extLst>
          </p:cNvPr>
          <p:cNvSpPr txBox="1"/>
          <p:nvPr/>
        </p:nvSpPr>
        <p:spPr>
          <a:xfrm>
            <a:off x="6572250" y="983362"/>
            <a:ext cx="142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endParaRPr dirty="0"/>
          </a:p>
        </p:txBody>
      </p:sp>
      <p:sp>
        <p:nvSpPr>
          <p:cNvPr id="5" name="Google Shape;316;p25">
            <a:extLst>
              <a:ext uri="{FF2B5EF4-FFF2-40B4-BE49-F238E27FC236}">
                <a16:creationId xmlns:a16="http://schemas.microsoft.com/office/drawing/2014/main" id="{824605CA-A56A-0F7E-5D38-E7A1200332CB}"/>
              </a:ext>
            </a:extLst>
          </p:cNvPr>
          <p:cNvSpPr txBox="1"/>
          <p:nvPr/>
        </p:nvSpPr>
        <p:spPr>
          <a:xfrm>
            <a:off x="6715125" y="983362"/>
            <a:ext cx="4886325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Participant (RM):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简化了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RmExecute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RmExecute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500" b="1" i="0" u="none" strike="noStrike" cap="none" dirty="0">
                <a:solidFill>
                  <a:srgbClr val="D9000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await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tm_state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\in {"committed", "aborted"}; </a:t>
            </a:r>
            <a:r>
              <a:rPr lang="en-US" sz="1500" b="1" i="0" u="none" strike="noStrike" cap="none" dirty="0">
                <a:solidFill>
                  <a:srgbClr val="D9000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tm_state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"committed") {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rm_state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[self] := "committed"; } </a:t>
            </a:r>
            <a:r>
              <a:rPr lang="en-US" sz="1500" b="1" i="0" u="none" strike="noStrike" cap="none" dirty="0">
                <a:solidFill>
                  <a:srgbClr val="D9000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rm_state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[self] := "aborted"; }; </a:t>
            </a:r>
            <a:r>
              <a:rPr lang="en-US" sz="1500" b="1" i="0" u="none" strike="noStrike" cap="none" dirty="0" err="1">
                <a:solidFill>
                  <a:srgbClr val="D9000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goto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RmEnd; 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"/>
          <p:cNvSpPr txBox="1"/>
          <p:nvPr/>
        </p:nvSpPr>
        <p:spPr>
          <a:xfrm>
            <a:off x="1295400" y="1390650"/>
            <a:ext cx="8191500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TLC 检查项: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1295400" y="2705100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TLC 结果: No errors found.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1295400" y="3209925"/>
            <a:ext cx="8191500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TLC 报告解读: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1295400" y="4524375"/>
            <a:ext cx="8191500" cy="113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结论: 我们证明了，在这个“理想”模型中：</a:t>
            </a:r>
            <a:endParaRPr/>
          </a:p>
        </p:txBody>
      </p:sp>
      <p:pic>
        <p:nvPicPr>
          <p:cNvPr id="327" name="Google Shape;32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438275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2752725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3257550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4572000"/>
            <a:ext cx="177849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6"/>
          <p:cNvSpPr txBox="1"/>
          <p:nvPr/>
        </p:nvSpPr>
        <p:spPr>
          <a:xfrm>
            <a:off x="1676400" y="1704975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Deadlock (死锁)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1676400" y="2200275"/>
            <a:ext cx="7810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Invariants: NoInconsistency, TypeOK</a:t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1676400" y="352425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TLC 探索了 99 个状态 (States Found)，发现了 54 个不同的系统状态 (Distinct States)。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1676400" y="4019550"/>
            <a:ext cx="7810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在所有路径中：没有发现死锁，且 NoInconsistency 和 TypeOK 始终保持为真。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1676400" y="4838700"/>
            <a:ext cx="7810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 (安全性):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系统绝对不会出现不一致情况。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1676400" y="5343525"/>
            <a:ext cx="7810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Liveness (活性):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系统不会发生死İo。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590550" y="495300"/>
            <a:ext cx="115614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2PC 案例：版本 2 结果分析 (成功!)</a:t>
            </a: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60605C6-8645-6A52-07AF-089579B892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0858" y="1019174"/>
            <a:ext cx="7164578" cy="24669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7"/>
          <p:cNvSpPr txBox="1"/>
          <p:nvPr/>
        </p:nvSpPr>
        <p:spPr>
          <a:xfrm>
            <a:off x="1595437" y="5105400"/>
            <a:ext cx="90011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TLA+ 不仅仅是一个工具，它是一种设计思维的革命。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2190750" y="1400175"/>
            <a:ext cx="8191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在设计阶段发现Bug: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TLA+ 在我们写下任何代码之前，就发现了2PC协议中因协调者崩溃而导致的“阻塞”缺陷。</a:t>
            </a:r>
            <a:endParaRPr/>
          </a:p>
        </p:txBody>
      </p:sp>
      <p:sp>
        <p:nvSpPr>
          <p:cNvPr id="344" name="Google Shape;344;p27"/>
          <p:cNvSpPr txBox="1"/>
          <p:nvPr/>
        </p:nvSpPr>
        <p:spPr>
          <a:xfrm>
            <a:off x="2190750" y="2209800"/>
            <a:ext cx="8191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管理复杂性: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TLA+ 和 TLC 充当了“超级测试员”，替我们探索了所有我们人脑无法穷举的并发交错情况。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2190750" y="3067050"/>
            <a:ext cx="8191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精确的思考: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PlusCal 迫使我们清晰地定义：</a:t>
            </a:r>
            <a:endParaRPr/>
          </a:p>
        </p:txBody>
      </p:sp>
      <p:pic>
        <p:nvPicPr>
          <p:cNvPr id="346" name="Google Shape;34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1447800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257425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067050"/>
            <a:ext cx="177849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7"/>
          <p:cNvSpPr txBox="1"/>
          <p:nvPr/>
        </p:nvSpPr>
        <p:spPr>
          <a:xfrm>
            <a:off x="2571750" y="333375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系统的状态是什么？</a:t>
            </a:r>
            <a:endParaRPr/>
          </a:p>
        </p:txBody>
      </p:sp>
      <p:sp>
        <p:nvSpPr>
          <p:cNvPr id="350" name="Google Shape;350;p27"/>
          <p:cNvSpPr txBox="1"/>
          <p:nvPr/>
        </p:nvSpPr>
        <p:spPr>
          <a:xfrm>
            <a:off x="2571750" y="382905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原子操作的边界在哪里？</a:t>
            </a:r>
            <a:endParaRPr/>
          </a:p>
        </p:txBody>
      </p:sp>
      <p:sp>
        <p:nvSpPr>
          <p:cNvPr id="351" name="Google Shape;351;p27"/>
          <p:cNvSpPr txBox="1"/>
          <p:nvPr/>
        </p:nvSpPr>
        <p:spPr>
          <a:xfrm>
            <a:off x="2571750" y="432435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每一步操作的前提条件 (await) 是什么？</a:t>
            </a:r>
            <a:endParaRPr/>
          </a:p>
        </p:txBody>
      </p:sp>
      <p:sp>
        <p:nvSpPr>
          <p:cNvPr id="352" name="Google Shape;352;p27"/>
          <p:cNvSpPr txBox="1"/>
          <p:nvPr/>
        </p:nvSpPr>
        <p:spPr>
          <a:xfrm>
            <a:off x="590550" y="495300"/>
            <a:ext cx="115614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总结：我们得到了什么？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/>
        </p:nvSpPr>
        <p:spPr>
          <a:xfrm>
            <a:off x="315277" y="2434530"/>
            <a:ext cx="1156144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4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感谢聆听</a:t>
            </a:r>
            <a:endParaRPr/>
          </a:p>
        </p:txBody>
      </p:sp>
      <p:sp>
        <p:nvSpPr>
          <p:cNvPr id="358" name="Google Shape;358;p28"/>
          <p:cNvSpPr txBox="1"/>
          <p:nvPr/>
        </p:nvSpPr>
        <p:spPr>
          <a:xfrm>
            <a:off x="590550" y="3729930"/>
            <a:ext cx="110109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1392</Words>
  <Application>Microsoft Office PowerPoint</Application>
  <PresentationFormat>宽屏</PresentationFormat>
  <Paragraphs>165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Calibri</vt:lpstr>
      <vt:lpstr>Arial</vt:lpstr>
      <vt:lpstr>Merriweather</vt:lpstr>
      <vt:lpstr>Azeret Mono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tong lv</dc:creator>
  <cp:lastModifiedBy>tong lv</cp:lastModifiedBy>
  <cp:revision>3</cp:revision>
  <dcterms:modified xsi:type="dcterms:W3CDTF">2025-12-05T13:54:54Z</dcterms:modified>
</cp:coreProperties>
</file>