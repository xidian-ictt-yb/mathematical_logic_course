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CB5209A1-2909-4016-AE9E-8A52758E792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6" d="100"/>
          <a:sy n="66" d="100"/>
        </p:scale>
        <p:origin x="452" y="44"/>
      </p:cViewPr>
      <p:guideLst>
        <p:guide orient="horz" pos="2109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52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56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59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1016000"/>
            <a:ext cx="9799200" cy="2570400"/>
          </a:xfrm>
        </p:spPr>
        <p:txBody>
          <a:bodyPr/>
          <a:lstStyle/>
          <a:p>
            <a:r>
              <a:rPr lang="zh-CN" altLang="en-US" dirty="0"/>
              <a:t>符号执行引擎</a:t>
            </a:r>
            <a:r>
              <a:rPr lang="en-US" altLang="zh-CN" dirty="0"/>
              <a:t>KLEE</a:t>
            </a:r>
            <a:r>
              <a:rPr lang="zh-CN" altLang="en-US" dirty="0"/>
              <a:t>的</a:t>
            </a:r>
            <a:br>
              <a:rPr lang="zh-CN" altLang="en-US" dirty="0"/>
            </a:br>
            <a:r>
              <a:rPr lang="zh-CN" altLang="en-US" dirty="0"/>
              <a:t>介绍和使用</a:t>
            </a:r>
            <a:endParaRPr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4129360"/>
            <a:ext cx="9799200" cy="1472400"/>
          </a:xfrm>
        </p:spPr>
        <p:txBody>
          <a:bodyPr/>
          <a:lstStyle/>
          <a:p>
            <a:r>
              <a:rPr lang="zh-CN" altLang="en-US"/>
              <a:t>汇报小组：张辅志，陈新宇，张翔，王敬皓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6600" dirty="0"/>
              <a:t>PART  I </a:t>
            </a:r>
            <a:endParaRPr lang="en-US" altLang="zh-CN" sz="6600" dirty="0"/>
          </a:p>
          <a:p>
            <a:pPr marL="0" indent="0" algn="ctr">
              <a:buNone/>
            </a:pPr>
            <a:r>
              <a:rPr lang="en-US" altLang="zh-CN" sz="4800" dirty="0"/>
              <a:t>KLEE</a:t>
            </a:r>
            <a:r>
              <a:rPr lang="zh-CN" altLang="en-US" sz="4800" dirty="0"/>
              <a:t>的原理介绍</a:t>
            </a:r>
            <a:endParaRPr lang="en-US" altLang="zh-CN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研究动机：</a:t>
            </a:r>
            <a:endParaRPr lang="zh-CN" altLang="en-US" dirty="0"/>
          </a:p>
        </p:txBody>
      </p:sp>
      <p:sp>
        <p:nvSpPr>
          <p:cNvPr id="10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传统的随机或手写测试在系统级程序上覆盖率低、成本高。</a:t>
            </a:r>
            <a:r>
              <a:rPr lang="en-US" altLang="zh-CN" dirty="0"/>
              <a:t>KLEE </a:t>
            </a:r>
            <a:r>
              <a:rPr lang="zh-CN" altLang="en-US" dirty="0"/>
              <a:t>的目标是：</a:t>
            </a:r>
            <a:endParaRPr dirty="0"/>
          </a:p>
          <a:p>
            <a:r>
              <a:rPr lang="zh-CN" altLang="en-US" dirty="0"/>
              <a:t>自动生成</a:t>
            </a:r>
            <a:r>
              <a:rPr lang="zh-CN" altLang="en-US" b="1" dirty="0"/>
              <a:t>高覆盖率测试用例</a:t>
            </a:r>
            <a:r>
              <a:rPr lang="zh-CN" altLang="en-US" dirty="0"/>
              <a:t>；</a:t>
            </a:r>
            <a:endParaRPr dirty="0"/>
          </a:p>
          <a:p>
            <a:r>
              <a:rPr lang="zh-CN" altLang="en-US" dirty="0"/>
              <a:t>能直接作用于真实、复杂、与环境交互密集的程序（例如 </a:t>
            </a:r>
            <a:r>
              <a:rPr lang="en-US" altLang="zh-CN" dirty="0"/>
              <a:t>GNU </a:t>
            </a:r>
            <a:r>
              <a:rPr lang="en-US" altLang="zh-CN" dirty="0" err="1"/>
              <a:t>Coreutils</a:t>
            </a:r>
            <a:r>
              <a:rPr lang="en-US" altLang="zh-CN" dirty="0"/>
              <a:t> </a:t>
            </a:r>
            <a:r>
              <a:rPr lang="zh-CN" altLang="en-US" dirty="0"/>
              <a:t>和 操作系统内核）；</a:t>
            </a:r>
            <a:endParaRPr dirty="0"/>
          </a:p>
          <a:p>
            <a:r>
              <a:rPr lang="zh-CN" altLang="en-US" dirty="0"/>
              <a:t>在不需要用户编写规范或修改代码的情况下工作。</a:t>
            </a:r>
            <a:endParaRPr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1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9567" y="81586"/>
            <a:ext cx="10180320" cy="66948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KLEE</a:t>
            </a:r>
            <a:r>
              <a:rPr lang="zh-CN" altLang="en-US" dirty="0"/>
              <a:t>相关概念</a:t>
            </a:r>
            <a:r>
              <a:rPr lang="en-US" altLang="zh-CN" dirty="0"/>
              <a:t>:</a:t>
            </a:r>
            <a:endParaRPr lang="en-US" altLang="zh-CN" dirty="0"/>
          </a:p>
        </p:txBody>
      </p:sp>
      <p:sp>
        <p:nvSpPr>
          <p:cNvPr id="13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符号执行：</a:t>
            </a:r>
            <a:r>
              <a:rPr lang="en-US" altLang="zh-CN" dirty="0"/>
              <a:t>KLEE</a:t>
            </a:r>
            <a:r>
              <a:rPr lang="zh-CN" altLang="en-US" dirty="0"/>
              <a:t>使用符号变量代替具体值，将输入抽象成符号表达式，这样可以同时代表多个可能的执行路径。</a:t>
            </a:r>
            <a:r>
              <a:rPr lang="en-US" altLang="zh-CN" dirty="0"/>
              <a:t>KLEE</a:t>
            </a:r>
            <a:r>
              <a:rPr lang="zh-CN" altLang="en-US" dirty="0"/>
              <a:t>会为每个路径生成一组约束条件，这些条件描述了程序必须满足的路径条件。</a:t>
            </a:r>
            <a:endParaRPr dirty="0"/>
          </a:p>
          <a:p>
            <a:r>
              <a:rPr lang="zh-CN" altLang="en-US" dirty="0"/>
              <a:t>约束求解：</a:t>
            </a:r>
            <a:r>
              <a:rPr lang="en-US" altLang="zh-CN" dirty="0"/>
              <a:t>KLEE</a:t>
            </a:r>
            <a:r>
              <a:rPr lang="zh-CN" altLang="en-US" dirty="0"/>
              <a:t>依赖约束求解器来判断每个路径的约束条件是否可满足。如果约束条件可解，则</a:t>
            </a:r>
            <a:r>
              <a:rPr lang="en-US" altLang="zh-CN" dirty="0"/>
              <a:t>KLEE</a:t>
            </a:r>
            <a:r>
              <a:rPr lang="zh-CN" altLang="en-US" dirty="0"/>
              <a:t>会继续探索该路径；否则，该路径会被丢弃。</a:t>
            </a:r>
            <a:endParaRPr dirty="0"/>
          </a:p>
          <a:p>
            <a:r>
              <a:rPr lang="zh-CN" altLang="en-US" dirty="0"/>
              <a:t>路径探索：</a:t>
            </a:r>
            <a:r>
              <a:rPr lang="en-US" altLang="zh-CN" dirty="0"/>
              <a:t>KLEE</a:t>
            </a:r>
            <a:r>
              <a:rPr lang="zh-CN" altLang="en-US" dirty="0"/>
              <a:t>系统化地探索尽可能多的路径，以发现潜在的</a:t>
            </a:r>
            <a:r>
              <a:rPr lang="en-US" altLang="zh-CN" dirty="0"/>
              <a:t>bug</a:t>
            </a:r>
            <a:r>
              <a:rPr lang="zh-CN" altLang="en-US" dirty="0"/>
              <a:t>、崩溃或意外行为。当识别到错误时，</a:t>
            </a:r>
            <a:r>
              <a:rPr lang="en-US" altLang="zh-CN" dirty="0"/>
              <a:t>KLEE</a:t>
            </a:r>
            <a:r>
              <a:rPr lang="zh-CN" altLang="en-US" dirty="0"/>
              <a:t>会生成具体的测试用例来展示问题，帮助开发者复现并修复</a:t>
            </a:r>
            <a:r>
              <a:rPr lang="en-US" altLang="zh-CN" dirty="0"/>
              <a:t>bug</a:t>
            </a:r>
            <a:r>
              <a:rPr lang="zh-CN" altLang="en-US" dirty="0"/>
              <a:t>。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核心思想：</a:t>
            </a:r>
            <a:endParaRPr lang="zh-CN" altLang="en-US" dirty="0"/>
          </a:p>
        </p:txBody>
      </p:sp>
      <p:sp>
        <p:nvSpPr>
          <p:cNvPr id="137" name="内容占位符 2"/>
          <p:cNvSpPr>
            <a:spLocks noGrp="1"/>
          </p:cNvSpPr>
          <p:nvPr>
            <p:ph idx="1"/>
          </p:nvPr>
        </p:nvSpPr>
        <p:spPr>
          <a:xfrm>
            <a:off x="390685" y="1490400"/>
            <a:ext cx="8370137" cy="47592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KLEE </a:t>
            </a:r>
            <a:r>
              <a:rPr lang="zh-CN" altLang="en-US" dirty="0"/>
              <a:t>的核心是</a:t>
            </a:r>
            <a:r>
              <a:rPr lang="zh-CN" altLang="en-US" b="1" dirty="0"/>
              <a:t>将输入符号化</a:t>
            </a:r>
            <a:r>
              <a:rPr lang="zh-CN" altLang="en-US" dirty="0"/>
              <a:t>，即把输入变量当作符号（而非具体值），在执行过程中收集路径约束（</a:t>
            </a:r>
            <a:r>
              <a:rPr lang="en-US" altLang="zh-CN" dirty="0"/>
              <a:t>path constraints</a:t>
            </a:r>
            <a:r>
              <a:rPr lang="zh-CN" altLang="en-US" dirty="0"/>
              <a:t>）。</a:t>
            </a:r>
            <a:br>
              <a:rPr lang="zh-CN" altLang="en-US" dirty="0"/>
            </a:br>
            <a:r>
              <a:rPr lang="zh-CN" altLang="en-US" dirty="0"/>
              <a:t>当程序遇到分支条件时：</a:t>
            </a:r>
            <a:endParaRPr dirty="0"/>
          </a:p>
          <a:p>
            <a:r>
              <a:rPr lang="zh-CN" altLang="en-US" dirty="0"/>
              <a:t>若条件依赖符号输入且可同时为真或假，</a:t>
            </a:r>
            <a:r>
              <a:rPr lang="en-US" altLang="zh-CN" dirty="0"/>
              <a:t>KLEE </a:t>
            </a:r>
            <a:r>
              <a:rPr lang="zh-CN" altLang="en-US" b="1" dirty="0"/>
              <a:t>分叉（</a:t>
            </a:r>
            <a:r>
              <a:rPr lang="en-US" altLang="zh-CN" b="1" dirty="0"/>
              <a:t>fork</a:t>
            </a:r>
            <a:r>
              <a:rPr lang="zh-CN" altLang="en-US" b="1" dirty="0"/>
              <a:t>）</a:t>
            </a:r>
            <a:r>
              <a:rPr lang="zh-CN" altLang="en-US" dirty="0"/>
              <a:t>出两条执行路径；</a:t>
            </a:r>
            <a:endParaRPr dirty="0"/>
          </a:p>
          <a:p>
            <a:r>
              <a:rPr lang="zh-CN" altLang="en-US" dirty="0"/>
              <a:t>每条路径维护自己的约束集合；</a:t>
            </a:r>
            <a:endParaRPr dirty="0"/>
          </a:p>
          <a:p>
            <a:r>
              <a:rPr lang="zh-CN" altLang="en-US" dirty="0"/>
              <a:t>当路径结束或触发错误时，调用 </a:t>
            </a:r>
            <a:r>
              <a:rPr lang="en-US" altLang="zh-CN" dirty="0"/>
              <a:t>SMT </a:t>
            </a:r>
            <a:r>
              <a:rPr lang="zh-CN" altLang="en-US" dirty="0"/>
              <a:t>求解器（如 </a:t>
            </a:r>
            <a:r>
              <a:rPr lang="en-US" altLang="zh-CN" dirty="0"/>
              <a:t>STP</a:t>
            </a:r>
            <a:r>
              <a:rPr lang="zh-CN" altLang="en-US" dirty="0"/>
              <a:t>）求出一组具体输入，使该路径可重现。</a:t>
            </a:r>
            <a:endParaRPr dirty="0"/>
          </a:p>
          <a:p>
            <a:pPr marL="0" indent="0">
              <a:buNone/>
            </a:pPr>
            <a:r>
              <a:rPr lang="zh-CN" altLang="en-US" dirty="0"/>
              <a:t>由此，</a:t>
            </a:r>
            <a:r>
              <a:rPr lang="en-US" altLang="zh-CN" dirty="0"/>
              <a:t>KLEE </a:t>
            </a:r>
            <a:r>
              <a:rPr lang="zh-CN" altLang="en-US" dirty="0"/>
              <a:t>既能生成测试数据，又能复现 </a:t>
            </a:r>
            <a:r>
              <a:rPr lang="en-US" altLang="zh-CN" dirty="0"/>
              <a:t>bug</a:t>
            </a:r>
            <a:r>
              <a:rPr lang="zh-CN" altLang="en-US" dirty="0"/>
              <a:t>。</a:t>
            </a:r>
            <a:endParaRPr dirty="0"/>
          </a:p>
          <a:p>
            <a:endParaRPr lang="en-US" altLang="zh-CN" dirty="0"/>
          </a:p>
        </p:txBody>
      </p:sp>
      <p:pic>
        <p:nvPicPr>
          <p:cNvPr id="13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8903" y="1490400"/>
            <a:ext cx="3553097" cy="387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"/>
          <p:cNvSpPr>
            <a:spLocks noGrp="1"/>
          </p:cNvSpPr>
          <p:nvPr>
            <p:ph type="title"/>
          </p:nvPr>
        </p:nvSpPr>
        <p:spPr>
          <a:xfrm>
            <a:off x="397847" y="255600"/>
            <a:ext cx="10969200" cy="705600"/>
          </a:xfrm>
        </p:spPr>
        <p:txBody>
          <a:bodyPr/>
          <a:lstStyle/>
          <a:p>
            <a:r>
              <a:rPr lang="en-US" altLang="zh-CN" dirty="0"/>
              <a:t>3. KLEE</a:t>
            </a:r>
            <a:r>
              <a:rPr lang="zh-CN" altLang="en-US" dirty="0"/>
              <a:t>系统架构</a:t>
            </a:r>
            <a:r>
              <a:rPr lang="en-US" altLang="zh-CN" dirty="0"/>
              <a:t>:</a:t>
            </a:r>
            <a:endParaRPr lang="en-US" altLang="zh-CN" dirty="0"/>
          </a:p>
        </p:txBody>
      </p:sp>
      <p:sp>
        <p:nvSpPr>
          <p:cNvPr id="14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sz="2000" dirty="0"/>
              <a:t>1. </a:t>
            </a:r>
            <a:r>
              <a:rPr lang="en-US" altLang="zh-CN" sz="2000" b="1" dirty="0"/>
              <a:t>LLVM </a:t>
            </a:r>
            <a:r>
              <a:rPr lang="zh-CN" altLang="en-US" sz="2000" b="1" dirty="0"/>
              <a:t>虚拟机层执行</a:t>
            </a:r>
            <a:endParaRPr b="1" dirty="0"/>
          </a:p>
          <a:p>
            <a:pPr marL="0" indent="0">
              <a:buNone/>
            </a:pPr>
            <a:r>
              <a:rPr lang="en-US" altLang="zh-CN" sz="2000" dirty="0"/>
              <a:t>    KLEE </a:t>
            </a:r>
            <a:r>
              <a:rPr lang="zh-CN" altLang="en-US" sz="2000" dirty="0"/>
              <a:t>运行在 </a:t>
            </a:r>
            <a:r>
              <a:rPr lang="en-US" altLang="zh-CN" sz="2000" dirty="0"/>
              <a:t>LLVM </a:t>
            </a:r>
            <a:r>
              <a:rPr lang="en-US" altLang="zh-CN" sz="2000" dirty="0" err="1"/>
              <a:t>bitcode</a:t>
            </a:r>
            <a:r>
              <a:rPr lang="en-US" altLang="zh-CN" sz="2000" dirty="0"/>
              <a:t> </a:t>
            </a:r>
            <a:r>
              <a:rPr lang="zh-CN" altLang="en-US" sz="2000" dirty="0"/>
              <a:t>上，相当于解释执行 </a:t>
            </a:r>
            <a:r>
              <a:rPr lang="en-US" altLang="zh-CN" sz="2000" dirty="0"/>
              <a:t>LLVM </a:t>
            </a:r>
            <a:r>
              <a:rPr lang="zh-CN" altLang="en-US" sz="2000" dirty="0"/>
              <a:t>指令。</a:t>
            </a:r>
            <a:endParaRPr dirty="0"/>
          </a:p>
          <a:p>
            <a:pPr marL="0" indent="0">
              <a:buNone/>
            </a:pPr>
            <a:r>
              <a:rPr lang="en-US" altLang="zh-CN" sz="2000" dirty="0"/>
              <a:t>2.</a:t>
            </a:r>
            <a:r>
              <a:rPr lang="en-US" altLang="zh-CN" sz="2000" b="1" dirty="0"/>
              <a:t>Environment Models</a:t>
            </a:r>
            <a:endParaRPr b="1" dirty="0"/>
          </a:p>
          <a:p>
            <a:pPr marL="0" indent="0"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POSIX/</a:t>
            </a:r>
            <a:r>
              <a:rPr lang="en-US" altLang="zh-CN" sz="2000" dirty="0" err="1"/>
              <a:t>uClibc</a:t>
            </a:r>
            <a:r>
              <a:rPr lang="en-US" altLang="zh-CN" sz="2000" dirty="0"/>
              <a:t> </a:t>
            </a:r>
            <a:r>
              <a:rPr lang="zh-CN" altLang="en-US" sz="2000" dirty="0"/>
              <a:t>把“命令行参数、文件、系统调用”等外部输入</a:t>
            </a:r>
            <a:r>
              <a:rPr lang="zh-CN" altLang="en-US" sz="2000" b="1" dirty="0"/>
              <a:t>抽象成符号源</a:t>
            </a:r>
            <a:r>
              <a:rPr lang="zh-CN" altLang="en-US" sz="2000" dirty="0"/>
              <a:t>（如 </a:t>
            </a:r>
            <a:r>
              <a:rPr lang="en-US" altLang="zh-CN" dirty="0"/>
              <a:t>-</a:t>
            </a:r>
            <a:r>
              <a:rPr lang="en-US" altLang="zh-CN" dirty="0" err="1"/>
              <a:t>sym-arg</a:t>
            </a:r>
            <a:r>
              <a:rPr lang="zh-CN" altLang="en-US" sz="2000" dirty="0"/>
              <a:t>、</a:t>
            </a:r>
            <a:r>
              <a:rPr lang="en-US" altLang="zh-CN" dirty="0"/>
              <a:t>-</a:t>
            </a:r>
            <a:r>
              <a:rPr lang="en-US" altLang="zh-CN" dirty="0" err="1"/>
              <a:t>sym</a:t>
            </a:r>
            <a:r>
              <a:rPr lang="en-US" altLang="zh-CN" dirty="0"/>
              <a:t>-files</a:t>
            </a:r>
            <a:r>
              <a:rPr lang="zh-CN" altLang="en-US" sz="2000" dirty="0"/>
              <a:t>）。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en-US" altLang="zh-CN" sz="2000" b="1" dirty="0"/>
              <a:t>Core Engine</a:t>
            </a:r>
            <a:endParaRPr lang="en-US" altLang="zh-CN" sz="2000" b="1" dirty="0"/>
          </a:p>
          <a:p>
            <a:pPr marL="0" indent="0">
              <a:buNone/>
            </a:pPr>
            <a:r>
              <a:rPr lang="en-US" altLang="zh-CN" sz="1800" dirty="0"/>
              <a:t>    KLEE </a:t>
            </a:r>
            <a:r>
              <a:rPr lang="zh-CN" altLang="en-US" sz="1800" dirty="0"/>
              <a:t>的“虚拟 </a:t>
            </a:r>
            <a:r>
              <a:rPr lang="en-US" altLang="zh-CN" sz="1800" dirty="0"/>
              <a:t>CPU”</a:t>
            </a:r>
            <a:r>
              <a:rPr lang="zh-CN" altLang="en-US" sz="1800" dirty="0"/>
              <a:t>：解释执行 </a:t>
            </a:r>
            <a:r>
              <a:rPr lang="en-US" altLang="zh-CN" sz="1800" dirty="0"/>
              <a:t>LLVM </a:t>
            </a:r>
            <a:r>
              <a:rPr lang="zh-CN" altLang="en-US" sz="1800" dirty="0"/>
              <a:t>指令，维护执行状态（栈</a:t>
            </a:r>
            <a:r>
              <a:rPr lang="en-US" altLang="zh-CN" sz="1800" dirty="0"/>
              <a:t>/</a:t>
            </a:r>
            <a:r>
              <a:rPr lang="zh-CN" altLang="en-US" sz="1800" dirty="0"/>
              <a:t>堆</a:t>
            </a:r>
            <a:r>
              <a:rPr lang="en-US" altLang="zh-CN" sz="1800" dirty="0"/>
              <a:t>/</a:t>
            </a:r>
            <a:r>
              <a:rPr lang="zh-CN" altLang="en-US" sz="1800" dirty="0"/>
              <a:t>寄存器</a:t>
            </a:r>
            <a:r>
              <a:rPr lang="en-US" altLang="zh-CN" sz="1800" dirty="0"/>
              <a:t>/</a:t>
            </a:r>
            <a:r>
              <a:rPr lang="zh-CN" altLang="en-US" sz="1800" dirty="0"/>
              <a:t>路径条件）。</a:t>
            </a:r>
            <a:endParaRPr lang="zh-CN" alt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altLang="zh-CN" b="1" dirty="0"/>
              <a:t>Constraint Solver </a:t>
            </a:r>
            <a:endParaRPr lang="en-US" altLang="zh-CN" b="1" dirty="0"/>
          </a:p>
          <a:p>
            <a:pPr lvl="1"/>
            <a:r>
              <a:rPr lang="en-US" altLang="zh-CN" dirty="0"/>
              <a:t>SAT</a:t>
            </a:r>
            <a:r>
              <a:rPr lang="zh-CN" altLang="en-US" dirty="0"/>
              <a:t>：返回一组具体输入（</a:t>
            </a:r>
            <a:r>
              <a:rPr lang="en-US" altLang="zh-CN" dirty="0"/>
              <a:t>model</a:t>
            </a:r>
            <a:r>
              <a:rPr lang="zh-CN" altLang="en-US" dirty="0"/>
              <a:t>）满足该路径；</a:t>
            </a:r>
            <a:endParaRPr lang="zh-CN" altLang="en-US" dirty="0"/>
          </a:p>
          <a:p>
            <a:pPr lvl="1"/>
            <a:r>
              <a:rPr lang="en-US" altLang="zh-CN" dirty="0"/>
              <a:t>UNSAT</a:t>
            </a:r>
            <a:r>
              <a:rPr lang="zh-CN" altLang="en-US" dirty="0"/>
              <a:t>：该路径不可达，</a:t>
            </a:r>
            <a:r>
              <a:rPr lang="en-US" altLang="zh-CN" dirty="0"/>
              <a:t>Core Engine </a:t>
            </a:r>
            <a:r>
              <a:rPr lang="zh-CN" altLang="en-US" dirty="0"/>
              <a:t>回收该状态。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b="1" dirty="0"/>
              <a:t>.</a:t>
            </a:r>
            <a:r>
              <a:rPr lang="zh-CN" altLang="en-US" b="1" dirty="0"/>
              <a:t>自动生成可重放的测试用例</a:t>
            </a:r>
            <a:endParaRPr b="1" dirty="0"/>
          </a:p>
          <a:p>
            <a:pPr marL="0" indent="0">
              <a:buNone/>
            </a:pPr>
            <a:r>
              <a:rPr lang="zh-CN" altLang="en-US" sz="2000" dirty="0"/>
              <a:t>    右侧的 </a:t>
            </a:r>
            <a:r>
              <a:rPr lang="en-US" altLang="zh-CN" dirty="0"/>
              <a:t>AAAA0000… / EEEE1111…</a:t>
            </a:r>
            <a:r>
              <a:rPr lang="zh-CN" altLang="en-US" sz="2000" dirty="0"/>
              <a:t> 是</a:t>
            </a:r>
            <a:r>
              <a:rPr lang="zh-CN" altLang="en-US" sz="2000" b="1" dirty="0"/>
              <a:t>求解器给出的具体输入</a:t>
            </a:r>
            <a:r>
              <a:rPr lang="zh-CN" altLang="en-US" sz="2000" dirty="0"/>
              <a:t>实例（不同 </a:t>
            </a:r>
            <a:r>
              <a:rPr lang="en-US" altLang="zh-CN" sz="2000" dirty="0" err="1"/>
              <a:t>argv</a:t>
            </a:r>
            <a:r>
              <a:rPr lang="en-US" altLang="zh-CN" sz="2000" dirty="0"/>
              <a:t>/</a:t>
            </a:r>
            <a:r>
              <a:rPr lang="zh-CN" altLang="en-US" sz="2000" dirty="0"/>
              <a:t>文件内容的字节串）</a:t>
            </a:r>
            <a:endParaRPr lang="en-US" altLang="zh-CN" sz="2000" b="1" dirty="0"/>
          </a:p>
        </p:txBody>
      </p:sp>
      <p:pic>
        <p:nvPicPr>
          <p:cNvPr id="142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2490" y="1"/>
            <a:ext cx="4449510" cy="2647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1"/>
          <p:cNvSpPr>
            <a:spLocks noGrp="1"/>
          </p:cNvSpPr>
          <p:nvPr>
            <p:ph type="title"/>
          </p:nvPr>
        </p:nvSpPr>
        <p:spPr>
          <a:xfrm>
            <a:off x="608400" y="559468"/>
            <a:ext cx="10969200" cy="754532"/>
          </a:xfrm>
        </p:spPr>
        <p:txBody>
          <a:bodyPr>
            <a:normAutofit/>
          </a:bodyPr>
          <a:lstStyle/>
          <a:p>
            <a:r>
              <a:rPr lang="en-US" altLang="zh-CN" b="1" dirty="0"/>
              <a:t>4. KLEE</a:t>
            </a:r>
            <a:r>
              <a:rPr lang="zh-CN" altLang="en-US" b="1" dirty="0"/>
              <a:t>的应用场景：</a:t>
            </a:r>
            <a:endParaRPr lang="en-US" altLang="zh-CN" dirty="0"/>
          </a:p>
        </p:txBody>
      </p:sp>
      <p:sp>
        <p:nvSpPr>
          <p:cNvPr id="14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ym typeface="+mn-ea"/>
              </a:rPr>
              <a:t>自动化测试用例生成</a:t>
            </a:r>
            <a:r>
              <a:rPr lang="zh-CN" altLang="en-US" dirty="0">
                <a:sym typeface="+mn-ea"/>
              </a:rPr>
              <a:t>：传统的手动编写测试用例既耗时又难以覆盖边缘情况。</a:t>
            </a:r>
            <a:r>
              <a:rPr lang="en-US" altLang="zh-CN" dirty="0">
                <a:sym typeface="+mn-ea"/>
              </a:rPr>
              <a:t>KLEE </a:t>
            </a:r>
            <a:r>
              <a:rPr lang="zh-CN" altLang="en-US" dirty="0">
                <a:sym typeface="+mn-ea"/>
              </a:rPr>
              <a:t>通过符号化程序输入，自动探索所有可能的执行路径，生成对应的具体的测试用例。</a:t>
            </a:r>
            <a:endParaRPr lang="zh-CN" altLang="en-US" dirty="0"/>
          </a:p>
          <a:p>
            <a:r>
              <a:rPr lang="zh-CN" altLang="en-US" b="1" dirty="0"/>
              <a:t>错误检测</a:t>
            </a:r>
            <a:r>
              <a:rPr lang="zh-CN" altLang="en-US" dirty="0"/>
              <a:t>：</a:t>
            </a:r>
            <a:r>
              <a:rPr lang="en-US" altLang="zh-CN" dirty="0"/>
              <a:t>KLEE</a:t>
            </a:r>
            <a:r>
              <a:rPr lang="zh-CN" altLang="en-US" dirty="0"/>
              <a:t>非常适合于检测缓冲区溢出、内存泄漏和其他安全漏洞。</a:t>
            </a:r>
            <a:endParaRPr dirty="0"/>
          </a:p>
          <a:p>
            <a:r>
              <a:rPr lang="zh-CN" altLang="en-US" b="1" dirty="0"/>
              <a:t>程序验证</a:t>
            </a:r>
            <a:r>
              <a:rPr lang="zh-CN" altLang="en-US" dirty="0"/>
              <a:t>：虽然</a:t>
            </a:r>
            <a:r>
              <a:rPr lang="en-US" altLang="zh-CN" dirty="0"/>
              <a:t> KLEE </a:t>
            </a:r>
            <a:r>
              <a:rPr lang="zh-CN" altLang="en-US" dirty="0"/>
              <a:t>本身是一个测试工具，但它可以被用于轻量级的程序验证。如等价性验证：验证两个实现相同功能的不同程序（例如，一个优化版和一个简单版）是否在所有输入下产生相同的输出。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en-US" altLang="zh-CN" b="1" dirty="0">
                <a:sym typeface="+mn-ea"/>
              </a:rPr>
              <a:t> KLEE</a:t>
            </a:r>
            <a:r>
              <a:rPr lang="zh-CN" altLang="en-US" b="1" dirty="0">
                <a:sym typeface="+mn-ea"/>
              </a:rPr>
              <a:t>的局限性：</a:t>
            </a:r>
            <a:endParaRPr lang="en-US" altLang="zh-CN" dirty="0"/>
          </a:p>
        </p:txBody>
      </p:sp>
      <p:sp>
        <p:nvSpPr>
          <p:cNvPr id="14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b="1" dirty="0"/>
              <a:t>路径爆炸</a:t>
            </a:r>
            <a:r>
              <a:rPr lang="zh-CN" altLang="en-US" dirty="0"/>
              <a:t>：程序中的循环和条件分支会导致可能的执行路径数量呈指数级增长。对于一个具有</a:t>
            </a:r>
            <a:r>
              <a:rPr lang="en-US" altLang="zh-CN" dirty="0"/>
              <a:t> n </a:t>
            </a:r>
            <a:r>
              <a:rPr lang="zh-CN" altLang="en-US" dirty="0"/>
              <a:t>个二元分支的程序，理论上可能存在</a:t>
            </a:r>
            <a:r>
              <a:rPr lang="en-US" altLang="zh-CN" dirty="0"/>
              <a:t> 2^n </a:t>
            </a:r>
            <a:r>
              <a:rPr lang="zh-CN" altLang="en-US" dirty="0"/>
              <a:t>条路径。对于中等复杂度的程序，</a:t>
            </a:r>
            <a:r>
              <a:rPr lang="en-US" altLang="zh-CN" dirty="0"/>
              <a:t>KLEE </a:t>
            </a:r>
            <a:r>
              <a:rPr lang="zh-CN" altLang="en-US" dirty="0"/>
              <a:t>也无法在合理的时间内（甚至永远无法）探索完所有路径。状态空间会迅速变得无法管理。</a:t>
            </a:r>
            <a:endParaRPr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b="1" dirty="0"/>
              <a:t>约束求解的开销与限制</a:t>
            </a:r>
            <a:r>
              <a:rPr lang="zh-CN" altLang="en-US" dirty="0"/>
              <a:t>：</a:t>
            </a:r>
            <a:r>
              <a:rPr lang="en-US" altLang="zh-CN" dirty="0"/>
              <a:t>KLEE </a:t>
            </a:r>
            <a:r>
              <a:rPr lang="zh-CN" altLang="en-US" dirty="0"/>
              <a:t>严重依赖底层的约束求解器（如</a:t>
            </a:r>
            <a:r>
              <a:rPr lang="en-US" altLang="zh-CN" dirty="0"/>
              <a:t> STP</a:t>
            </a:r>
            <a:r>
              <a:rPr lang="zh-CN" altLang="en-US" dirty="0"/>
              <a:t>、</a:t>
            </a:r>
            <a:r>
              <a:rPr lang="en-US" altLang="zh-CN" dirty="0"/>
              <a:t>Z3</a:t>
            </a:r>
            <a:r>
              <a:rPr lang="zh-CN" altLang="en-US" dirty="0"/>
              <a:t>），随着路径约束变得越来越长和复杂，求解器可能需要非常长的时间来判断路径的可行性或生成测试用例。某些复杂的约束甚至可能让求解器超时或返回</a:t>
            </a:r>
            <a:r>
              <a:rPr lang="en-US" altLang="zh-CN" dirty="0"/>
              <a:t>“</a:t>
            </a:r>
            <a:r>
              <a:rPr lang="zh-CN" altLang="en-US" dirty="0"/>
              <a:t>未知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endParaRPr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b="1" dirty="0"/>
              <a:t>符号化内存与地址的挑战</a:t>
            </a:r>
            <a:r>
              <a:rPr lang="zh-CN" altLang="en-US" dirty="0"/>
              <a:t>：当程序使用指针和动态内存时，分析会变得异常复杂。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符号化指针：当一个指针的值是符号化的（例如，</a:t>
            </a:r>
            <a:r>
              <a:rPr lang="en-US" altLang="zh-CN" dirty="0"/>
              <a:t>p = (x &gt; 0) ? &amp;a : &amp;b</a:t>
            </a:r>
            <a:r>
              <a:rPr lang="zh-CN" altLang="en-US" dirty="0"/>
              <a:t>），</a:t>
            </a:r>
            <a:r>
              <a:rPr lang="en-US" altLang="zh-CN" dirty="0"/>
              <a:t>KLEE </a:t>
            </a:r>
            <a:r>
              <a:rPr lang="zh-CN" altLang="en-US" dirty="0"/>
              <a:t>在通过</a:t>
            </a:r>
            <a:r>
              <a:rPr lang="en-US" altLang="zh-CN" dirty="0"/>
              <a:t> p </a:t>
            </a:r>
            <a:r>
              <a:rPr lang="zh-CN" altLang="en-US" dirty="0"/>
              <a:t>进行内存访问时，必须考虑它所有可能指向的对象。这会导致状态分叉和约束复杂化。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动态数据结构：分析操作复杂数据结构（如链表、树）的程序非常困难，因为需要为这些结构维护精确的符号化内存模型。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zh-CN" sz="6600" dirty="0"/>
              <a:t>PART  II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marL="0" indent="0" algn="ctr">
              <a:buNone/>
            </a:pPr>
            <a:r>
              <a:rPr lang="en-US" altLang="zh-CN" sz="4800" dirty="0"/>
              <a:t>KLEE</a:t>
            </a:r>
            <a:r>
              <a:rPr lang="zh-CN" altLang="en-US" sz="4800" dirty="0"/>
              <a:t>求解器使用</a:t>
            </a:r>
            <a:endParaRPr lang="en-US" altLang="zh-CN" sz="4800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的简单使用：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608400" y="1185600"/>
            <a:ext cx="10969200" cy="4759200"/>
          </a:xfrm>
        </p:spPr>
        <p:txBody>
          <a:bodyPr/>
          <a:lstStyle/>
          <a:p>
            <a:r>
              <a:rPr lang="zh-CN" altLang="en-US"/>
              <a:t>以一个简单的代码示例介绍</a:t>
            </a:r>
            <a:r>
              <a:rPr lang="en-US" altLang="zh-CN"/>
              <a:t>klee</a:t>
            </a:r>
            <a:r>
              <a:rPr lang="zh-CN" altLang="en-US"/>
              <a:t>在实际程序中的运用</a:t>
            </a:r>
            <a:endParaRPr lang="zh-CN" altLang="en-US"/>
          </a:p>
        </p:txBody>
      </p:sp>
      <p:pic>
        <p:nvPicPr>
          <p:cNvPr id="10" name="图片 3" descr="0df10c86183bab0b9e9a35da1f7b3ff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713865"/>
            <a:ext cx="4358640" cy="37026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334000" y="1739900"/>
            <a:ext cx="5709285" cy="4448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+mn-ea"/>
                <a:cs typeface="+mn-ea"/>
              </a:rPr>
              <a:t>将源代码编译为</a:t>
            </a:r>
            <a:r>
              <a:rPr lang="en-US" altLang="zh-CN">
                <a:latin typeface="+mn-ea"/>
                <a:cs typeface="+mn-ea"/>
              </a:rPr>
              <a:t> LLVM bitcode</a:t>
            </a:r>
            <a:r>
              <a:rPr lang="zh-CN" altLang="en-US">
                <a:latin typeface="+mn-ea"/>
                <a:cs typeface="+mn-ea"/>
              </a:rPr>
              <a:t>：</a:t>
            </a:r>
            <a:endParaRPr lang="zh-CN" altLang="en-US">
              <a:latin typeface="+mn-ea"/>
              <a:cs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 b="1">
                <a:latin typeface="+mn-ea"/>
              </a:rPr>
              <a:t>-I ../../include</a:t>
            </a:r>
            <a:r>
              <a:rPr lang="en-US" altLang="zh-CN" b="1"/>
              <a:t> </a:t>
            </a:r>
            <a:r>
              <a:rPr lang="zh-CN" altLang="en-US"/>
              <a:t>添加了编译器</a:t>
            </a:r>
            <a:r>
              <a:rPr lang="en-US" altLang="zh-CN"/>
              <a:t> include </a:t>
            </a:r>
            <a:r>
              <a:rPr lang="zh-CN" altLang="en-US"/>
              <a:t>路径，使得</a:t>
            </a:r>
            <a:r>
              <a:rPr lang="en-US" altLang="zh-CN"/>
              <a:t> clang </a:t>
            </a:r>
            <a:r>
              <a:rPr lang="zh-CN" altLang="en-US"/>
              <a:t>能找到头文件</a:t>
            </a:r>
            <a:r>
              <a:rPr lang="en-US" altLang="zh-CN"/>
              <a:t> klee/klee.h (</a:t>
            </a:r>
            <a:r>
              <a:rPr lang="zh-CN" altLang="en-US"/>
              <a:t>其中包含与</a:t>
            </a:r>
            <a:r>
              <a:rPr lang="en-US" altLang="zh-CN"/>
              <a:t> KLEE </a:t>
            </a:r>
            <a:r>
              <a:rPr lang="zh-CN" altLang="en-US"/>
              <a:t>虚拟机交互的内部函数声明，如</a:t>
            </a:r>
            <a:r>
              <a:rPr lang="en-US" altLang="zh-CN"/>
              <a:t> klee_make_symbolic )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b="1"/>
              <a:t>-emit-llvm -c</a:t>
            </a:r>
            <a:r>
              <a:rPr lang="en-US" altLang="zh-CN"/>
              <a:t> </a:t>
            </a:r>
            <a:r>
              <a:rPr lang="zh-CN" altLang="en-US"/>
              <a:t>让编译器生成</a:t>
            </a:r>
            <a:r>
              <a:rPr lang="en-US" altLang="zh-CN"/>
              <a:t> bitcode (.bc) </a:t>
            </a:r>
            <a:r>
              <a:rPr lang="zh-CN" altLang="en-US"/>
              <a:t>格式的</a:t>
            </a:r>
            <a:r>
              <a:rPr lang="en-US" altLang="zh-CN"/>
              <a:t> LLVM IR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b="1"/>
              <a:t>-g</a:t>
            </a:r>
            <a:r>
              <a:rPr lang="en-US" altLang="zh-CN"/>
              <a:t> </a:t>
            </a:r>
            <a:r>
              <a:rPr lang="zh-CN" altLang="en-US"/>
              <a:t>使得</a:t>
            </a:r>
            <a:r>
              <a:rPr lang="en-US" altLang="zh-CN"/>
              <a:t> bitcode </a:t>
            </a:r>
            <a:r>
              <a:rPr lang="zh-CN" altLang="en-US"/>
              <a:t>文件中包含源码级别的</a:t>
            </a:r>
            <a:r>
              <a:rPr lang="en-US" altLang="zh-CN"/>
              <a:t> debug </a:t>
            </a:r>
            <a:r>
              <a:rPr lang="zh-CN" altLang="en-US"/>
              <a:t>信息。</a:t>
            </a:r>
            <a:endParaRPr lang="zh-CN" altLang="en-US"/>
          </a:p>
          <a:p>
            <a:r>
              <a:rPr lang="en-US" altLang="zh-CN" b="1"/>
              <a:t>-O0 -Xclang -disable-O0-optnone</a:t>
            </a:r>
            <a:r>
              <a:rPr lang="en-US" altLang="zh-CN"/>
              <a:t> </a:t>
            </a:r>
            <a:r>
              <a:rPr lang="zh-CN" altLang="en-US"/>
              <a:t>关闭编译器优化功能，并禁止</a:t>
            </a:r>
            <a:r>
              <a:rPr lang="en-US" altLang="zh-CN"/>
              <a:t> optnone </a:t>
            </a:r>
            <a:r>
              <a:rPr lang="zh-CN" altLang="en-US"/>
              <a:t>阻止</a:t>
            </a:r>
            <a:r>
              <a:rPr lang="en-US" altLang="zh-CN"/>
              <a:t> KLEE </a:t>
            </a:r>
            <a:r>
              <a:rPr lang="zh-CN" altLang="en-US"/>
              <a:t>对中间表示码的优化</a:t>
            </a:r>
            <a:endParaRPr lang="zh-CN" altLang="en-US"/>
          </a:p>
        </p:txBody>
      </p:sp>
      <p:pic>
        <p:nvPicPr>
          <p:cNvPr id="12" name="图片 11" descr="6c512e027fa9356d147af1a34fa656f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108200"/>
            <a:ext cx="4543425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的简单使用：</a:t>
            </a:r>
            <a:endParaRPr lang="zh-CN" altLang="en-US"/>
          </a:p>
        </p:txBody>
      </p:sp>
      <p:sp>
        <p:nvSpPr>
          <p:cNvPr id="1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●"/>
            </a:pPr>
            <a:r>
              <a:rPr lang="zh-CN"/>
              <a:t>然后使用</a:t>
            </a:r>
            <a:r>
              <a:rPr lang="en-US"/>
              <a:t> KLEE </a:t>
            </a:r>
            <a:r>
              <a:rPr lang="zh-CN"/>
              <a:t>对</a:t>
            </a:r>
            <a:r>
              <a:rPr lang="en-US"/>
              <a:t> bitcode </a:t>
            </a:r>
            <a:r>
              <a:rPr lang="zh-CN"/>
              <a:t>进行符号执行（使用命令</a:t>
            </a:r>
            <a:r>
              <a:rPr lang="en-US" b="1"/>
              <a:t>klee get_sign.bc</a:t>
            </a:r>
            <a:r>
              <a:rPr lang="zh-CN"/>
              <a:t>），可以看到</a:t>
            </a:r>
            <a:r>
              <a:rPr lang="en-US"/>
              <a:t> KLEE </a:t>
            </a:r>
            <a:r>
              <a:rPr lang="zh-CN"/>
              <a:t>成功探索了</a:t>
            </a:r>
            <a:r>
              <a:rPr lang="en-US"/>
              <a:t> 3 </a:t>
            </a:r>
            <a:r>
              <a:rPr lang="zh-CN"/>
              <a:t>条可能的执行路径，并将每条执行路径所对应的输入写入</a:t>
            </a:r>
            <a:r>
              <a:rPr lang="en-US"/>
              <a:t> klee-last </a:t>
            </a:r>
            <a:r>
              <a:rPr lang="zh-CN"/>
              <a:t>文件夹的</a:t>
            </a:r>
            <a:r>
              <a:rPr lang="en-US"/>
              <a:t> .ktest </a:t>
            </a:r>
            <a:r>
              <a:rPr lang="zh-CN"/>
              <a:t>文件中：</a:t>
            </a:r>
            <a:endParaRPr lang="zh-CN"/>
          </a:p>
        </p:txBody>
      </p:sp>
      <p:pic>
        <p:nvPicPr>
          <p:cNvPr id="16" name="图片 3" descr="14f577cac24994d3a55cdb9552f3377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2758440"/>
            <a:ext cx="9553575" cy="2867025"/>
          </a:xfrm>
          <a:prstGeom prst="rect">
            <a:avLst/>
          </a:prstGeom>
        </p:spPr>
      </p:pic>
      <p:cxnSp>
        <p:nvCxnSpPr>
          <p:cNvPr id="17" name="直接箭头连接符 5"/>
          <p:cNvCxnSpPr/>
          <p:nvPr/>
        </p:nvCxnSpPr>
        <p:spPr>
          <a:xfrm flipH="1">
            <a:off x="4338320" y="4932680"/>
            <a:ext cx="1788160" cy="17272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6"/>
          <p:cNvCxnSpPr/>
          <p:nvPr/>
        </p:nvCxnSpPr>
        <p:spPr>
          <a:xfrm flipH="1">
            <a:off x="4389120" y="5471160"/>
            <a:ext cx="1361440" cy="6096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的简单使用：</a:t>
            </a:r>
            <a:endParaRPr lang="zh-CN" altLang="en-US"/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ktest-tool</a:t>
            </a:r>
            <a:r>
              <a:rPr lang="zh-CN" altLang="en-US"/>
              <a:t>工具查看测试用例</a:t>
            </a:r>
            <a:r>
              <a:rPr lang="en-US" altLang="zh-CN"/>
              <a:t>:test000001.ktest</a:t>
            </a:r>
            <a:endParaRPr lang="en-US" altLang="zh-CN"/>
          </a:p>
        </p:txBody>
      </p:sp>
      <p:pic>
        <p:nvPicPr>
          <p:cNvPr id="22" name="图片 3" descr="c133007d4ec5b9a1bf92b220bce2bfd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998345"/>
            <a:ext cx="9869170" cy="4424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的简单使用：</a:t>
            </a:r>
            <a:endParaRPr lang="zh-CN" altLang="en-US"/>
          </a:p>
        </p:txBody>
      </p:sp>
      <p:sp>
        <p:nvSpPr>
          <p:cNvPr id="2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ktest-tool</a:t>
            </a:r>
            <a:r>
              <a:rPr lang="zh-CN" altLang="en-US"/>
              <a:t>工具查看测试用例</a:t>
            </a:r>
            <a:r>
              <a:rPr lang="en-US" altLang="zh-CN"/>
              <a:t>:test000002.ktest</a:t>
            </a:r>
            <a:endParaRPr lang="en-US" altLang="zh-CN"/>
          </a:p>
        </p:txBody>
      </p:sp>
      <p:pic>
        <p:nvPicPr>
          <p:cNvPr id="26" name="图片 4" descr="a5ce76497eea3493c7ea241d26b9fdf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905000"/>
            <a:ext cx="9477375" cy="44913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的简单使用：</a:t>
            </a:r>
            <a:endParaRPr lang="zh-CN" altLang="en-US"/>
          </a:p>
        </p:txBody>
      </p:sp>
      <p:sp>
        <p:nvSpPr>
          <p:cNvPr id="2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ktest-tool</a:t>
            </a:r>
            <a:r>
              <a:rPr lang="zh-CN" altLang="en-US"/>
              <a:t>工具查看测试用例</a:t>
            </a:r>
            <a:r>
              <a:rPr lang="en-US" altLang="zh-CN"/>
              <a:t>:test000003.ktest</a:t>
            </a:r>
            <a:endParaRPr lang="en-US" altLang="zh-CN"/>
          </a:p>
        </p:txBody>
      </p:sp>
      <p:pic>
        <p:nvPicPr>
          <p:cNvPr id="30" name="图片 4" descr="e2b0827717f7204638ec7009d925a4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915160"/>
            <a:ext cx="9385935" cy="45599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的简单使用：</a:t>
            </a:r>
            <a:endParaRPr lang="zh-CN" altLang="en-US"/>
          </a:p>
        </p:txBody>
      </p:sp>
      <p:sp>
        <p:nvSpPr>
          <p:cNvPr id="3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然而，我们单从这个结果来看，无法确定其对应哪个分支，需要使用</a:t>
            </a:r>
            <a:r>
              <a:rPr lang="en-US" altLang="zh-CN"/>
              <a:t>KLEE</a:t>
            </a:r>
            <a:r>
              <a:rPr lang="zh-CN" altLang="en-US"/>
              <a:t>提供的工具来运行测试用例。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其中，</a:t>
            </a:r>
            <a:r>
              <a:rPr lang="en-US" altLang="zh-CN"/>
              <a:t>test000003.ktest</a:t>
            </a:r>
            <a:r>
              <a:rPr lang="zh-CN" altLang="en-US"/>
              <a:t>返回</a:t>
            </a:r>
            <a:r>
              <a:rPr lang="en-US" altLang="zh-CN"/>
              <a:t>255</a:t>
            </a:r>
            <a:r>
              <a:rPr lang="zh-CN" altLang="en-US"/>
              <a:t>，这是因为</a:t>
            </a:r>
            <a:r>
              <a:rPr lang="en-US" altLang="zh-CN"/>
              <a:t>-1</a:t>
            </a:r>
            <a:r>
              <a:rPr lang="zh-CN" altLang="en-US"/>
              <a:t>被转换为无符号数</a:t>
            </a:r>
            <a:r>
              <a:rPr lang="en-US" altLang="zh-CN"/>
              <a:t>255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34" name="图片 3" descr="873b89dc0f5b6ea09b2e6d749607d3c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2484120"/>
            <a:ext cx="10871200" cy="3164840"/>
          </a:xfrm>
          <a:prstGeom prst="rect">
            <a:avLst/>
          </a:prstGeom>
        </p:spPr>
      </p:pic>
      <p:cxnSp>
        <p:nvCxnSpPr>
          <p:cNvPr id="35" name="直接箭头连接符 4"/>
          <p:cNvCxnSpPr/>
          <p:nvPr/>
        </p:nvCxnSpPr>
        <p:spPr>
          <a:xfrm>
            <a:off x="1066800" y="4191000"/>
            <a:ext cx="7101840" cy="28448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5"/>
          <p:cNvCxnSpPr/>
          <p:nvPr/>
        </p:nvCxnSpPr>
        <p:spPr>
          <a:xfrm flipV="1">
            <a:off x="1066800" y="4658360"/>
            <a:ext cx="7061200" cy="15748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6"/>
          <p:cNvCxnSpPr/>
          <p:nvPr/>
        </p:nvCxnSpPr>
        <p:spPr>
          <a:xfrm flipV="1">
            <a:off x="1066800" y="4861560"/>
            <a:ext cx="7051040" cy="60960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7"/>
          <p:cNvSpPr txBox="1"/>
          <p:nvPr/>
        </p:nvSpPr>
        <p:spPr>
          <a:xfrm>
            <a:off x="8270240" y="4287520"/>
            <a:ext cx="1767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三个测试用例对应三条路径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en-US" altLang="zh-CN"/>
          </a:p>
        </p:txBody>
      </p:sp>
      <p:sp>
        <p:nvSpPr>
          <p:cNvPr id="41" name="内容占位符 2"/>
          <p:cNvSpPr>
            <a:spLocks noGrp="1"/>
          </p:cNvSpPr>
          <p:nvPr>
            <p:ph idx="1"/>
          </p:nvPr>
        </p:nvSpPr>
        <p:spPr>
          <a:xfrm>
            <a:off x="608330" y="1378585"/>
            <a:ext cx="10968990" cy="4455160"/>
          </a:xfrm>
        </p:spPr>
        <p:txBody>
          <a:bodyPr/>
          <a:lstStyle/>
          <a:p>
            <a:r>
              <a:rPr lang="zh-CN" altLang="en-US"/>
              <a:t>接下来我们通过一个更复杂的例子来展示</a:t>
            </a:r>
            <a:r>
              <a:rPr lang="en-US" altLang="zh-CN"/>
              <a:t>klee</a:t>
            </a:r>
            <a:r>
              <a:rPr lang="zh-CN" altLang="en-US"/>
              <a:t>的使用</a:t>
            </a:r>
            <a:endParaRPr lang="zh-CN" altLang="en-US"/>
          </a:p>
          <a:p>
            <a:r>
              <a:rPr lang="zh-CN" altLang="en-US"/>
              <a:t>我们将在有趣的</a:t>
            </a:r>
            <a:r>
              <a:rPr lang="en-US" altLang="zh-CN"/>
              <a:t> ASCII </a:t>
            </a:r>
            <a:r>
              <a:rPr lang="zh-CN" altLang="en-US"/>
              <a:t>迷宫上练习符号执行引擎</a:t>
            </a:r>
            <a:r>
              <a:rPr lang="en-US" altLang="zh-CN"/>
              <a:t> KLEE</a:t>
            </a:r>
            <a:r>
              <a:rPr lang="zh-CN" altLang="en-US"/>
              <a:t>！</a:t>
            </a:r>
            <a:endParaRPr lang="zh-CN" altLang="en-US"/>
          </a:p>
        </p:txBody>
      </p:sp>
      <p:sp>
        <p:nvSpPr>
          <p:cNvPr id="42" name="文本框 12"/>
          <p:cNvSpPr txBox="1"/>
          <p:nvPr/>
        </p:nvSpPr>
        <p:spPr>
          <a:xfrm>
            <a:off x="750570" y="2748280"/>
            <a:ext cx="5080000" cy="160401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/>
            <a:r>
              <a:rPr lang="zh-CN" altLang="en-US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这个简单的</a:t>
            </a:r>
            <a:r>
              <a:rPr lang="en-US" altLang="zh-CN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ASCII</a:t>
            </a:r>
            <a:r>
              <a:rPr lang="zh-CN" altLang="en-US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游戏首先需要你输入操作指令，指令以动作批量列表的形式输入。</a:t>
            </a:r>
            <a:endParaRPr lang="zh-CN" altLang="en-US" b="0" i="0" dirty="0">
              <a:solidFill>
                <a:srgbClr val="555555"/>
              </a:solidFill>
              <a:latin typeface="Tahoma" panose="020B0604030504040204"/>
              <a:ea typeface="Tahoma" panose="020B0604030504040204"/>
            </a:endParaRPr>
          </a:p>
          <a:p>
            <a:pPr marL="0" indent="0" algn="l"/>
            <a:r>
              <a:rPr lang="zh-CN" altLang="en-US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操作方式如下：</a:t>
            </a:r>
            <a:r>
              <a:rPr lang="en-US" altLang="zh-CN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a</a:t>
            </a:r>
            <a:r>
              <a:rPr lang="zh-CN" altLang="en-US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键代表左，</a:t>
            </a:r>
            <a:r>
              <a:rPr lang="en-US" altLang="zh-CN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d</a:t>
            </a:r>
            <a:r>
              <a:rPr lang="zh-CN" altLang="en-US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键代表右，</a:t>
            </a:r>
            <a:r>
              <a:rPr lang="en-US" altLang="zh-CN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w</a:t>
            </a:r>
            <a:r>
              <a:rPr lang="zh-CN" altLang="en-US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键代表上，</a:t>
            </a:r>
            <a:r>
              <a:rPr lang="en-US" altLang="zh-CN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s</a:t>
            </a:r>
            <a:r>
              <a:rPr lang="zh-CN" altLang="en-US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键代表下。</a:t>
            </a:r>
            <a:endParaRPr lang="zh-CN" altLang="en-US" b="0" i="0" dirty="0">
              <a:solidFill>
                <a:srgbClr val="555555"/>
              </a:solidFill>
              <a:latin typeface="Tahoma" panose="020B0604030504040204"/>
              <a:ea typeface="Tahoma" panose="020B0604030504040204"/>
            </a:endParaRPr>
          </a:p>
          <a:p>
            <a:pPr marL="0" indent="0" algn="l"/>
            <a:r>
              <a:rPr lang="zh-CN" altLang="en-US" b="0" i="0" dirty="0">
                <a:solidFill>
                  <a:srgbClr val="555555"/>
                </a:solidFill>
                <a:latin typeface="Tahoma" panose="020B0604030504040204"/>
                <a:ea typeface="Tahoma" panose="020B0604030504040204"/>
              </a:rPr>
              <a:t>游戏界面如图所示：</a:t>
            </a:r>
            <a:endParaRPr lang="en-US" altLang="zh-CN" b="0" i="0" dirty="0">
              <a:solidFill>
                <a:srgbClr val="555555"/>
              </a:solidFill>
              <a:latin typeface="Tahoma" panose="020B0604030504040204"/>
              <a:ea typeface="Tahoma" panose="020B0604030504040204"/>
            </a:endParaRPr>
          </a:p>
        </p:txBody>
      </p:sp>
      <p:pic>
        <p:nvPicPr>
          <p:cNvPr id="43" name="图片 13" descr="2a730b87105bd4e2036f1e2f936988c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0395" y="2402840"/>
            <a:ext cx="3938905" cy="39941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pic>
        <p:nvPicPr>
          <p:cNvPr id="46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2790" y="2334895"/>
            <a:ext cx="5377180" cy="2859405"/>
          </a:xfrm>
          <a:prstGeom prst="rect">
            <a:avLst/>
          </a:prstGeom>
        </p:spPr>
      </p:pic>
      <p:sp>
        <p:nvSpPr>
          <p:cNvPr id="48" name="文本框 9"/>
          <p:cNvSpPr txBox="1"/>
          <p:nvPr/>
        </p:nvSpPr>
        <p:spPr>
          <a:xfrm>
            <a:off x="608330" y="5194300"/>
            <a:ext cx="5933440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下面我们将从代码层面进行剖析klee能否找到路径</a:t>
            </a:r>
            <a:endParaRPr lang="zh-CN" altLang="en-US"/>
          </a:p>
        </p:txBody>
      </p:sp>
      <p:sp>
        <p:nvSpPr>
          <p:cNvPr id="57" name="内容占位符 2"/>
          <p:cNvSpPr>
            <a:spLocks noGrp="1"/>
          </p:cNvSpPr>
          <p:nvPr/>
        </p:nvSpPr>
        <p:spPr>
          <a:xfrm>
            <a:off x="608400" y="131387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ym typeface="+mn-ea"/>
              </a:rPr>
              <a:t>运行代码，通过观察，我们可以找到这样路径：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ssssddddwwaawwddddssssddwwww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剖析代码：</a:t>
            </a:r>
            <a:endParaRPr lang="zh-CN" altLang="en-US"/>
          </a:p>
          <a:p>
            <a:r>
              <a:rPr lang="zh-CN" altLang="en-US"/>
              <a:t>首先，设置宏变量，并将地图硬编码为静态全局变量。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2" name="图片 3" descr="bf5a4066c0991f4facd4b1f65d530b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45" y="2537460"/>
            <a:ext cx="409575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5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剖析代码：</a:t>
            </a:r>
            <a:endParaRPr lang="zh-CN" altLang="en-US"/>
          </a:p>
          <a:p>
            <a:r>
              <a:rPr lang="zh-CN" altLang="en-US"/>
              <a:t>编写一个</a:t>
            </a:r>
            <a:r>
              <a:rPr lang="en-US" altLang="zh-CN"/>
              <a:t>draw</a:t>
            </a:r>
            <a:r>
              <a:rPr lang="zh-CN" altLang="en-US"/>
              <a:t>函数，在屏幕上绘制迷宫状态</a:t>
            </a:r>
            <a:endParaRPr lang="en-US" altLang="zh-CN"/>
          </a:p>
        </p:txBody>
      </p:sp>
      <p:pic>
        <p:nvPicPr>
          <p:cNvPr id="58" name="图片 4" descr="ded8e0bddaf0f457f8b7db6cc2d6d17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2524760"/>
            <a:ext cx="4815205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6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剖析代码：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 main </a:t>
            </a:r>
            <a:r>
              <a:rPr lang="zh-CN" altLang="en-US"/>
              <a:t>函数中，设置玩家的起始位置，以及迭代计数器和</a:t>
            </a:r>
            <a:r>
              <a:rPr lang="en-US" altLang="zh-CN"/>
              <a:t> 28 </a:t>
            </a:r>
            <a:r>
              <a:rPr lang="zh-CN" altLang="en-US"/>
              <a:t>字节的动作数组</a:t>
            </a:r>
            <a:endParaRPr lang="zh-CN" altLang="en-US"/>
          </a:p>
          <a:p>
            <a:r>
              <a:rPr lang="zh-CN" altLang="en-US"/>
              <a:t>初始玩家位置被设定为地图中第一个空闲单元格</a:t>
            </a:r>
            <a:r>
              <a:rPr lang="en-US" altLang="zh-CN"/>
              <a:t>(1,1)</a:t>
            </a:r>
            <a:r>
              <a:rPr lang="zh-CN" altLang="en-US"/>
              <a:t>，玩家当前位置用字母</a:t>
            </a:r>
            <a:r>
              <a:rPr lang="en-US" altLang="zh-CN"/>
              <a:t>“X”</a:t>
            </a:r>
            <a:r>
              <a:rPr lang="zh-CN" altLang="en-US"/>
              <a:t>表示</a:t>
            </a:r>
            <a:endParaRPr lang="zh-CN" altLang="en-US"/>
          </a:p>
        </p:txBody>
      </p:sp>
      <p:pic>
        <p:nvPicPr>
          <p:cNvPr id="62" name="图片 3" descr="f28d1bdc581eddbebb4ec4bcfb6c1b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10" y="3002280"/>
            <a:ext cx="5109210" cy="28746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65" name="内容占位符 2"/>
          <p:cNvSpPr>
            <a:spLocks noGrp="1"/>
          </p:cNvSpPr>
          <p:nvPr>
            <p:ph idx="1"/>
          </p:nvPr>
        </p:nvSpPr>
        <p:spPr>
          <a:xfrm>
            <a:off x="608330" y="1216025"/>
            <a:ext cx="10968990" cy="5149850"/>
          </a:xfrm>
        </p:spPr>
        <p:txBody>
          <a:bodyPr/>
          <a:lstStyle/>
          <a:p>
            <a:r>
              <a:rPr lang="zh-CN" altLang="en-US"/>
              <a:t>剖析代码：</a:t>
            </a:r>
            <a:endParaRPr lang="zh-CN" altLang="en-US"/>
          </a:p>
          <a:p>
            <a:r>
              <a:rPr lang="zh-CN" altLang="en-US"/>
              <a:t>指定内存区域</a:t>
            </a:r>
            <a:r>
              <a:rPr lang="en-US" altLang="zh-CN"/>
              <a:t>program</a:t>
            </a:r>
            <a:r>
              <a:rPr lang="zh-CN" altLang="en-US"/>
              <a:t>标记为符号化输入，使得</a:t>
            </a:r>
            <a:r>
              <a:rPr lang="en-US" altLang="zh-CN"/>
              <a:t> KLEE </a:t>
            </a:r>
            <a:r>
              <a:rPr lang="zh-CN" altLang="en-US"/>
              <a:t>在符号执行过程中能够系统地探索这段内存中所有可能的取值组合，从而自动生成不同输入路径以覆盖程序的各种执行分支。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现在它迭代变量</a:t>
            </a:r>
            <a:r>
              <a:rPr lang="en-US" altLang="zh-CN"/>
              <a:t> 'program' </a:t>
            </a:r>
            <a:r>
              <a:rPr lang="zh-CN" altLang="en-US"/>
              <a:t>中的动作数组，不同的动作会改变玩家在不同轴和方向上的位置。</a:t>
            </a:r>
            <a:endParaRPr lang="zh-CN" altLang="en-US"/>
          </a:p>
        </p:txBody>
      </p:sp>
      <p:pic>
        <p:nvPicPr>
          <p:cNvPr id="66" name="图片 10" descr="fcfb8de4e23ecfc67a43a3bb5bb487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" y="2562860"/>
            <a:ext cx="5705475" cy="390525"/>
          </a:xfrm>
          <a:prstGeom prst="rect">
            <a:avLst/>
          </a:prstGeom>
        </p:spPr>
      </p:pic>
      <p:pic>
        <p:nvPicPr>
          <p:cNvPr id="67" name="图片 11" descr="792db215ad0e53fc5b71e75b9879e15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" y="3602990"/>
            <a:ext cx="4143375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70" name="内容占位符 2"/>
          <p:cNvSpPr>
            <a:spLocks noGrp="1"/>
          </p:cNvSpPr>
          <p:nvPr>
            <p:ph idx="1"/>
          </p:nvPr>
        </p:nvSpPr>
        <p:spPr>
          <a:xfrm>
            <a:off x="608330" y="1216025"/>
            <a:ext cx="10968990" cy="5149850"/>
          </a:xfrm>
        </p:spPr>
        <p:txBody>
          <a:bodyPr/>
          <a:lstStyle/>
          <a:p>
            <a:pPr indent="457200"/>
            <a:r>
              <a:rPr lang="en-US" altLang="zh-CN">
                <a:sym typeface="+mn-ea"/>
              </a:rPr>
              <a:t>KLEE </a:t>
            </a:r>
            <a:r>
              <a:rPr lang="zh-CN" altLang="en-US">
                <a:sym typeface="+mn-ea"/>
              </a:rPr>
              <a:t>提供了一个</a:t>
            </a:r>
            <a:r>
              <a:rPr lang="en-US" altLang="zh-CN">
                <a:sym typeface="+mn-ea"/>
              </a:rPr>
              <a:t> klee_assert(expr) </a:t>
            </a:r>
            <a:r>
              <a:rPr lang="zh-CN" altLang="en-US">
                <a:sym typeface="+mn-ea"/>
              </a:rPr>
              <a:t>函数，其功能与标准</a:t>
            </a:r>
            <a:r>
              <a:rPr lang="en-US" altLang="zh-CN">
                <a:sym typeface="+mn-ea"/>
              </a:rPr>
              <a:t> C </a:t>
            </a:r>
            <a:r>
              <a:rPr lang="zh-CN" altLang="en-US">
                <a:sym typeface="+mn-ea"/>
              </a:rPr>
              <a:t>语言的</a:t>
            </a:r>
            <a:r>
              <a:rPr lang="en-US" altLang="zh-CN">
                <a:sym typeface="+mn-ea"/>
              </a:rPr>
              <a:t> assert </a:t>
            </a:r>
            <a:r>
              <a:rPr lang="zh-CN" altLang="en-US">
                <a:sym typeface="+mn-ea"/>
              </a:rPr>
              <a:t>基本相同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用于强制某个条件必须为真，否则</a:t>
            </a:r>
            <a:r>
              <a:rPr lang="en-US" altLang="zh-CN">
                <a:sym typeface="+mn-ea"/>
              </a:rPr>
              <a:t> KLEE </a:t>
            </a:r>
            <a:r>
              <a:rPr lang="zh-CN" altLang="en-US">
                <a:sym typeface="+mn-ea"/>
              </a:rPr>
              <a:t>会将当前路径判定为错误并终止该路径的符号执行。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pPr indent="457200"/>
            <a:r>
              <a:rPr lang="zh-CN" altLang="en-US">
                <a:sym typeface="+mn-ea"/>
              </a:rPr>
              <a:t>到这里，我们已经掌握了核心要点：通过在关键代码处设置断言，</a:t>
            </a:r>
            <a:r>
              <a:rPr lang="en-US" altLang="zh-CN">
                <a:sym typeface="+mn-ea"/>
              </a:rPr>
              <a:t>KLEE </a:t>
            </a:r>
            <a:r>
              <a:rPr lang="zh-CN" altLang="en-US">
                <a:sym typeface="+mn-ea"/>
              </a:rPr>
              <a:t>在符号执行时会检测这些条件；一旦断言失败，它就会记录下触发错误的输入条件。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pPr indent="457200"/>
            <a:r>
              <a:rPr lang="zh-CN" altLang="en-US">
                <a:sym typeface="+mn-ea"/>
              </a:rPr>
              <a:t>在迷宫求解程序中，</a:t>
            </a:r>
            <a:r>
              <a:rPr lang="en-US" altLang="zh-CN">
                <a:sym typeface="+mn-ea"/>
              </a:rPr>
              <a:t>KLEE </a:t>
            </a:r>
            <a:r>
              <a:rPr lang="zh-CN" altLang="en-US">
                <a:sym typeface="+mn-ea"/>
              </a:rPr>
              <a:t>正是通过这种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错误路径剪枝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的方式，排除所有走不通或无效的路径，最终找到唯一不会触发断言（即成功走出迷宫）的输入序列。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71" name="图片 11" descr="792db215ad0e53fc5b71e75b9879e15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665" y="3776345"/>
            <a:ext cx="4143375" cy="298132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5478145" y="3968750"/>
            <a:ext cx="6456680" cy="259651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/>
            <a:r>
              <a:rPr lang="zh-CN" altLang="en-US">
                <a:sym typeface="+mn-ea"/>
              </a:rPr>
              <a:t>如果触发klee_assert(expr) </a:t>
            </a:r>
            <a:r>
              <a:rPr lang="zh-CN" altLang="en-US"/>
              <a:t>：</a:t>
            </a:r>
            <a:endParaRPr lang="zh-CN" altLang="en-US"/>
          </a:p>
          <a:p>
            <a:pPr indent="457200"/>
            <a:r>
              <a:rPr lang="zh-CN" altLang="en-US"/>
              <a:t>停止当前路径的执行；</a:t>
            </a:r>
            <a:endParaRPr lang="zh-CN" altLang="en-US"/>
          </a:p>
          <a:p>
            <a:pPr indent="457200"/>
            <a:r>
              <a:rPr lang="zh-CN" altLang="en-US"/>
              <a:t>记录导致该断言触发的所有输入约束；</a:t>
            </a:r>
            <a:endParaRPr lang="zh-CN" altLang="en-US"/>
          </a:p>
          <a:p>
            <a:pPr indent="457200"/>
            <a:r>
              <a:rPr lang="zh-CN" altLang="en-US"/>
              <a:t>调用求解器生成一组能复现该情况的输入；</a:t>
            </a:r>
            <a:endParaRPr lang="zh-CN" altLang="en-US"/>
          </a:p>
          <a:p>
            <a:pPr indent="457200"/>
            <a:r>
              <a:rPr lang="zh-CN" altLang="en-US"/>
              <a:t>生成 .ktest 文件和</a:t>
            </a:r>
            <a:r>
              <a:rPr lang="zh-CN" altLang="en-US"/>
              <a:t> .err 文件。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74" name="内容占位符 2"/>
          <p:cNvSpPr>
            <a:spLocks noGrp="1"/>
          </p:cNvSpPr>
          <p:nvPr>
            <p:ph idx="1"/>
          </p:nvPr>
        </p:nvSpPr>
        <p:spPr>
          <a:xfrm>
            <a:off x="608400" y="1313870"/>
            <a:ext cx="10969200" cy="4759200"/>
          </a:xfrm>
        </p:spPr>
        <p:txBody>
          <a:bodyPr>
            <a:normAutofit/>
          </a:bodyPr>
          <a:lstStyle/>
          <a:p>
            <a:r>
              <a:rPr lang="zh-CN" altLang="en-US"/>
              <a:t>检查奖品是否已命中！如果是已经命中，你赢了！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如果出了问题，不要前进，回溯到保存的状态！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75" name="图片 3" descr="5240c94c33d62b9cd9b1746def6047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876425"/>
            <a:ext cx="6257925" cy="1800225"/>
          </a:xfrm>
          <a:prstGeom prst="rect">
            <a:avLst/>
          </a:prstGeom>
        </p:spPr>
      </p:pic>
      <p:pic>
        <p:nvPicPr>
          <p:cNvPr id="76" name="图片 4" descr="37da9434ca56adf1812afadf635ad72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4332605"/>
            <a:ext cx="5705475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79" name="内容占位符 2"/>
          <p:cNvSpPr>
            <a:spLocks noGrp="1"/>
          </p:cNvSpPr>
          <p:nvPr>
            <p:ph idx="1"/>
          </p:nvPr>
        </p:nvSpPr>
        <p:spPr>
          <a:xfrm>
            <a:off x="608400" y="1264340"/>
            <a:ext cx="10969200" cy="4759200"/>
          </a:xfrm>
        </p:spPr>
        <p:txBody>
          <a:bodyPr>
            <a:normAutofit/>
          </a:bodyPr>
          <a:lstStyle/>
          <a:p>
            <a:r>
              <a:rPr lang="zh-CN" altLang="en-US"/>
              <a:t>如果撞到墙上或无法动弹！退出，你输了！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如果可以移动，就绘制新状态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如果步数走完，还没有到达出口，你输了！</a:t>
            </a:r>
            <a:endParaRPr lang="zh-CN" altLang="en-US"/>
          </a:p>
        </p:txBody>
      </p:sp>
      <p:pic>
        <p:nvPicPr>
          <p:cNvPr id="80" name="图片 4" descr="931b5f9e937b58c9802648068c4a7c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65" y="3699510"/>
            <a:ext cx="3971925" cy="1391920"/>
          </a:xfrm>
          <a:prstGeom prst="rect">
            <a:avLst/>
          </a:prstGeom>
        </p:spPr>
      </p:pic>
      <p:pic>
        <p:nvPicPr>
          <p:cNvPr id="81" name="图片 6" descr="7c90adc96b646dd71f5213edbacfc9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" y="1845310"/>
            <a:ext cx="3543935" cy="1254760"/>
          </a:xfrm>
          <a:prstGeom prst="rect">
            <a:avLst/>
          </a:prstGeom>
        </p:spPr>
      </p:pic>
      <p:pic>
        <p:nvPicPr>
          <p:cNvPr id="82" name="图片 7" descr="ed244667e868a68ab8c29bcfda5e8aa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5631180"/>
            <a:ext cx="3971925" cy="10547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8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现在运行</a:t>
            </a:r>
            <a:r>
              <a:rPr lang="en-US" altLang="zh-CN"/>
              <a:t>klee</a:t>
            </a:r>
            <a:r>
              <a:rPr lang="zh-CN" altLang="en-US"/>
              <a:t>，它将找到所有可能的路径，最终</a:t>
            </a:r>
            <a:r>
              <a:rPr lang="en-US" altLang="zh-CN"/>
              <a:t>Klee</a:t>
            </a:r>
            <a:r>
              <a:rPr lang="zh-CN" altLang="en-US"/>
              <a:t>发现了</a:t>
            </a:r>
            <a:r>
              <a:rPr lang="en-US" altLang="zh-CN"/>
              <a:t>305</a:t>
            </a:r>
            <a:r>
              <a:rPr lang="zh-CN" altLang="en-US"/>
              <a:t>条路径，但是有效路径只有</a:t>
            </a:r>
            <a:r>
              <a:rPr lang="en-US" altLang="zh-CN"/>
              <a:t>4</a:t>
            </a:r>
            <a:r>
              <a:rPr lang="zh-CN" altLang="en-US"/>
              <a:t>条。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6" name="图片 3" descr="5601c45dd004fb65965d1dbbe2ba99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70" y="2272030"/>
            <a:ext cx="6124575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89" name="内容占位符 2"/>
          <p:cNvSpPr>
            <a:spLocks noGrp="1"/>
          </p:cNvSpPr>
          <p:nvPr>
            <p:ph idx="1"/>
          </p:nvPr>
        </p:nvSpPr>
        <p:spPr>
          <a:xfrm>
            <a:off x="608330" y="1185545"/>
            <a:ext cx="10968990" cy="5464175"/>
          </a:xfrm>
        </p:spPr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  <p:pic>
        <p:nvPicPr>
          <p:cNvPr id="90" name="图片 5" descr="f165f4589ffd48b944b31c03dd88130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" y="1313815"/>
            <a:ext cx="7815580" cy="5133975"/>
          </a:xfrm>
          <a:prstGeom prst="rect">
            <a:avLst/>
          </a:prstGeom>
        </p:spPr>
      </p:pic>
      <p:sp>
        <p:nvSpPr>
          <p:cNvPr id="91" name="文本框 6"/>
          <p:cNvSpPr txBox="1"/>
          <p:nvPr/>
        </p:nvSpPr>
        <p:spPr>
          <a:xfrm>
            <a:off x="8608695" y="1585595"/>
            <a:ext cx="3153410" cy="4733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klee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运行测试用例并将生成的所有结果文件保存到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 klee-last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文件夹（当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 KLEE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执行程序时，会生成一个名为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 klee-last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的目录，该目录包含以下重要的结果文件：</a:t>
            </a:r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测试用例文件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（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.ktest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文件）</a:t>
            </a:r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和统计信息文件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）。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每个测试用例文件都可以使用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 ktest-tool 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查看。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可以看出，</a:t>
            </a:r>
            <a:r>
              <a:rPr lang="en-US" altLang="zh-CN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klee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给出了四种解决方案（即有效输入）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9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找到了最初我们尝试的有效路径：</a:t>
            </a:r>
            <a:r>
              <a:rPr lang="en-US" altLang="zh-CN"/>
              <a:t>ssssddddwwaawwddddssssddwwww</a:t>
            </a:r>
            <a:endParaRPr lang="en-US" altLang="zh-CN"/>
          </a:p>
          <a:p>
            <a:endParaRPr lang="zh-CN" altLang="en-US"/>
          </a:p>
          <a:p>
            <a:endParaRPr lang="en-US" altLang="zh-CN"/>
          </a:p>
        </p:txBody>
      </p:sp>
      <p:pic>
        <p:nvPicPr>
          <p:cNvPr id="95" name="2dc5884fb3f7d45750dda2169895208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8330" y="1956435"/>
            <a:ext cx="8268970" cy="4293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9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95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98" name="内容占位符 2"/>
          <p:cNvSpPr>
            <a:spLocks noGrp="1"/>
          </p:cNvSpPr>
          <p:nvPr>
            <p:ph idx="1"/>
          </p:nvPr>
        </p:nvSpPr>
        <p:spPr>
          <a:xfrm>
            <a:off x="608400" y="1313870"/>
            <a:ext cx="10969200" cy="4759200"/>
          </a:xfrm>
        </p:spPr>
        <p:txBody>
          <a:bodyPr/>
          <a:lstStyle/>
          <a:p>
            <a:r>
              <a:rPr lang="zh-CN" altLang="en-US"/>
              <a:t>按照观察，只应该存在一条路径，但是</a:t>
            </a:r>
            <a:r>
              <a:rPr lang="en-US" altLang="zh-CN"/>
              <a:t>Klee</a:t>
            </a:r>
            <a:r>
              <a:rPr lang="zh-CN" altLang="en-US"/>
              <a:t>找到了四条有效路径，我们取出其中一条查看</a:t>
            </a:r>
            <a:endParaRPr lang="zh-CN" altLang="en-US"/>
          </a:p>
          <a:p>
            <a:r>
              <a:rPr lang="zh-CN" altLang="en-US">
                <a:sym typeface="+mn-ea"/>
              </a:rPr>
              <a:t>路径：</a:t>
            </a:r>
            <a:r>
              <a:rPr lang="en-US" altLang="zh-CN">
                <a:sym typeface="+mn-ea"/>
              </a:rPr>
              <a:t>sddwddddssssddwwww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很奇怪，它步数不足</a:t>
            </a:r>
            <a:r>
              <a:rPr lang="en-US" altLang="zh-CN"/>
              <a:t>28</a:t>
            </a:r>
            <a:r>
              <a:rPr lang="zh-CN" altLang="en-US"/>
              <a:t>步，应该无法到达迷宫的出口！让我们在原始迷宫中尝试输入一下。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99" name="图片 3" descr="678123390ac5b32ac7f579a6616460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2229485"/>
            <a:ext cx="96393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105" name="内容占位符 2"/>
          <p:cNvSpPr>
            <a:spLocks noGrp="1"/>
          </p:cNvSpPr>
          <p:nvPr>
            <p:ph idx="1"/>
          </p:nvPr>
        </p:nvSpPr>
        <p:spPr>
          <a:xfrm>
            <a:off x="608400" y="1313870"/>
            <a:ext cx="10969200" cy="4759200"/>
          </a:xfrm>
        </p:spPr>
        <p:txBody>
          <a:bodyPr/>
          <a:lstStyle/>
          <a:p>
            <a:pPr marL="0" indent="0">
              <a:buNone/>
            </a:pPr>
            <a:endParaRPr lang="en-US" altLang="zh-CN"/>
          </a:p>
        </p:txBody>
      </p:sp>
      <p:pic>
        <p:nvPicPr>
          <p:cNvPr id="106" name="94d76077899b2cae1fc2f0407b81b30b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7894955" cy="4759960"/>
          </a:xfrm>
          <a:prstGeom prst="rect">
            <a:avLst/>
          </a:prstGeom>
        </p:spPr>
      </p:pic>
      <p:sp>
        <p:nvSpPr>
          <p:cNvPr id="107" name="文本框 6"/>
          <p:cNvSpPr txBox="1"/>
          <p:nvPr/>
        </p:nvSpPr>
        <p:spPr>
          <a:xfrm>
            <a:off x="8736965" y="2595880"/>
            <a:ext cx="2631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存在假墙，</a:t>
            </a:r>
            <a:r>
              <a:rPr lang="en-US" altLang="zh-CN"/>
              <a:t>klee</a:t>
            </a:r>
            <a:r>
              <a:rPr lang="zh-CN" altLang="en-US"/>
              <a:t>直接穿了过去。原因是什么呢？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106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1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最初，下面代码是为了遇到墙时不要前进，回溯到保存的状态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但在实际运行中，答案输入：</a:t>
            </a:r>
            <a:r>
              <a:rPr lang="en-US" altLang="zh-CN">
                <a:sym typeface="+mn-ea"/>
              </a:rPr>
              <a:t>sddwddddssssddwwww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111" name="图片 3" descr="37da9434ca56adf1812afadf635ad72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05" y="2053590"/>
            <a:ext cx="5705475" cy="1537970"/>
          </a:xfrm>
          <a:prstGeom prst="rect">
            <a:avLst/>
          </a:prstGeom>
        </p:spPr>
      </p:pic>
      <p:pic>
        <p:nvPicPr>
          <p:cNvPr id="112" name="图片 4" descr="fa2108d2367dbad17d8e1c89e3fdc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175" y="4394200"/>
            <a:ext cx="1477645" cy="1925955"/>
          </a:xfrm>
          <a:prstGeom prst="rect">
            <a:avLst/>
          </a:prstGeom>
        </p:spPr>
      </p:pic>
      <p:pic>
        <p:nvPicPr>
          <p:cNvPr id="113" name="图片 5" descr="bf69e4a1e489ff647610a21cbc51607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35" y="4403090"/>
            <a:ext cx="1695450" cy="1917065"/>
          </a:xfrm>
          <a:prstGeom prst="rect">
            <a:avLst/>
          </a:prstGeom>
        </p:spPr>
      </p:pic>
      <p:cxnSp>
        <p:nvCxnSpPr>
          <p:cNvPr id="114" name="直接箭头连接符 6"/>
          <p:cNvCxnSpPr/>
          <p:nvPr/>
        </p:nvCxnSpPr>
        <p:spPr>
          <a:xfrm>
            <a:off x="2834640" y="5278120"/>
            <a:ext cx="1554480" cy="1016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文本框 10"/>
          <p:cNvSpPr txBox="1"/>
          <p:nvPr/>
        </p:nvSpPr>
        <p:spPr>
          <a:xfrm>
            <a:off x="6502400" y="4759960"/>
            <a:ext cx="49676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! (y == 2 &amp;maze[y][x] =='|'’&amp;x &gt; 0&amp;x&lt;W) = true</a:t>
            </a:r>
            <a:endParaRPr lang="en-US" altLang="zh-CN"/>
          </a:p>
          <a:p>
            <a:r>
              <a:rPr lang="en-US" altLang="zh-CN"/>
              <a:t>Y=2</a:t>
            </a:r>
            <a:endParaRPr lang="en-US" altLang="zh-CN"/>
          </a:p>
          <a:p>
            <a:r>
              <a:rPr lang="en-US" altLang="zh-CN"/>
              <a:t>x=2</a:t>
            </a:r>
            <a:endParaRPr lang="en-US" altLang="zh-CN"/>
          </a:p>
          <a:p>
            <a:r>
              <a:rPr lang="en-US" altLang="zh-CN"/>
              <a:t>W=12</a:t>
            </a:r>
            <a:endParaRPr lang="en-US" altLang="zh-CN"/>
          </a:p>
          <a:p>
            <a:r>
              <a:rPr lang="zh-CN" altLang="en-US"/>
              <a:t>因此，无法回溯，会继续前进，从而穿过墙壁！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11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我们将其他的路径也在原始迷宫中尝试一下：</a:t>
            </a:r>
            <a:r>
              <a:rPr lang="zh-CN" altLang="en-US">
                <a:sym typeface="+mn-ea"/>
              </a:rPr>
              <a:t>路径</a:t>
            </a:r>
            <a:r>
              <a:rPr lang="en-US" altLang="zh-CN">
                <a:sym typeface="+mn-ea"/>
              </a:rPr>
              <a:t>sddwddddsddw</a:t>
            </a:r>
            <a:endParaRPr lang="en-US" altLang="zh-CN"/>
          </a:p>
          <a:p>
            <a:endParaRPr lang="zh-CN" altLang="en-US"/>
          </a:p>
          <a:p>
            <a:endParaRPr lang="en-US" altLang="zh-CN"/>
          </a:p>
        </p:txBody>
      </p:sp>
      <p:pic>
        <p:nvPicPr>
          <p:cNvPr id="119" name="02ef0b3093cf03c0fb1ca27035419b0c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8330" y="1971040"/>
            <a:ext cx="8256905" cy="4278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119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12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我们将其他的路径也在原始迷宫中尝试一下：</a:t>
            </a:r>
            <a:r>
              <a:rPr lang="zh-CN" altLang="en-US">
                <a:sym typeface="+mn-ea"/>
              </a:rPr>
              <a:t>路径</a:t>
            </a:r>
            <a:r>
              <a:rPr lang="en-US" altLang="zh-CN">
                <a:sym typeface="+mn-ea"/>
              </a:rPr>
              <a:t>ssssddddwwaawwddddsddw</a:t>
            </a:r>
            <a:endParaRPr lang="en-US" altLang="zh-CN"/>
          </a:p>
          <a:p>
            <a:endParaRPr lang="zh-CN" altLang="en-US"/>
          </a:p>
          <a:p>
            <a:endParaRPr lang="en-US" altLang="zh-CN"/>
          </a:p>
        </p:txBody>
      </p:sp>
      <p:pic>
        <p:nvPicPr>
          <p:cNvPr id="123" name="c88d2fca9256d90348f7623357175605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8330" y="1969135"/>
            <a:ext cx="8256270" cy="4281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1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123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klee</a:t>
            </a:r>
            <a:r>
              <a:rPr lang="zh-CN" altLang="en-US"/>
              <a:t>的使用：</a:t>
            </a:r>
            <a:endParaRPr lang="zh-CN" altLang="en-US"/>
          </a:p>
        </p:txBody>
      </p:sp>
      <p:sp>
        <p:nvSpPr>
          <p:cNvPr id="126" name="内容占位符 2"/>
          <p:cNvSpPr>
            <a:spLocks noGrp="1"/>
          </p:cNvSpPr>
          <p:nvPr>
            <p:ph idx="1"/>
          </p:nvPr>
        </p:nvSpPr>
        <p:spPr>
          <a:xfrm>
            <a:off x="608400" y="1759005"/>
            <a:ext cx="10969200" cy="4759200"/>
          </a:xfrm>
        </p:spPr>
        <p:txBody>
          <a:bodyPr/>
          <a:lstStyle/>
          <a:p>
            <a:r>
              <a:rPr lang="zh-CN" altLang="en-US"/>
              <a:t>设置</a:t>
            </a:r>
            <a:r>
              <a:rPr lang="en-US"/>
              <a:t>“</a:t>
            </a:r>
            <a:r>
              <a:rPr lang="zh-CN" altLang="en-US"/>
              <a:t>假墙</a:t>
            </a:r>
            <a:r>
              <a:rPr lang="en-US"/>
              <a:t>”</a:t>
            </a:r>
            <a:r>
              <a:rPr lang="zh-CN" altLang="en-US"/>
              <a:t>的目的：</a:t>
            </a:r>
            <a:endParaRPr lang="en-US"/>
          </a:p>
          <a:p>
            <a:r>
              <a:rPr lang="zh-CN" altLang="en-US"/>
              <a:t>假墙的设计通过在迷宫中加入带有隐含逻辑条件的可通路径，检验</a:t>
            </a:r>
            <a:r>
              <a:rPr lang="en-US" altLang="zh-CN"/>
              <a:t> KLEE </a:t>
            </a:r>
            <a:r>
              <a:rPr lang="zh-CN" altLang="en-US"/>
              <a:t>是否能够依靠符号执行识别并探索这些隐藏通路</a:t>
            </a:r>
            <a:endParaRPr lang="zh-CN" altLang="en-US"/>
          </a:p>
          <a:p>
            <a:r>
              <a:rPr lang="zh-CN" altLang="en-US"/>
              <a:t>假墙让迷宫的</a:t>
            </a:r>
            <a:r>
              <a:rPr lang="en-US" altLang="zh-CN"/>
              <a:t>“</a:t>
            </a:r>
            <a:r>
              <a:rPr lang="zh-CN" altLang="en-US"/>
              <a:t>可通</a:t>
            </a:r>
            <a:r>
              <a:rPr lang="en-US" altLang="zh-CN"/>
              <a:t>”</a:t>
            </a:r>
            <a:r>
              <a:rPr lang="zh-CN" altLang="en-US"/>
              <a:t>不再由空间结构直接决定，而是由程序逻辑所控制。它揭示了在符号执行中，路径的可达性取决于代码中的条件语句与约束求解，而非仅仅是地形的阻挡关系。通过这一设计，我们强调了程序语义对路径探索结果的主导作用，也展示了</a:t>
            </a:r>
            <a:r>
              <a:rPr lang="en-US" altLang="zh-CN"/>
              <a:t> KLEE </a:t>
            </a:r>
            <a:r>
              <a:rPr lang="zh-CN" altLang="en-US"/>
              <a:t>在处理复杂逻辑场景下的分析能力。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内容占位符 2"/>
          <p:cNvSpPr>
            <a:spLocks noGrp="1"/>
          </p:cNvSpPr>
          <p:nvPr>
            <p:ph idx="1"/>
          </p:nvPr>
        </p:nvSpPr>
        <p:spPr>
          <a:xfrm>
            <a:off x="784295" y="1122100"/>
            <a:ext cx="10969200" cy="475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zh-CN" altLang="en-US" sz="4000"/>
          </a:p>
          <a:p>
            <a:pPr marL="0" indent="0" algn="ctr">
              <a:buNone/>
            </a:pPr>
            <a:r>
              <a:rPr lang="zh-CN" altLang="en-US" sz="9600"/>
              <a:t>感谢聆听！</a:t>
            </a:r>
            <a:endParaRPr lang="zh-CN" altLang="en-US" sz="9600"/>
          </a:p>
          <a:p>
            <a:pPr marL="0" indent="0" algn="r">
              <a:buNone/>
            </a:pPr>
            <a:endParaRPr lang="zh-CN" altLang="en-US"/>
          </a:p>
          <a:p>
            <a:pPr marL="0" indent="0" algn="r">
              <a:buNone/>
            </a:pPr>
            <a:r>
              <a:rPr lang="zh-CN" altLang="en-US"/>
              <a:t>汇报人：</a:t>
            </a:r>
            <a:r>
              <a:rPr lang="zh-CN" altLang="en-US">
                <a:sym typeface="+mn-ea"/>
              </a:rPr>
              <a:t>张辅志，陈新宇，张翔，王敬皓</a:t>
            </a:r>
            <a:endParaRPr lang="zh-CN" altLang="en-US"/>
          </a:p>
          <a:p>
            <a:pPr marL="0" indent="0" algn="ctr">
              <a:buNone/>
            </a:pP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4283</Words>
  <Application>WPS 演示</Application>
  <PresentationFormat>宽屏</PresentationFormat>
  <Paragraphs>265</Paragraphs>
  <Slides>35</Slides>
  <Notes>0</Notes>
  <HiddenSlides>0</HiddenSlides>
  <MMClips>4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Tahoma</vt:lpstr>
      <vt:lpstr>WPS</vt:lpstr>
      <vt:lpstr>符号执行引擎KLEE的 介绍和使用</vt:lpstr>
      <vt:lpstr>PowerPoint 演示文稿</vt:lpstr>
      <vt:lpstr>1. 研究动机：</vt:lpstr>
      <vt:lpstr>PowerPoint 演示文稿</vt:lpstr>
      <vt:lpstr>KLEE相关概念:</vt:lpstr>
      <vt:lpstr>2. 核心思想：</vt:lpstr>
      <vt:lpstr>3. KLEE系统架构:</vt:lpstr>
      <vt:lpstr>4. KLEE的应用场景：</vt:lpstr>
      <vt:lpstr>5. KLEE的局限性：</vt:lpstr>
      <vt:lpstr>PowerPoint 演示文稿</vt:lpstr>
      <vt:lpstr>klee的简单使用：</vt:lpstr>
      <vt:lpstr>klee的简单使用：</vt:lpstr>
      <vt:lpstr>klee的简单使用：</vt:lpstr>
      <vt:lpstr>klee的简单使用：</vt:lpstr>
      <vt:lpstr>klee的简单使用：</vt:lpstr>
      <vt:lpstr>klee的简单使用：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klee的使用：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zfz</cp:lastModifiedBy>
  <cp:revision>17</cp:revision>
  <dcterms:created xsi:type="dcterms:W3CDTF">2025-11-11T10:03:00Z</dcterms:created>
  <dcterms:modified xsi:type="dcterms:W3CDTF">2025-11-11T03:04:48Z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419DB462C9B544708A2A55785266B62D_12</vt:lpwstr>
  </property>
  <property fmtid="{D5CDD505-2E9C-101B-9397-08002B2CF9AE}" pid="3" name="KSOProductBuildVer">
    <vt:lpwstr>2052-12.1.0.23542</vt:lpwstr>
  </property>
</Properties>
</file>