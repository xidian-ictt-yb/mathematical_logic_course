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8" r:id="rId4"/>
    <p:sldId id="257" r:id="rId6"/>
    <p:sldId id="259" r:id="rId7"/>
    <p:sldId id="271" r:id="rId8"/>
    <p:sldId id="272" r:id="rId9"/>
    <p:sldId id="273" r:id="rId10"/>
    <p:sldId id="260" r:id="rId11"/>
    <p:sldId id="261" r:id="rId12"/>
    <p:sldId id="263" r:id="rId13"/>
    <p:sldId id="264" r:id="rId14"/>
    <p:sldId id="265" r:id="rId15"/>
    <p:sldId id="266" r:id="rId16"/>
    <p:sldId id="267" r:id="rId17"/>
    <p:sldId id="268" r:id="rId18"/>
    <p:sldId id="270" r:id="rId19"/>
    <p:sldId id="262" r:id="rId20"/>
    <p:sldId id="269" r:id="rId2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showGuides="1">
      <p:cViewPr varScale="1">
        <p:scale>
          <a:sx n="104" d="100"/>
          <a:sy n="104" d="100"/>
        </p:scale>
        <p:origin x="1092" y="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CED2C-E9D6-427A-AEDA-70A79FF5D40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0FEB87-45F8-466B-B3F8-202099D6A52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A0FEB87-45F8-466B-B3F8-202099D6A52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4" name="日期占位符 1027"/>
          <p:cNvSpPr>
            <a:spLocks noGrp="1"/>
          </p:cNvSpPr>
          <p:nvPr>
            <p:ph type="dt" sz="half" idx="10"/>
          </p:nvPr>
        </p:nvSpPr>
        <p:spPr/>
        <p:txBody>
          <a:bodyPr/>
          <a:lstStyle>
            <a:lvl1pPr>
              <a:defRPr/>
            </a:lvl1pPr>
          </a:lstStyle>
          <a:p>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76007264-DAD4-4917-9AE7-B217AF78AC57}"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27"/>
          <p:cNvSpPr>
            <a:spLocks noGrp="1"/>
          </p:cNvSpPr>
          <p:nvPr>
            <p:ph type="dt" sz="half" idx="10"/>
          </p:nvPr>
        </p:nvSpPr>
        <p:spPr/>
        <p:txBody>
          <a:bodyPr/>
          <a:lstStyle>
            <a:lvl1pPr>
              <a:defRPr/>
            </a:lvl1pPr>
          </a:lstStyle>
          <a:p>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D5B39BB0-3960-4271-B873-0A6680793ED5}"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1027"/>
          <p:cNvSpPr>
            <a:spLocks noGrp="1"/>
          </p:cNvSpPr>
          <p:nvPr>
            <p:ph type="dt" sz="half" idx="10"/>
          </p:nvPr>
        </p:nvSpPr>
        <p:spPr/>
        <p:txBody>
          <a:bodyPr/>
          <a:lstStyle>
            <a:lvl1pPr>
              <a:defRPr/>
            </a:lvl1pPr>
          </a:lstStyle>
          <a:p>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3E51E3E1-10C4-49D5-B06D-A147DFBAB0C3}"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1027"/>
          <p:cNvSpPr>
            <a:spLocks noGrp="1"/>
          </p:cNvSpPr>
          <p:nvPr>
            <p:ph type="dt" sz="half" idx="10"/>
          </p:nvPr>
        </p:nvSpPr>
        <p:spPr/>
        <p:txBody>
          <a:bodyPr/>
          <a:lstStyle>
            <a:lvl1pPr>
              <a:defRPr/>
            </a:lvl1pPr>
          </a:lstStyle>
          <a:p>
            <a:endParaRPr lang="zh-CN" altLang="en-US"/>
          </a:p>
        </p:txBody>
      </p:sp>
      <p:sp>
        <p:nvSpPr>
          <p:cNvPr id="6" name="页脚占位符 1028"/>
          <p:cNvSpPr>
            <a:spLocks noGrp="1"/>
          </p:cNvSpPr>
          <p:nvPr>
            <p:ph type="ftr" sz="quarter" idx="11"/>
          </p:nvPr>
        </p:nvSpPr>
        <p:spPr/>
        <p:txBody>
          <a:bodyPr/>
          <a:lstStyle>
            <a:lvl1pPr>
              <a:defRPr/>
            </a:lvl1pPr>
          </a:lstStyle>
          <a:p>
            <a:endParaRPr lang="zh-CN" altLang="en-US"/>
          </a:p>
        </p:txBody>
      </p:sp>
      <p:sp>
        <p:nvSpPr>
          <p:cNvPr id="7" name="灯片编号占位符 1029"/>
          <p:cNvSpPr>
            <a:spLocks noGrp="1"/>
          </p:cNvSpPr>
          <p:nvPr>
            <p:ph type="sldNum" sz="quarter" idx="12"/>
          </p:nvPr>
        </p:nvSpPr>
        <p:spPr/>
        <p:txBody>
          <a:bodyPr/>
          <a:lstStyle>
            <a:lvl1pPr>
              <a:defRPr/>
            </a:lvl1pPr>
          </a:lstStyle>
          <a:p>
            <a:fld id="{E935052D-2761-412E-B75A-39B1EE23CF5D}"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1027"/>
          <p:cNvSpPr>
            <a:spLocks noGrp="1"/>
          </p:cNvSpPr>
          <p:nvPr>
            <p:ph type="dt" sz="half" idx="10"/>
          </p:nvPr>
        </p:nvSpPr>
        <p:spPr/>
        <p:txBody>
          <a:bodyPr/>
          <a:lstStyle>
            <a:lvl1pPr>
              <a:defRPr/>
            </a:lvl1pPr>
          </a:lstStyle>
          <a:p>
            <a:endParaRPr lang="zh-CN" altLang="en-US"/>
          </a:p>
        </p:txBody>
      </p:sp>
      <p:sp>
        <p:nvSpPr>
          <p:cNvPr id="8" name="页脚占位符 1028"/>
          <p:cNvSpPr>
            <a:spLocks noGrp="1"/>
          </p:cNvSpPr>
          <p:nvPr>
            <p:ph type="ftr" sz="quarter" idx="11"/>
          </p:nvPr>
        </p:nvSpPr>
        <p:spPr/>
        <p:txBody>
          <a:bodyPr/>
          <a:lstStyle>
            <a:lvl1pPr>
              <a:defRPr/>
            </a:lvl1pPr>
          </a:lstStyle>
          <a:p>
            <a:endParaRPr lang="zh-CN" altLang="en-US"/>
          </a:p>
        </p:txBody>
      </p:sp>
      <p:sp>
        <p:nvSpPr>
          <p:cNvPr id="9" name="灯片编号占位符 1029"/>
          <p:cNvSpPr>
            <a:spLocks noGrp="1"/>
          </p:cNvSpPr>
          <p:nvPr>
            <p:ph type="sldNum" sz="quarter" idx="12"/>
          </p:nvPr>
        </p:nvSpPr>
        <p:spPr/>
        <p:txBody>
          <a:bodyPr/>
          <a:lstStyle>
            <a:lvl1pPr>
              <a:defRPr/>
            </a:lvl1pPr>
          </a:lstStyle>
          <a:p>
            <a:fld id="{BA4A57B5-3A40-470C-B7C7-7567135F7A92}"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1027"/>
          <p:cNvSpPr>
            <a:spLocks noGrp="1"/>
          </p:cNvSpPr>
          <p:nvPr>
            <p:ph type="dt" sz="half" idx="10"/>
          </p:nvPr>
        </p:nvSpPr>
        <p:spPr/>
        <p:txBody>
          <a:bodyPr/>
          <a:lstStyle>
            <a:lvl1pPr>
              <a:defRPr/>
            </a:lvl1pPr>
          </a:lstStyle>
          <a:p>
            <a:endParaRPr lang="zh-CN" altLang="en-US"/>
          </a:p>
        </p:txBody>
      </p:sp>
      <p:sp>
        <p:nvSpPr>
          <p:cNvPr id="4" name="页脚占位符 1028"/>
          <p:cNvSpPr>
            <a:spLocks noGrp="1"/>
          </p:cNvSpPr>
          <p:nvPr>
            <p:ph type="ftr" sz="quarter" idx="11"/>
          </p:nvPr>
        </p:nvSpPr>
        <p:spPr/>
        <p:txBody>
          <a:bodyPr/>
          <a:lstStyle>
            <a:lvl1pPr>
              <a:defRPr/>
            </a:lvl1pPr>
          </a:lstStyle>
          <a:p>
            <a:endParaRPr lang="zh-CN" altLang="en-US"/>
          </a:p>
        </p:txBody>
      </p:sp>
      <p:sp>
        <p:nvSpPr>
          <p:cNvPr id="5" name="灯片编号占位符 1029"/>
          <p:cNvSpPr>
            <a:spLocks noGrp="1"/>
          </p:cNvSpPr>
          <p:nvPr>
            <p:ph type="sldNum" sz="quarter" idx="12"/>
          </p:nvPr>
        </p:nvSpPr>
        <p:spPr/>
        <p:txBody>
          <a:bodyPr/>
          <a:lstStyle>
            <a:lvl1pPr>
              <a:defRPr/>
            </a:lvl1pPr>
          </a:lstStyle>
          <a:p>
            <a:fld id="{0794F314-7C66-4F86-A03A-DC251BB9EC68}"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27"/>
          <p:cNvSpPr>
            <a:spLocks noGrp="1"/>
          </p:cNvSpPr>
          <p:nvPr>
            <p:ph type="dt" sz="half" idx="10"/>
          </p:nvPr>
        </p:nvSpPr>
        <p:spPr/>
        <p:txBody>
          <a:bodyPr/>
          <a:lstStyle>
            <a:lvl1pPr>
              <a:defRPr/>
            </a:lvl1pPr>
          </a:lstStyle>
          <a:p>
            <a:endParaRPr lang="zh-CN" altLang="en-US"/>
          </a:p>
        </p:txBody>
      </p:sp>
      <p:sp>
        <p:nvSpPr>
          <p:cNvPr id="3" name="页脚占位符 1028"/>
          <p:cNvSpPr>
            <a:spLocks noGrp="1"/>
          </p:cNvSpPr>
          <p:nvPr>
            <p:ph type="ftr" sz="quarter" idx="11"/>
          </p:nvPr>
        </p:nvSpPr>
        <p:spPr/>
        <p:txBody>
          <a:bodyPr/>
          <a:lstStyle>
            <a:lvl1pPr>
              <a:defRPr/>
            </a:lvl1pPr>
          </a:lstStyle>
          <a:p>
            <a:endParaRPr lang="zh-CN" altLang="en-US"/>
          </a:p>
        </p:txBody>
      </p:sp>
      <p:sp>
        <p:nvSpPr>
          <p:cNvPr id="4" name="灯片编号占位符 1029"/>
          <p:cNvSpPr>
            <a:spLocks noGrp="1"/>
          </p:cNvSpPr>
          <p:nvPr>
            <p:ph type="sldNum" sz="quarter" idx="12"/>
          </p:nvPr>
        </p:nvSpPr>
        <p:spPr/>
        <p:txBody>
          <a:bodyPr/>
          <a:lstStyle>
            <a:lvl1pPr>
              <a:defRPr/>
            </a:lvl1pPr>
          </a:lstStyle>
          <a:p>
            <a:fld id="{C070D5EE-B95C-47C3-ABE9-A6A4E50C8209}"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5" name="日期占位符 1027"/>
          <p:cNvSpPr>
            <a:spLocks noGrp="1"/>
          </p:cNvSpPr>
          <p:nvPr>
            <p:ph type="dt" sz="half" idx="10"/>
          </p:nvPr>
        </p:nvSpPr>
        <p:spPr/>
        <p:txBody>
          <a:bodyPr/>
          <a:lstStyle>
            <a:lvl1pPr>
              <a:defRPr/>
            </a:lvl1pPr>
          </a:lstStyle>
          <a:p>
            <a:endParaRPr lang="zh-CN" altLang="en-US"/>
          </a:p>
        </p:txBody>
      </p:sp>
      <p:sp>
        <p:nvSpPr>
          <p:cNvPr id="6" name="页脚占位符 1028"/>
          <p:cNvSpPr>
            <a:spLocks noGrp="1"/>
          </p:cNvSpPr>
          <p:nvPr>
            <p:ph type="ftr" sz="quarter" idx="11"/>
          </p:nvPr>
        </p:nvSpPr>
        <p:spPr/>
        <p:txBody>
          <a:bodyPr/>
          <a:lstStyle>
            <a:lvl1pPr>
              <a:defRPr/>
            </a:lvl1pPr>
          </a:lstStyle>
          <a:p>
            <a:endParaRPr lang="zh-CN" altLang="en-US"/>
          </a:p>
        </p:txBody>
      </p:sp>
      <p:sp>
        <p:nvSpPr>
          <p:cNvPr id="7" name="灯片编号占位符 1029"/>
          <p:cNvSpPr>
            <a:spLocks noGrp="1"/>
          </p:cNvSpPr>
          <p:nvPr>
            <p:ph type="sldNum" sz="quarter" idx="12"/>
          </p:nvPr>
        </p:nvSpPr>
        <p:spPr/>
        <p:txBody>
          <a:bodyPr/>
          <a:lstStyle>
            <a:lvl1pPr>
              <a:defRPr/>
            </a:lvl1pPr>
          </a:lstStyle>
          <a:p>
            <a:fld id="{B7340735-742F-4572-8644-5DBF088FECD0}"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5" name="日期占位符 1027"/>
          <p:cNvSpPr>
            <a:spLocks noGrp="1"/>
          </p:cNvSpPr>
          <p:nvPr>
            <p:ph type="dt" sz="half" idx="10"/>
          </p:nvPr>
        </p:nvSpPr>
        <p:spPr/>
        <p:txBody>
          <a:bodyPr/>
          <a:lstStyle>
            <a:lvl1pPr>
              <a:defRPr/>
            </a:lvl1pPr>
          </a:lstStyle>
          <a:p>
            <a:endParaRPr lang="zh-CN" altLang="en-US"/>
          </a:p>
        </p:txBody>
      </p:sp>
      <p:sp>
        <p:nvSpPr>
          <p:cNvPr id="6" name="页脚占位符 1028"/>
          <p:cNvSpPr>
            <a:spLocks noGrp="1"/>
          </p:cNvSpPr>
          <p:nvPr>
            <p:ph type="ftr" sz="quarter" idx="11"/>
          </p:nvPr>
        </p:nvSpPr>
        <p:spPr/>
        <p:txBody>
          <a:bodyPr/>
          <a:lstStyle>
            <a:lvl1pPr>
              <a:defRPr/>
            </a:lvl1pPr>
          </a:lstStyle>
          <a:p>
            <a:endParaRPr lang="zh-CN" altLang="en-US"/>
          </a:p>
        </p:txBody>
      </p:sp>
      <p:sp>
        <p:nvSpPr>
          <p:cNvPr id="7" name="灯片编号占位符 1029"/>
          <p:cNvSpPr>
            <a:spLocks noGrp="1"/>
          </p:cNvSpPr>
          <p:nvPr>
            <p:ph type="sldNum" sz="quarter" idx="12"/>
          </p:nvPr>
        </p:nvSpPr>
        <p:spPr/>
        <p:txBody>
          <a:bodyPr/>
          <a:lstStyle>
            <a:lvl1pPr>
              <a:defRPr/>
            </a:lvl1pPr>
          </a:lstStyle>
          <a:p>
            <a:fld id="{07F7709D-57B4-45BD-B338-95F74CA7D73C}"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27"/>
          <p:cNvSpPr>
            <a:spLocks noGrp="1"/>
          </p:cNvSpPr>
          <p:nvPr>
            <p:ph type="dt" sz="half" idx="10"/>
          </p:nvPr>
        </p:nvSpPr>
        <p:spPr/>
        <p:txBody>
          <a:bodyPr/>
          <a:lstStyle>
            <a:lvl1pPr>
              <a:defRPr/>
            </a:lvl1pPr>
          </a:lstStyle>
          <a:p>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981FA940-CBCC-4626-8C50-3A78F44FA496}"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27"/>
          <p:cNvSpPr>
            <a:spLocks noGrp="1"/>
          </p:cNvSpPr>
          <p:nvPr>
            <p:ph type="dt" sz="half" idx="10"/>
          </p:nvPr>
        </p:nvSpPr>
        <p:spPr/>
        <p:txBody>
          <a:bodyPr/>
          <a:lstStyle>
            <a:lvl1pPr>
              <a:defRPr/>
            </a:lvl1pPr>
          </a:lstStyle>
          <a:p>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61F9FBB0-692D-42A5-8496-1CAA8B29213C}"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1026"/>
          <p:cNvSpPr>
            <a:spLocks noGrp="1" noChangeArrowheads="1"/>
          </p:cNvSpPr>
          <p:nvPr>
            <p:ph type="body" idx="9"/>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noProof="1"/>
            </a:lvl1pPr>
          </a:lstStyle>
          <a:p>
            <a:endParaRPr lang="zh-CN" altLang="en-US"/>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noProof="1"/>
            </a:lvl1pPr>
          </a:lstStyle>
          <a:p>
            <a:endParaRPr lang="zh-CN" altLang="en-US"/>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vert="horz" wrap="square" lIns="91440" tIns="45720" rIns="91440" bIns="45720" numCol="1" anchor="t" anchorCtr="0" compatLnSpc="1"/>
          <a:lstStyle>
            <a:lvl1pPr algn="r">
              <a:defRPr sz="1400"/>
            </a:lvl1pPr>
          </a:lstStyle>
          <a:p>
            <a:fld id="{CAE1F118-0E17-4FBA-85D4-3BCF5783D008}"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lvl="1" indent="-285750" algn="l" rtl="0" fontAlgn="base">
        <a:spcBef>
          <a:spcPct val="20000"/>
        </a:spcBef>
        <a:spcAft>
          <a:spcPct val="0"/>
        </a:spcAft>
        <a:buChar char="–"/>
        <a:defRPr sz="2800" kern="1200">
          <a:solidFill>
            <a:schemeClr val="tx1"/>
          </a:solidFill>
          <a:latin typeface="+mn-lt"/>
          <a:ea typeface="+mn-ea"/>
          <a:cs typeface="+mn-cs"/>
        </a:defRPr>
      </a:lvl2pPr>
      <a:lvl3pPr marL="1143000" lvl="2" indent="-228600" algn="l" rtl="0" fontAlgn="base">
        <a:spcBef>
          <a:spcPct val="20000"/>
        </a:spcBef>
        <a:spcAft>
          <a:spcPct val="0"/>
        </a:spcAft>
        <a:buChar char="•"/>
        <a:defRPr sz="2400" kern="1200">
          <a:solidFill>
            <a:schemeClr val="tx1"/>
          </a:solidFill>
          <a:latin typeface="+mn-lt"/>
          <a:ea typeface="+mn-ea"/>
          <a:cs typeface="+mn-cs"/>
        </a:defRPr>
      </a:lvl3pPr>
      <a:lvl4pPr marL="1600200" lvl="3" indent="-228600" algn="l" rtl="0" fontAlgn="base">
        <a:spcBef>
          <a:spcPct val="20000"/>
        </a:spcBef>
        <a:spcAft>
          <a:spcPct val="0"/>
        </a:spcAft>
        <a:buChar char="–"/>
        <a:defRPr sz="2000" kern="1200">
          <a:solidFill>
            <a:schemeClr val="tx1"/>
          </a:solidFill>
          <a:latin typeface="+mn-lt"/>
          <a:ea typeface="+mn-ea"/>
          <a:cs typeface="+mn-cs"/>
        </a:defRPr>
      </a:lvl4pPr>
      <a:lvl5pPr marL="2057400" lvl="4" indent="-228600" algn="l" rtl="0" fontAlgn="base">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文本, 信件&#10;&#10;AI 生成的内容可能不正确。"/>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2284123" y="3073004"/>
            <a:ext cx="511419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4000">
                <a:latin typeface="Arial" panose="020B0604020202020204"/>
                <a:ea typeface="宋体" panose="02010600030101010101" pitchFamily="2" charset="-122"/>
                <a:cs typeface="Arial" panose="020B0604020202020204"/>
              </a:rPr>
              <a:t>对TLA+的介绍和展示</a:t>
            </a:r>
            <a:endParaRPr lang="zh-CN" altLang="en-US" sz="4000"/>
          </a:p>
        </p:txBody>
      </p:sp>
      <p:sp>
        <p:nvSpPr>
          <p:cNvPr id="4" name="文本框 19"/>
          <p:cNvSpPr txBox="1"/>
          <p:nvPr/>
        </p:nvSpPr>
        <p:spPr>
          <a:xfrm>
            <a:off x="3923928" y="4950113"/>
            <a:ext cx="4824536"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prstClr val="black">
                    <a:lumMod val="75000"/>
                    <a:lumOff val="25000"/>
                  </a:prstClr>
                </a:solidFill>
                <a:latin typeface="Arial" panose="020B0604020202020204" pitchFamily="34" charset="0"/>
                <a:ea typeface="微软雅黑" panose="020B0503020204020204" pitchFamily="34" charset="-122"/>
                <a:cs typeface="+mn-ea"/>
                <a:sym typeface="Arial" panose="020B0604020202020204" pitchFamily="34" charset="0"/>
              </a:rPr>
              <a:t>小组成员</a:t>
            </a:r>
            <a:r>
              <a:rPr kumimoji="0" lang="zh-CN" altLang="en-US" sz="18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a:t>
            </a:r>
            <a:r>
              <a:rPr lang="zh-CN" altLang="en-US" b="1" dirty="0">
                <a:solidFill>
                  <a:prstClr val="black">
                    <a:lumMod val="75000"/>
                    <a:lumOff val="25000"/>
                  </a:prstClr>
                </a:solidFill>
                <a:latin typeface="Arial" panose="020B0604020202020204" pitchFamily="34" charset="0"/>
                <a:ea typeface="微软雅黑" panose="020B0503020204020204" pitchFamily="34" charset="-122"/>
                <a:cs typeface="+mn-ea"/>
                <a:sym typeface="Arial" panose="020B0604020202020204" pitchFamily="34" charset="0"/>
              </a:rPr>
              <a:t>汪殷铭</a:t>
            </a:r>
            <a:r>
              <a:rPr kumimoji="0" lang="zh-CN" altLang="en-US" sz="18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、郭立轩、蔡于嘉</a:t>
            </a:r>
            <a:r>
              <a:rPr lang="zh-CN" altLang="en-US" b="1" dirty="0">
                <a:solidFill>
                  <a:prstClr val="black">
                    <a:lumMod val="75000"/>
                    <a:lumOff val="25000"/>
                  </a:prstClr>
                </a:solidFill>
                <a:latin typeface="Arial" panose="020B0604020202020204" pitchFamily="34" charset="0"/>
                <a:ea typeface="微软雅黑" panose="020B0503020204020204" pitchFamily="34" charset="-122"/>
                <a:cs typeface="+mn-ea"/>
                <a:sym typeface="Arial" panose="020B0604020202020204" pitchFamily="34" charset="0"/>
              </a:rPr>
              <a:t>、</a:t>
            </a:r>
            <a:r>
              <a:rPr kumimoji="0" lang="zh-CN" altLang="en-US" sz="18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ea"/>
                <a:sym typeface="Arial" panose="020B0604020202020204" pitchFamily="34" charset="0"/>
              </a:rPr>
              <a:t>吴宜放</a:t>
            </a:r>
            <a:endParaRPr kumimoji="0" lang="zh-CN" altLang="en-US" sz="18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文本, 信件&#10;&#10;AI 生成的内容可能不正确。"/>
          <p:cNvPicPr>
            <a:picLocks noChangeAspect="1"/>
          </p:cNvPicPr>
          <p:nvPr/>
        </p:nvPicPr>
        <p:blipFill>
          <a:blip r:embed="rId1"/>
          <a:stretch>
            <a:fillRect/>
          </a:stretch>
        </p:blipFill>
        <p:spPr>
          <a:xfrm>
            <a:off x="0" y="-19589"/>
            <a:ext cx="9144000" cy="6858000"/>
          </a:xfrm>
          <a:prstGeom prst="rect">
            <a:avLst/>
          </a:prstGeom>
        </p:spPr>
      </p:pic>
      <p:grpSp>
        <p:nvGrpSpPr>
          <p:cNvPr id="7" name="组合 6"/>
          <p:cNvGrpSpPr/>
          <p:nvPr/>
        </p:nvGrpSpPr>
        <p:grpSpPr>
          <a:xfrm>
            <a:off x="657494" y="1880137"/>
            <a:ext cx="6182231" cy="2121676"/>
            <a:chOff x="867573" y="1674796"/>
            <a:chExt cx="8162912" cy="2828901"/>
          </a:xfrm>
        </p:grpSpPr>
        <p:grpSp>
          <p:nvGrpSpPr>
            <p:cNvPr id="8" name="组合 7"/>
            <p:cNvGrpSpPr/>
            <p:nvPr/>
          </p:nvGrpSpPr>
          <p:grpSpPr>
            <a:xfrm>
              <a:off x="867573" y="3291972"/>
              <a:ext cx="1211725" cy="1211725"/>
              <a:chOff x="1938886" y="4075384"/>
              <a:chExt cx="1211725" cy="1211725"/>
            </a:xfrm>
          </p:grpSpPr>
          <p:sp>
            <p:nvSpPr>
              <p:cNvPr id="38" name="矩形 37"/>
              <p:cNvSpPr/>
              <p:nvPr/>
            </p:nvSpPr>
            <p:spPr>
              <a:xfrm>
                <a:off x="1938886" y="4075384"/>
                <a:ext cx="1211725" cy="1211725"/>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noAutofit/>
              </a:bodyPr>
              <a:lstStyle/>
              <a:p>
                <a:pPr algn="ctr"/>
                <a:endParaRPr lang="zh-CN" altLang="en-US">
                  <a:solidFill>
                    <a:schemeClr val="tx1"/>
                  </a:solidFill>
                </a:endParaRPr>
              </a:p>
            </p:txBody>
          </p:sp>
          <p:sp>
            <p:nvSpPr>
              <p:cNvPr id="39" name="文本框 38"/>
              <p:cNvSpPr txBox="1"/>
              <p:nvPr/>
            </p:nvSpPr>
            <p:spPr>
              <a:xfrm>
                <a:off x="2102080" y="4199255"/>
                <a:ext cx="885338" cy="707887"/>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30000"/>
                  <a:defRPr/>
                </a:pPr>
                <a:r>
                  <a:rPr lang="en-US" altLang="zh-CN" sz="3000" b="1" dirty="0">
                    <a:solidFill>
                      <a:schemeClr val="tx1"/>
                    </a:solidFill>
                    <a:latin typeface="Arial" panose="020B0604020202020204" pitchFamily="34" charset="0"/>
                    <a:ea typeface="宋体" panose="02010600030101010101" pitchFamily="2" charset="-122"/>
                  </a:rPr>
                  <a:t>01</a:t>
                </a:r>
                <a:endParaRPr lang="en-US" altLang="zh-CN" sz="3000" b="1" dirty="0">
                  <a:solidFill>
                    <a:schemeClr val="tx1"/>
                  </a:solidFill>
                  <a:latin typeface="Arial" panose="020B0604020202020204" pitchFamily="34" charset="0"/>
                  <a:ea typeface="宋体" panose="02010600030101010101" pitchFamily="2" charset="-122"/>
                </a:endParaRPr>
              </a:p>
            </p:txBody>
          </p:sp>
          <p:sp>
            <p:nvSpPr>
              <p:cNvPr id="40" name="文本框 39"/>
              <p:cNvSpPr txBox="1"/>
              <p:nvPr/>
            </p:nvSpPr>
            <p:spPr>
              <a:xfrm>
                <a:off x="1938886" y="4791925"/>
                <a:ext cx="1211725" cy="461665"/>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25000"/>
                  <a:defRPr/>
                </a:pPr>
                <a:r>
                  <a:rPr lang="zh-CN" altLang="en-US" b="1" dirty="0">
                    <a:solidFill>
                      <a:schemeClr val="tx1"/>
                    </a:solidFill>
                    <a:latin typeface="Arial" panose="020B0604020202020204" pitchFamily="34" charset="0"/>
                    <a:ea typeface="宋体" panose="02010600030101010101" pitchFamily="2" charset="-122"/>
                  </a:rPr>
                  <a:t>引言</a:t>
                </a:r>
                <a:endParaRPr lang="en-US" altLang="zh-CN" b="1" dirty="0">
                  <a:solidFill>
                    <a:schemeClr val="tx1"/>
                  </a:solidFill>
                  <a:latin typeface="Arial" panose="020B0604020202020204" pitchFamily="34" charset="0"/>
                  <a:ea typeface="宋体" panose="02010600030101010101" pitchFamily="2" charset="-122"/>
                </a:endParaRPr>
              </a:p>
            </p:txBody>
          </p:sp>
        </p:grpSp>
        <p:grpSp>
          <p:nvGrpSpPr>
            <p:cNvPr id="10" name="组合 9"/>
            <p:cNvGrpSpPr/>
            <p:nvPr/>
          </p:nvGrpSpPr>
          <p:grpSpPr>
            <a:xfrm>
              <a:off x="3183875" y="3291972"/>
              <a:ext cx="1211726" cy="1211725"/>
              <a:chOff x="562216" y="4075384"/>
              <a:chExt cx="1211726" cy="1211725"/>
            </a:xfrm>
          </p:grpSpPr>
          <p:sp>
            <p:nvSpPr>
              <p:cNvPr id="30" name="矩形 29"/>
              <p:cNvSpPr/>
              <p:nvPr/>
            </p:nvSpPr>
            <p:spPr>
              <a:xfrm>
                <a:off x="562217" y="4075384"/>
                <a:ext cx="1211725" cy="1211725"/>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noAutofit/>
              </a:bodyPr>
              <a:lstStyle/>
              <a:p>
                <a:pPr algn="ctr"/>
                <a:endParaRPr lang="zh-CN" altLang="en-US" dirty="0">
                  <a:solidFill>
                    <a:schemeClr val="tx1"/>
                  </a:solidFill>
                </a:endParaRPr>
              </a:p>
            </p:txBody>
          </p:sp>
          <p:sp>
            <p:nvSpPr>
              <p:cNvPr id="31" name="文本框 30"/>
              <p:cNvSpPr txBox="1"/>
              <p:nvPr/>
            </p:nvSpPr>
            <p:spPr>
              <a:xfrm>
                <a:off x="725411" y="4199255"/>
                <a:ext cx="885338" cy="7078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30000"/>
                  <a:defRPr/>
                </a:pPr>
                <a:r>
                  <a:rPr lang="en-US" altLang="zh-CN" sz="3000" b="1" dirty="0">
                    <a:solidFill>
                      <a:schemeClr val="tx1"/>
                    </a:solidFill>
                    <a:latin typeface="Arial" panose="020B0604020202020204" pitchFamily="34" charset="0"/>
                    <a:ea typeface="宋体" panose="02010600030101010101" pitchFamily="2" charset="-122"/>
                  </a:rPr>
                  <a:t>02</a:t>
                </a:r>
                <a:endParaRPr lang="en-US" altLang="zh-CN" sz="3000" b="1" dirty="0">
                  <a:solidFill>
                    <a:schemeClr val="tx1"/>
                  </a:solidFill>
                  <a:latin typeface="Arial" panose="020B0604020202020204" pitchFamily="34" charset="0"/>
                  <a:ea typeface="宋体" panose="02010600030101010101" pitchFamily="2" charset="-122"/>
                </a:endParaRPr>
              </a:p>
            </p:txBody>
          </p:sp>
          <p:sp>
            <p:nvSpPr>
              <p:cNvPr id="32" name="文本框 31"/>
              <p:cNvSpPr txBox="1"/>
              <p:nvPr/>
            </p:nvSpPr>
            <p:spPr>
              <a:xfrm>
                <a:off x="562216" y="4791925"/>
                <a:ext cx="1211725" cy="461665"/>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25000"/>
                  <a:defRPr/>
                </a:pPr>
                <a:r>
                  <a:rPr lang="zh-CN" altLang="en-US" b="1" dirty="0">
                    <a:solidFill>
                      <a:schemeClr val="tx1"/>
                    </a:solidFill>
                    <a:latin typeface="Arial" panose="020B0604020202020204" pitchFamily="34" charset="0"/>
                    <a:ea typeface="宋体" panose="02010600030101010101" pitchFamily="2" charset="-122"/>
                  </a:rPr>
                  <a:t>概述</a:t>
                </a:r>
                <a:endParaRPr lang="en-US" altLang="zh-CN" b="1" dirty="0">
                  <a:solidFill>
                    <a:schemeClr val="tx1"/>
                  </a:solidFill>
                  <a:latin typeface="Arial" panose="020B0604020202020204" pitchFamily="34" charset="0"/>
                  <a:ea typeface="宋体" panose="02010600030101010101" pitchFamily="2" charset="-122"/>
                </a:endParaRPr>
              </a:p>
            </p:txBody>
          </p:sp>
        </p:grpSp>
        <p:grpSp>
          <p:nvGrpSpPr>
            <p:cNvPr id="12" name="组合 11"/>
            <p:cNvGrpSpPr/>
            <p:nvPr/>
          </p:nvGrpSpPr>
          <p:grpSpPr>
            <a:xfrm>
              <a:off x="7818759" y="3258453"/>
              <a:ext cx="1211726" cy="1211725"/>
              <a:chOff x="1504128" y="4041865"/>
              <a:chExt cx="1211726" cy="1211725"/>
            </a:xfrm>
          </p:grpSpPr>
          <p:sp>
            <p:nvSpPr>
              <p:cNvPr id="22" name="矩形 21"/>
              <p:cNvSpPr/>
              <p:nvPr/>
            </p:nvSpPr>
            <p:spPr>
              <a:xfrm>
                <a:off x="1504128" y="4041865"/>
                <a:ext cx="1211725" cy="1211725"/>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noAutofit/>
              </a:bodyPr>
              <a:lstStyle/>
              <a:p>
                <a:pPr algn="ctr"/>
                <a:endParaRPr lang="zh-CN" altLang="en-US">
                  <a:solidFill>
                    <a:schemeClr val="tx1"/>
                  </a:solidFill>
                </a:endParaRPr>
              </a:p>
            </p:txBody>
          </p:sp>
          <p:sp>
            <p:nvSpPr>
              <p:cNvPr id="23" name="文本框 22"/>
              <p:cNvSpPr txBox="1"/>
              <p:nvPr/>
            </p:nvSpPr>
            <p:spPr>
              <a:xfrm>
                <a:off x="1667322" y="4165736"/>
                <a:ext cx="885338" cy="707886"/>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30000"/>
                  <a:defRPr/>
                </a:pPr>
                <a:r>
                  <a:rPr lang="en-US" altLang="zh-CN" sz="3000" b="1" dirty="0">
                    <a:solidFill>
                      <a:schemeClr val="tx1"/>
                    </a:solidFill>
                    <a:latin typeface="Arial" panose="020B0604020202020204" pitchFamily="34" charset="0"/>
                    <a:ea typeface="宋体" panose="02010600030101010101" pitchFamily="2" charset="-122"/>
                  </a:rPr>
                  <a:t>04</a:t>
                </a:r>
                <a:endParaRPr lang="en-US" altLang="zh-CN" sz="3000" b="1" dirty="0">
                  <a:solidFill>
                    <a:schemeClr val="tx1"/>
                  </a:solidFill>
                  <a:latin typeface="Arial" panose="020B0604020202020204" pitchFamily="34" charset="0"/>
                  <a:ea typeface="宋体" panose="02010600030101010101" pitchFamily="2" charset="-122"/>
                </a:endParaRPr>
              </a:p>
            </p:txBody>
          </p:sp>
          <p:sp>
            <p:nvSpPr>
              <p:cNvPr id="24" name="文本框 23"/>
              <p:cNvSpPr txBox="1"/>
              <p:nvPr/>
            </p:nvSpPr>
            <p:spPr>
              <a:xfrm>
                <a:off x="1504129" y="4758406"/>
                <a:ext cx="1211725" cy="461665"/>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25000"/>
                  <a:defRPr/>
                </a:pPr>
                <a:r>
                  <a:rPr lang="zh-CN" altLang="en-US" b="1" dirty="0">
                    <a:solidFill>
                      <a:schemeClr val="tx1"/>
                    </a:solidFill>
                    <a:latin typeface="Arial" panose="020B0604020202020204" pitchFamily="34" charset="0"/>
                    <a:ea typeface="宋体" panose="02010600030101010101" pitchFamily="2" charset="-122"/>
                  </a:rPr>
                  <a:t>案例</a:t>
                </a:r>
                <a:endParaRPr lang="en-US" altLang="zh-CN" b="1" dirty="0">
                  <a:solidFill>
                    <a:schemeClr val="tx1"/>
                  </a:solidFill>
                  <a:latin typeface="Arial" panose="020B0604020202020204" pitchFamily="34" charset="0"/>
                  <a:ea typeface="宋体" panose="02010600030101010101" pitchFamily="2" charset="-122"/>
                </a:endParaRPr>
              </a:p>
            </p:txBody>
          </p:sp>
        </p:grpSp>
        <p:sp>
          <p:nvSpPr>
            <p:cNvPr id="15" name="文本框 14"/>
            <p:cNvSpPr txBox="1"/>
            <p:nvPr/>
          </p:nvSpPr>
          <p:spPr>
            <a:xfrm>
              <a:off x="4791112" y="1674796"/>
              <a:ext cx="2490210" cy="1107996"/>
            </a:xfrm>
            <a:prstGeom prst="rect">
              <a:avLst/>
            </a:prstGeom>
            <a:noFill/>
          </p:spPr>
          <p:txBody>
            <a:bodyPr wrap="square" rtlCol="0">
              <a:spAutoFit/>
            </a:bodyPr>
            <a:lstStyle/>
            <a:p>
              <a:pPr algn="ctr"/>
              <a:r>
                <a:rPr lang="zh-CN" altLang="en-US" sz="4800" b="1" dirty="0"/>
                <a:t>目录</a:t>
              </a:r>
              <a:endParaRPr lang="en-US" altLang="zh-CN" sz="4800" b="1" dirty="0"/>
            </a:p>
          </p:txBody>
        </p:sp>
      </p:grpSp>
      <p:sp>
        <p:nvSpPr>
          <p:cNvPr id="42" name="矩形 41"/>
          <p:cNvSpPr/>
          <p:nvPr/>
        </p:nvSpPr>
        <p:spPr>
          <a:xfrm>
            <a:off x="7676282" y="3067880"/>
            <a:ext cx="917707" cy="908794"/>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noAutofit/>
          </a:bodyPr>
          <a:lstStyle/>
          <a:p>
            <a:pPr algn="ctr"/>
            <a:endParaRPr lang="zh-CN" altLang="en-US">
              <a:solidFill>
                <a:schemeClr val="tx1"/>
              </a:solidFill>
            </a:endParaRPr>
          </a:p>
        </p:txBody>
      </p:sp>
      <p:sp>
        <p:nvSpPr>
          <p:cNvPr id="43" name="文本框 42"/>
          <p:cNvSpPr txBox="1"/>
          <p:nvPr/>
        </p:nvSpPr>
        <p:spPr>
          <a:xfrm>
            <a:off x="7799878" y="3160783"/>
            <a:ext cx="670516" cy="530915"/>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30000"/>
              <a:defRPr/>
            </a:pPr>
            <a:r>
              <a:rPr lang="en-US" altLang="zh-CN" sz="3000" b="1" dirty="0">
                <a:solidFill>
                  <a:schemeClr val="tx1"/>
                </a:solidFill>
                <a:latin typeface="Arial" panose="020B0604020202020204" pitchFamily="34" charset="0"/>
                <a:ea typeface="宋体" panose="02010600030101010101" pitchFamily="2" charset="-122"/>
              </a:rPr>
              <a:t>05</a:t>
            </a:r>
            <a:endParaRPr lang="en-US" altLang="zh-CN" sz="3000" b="1" dirty="0">
              <a:solidFill>
                <a:schemeClr val="tx1"/>
              </a:solidFill>
              <a:latin typeface="Arial" panose="020B0604020202020204" pitchFamily="34" charset="0"/>
              <a:ea typeface="宋体" panose="02010600030101010101" pitchFamily="2" charset="-122"/>
            </a:endParaRPr>
          </a:p>
        </p:txBody>
      </p:sp>
      <p:sp>
        <p:nvSpPr>
          <p:cNvPr id="44" name="文本框 43"/>
          <p:cNvSpPr txBox="1"/>
          <p:nvPr/>
        </p:nvSpPr>
        <p:spPr>
          <a:xfrm>
            <a:off x="7676282" y="3605286"/>
            <a:ext cx="917707" cy="346249"/>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25000"/>
              <a:defRPr/>
            </a:pPr>
            <a:r>
              <a:rPr lang="zh-CN" altLang="en-US" b="1" dirty="0">
                <a:solidFill>
                  <a:schemeClr val="tx1"/>
                </a:solidFill>
                <a:latin typeface="Arial" panose="020B0604020202020204" pitchFamily="34" charset="0"/>
                <a:ea typeface="宋体" panose="02010600030101010101" pitchFamily="2" charset="-122"/>
              </a:rPr>
              <a:t>总结</a:t>
            </a:r>
            <a:endParaRPr lang="en-US" altLang="zh-CN" b="1" dirty="0">
              <a:solidFill>
                <a:schemeClr val="tx1"/>
              </a:solidFill>
              <a:latin typeface="Arial" panose="020B0604020202020204" pitchFamily="34" charset="0"/>
              <a:ea typeface="宋体" panose="02010600030101010101" pitchFamily="2" charset="-122"/>
            </a:endParaRPr>
          </a:p>
        </p:txBody>
      </p:sp>
      <p:sp>
        <p:nvSpPr>
          <p:cNvPr id="46" name="矩形 45"/>
          <p:cNvSpPr/>
          <p:nvPr/>
        </p:nvSpPr>
        <p:spPr>
          <a:xfrm>
            <a:off x="0" y="4421176"/>
            <a:ext cx="2664089" cy="20321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4167752" y="3067880"/>
            <a:ext cx="917707" cy="908794"/>
          </a:xfrm>
          <a:prstGeom prst="rect">
            <a:avLst/>
          </a:prstGeom>
          <a:solidFill>
            <a:schemeClr val="tx1">
              <a:alpha val="5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noAutofit/>
          </a:bodyPr>
          <a:lstStyle/>
          <a:p>
            <a:pPr algn="ctr"/>
            <a:endParaRPr lang="zh-CN" altLang="en-US">
              <a:solidFill>
                <a:schemeClr val="tx1"/>
              </a:solidFill>
            </a:endParaRPr>
          </a:p>
        </p:txBody>
      </p:sp>
      <p:sp>
        <p:nvSpPr>
          <p:cNvPr id="48" name="文本框 47"/>
          <p:cNvSpPr txBox="1"/>
          <p:nvPr/>
        </p:nvSpPr>
        <p:spPr>
          <a:xfrm>
            <a:off x="4291348" y="3160783"/>
            <a:ext cx="670516" cy="530915"/>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30000"/>
              <a:defRPr/>
            </a:pPr>
            <a:r>
              <a:rPr lang="en-US" altLang="zh-CN" sz="3000" b="1" dirty="0">
                <a:solidFill>
                  <a:schemeClr val="tx1"/>
                </a:solidFill>
                <a:latin typeface="Arial" panose="020B0604020202020204" pitchFamily="34" charset="0"/>
                <a:ea typeface="宋体" panose="02010600030101010101" pitchFamily="2" charset="-122"/>
              </a:rPr>
              <a:t>03</a:t>
            </a:r>
            <a:endParaRPr lang="en-US" altLang="zh-CN" sz="3000" b="1" dirty="0">
              <a:solidFill>
                <a:schemeClr val="tx1"/>
              </a:solidFill>
              <a:latin typeface="Arial" panose="020B0604020202020204" pitchFamily="34" charset="0"/>
              <a:ea typeface="宋体" panose="02010600030101010101" pitchFamily="2" charset="-122"/>
            </a:endParaRPr>
          </a:p>
        </p:txBody>
      </p:sp>
      <p:sp>
        <p:nvSpPr>
          <p:cNvPr id="49" name="文本框 48"/>
          <p:cNvSpPr txBox="1"/>
          <p:nvPr/>
        </p:nvSpPr>
        <p:spPr>
          <a:xfrm>
            <a:off x="4167752" y="3605286"/>
            <a:ext cx="917707" cy="346249"/>
          </a:xfrm>
          <a:prstGeom prst="rect">
            <a:avLst/>
          </a:prstGeom>
          <a:no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685165" fontAlgn="auto">
              <a:spcBef>
                <a:spcPts val="0"/>
              </a:spcBef>
              <a:spcAft>
                <a:spcPts val="0"/>
              </a:spcAft>
              <a:buSzPct val="25000"/>
              <a:defRPr/>
            </a:pPr>
            <a:r>
              <a:rPr lang="zh-CN" altLang="en-US" b="1" dirty="0">
                <a:solidFill>
                  <a:schemeClr val="tx1"/>
                </a:solidFill>
                <a:latin typeface="Arial" panose="020B0604020202020204" pitchFamily="34" charset="0"/>
                <a:ea typeface="宋体" panose="02010600030101010101" pitchFamily="2" charset="-122"/>
              </a:rPr>
              <a:t>语法</a:t>
            </a:r>
            <a:endParaRPr lang="en-US" altLang="zh-CN" b="1" dirty="0">
              <a:solidFill>
                <a:schemeClr val="tx1"/>
              </a:solidFill>
              <a:latin typeface="Arial" panose="020B0604020202020204" pitchFamily="34"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一、引言</a:t>
            </a:r>
            <a:endParaRPr lang="zh-CN" altLang="en-US" sz="2400">
              <a:solidFill>
                <a:srgbClr val="FFFFFF"/>
              </a:solidFill>
            </a:endParaRPr>
          </a:p>
        </p:txBody>
      </p:sp>
      <p:sp>
        <p:nvSpPr>
          <p:cNvPr id="5" name="文本框 4"/>
          <p:cNvSpPr txBox="1"/>
          <p:nvPr/>
        </p:nvSpPr>
        <p:spPr>
          <a:xfrm>
            <a:off x="615601" y="1693400"/>
            <a:ext cx="7915097"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zh-CN" sz="2000">
                <a:latin typeface="Arial" panose="020B0604020202020204"/>
                <a:ea typeface="宋体" panose="02010600030101010101" pitchFamily="2" charset="-122"/>
                <a:cs typeface="Arial" panose="020B0604020202020204"/>
              </a:rPr>
              <a:t>20 世纪 60 年代中后期，软件行业爆发了著名的“软件危机”：随着软件</a:t>
            </a:r>
            <a:r>
              <a:rPr lang="zh-CN" altLang="en-US" sz="2000">
                <a:latin typeface="Arial" panose="020B0604020202020204"/>
                <a:ea typeface="宋体" panose="02010600030101010101" pitchFamily="2" charset="-122"/>
                <a:cs typeface="Arial" panose="020B0604020202020204"/>
              </a:rPr>
              <a:t>的</a:t>
            </a:r>
            <a:r>
              <a:rPr lang="zh-CN" sz="2000">
                <a:latin typeface="Arial" panose="020B0604020202020204"/>
                <a:ea typeface="宋体" panose="02010600030101010101" pitchFamily="2" charset="-122"/>
                <a:cs typeface="Arial" panose="020B0604020202020204"/>
              </a:rPr>
              <a:t>规模与复杂度不断增长，传统的测试与调试手段已无法覆盖系统可能出现的所有状态。尤其在分布式系统中，非确定性与并发带来的问题极具挑战，使得写出正确、可理解、且可验证的程序愈发困难。</a:t>
            </a:r>
            <a:endParaRPr lang="zh-CN">
              <a:cs typeface="Arial" panose="020B0604020202020204"/>
            </a:endParaRPr>
          </a:p>
          <a:p>
            <a:endParaRPr lang="zh-CN" sz="2000">
              <a:latin typeface="Arial" panose="020B0604020202020204"/>
              <a:ea typeface="宋体" panose="02010600030101010101" pitchFamily="2" charset="-122"/>
              <a:cs typeface="Arial" panose="020B0604020202020204"/>
            </a:endParaRPr>
          </a:p>
          <a:p>
            <a:r>
              <a:rPr lang="zh-CN" altLang="en-US" sz="2000">
                <a:latin typeface="Arial" panose="020B0604020202020204"/>
                <a:ea typeface="宋体" panose="02010600030101010101" pitchFamily="2" charset="-122"/>
                <a:cs typeface="Arial" panose="020B0604020202020204"/>
              </a:rPr>
              <a:t>软件缺陷通常来源于两个方面：</a:t>
            </a:r>
            <a:endParaRPr lang="zh-CN" altLang="en-US">
              <a:cs typeface="Arial" panose="020B0604020202020204"/>
            </a:endParaRPr>
          </a:p>
          <a:p>
            <a:r>
              <a:rPr lang="zh-CN" altLang="en-US" sz="2000">
                <a:latin typeface="Arial" panose="020B0604020202020204"/>
                <a:ea typeface="宋体" panose="02010600030101010101" pitchFamily="2" charset="-122"/>
                <a:cs typeface="Arial" panose="020B0604020202020204"/>
              </a:rPr>
              <a:t>1. 代码错误：指代码实现与预期设计不一致，例如空指针引用、数组越界访问、多线程竞争读写等。已有大量工具用于检测这类问题。</a:t>
            </a:r>
            <a:endParaRPr lang="zh-CN" altLang="en-US">
              <a:cs typeface="Arial" panose="020B0604020202020204"/>
            </a:endParaRPr>
          </a:p>
          <a:p>
            <a:r>
              <a:rPr lang="zh-CN" altLang="en-US" sz="2000">
                <a:latin typeface="Arial" panose="020B0604020202020204"/>
                <a:ea typeface="宋体" panose="02010600030101010101" pitchFamily="2" charset="-122"/>
                <a:cs typeface="Arial" panose="020B0604020202020204"/>
              </a:rPr>
              <a:t>2. 设计缺陷：指系统设计未充分考虑异常情况或并发行为，如分布式场景下的一致性策略不足等。这类问题往往难以及早暴露，而 </a:t>
            </a:r>
            <a:r>
              <a:rPr lang="en-US" altLang="zh-CN" sz="2000">
                <a:latin typeface="Arial" panose="020B0604020202020204"/>
                <a:ea typeface="宋体" panose="02010600030101010101" pitchFamily="2" charset="-122"/>
                <a:cs typeface="Arial" panose="020B0604020202020204"/>
              </a:rPr>
              <a:t>TLA+</a:t>
            </a:r>
            <a:r>
              <a:rPr lang="zh-CN" altLang="en-US" sz="2000">
                <a:latin typeface="Arial" panose="020B0604020202020204"/>
                <a:ea typeface="宋体" panose="02010600030101010101" pitchFamily="2" charset="-122"/>
                <a:cs typeface="Arial" panose="020B0604020202020204"/>
              </a:rPr>
              <a:t> 正是为了解决此类设计阶段的建模与验证而诞生的。</a:t>
            </a:r>
            <a:endParaRPr lang="zh-CN" altLang="en-US" sz="2000">
              <a:latin typeface="Arial" panose="020B0604020202020204"/>
              <a:ea typeface="宋体" panose="02010600030101010101" pitchFamily="2" charset="-122"/>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二、概述</a:t>
            </a:r>
            <a:endParaRPr lang="zh-CN" altLang="en-US" sz="2400">
              <a:solidFill>
                <a:srgbClr val="FFFFFF"/>
              </a:solidFill>
            </a:endParaRPr>
          </a:p>
        </p:txBody>
      </p:sp>
      <p:sp>
        <p:nvSpPr>
          <p:cNvPr id="6" name="文本框 5"/>
          <p:cNvSpPr txBox="1"/>
          <p:nvPr/>
        </p:nvSpPr>
        <p:spPr>
          <a:xfrm>
            <a:off x="645136" y="1161772"/>
            <a:ext cx="8169096"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ltLang="zh-CN" sz="2000">
                <a:latin typeface="Arial" panose="020B0604020202020204"/>
                <a:ea typeface="宋体" panose="02010600030101010101" pitchFamily="2" charset="-122"/>
                <a:cs typeface="Arial" panose="020B0604020202020204"/>
              </a:rPr>
              <a:t>TLA+</a:t>
            </a:r>
            <a:r>
              <a:rPr lang="zh-CN" sz="2000">
                <a:latin typeface="Arial" panose="020B0604020202020204"/>
                <a:ea typeface="宋体" panose="02010600030101010101" pitchFamily="2" charset="-122"/>
                <a:cs typeface="Arial" panose="020B0604020202020204"/>
              </a:rPr>
              <a:t> 是一种形式化规范语言，由图灵奖获得者 </a:t>
            </a:r>
            <a:r>
              <a:rPr lang="en-US" altLang="zh-CN" sz="2000">
                <a:latin typeface="Arial" panose="020B0604020202020204"/>
                <a:ea typeface="宋体" panose="02010600030101010101" pitchFamily="2" charset="-122"/>
                <a:cs typeface="Arial" panose="020B0604020202020204"/>
              </a:rPr>
              <a:t>Leslie</a:t>
            </a:r>
            <a:r>
              <a:rPr lang="zh-CN" sz="2000">
                <a:latin typeface="Arial" panose="020B0604020202020204"/>
                <a:ea typeface="宋体" panose="02010600030101010101" pitchFamily="2" charset="-122"/>
                <a:cs typeface="Arial" panose="020B0604020202020204"/>
              </a:rPr>
              <a:t> </a:t>
            </a:r>
            <a:r>
              <a:rPr lang="en-US" altLang="zh-CN" sz="2000">
                <a:latin typeface="Arial" panose="020B0604020202020204"/>
                <a:ea typeface="宋体" panose="02010600030101010101" pitchFamily="2" charset="-122"/>
                <a:cs typeface="Arial" panose="020B0604020202020204"/>
              </a:rPr>
              <a:t>Lamport</a:t>
            </a:r>
            <a:r>
              <a:rPr lang="zh-CN" sz="2000">
                <a:latin typeface="Arial" panose="020B0604020202020204"/>
                <a:ea typeface="宋体" panose="02010600030101010101" pitchFamily="2" charset="-122"/>
                <a:cs typeface="Arial" panose="020B0604020202020204"/>
              </a:rPr>
              <a:t> 提出，用于以数学方式精确描述系统状态与行为。与传统软件工程侧重代码实现不同，TLA+ 强调在系统开发的</a:t>
            </a:r>
            <a:r>
              <a:rPr lang="zh-CN" sz="2000" b="1">
                <a:latin typeface="Arial" panose="020B0604020202020204"/>
                <a:ea typeface="宋体" panose="02010600030101010101" pitchFamily="2" charset="-122"/>
                <a:cs typeface="Arial" panose="020B0604020202020204"/>
              </a:rPr>
              <a:t>设计阶段</a:t>
            </a:r>
            <a:r>
              <a:rPr lang="zh-CN" sz="2000">
                <a:latin typeface="Arial" panose="020B0604020202020204"/>
                <a:ea typeface="宋体" panose="02010600030101010101" pitchFamily="2" charset="-122"/>
                <a:cs typeface="Arial" panose="020B0604020202020204"/>
              </a:rPr>
              <a:t>发现逻辑缺陷，通过模型检查等手段提前验证系统的正确性。例如，不变量、死锁、竞争条件、顺序一致性等问题，在正式编写代码之前即可被识别并修正。</a:t>
            </a:r>
            <a:endParaRPr lang="zh-CN"/>
          </a:p>
          <a:p>
            <a:r>
              <a:rPr lang="zh-CN" sz="2000">
                <a:latin typeface="Arial" panose="020B0604020202020204"/>
                <a:ea typeface="宋体" panose="02010600030101010101" pitchFamily="2" charset="-122"/>
                <a:cs typeface="Arial" panose="020B0604020202020204"/>
              </a:rPr>
              <a:t>目前，TLA+ 已被广泛应用于工业界关键系统的开发测试。微软、亚马逊 AWS等企业均将其作为可靠性保障的核心工具之一，用于检验云服务存储系统、一致性协议以及分布式数据库等复杂系统的正确行为。特别是在分布式场景下，TLA</a:t>
            </a:r>
            <a:r>
              <a:rPr lang="en-US" altLang="zh-CN" sz="2000">
                <a:latin typeface="Arial" panose="020B0604020202020204"/>
                <a:ea typeface="宋体" panose="02010600030101010101" pitchFamily="2" charset="-122"/>
                <a:cs typeface="Arial" panose="020B0604020202020204"/>
              </a:rPr>
              <a:t>+</a:t>
            </a:r>
            <a:r>
              <a:rPr lang="zh-CN" sz="2000">
                <a:latin typeface="Arial" panose="020B0604020202020204"/>
                <a:ea typeface="宋体" panose="02010600030101010101" pitchFamily="2" charset="-122"/>
                <a:cs typeface="Arial" panose="020B0604020202020204"/>
              </a:rPr>
              <a:t> 对并发与非确定性的建模能力，使其在验证共识算法、容错协议、缓存一致性协议等方面展现出巨大优势。</a:t>
            </a:r>
            <a:endParaRPr lang="zh-CN"/>
          </a:p>
          <a:p>
            <a:endParaRPr lang="zh-CN" altLang="en-US" sz="2000">
              <a:latin typeface="Arial" panose="020B0604020202020204"/>
              <a:ea typeface="宋体" panose="02010600030101010101" pitchFamily="2" charset="-122"/>
              <a:cs typeface="Arial" panose="020B0604020202020204"/>
            </a:endParaRPr>
          </a:p>
          <a:p>
            <a:r>
              <a:rPr lang="zh-CN" sz="2000">
                <a:latin typeface="Arial" panose="020B0604020202020204"/>
                <a:ea typeface="宋体" panose="02010600030101010101" pitchFamily="2" charset="-122"/>
                <a:cs typeface="Arial" panose="020B0604020202020204"/>
              </a:rPr>
              <a:t>作为系统设计与建模工具，TLA+ 能够快速构建原型、探索设计空间，帮助工程师从高层次思考系统的逻辑结构。其核心理念在于：</a:t>
            </a:r>
            <a:endParaRPr lang="zh-CN"/>
          </a:p>
          <a:p>
            <a:pPr marL="285750" indent="-285750">
              <a:buFont typeface="Arial" panose="020B0604020202020204"/>
              <a:buChar char="•"/>
            </a:pPr>
            <a:r>
              <a:rPr lang="zh-CN" altLang="en-US" sz="2000">
                <a:latin typeface="Arial" panose="020B0604020202020204"/>
                <a:ea typeface="宋体" panose="02010600030101010101" pitchFamily="2" charset="-122"/>
                <a:cs typeface="Arial" panose="020B0604020202020204"/>
              </a:rPr>
              <a:t>状态是系统的快照，行为是状态之间的转移</a:t>
            </a:r>
            <a:endParaRPr lang="zh-CN" altLang="en-US" sz="2000">
              <a:latin typeface="Arial" panose="020B0604020202020204"/>
              <a:ea typeface="宋体" panose="02010600030101010101" pitchFamily="2" charset="-122"/>
              <a:cs typeface="Arial" panose="020B0604020202020204"/>
            </a:endParaRPr>
          </a:p>
          <a:p>
            <a:pPr marL="285750" indent="-285750">
              <a:buFont typeface="Arial" panose="020B0604020202020204"/>
              <a:buChar char="•"/>
            </a:pPr>
            <a:r>
              <a:rPr lang="zh-CN" altLang="en-US" sz="2000">
                <a:latin typeface="Arial" panose="020B0604020202020204"/>
                <a:ea typeface="宋体" panose="02010600030101010101" pitchFamily="2" charset="-122"/>
                <a:cs typeface="Arial" panose="020B0604020202020204"/>
              </a:rPr>
              <a:t>系统正确性可通过逻辑公式直接表达与验证</a:t>
            </a:r>
            <a:endParaRPr lang="zh-CN" altLang="en-US" sz="2000">
              <a:latin typeface="Arial" panose="020B0604020202020204"/>
              <a:ea typeface="宋体" panose="02010600030101010101" pitchFamily="2" charset="-122"/>
              <a:cs typeface="Arial" panose="020B0604020202020204"/>
            </a:endParaRPr>
          </a:p>
          <a:p>
            <a:r>
              <a:rPr lang="zh-CN" sz="2000">
                <a:latin typeface="Arial" panose="020B0604020202020204"/>
                <a:ea typeface="宋体" panose="02010600030101010101" pitchFamily="2" charset="-122"/>
                <a:cs typeface="Arial" panose="020B0604020202020204"/>
              </a:rPr>
              <a:t>因此，TLA+ 是发现并消除潜在设计漏洞的有效手段，特别适合用于保障高可靠性软件的开发过程。</a:t>
            </a:r>
            <a:endParaRPr 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二、概述</a:t>
            </a:r>
            <a:endParaRPr lang="zh-CN" altLang="en-US" sz="2400">
              <a:solidFill>
                <a:srgbClr val="FFFFFF"/>
              </a:solidFill>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05469"/>
            <a:ext cx="9144000" cy="3708320"/>
          </a:xfrm>
          <a:prstGeom prst="rect">
            <a:avLst/>
          </a:prstGeom>
        </p:spPr>
      </p:pic>
      <p:sp>
        <p:nvSpPr>
          <p:cNvPr id="7" name="文本框 6"/>
          <p:cNvSpPr txBox="1"/>
          <p:nvPr/>
        </p:nvSpPr>
        <p:spPr>
          <a:xfrm>
            <a:off x="0" y="980728"/>
            <a:ext cx="2699792" cy="1200329"/>
          </a:xfrm>
          <a:prstGeom prst="rect">
            <a:avLst/>
          </a:prstGeom>
          <a:noFill/>
        </p:spPr>
        <p:txBody>
          <a:bodyPr wrap="square" rtlCol="0">
            <a:spAutoFit/>
          </a:bodyPr>
          <a:lstStyle/>
          <a:p>
            <a:r>
              <a:rPr lang="en-US" altLang="zh-CN" b="1" dirty="0">
                <a:latin typeface="+mj-ea"/>
                <a:ea typeface="+mj-ea"/>
              </a:rPr>
              <a:t>TLA+ </a:t>
            </a:r>
            <a:r>
              <a:rPr lang="zh-CN" altLang="en-US" b="1" dirty="0">
                <a:latin typeface="+mj-ea"/>
                <a:ea typeface="+mj-ea"/>
              </a:rPr>
              <a:t>工具存储库及其主要组件的组织结构</a:t>
            </a:r>
            <a:r>
              <a:rPr lang="en-US" altLang="zh-CN" b="1" dirty="0">
                <a:latin typeface="+mj-ea"/>
                <a:ea typeface="+mj-ea"/>
              </a:rPr>
              <a:t>(</a:t>
            </a:r>
            <a:r>
              <a:rPr lang="zh-CN" altLang="en-US" b="1" dirty="0">
                <a:latin typeface="+mj-ea"/>
                <a:ea typeface="+mj-ea"/>
              </a:rPr>
              <a:t>目录结构、关键模块及其关系</a:t>
            </a:r>
            <a:r>
              <a:rPr lang="en-US" altLang="zh-CN" b="1" dirty="0">
                <a:latin typeface="+mj-ea"/>
                <a:ea typeface="+mj-ea"/>
              </a:rPr>
              <a:t>)</a:t>
            </a:r>
            <a:endParaRPr lang="zh-CN" altLang="en-US" b="1" dirty="0">
              <a:latin typeface="+mj-ea"/>
              <a:ea typeface="+mj-ea"/>
            </a:endParaRPr>
          </a:p>
        </p:txBody>
      </p:sp>
      <p:sp>
        <p:nvSpPr>
          <p:cNvPr id="8" name="文本框 7"/>
          <p:cNvSpPr txBox="1"/>
          <p:nvPr/>
        </p:nvSpPr>
        <p:spPr>
          <a:xfrm>
            <a:off x="425184" y="4677330"/>
            <a:ext cx="8293631" cy="1754326"/>
          </a:xfrm>
          <a:prstGeom prst="rect">
            <a:avLst/>
          </a:prstGeom>
          <a:noFill/>
          <a:ln>
            <a:solidFill>
              <a:srgbClr val="C00000"/>
            </a:solidFill>
          </a:ln>
        </p:spPr>
        <p:txBody>
          <a:bodyPr wrap="square" rtlCol="0">
            <a:spAutoFit/>
          </a:bodyPr>
          <a:lstStyle/>
          <a:p>
            <a:r>
              <a:rPr lang="en-US" altLang="zh-CN" dirty="0"/>
              <a:t>TLA+ </a:t>
            </a:r>
            <a:r>
              <a:rPr lang="zh-CN" altLang="en-US" dirty="0"/>
              <a:t>工具箱的整体结构采用分层设计：最上层的 </a:t>
            </a:r>
            <a:r>
              <a:rPr lang="en-US" altLang="zh-CN" dirty="0" err="1"/>
              <a:t>tlatools.api</a:t>
            </a:r>
            <a:r>
              <a:rPr lang="en-US" altLang="zh-CN" dirty="0"/>
              <a:t> </a:t>
            </a:r>
            <a:r>
              <a:rPr lang="zh-CN" altLang="en-US" dirty="0"/>
              <a:t>对外提供稳定的公共 </a:t>
            </a:r>
            <a:r>
              <a:rPr lang="en-US" altLang="zh-CN" dirty="0"/>
              <a:t>API</a:t>
            </a:r>
            <a:r>
              <a:rPr lang="zh-CN" altLang="en-US" dirty="0"/>
              <a:t>，而核心功能如 </a:t>
            </a:r>
            <a:r>
              <a:rPr lang="en-US" altLang="zh-CN" dirty="0"/>
              <a:t>TLC </a:t>
            </a:r>
            <a:r>
              <a:rPr lang="zh-CN" altLang="en-US" dirty="0"/>
              <a:t>模型检查、</a:t>
            </a:r>
            <a:r>
              <a:rPr lang="en-US" altLang="zh-CN" dirty="0"/>
              <a:t>SANY </a:t>
            </a:r>
            <a:r>
              <a:rPr lang="zh-CN" altLang="en-US" dirty="0"/>
              <a:t>解析器、</a:t>
            </a:r>
            <a:r>
              <a:rPr lang="en-US" altLang="zh-CN" dirty="0" err="1"/>
              <a:t>PlusCal</a:t>
            </a:r>
            <a:r>
              <a:rPr lang="en-US" altLang="zh-CN" dirty="0"/>
              <a:t> </a:t>
            </a:r>
            <a:r>
              <a:rPr lang="zh-CN" altLang="en-US" dirty="0"/>
              <a:t>翻译器等则集中在 </a:t>
            </a:r>
            <a:r>
              <a:rPr lang="en-US" altLang="zh-CN" dirty="0" err="1"/>
              <a:t>tlatools</a:t>
            </a:r>
            <a:r>
              <a:rPr lang="en-US" altLang="zh-CN" dirty="0"/>
              <a:t> </a:t>
            </a:r>
            <a:r>
              <a:rPr lang="zh-CN" altLang="en-US" dirty="0"/>
              <a:t>主包中。</a:t>
            </a:r>
            <a:r>
              <a:rPr lang="en-US" altLang="zh-CN" dirty="0"/>
              <a:t>feature </a:t>
            </a:r>
            <a:r>
              <a:rPr lang="zh-CN" altLang="en-US" dirty="0"/>
              <a:t>包为这些核心工具提供高级扩展能力。分布式 </a:t>
            </a:r>
            <a:r>
              <a:rPr lang="en-US" altLang="zh-CN" dirty="0"/>
              <a:t>TLC </a:t>
            </a:r>
            <a:r>
              <a:rPr lang="zh-CN" altLang="en-US" dirty="0"/>
              <a:t>由 </a:t>
            </a:r>
            <a:r>
              <a:rPr lang="en-US" altLang="zh-CN" dirty="0" err="1"/>
              <a:t>impl.distributed</a:t>
            </a:r>
            <a:r>
              <a:rPr lang="en-US" altLang="zh-CN" dirty="0"/>
              <a:t> </a:t>
            </a:r>
            <a:r>
              <a:rPr lang="zh-CN" altLang="en-US" dirty="0"/>
              <a:t>实现其核心逻辑，并由 </a:t>
            </a:r>
            <a:r>
              <a:rPr lang="en-US" altLang="zh-CN" dirty="0" err="1"/>
              <a:t>consumer.distributed</a:t>
            </a:r>
            <a:r>
              <a:rPr lang="en-US" altLang="zh-CN" dirty="0"/>
              <a:t> </a:t>
            </a:r>
            <a:r>
              <a:rPr lang="zh-CN" altLang="en-US" dirty="0"/>
              <a:t>提供具体的 </a:t>
            </a:r>
            <a:r>
              <a:rPr lang="en-US" altLang="zh-CN" dirty="0"/>
              <a:t>Worker </a:t>
            </a:r>
            <a:r>
              <a:rPr lang="zh-CN" altLang="en-US" dirty="0"/>
              <a:t>执行单元。通过这种模块化结构，</a:t>
            </a:r>
            <a:r>
              <a:rPr lang="en-US" altLang="zh-CN" dirty="0"/>
              <a:t>TLA+ </a:t>
            </a:r>
            <a:r>
              <a:rPr lang="zh-CN" altLang="en-US" dirty="0"/>
              <a:t>工具箱能够在保持清晰边界的同时支持本地与分布式两种模型检查模式，实现良好的可维护性与可扩展性。</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二、概述</a:t>
            </a:r>
            <a:endParaRPr lang="zh-CN" altLang="en-US" sz="2400">
              <a:solidFill>
                <a:srgbClr val="FFFFFF"/>
              </a:solidFill>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5" y="828832"/>
            <a:ext cx="9144000" cy="3032216"/>
          </a:xfrm>
          <a:prstGeom prst="rect">
            <a:avLst/>
          </a:prstGeom>
        </p:spPr>
      </p:pic>
      <p:sp>
        <p:nvSpPr>
          <p:cNvPr id="10" name="文本框 9"/>
          <p:cNvSpPr txBox="1"/>
          <p:nvPr/>
        </p:nvSpPr>
        <p:spPr>
          <a:xfrm>
            <a:off x="664394" y="3861048"/>
            <a:ext cx="7815211" cy="2861310"/>
          </a:xfrm>
          <a:prstGeom prst="rect">
            <a:avLst/>
          </a:prstGeom>
          <a:noFill/>
          <a:ln>
            <a:solidFill>
              <a:srgbClr val="C00000"/>
            </a:solidFill>
          </a:ln>
        </p:spPr>
        <p:txBody>
          <a:bodyPr wrap="square">
            <a:spAutoFit/>
          </a:bodyPr>
          <a:lstStyle/>
          <a:p>
            <a:r>
              <a:rPr lang="en-US" altLang="zh-CN" dirty="0"/>
              <a:t>TLA+ Toolbox </a:t>
            </a:r>
            <a:r>
              <a:rPr lang="zh-CN" altLang="en-US" dirty="0"/>
              <a:t>的整体架构采用插件化与分层集成的设计，使编辑器、模型</a:t>
            </a:r>
            <a:r>
              <a:rPr lang="en-US" altLang="zh-CN" sz="1800" dirty="0"/>
              <a:t>检查器、证明器以及文档生成工具能够在统一框架下协同工作。最核心的部分是 org.lamport.tla.toolbox，它提供 Toolbox 的基础框架、插件生命周期管理和 UI 基础设施。在此基础上，多个功能模块以插件形式集成：editor.basic 提供 TLA+ 语言编辑器，tool.tlc 及其 tlc.ui 实现 TLC 模型检查能力与界面支持，tool.prover 集成 TLAPS 证明器，而 tool.tla2tex 则连接文档排版工具 TLA2TEX。Toolbox 对外连接底层工具链，包括 SANY 解析器、TLC、TLAPS、TLA2TEX，使用户通过统一界面即可完成建模、检查、证明与文档生成等完整工作流程。该结构清晰区分框架层与工具层，增强了扩展性、可维护性与用户体验。</a:t>
            </a:r>
            <a:endParaRPr lang="en-US" altLang="zh-CN" sz="1800" dirty="0"/>
          </a:p>
        </p:txBody>
      </p:sp>
      <p:sp>
        <p:nvSpPr>
          <p:cNvPr id="11" name="文本框 10"/>
          <p:cNvSpPr txBox="1"/>
          <p:nvPr/>
        </p:nvSpPr>
        <p:spPr>
          <a:xfrm>
            <a:off x="664394" y="1052736"/>
            <a:ext cx="881973" cy="646331"/>
          </a:xfrm>
          <a:prstGeom prst="rect">
            <a:avLst/>
          </a:prstGeom>
          <a:noFill/>
        </p:spPr>
        <p:txBody>
          <a:bodyPr wrap="none" rtlCol="0">
            <a:spAutoFit/>
          </a:bodyPr>
          <a:lstStyle/>
          <a:p>
            <a:r>
              <a:rPr lang="zh-CN" altLang="en-US" b="1" dirty="0"/>
              <a:t>架构图</a:t>
            </a:r>
            <a:endParaRPr lang="zh-CN" altLang="en-US" b="1" dirty="0"/>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二、概述</a:t>
            </a:r>
            <a:endParaRPr lang="zh-CN" altLang="en-US" sz="2400">
              <a:solidFill>
                <a:srgbClr val="FFFFFF"/>
              </a:solidFill>
            </a:endParaRPr>
          </a:p>
        </p:txBody>
      </p:sp>
      <p:sp>
        <p:nvSpPr>
          <p:cNvPr id="10" name="文本框 9"/>
          <p:cNvSpPr txBox="1"/>
          <p:nvPr/>
        </p:nvSpPr>
        <p:spPr>
          <a:xfrm>
            <a:off x="664393" y="3601769"/>
            <a:ext cx="7815211" cy="3138170"/>
          </a:xfrm>
          <a:prstGeom prst="rect">
            <a:avLst/>
          </a:prstGeom>
          <a:noFill/>
          <a:ln>
            <a:solidFill>
              <a:srgbClr val="C00000"/>
            </a:solidFill>
          </a:ln>
        </p:spPr>
        <p:txBody>
          <a:bodyPr wrap="square">
            <a:spAutoFit/>
          </a:bodyPr>
          <a:lstStyle/>
          <a:p>
            <a:r>
              <a:rPr lang="en-US" altLang="zh-CN" dirty="0"/>
              <a:t>TLA+</a:t>
            </a:r>
            <a:r>
              <a:rPr lang="zh-CN" altLang="en-US" dirty="0"/>
              <a:t>编辑器基于 </a:t>
            </a:r>
            <a:r>
              <a:rPr lang="en-US" altLang="zh-CN" dirty="0"/>
              <a:t>Eclipse </a:t>
            </a:r>
            <a:r>
              <a:rPr lang="zh-CN" altLang="en-US" dirty="0"/>
              <a:t>平台构建，其核心由 </a:t>
            </a:r>
            <a:r>
              <a:rPr lang="en-US" altLang="zh-CN" dirty="0" err="1"/>
              <a:t>TLAEditor</a:t>
            </a:r>
            <a:r>
              <a:rPr lang="en-US" altLang="zh-CN" dirty="0"/>
              <a:t> </a:t>
            </a:r>
            <a:r>
              <a:rPr lang="zh-CN" altLang="en-US" dirty="0"/>
              <a:t>负责整体编辑体验的驱动，包括文本显示、语法划分、增量校验与错误标注等功能。</a:t>
            </a:r>
            <a:r>
              <a:rPr lang="en-US" altLang="zh-CN" dirty="0" err="1"/>
              <a:t>TLAEditor</a:t>
            </a:r>
            <a:r>
              <a:rPr lang="en-US" altLang="zh-CN" dirty="0"/>
              <a:t> </a:t>
            </a:r>
            <a:r>
              <a:rPr lang="zh-CN" altLang="en-US" dirty="0"/>
              <a:t>依赖 </a:t>
            </a:r>
            <a:r>
              <a:rPr lang="en-US" altLang="zh-CN" dirty="0"/>
              <a:t>Eclipse </a:t>
            </a:r>
            <a:r>
              <a:rPr lang="zh-CN" altLang="en-US" dirty="0"/>
              <a:t>的 </a:t>
            </a:r>
            <a:r>
              <a:rPr lang="en-US" altLang="zh-CN" dirty="0" err="1"/>
              <a:t>SourceViewer</a:t>
            </a:r>
            <a:r>
              <a:rPr lang="en-US" altLang="zh-CN" dirty="0"/>
              <a:t> </a:t>
            </a:r>
            <a:r>
              <a:rPr lang="zh-CN" altLang="en-US" dirty="0"/>
              <a:t>与 </a:t>
            </a:r>
            <a:r>
              <a:rPr lang="en-US" altLang="zh-CN" dirty="0" err="1"/>
              <a:t>IDocument</a:t>
            </a:r>
            <a:r>
              <a:rPr lang="en-US" altLang="zh-CN" dirty="0"/>
              <a:t> </a:t>
            </a:r>
            <a:r>
              <a:rPr lang="zh-CN" altLang="en-US" dirty="0"/>
              <a:t>完成文档呈现，并通过 </a:t>
            </a:r>
            <a:r>
              <a:rPr lang="en-US" altLang="zh-CN" dirty="0" err="1"/>
              <a:t>TLASourceViewerConfiguration</a:t>
            </a:r>
            <a:r>
              <a:rPr lang="en-US" altLang="zh-CN" dirty="0"/>
              <a:t> </a:t>
            </a:r>
            <a:r>
              <a:rPr lang="zh-CN" altLang="en-US" dirty="0"/>
              <a:t>配置颜色、分区与扫描策略；其中 </a:t>
            </a:r>
            <a:r>
              <a:rPr lang="en-US" altLang="zh-CN" dirty="0" err="1"/>
              <a:t>TLAColorProvider</a:t>
            </a:r>
            <a:r>
              <a:rPr lang="zh-CN" altLang="en-US" dirty="0"/>
              <a:t>、</a:t>
            </a:r>
            <a:r>
              <a:rPr lang="en-US" altLang="zh-CN" dirty="0" err="1"/>
              <a:t>TLAFastPartitioner</a:t>
            </a:r>
            <a:r>
              <a:rPr lang="en-US" altLang="zh-CN" dirty="0"/>
              <a:t> </a:t>
            </a:r>
            <a:r>
              <a:rPr lang="zh-CN" altLang="en-US" dirty="0"/>
              <a:t>和 </a:t>
            </a:r>
            <a:r>
              <a:rPr lang="en-US" altLang="zh-CN" dirty="0" err="1"/>
              <a:t>TLAPartitionScanner</a:t>
            </a:r>
            <a:r>
              <a:rPr lang="en-US" altLang="zh-CN" dirty="0"/>
              <a:t> </a:t>
            </a:r>
            <a:r>
              <a:rPr lang="zh-CN" altLang="en-US" dirty="0"/>
              <a:t>共同实现 </a:t>
            </a:r>
            <a:r>
              <a:rPr lang="en-US" altLang="zh-CN" dirty="0"/>
              <a:t>TLA⁺ </a:t>
            </a:r>
            <a:r>
              <a:rPr lang="zh-CN" altLang="en-US" dirty="0"/>
              <a:t>代码的语法高亮与结构分区。编辑器的语义校验由 </a:t>
            </a:r>
            <a:r>
              <a:rPr lang="en-US" altLang="zh-CN" dirty="0" err="1"/>
              <a:t>TLAReconcilingStrategy</a:t>
            </a:r>
            <a:r>
              <a:rPr lang="en-US" altLang="zh-CN" dirty="0"/>
              <a:t> </a:t>
            </a:r>
            <a:r>
              <a:rPr lang="zh-CN" altLang="en-US" dirty="0"/>
              <a:t>触发 </a:t>
            </a:r>
            <a:r>
              <a:rPr lang="en-US" altLang="zh-CN" dirty="0"/>
              <a:t>SANY Parser </a:t>
            </a:r>
            <a:r>
              <a:rPr lang="zh-CN" altLang="en-US" dirty="0"/>
              <a:t>进行解析，生成 </a:t>
            </a:r>
            <a:r>
              <a:rPr lang="en-US" altLang="zh-CN" dirty="0" err="1"/>
              <a:t>ParseResult</a:t>
            </a:r>
            <a:r>
              <a:rPr lang="zh-CN" altLang="en-US" dirty="0"/>
              <a:t>，其中包含 </a:t>
            </a:r>
            <a:r>
              <a:rPr lang="en-US" altLang="zh-CN" dirty="0" err="1"/>
              <a:t>SpecObj</a:t>
            </a:r>
            <a:r>
              <a:rPr lang="en-US" altLang="zh-CN" dirty="0"/>
              <a:t> </a:t>
            </a:r>
            <a:r>
              <a:rPr lang="zh-CN" altLang="en-US" dirty="0"/>
              <a:t>与 </a:t>
            </a:r>
            <a:r>
              <a:rPr lang="en-US" altLang="zh-CN" dirty="0" err="1"/>
              <a:t>ModuleNode</a:t>
            </a:r>
            <a:r>
              <a:rPr lang="en-US" altLang="zh-CN" dirty="0"/>
              <a:t> </a:t>
            </a:r>
            <a:r>
              <a:rPr lang="zh-CN" altLang="en-US" dirty="0"/>
              <a:t>等抽象语法结构，并经由 </a:t>
            </a:r>
            <a:r>
              <a:rPr lang="en-US" altLang="zh-CN" dirty="0" err="1"/>
              <a:t>ErrorReporter</a:t>
            </a:r>
            <a:r>
              <a:rPr lang="en-US" altLang="zh-CN" dirty="0"/>
              <a:t> </a:t>
            </a:r>
            <a:r>
              <a:rPr lang="zh-CN" altLang="en-US" dirty="0"/>
              <a:t>将语法与语义错误反馈给编辑器，以在界面中标记错误位置。整体架构实现了 </a:t>
            </a:r>
            <a:r>
              <a:rPr lang="en-US" altLang="zh-CN" dirty="0"/>
              <a:t>UI </a:t>
            </a:r>
            <a:r>
              <a:rPr lang="zh-CN" altLang="en-US" dirty="0"/>
              <a:t>层、文本管理层与语法解析层的清晰分离，使 </a:t>
            </a:r>
            <a:r>
              <a:rPr lang="en-US" altLang="zh-CN" dirty="0"/>
              <a:t>TLA+</a:t>
            </a:r>
            <a:r>
              <a:rPr lang="zh-CN" altLang="en-US" dirty="0"/>
              <a:t>编辑器能够在 </a:t>
            </a:r>
            <a:r>
              <a:rPr lang="en-US" altLang="zh-CN" dirty="0"/>
              <a:t>Eclipse </a:t>
            </a:r>
            <a:r>
              <a:rPr lang="zh-CN" altLang="en-US" dirty="0"/>
              <a:t>框架内高效完成语言渲染、增量解析与错误提示的完整闭环。</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20994"/>
            <a:ext cx="9144000" cy="2680014"/>
          </a:xfrm>
          <a:prstGeom prst="rect">
            <a:avLst/>
          </a:prstGeom>
        </p:spPr>
      </p:pic>
      <p:sp>
        <p:nvSpPr>
          <p:cNvPr id="6" name="文本框 5"/>
          <p:cNvSpPr txBox="1"/>
          <p:nvPr/>
        </p:nvSpPr>
        <p:spPr>
          <a:xfrm>
            <a:off x="251520" y="908720"/>
            <a:ext cx="1107996" cy="369332"/>
          </a:xfrm>
          <a:prstGeom prst="rect">
            <a:avLst/>
          </a:prstGeom>
          <a:noFill/>
        </p:spPr>
        <p:txBody>
          <a:bodyPr wrap="none" rtlCol="0">
            <a:spAutoFit/>
          </a:bodyPr>
          <a:lstStyle/>
          <a:p>
            <a:r>
              <a:rPr lang="zh-CN" altLang="en-US" b="1" dirty="0"/>
              <a:t>组件结构</a:t>
            </a:r>
            <a:endParaRPr lang="zh-CN" alt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三、语法</a:t>
            </a:r>
            <a:endParaRPr lang="zh-CN" altLang="en-US" sz="2400">
              <a:solidFill>
                <a:srgbClr val="FFFFFF"/>
              </a:solidFill>
            </a:endParaRPr>
          </a:p>
        </p:txBody>
      </p:sp>
      <p:sp>
        <p:nvSpPr>
          <p:cNvPr id="5" name="文本框 4"/>
          <p:cNvSpPr txBox="1"/>
          <p:nvPr/>
        </p:nvSpPr>
        <p:spPr>
          <a:xfrm>
            <a:off x="299053" y="1379583"/>
            <a:ext cx="8718882" cy="4247317"/>
          </a:xfrm>
          <a:prstGeom prst="rect">
            <a:avLst/>
          </a:prstGeom>
          <a:noFill/>
        </p:spPr>
        <p:txBody>
          <a:bodyPr wrap="square" lIns="91440" tIns="45720" rIns="91440" bIns="45720" anchor="t">
            <a:spAutoFit/>
          </a:bodyPr>
          <a:lstStyle/>
          <a:p>
            <a:r>
              <a:rPr lang="zh-CN" altLang="en-US">
                <a:latin typeface="Arial" panose="020B0604020202020204"/>
                <a:ea typeface="宋体" panose="02010600030101010101" pitchFamily="2" charset="-122"/>
                <a:cs typeface="Arial" panose="020B0604020202020204"/>
              </a:rPr>
              <a:t>模块（</a:t>
            </a:r>
            <a:r>
              <a:rPr lang="en-US" altLang="zh-CN">
                <a:latin typeface="Arial" panose="020B0604020202020204"/>
                <a:ea typeface="宋体" panose="02010600030101010101" pitchFamily="2" charset="-122"/>
                <a:cs typeface="Arial" panose="020B0604020202020204"/>
              </a:rPr>
              <a:t>Module</a:t>
            </a:r>
            <a:r>
              <a:rPr lang="zh-CN" altLang="en-US">
                <a:latin typeface="Arial" panose="020B0604020202020204"/>
                <a:ea typeface="宋体" panose="02010600030101010101" pitchFamily="2" charset="-122"/>
                <a:cs typeface="Arial" panose="020B0604020202020204"/>
              </a:rPr>
              <a:t>）：</a:t>
            </a:r>
            <a:r>
              <a:rPr lang="en-US" altLang="zh-CN">
                <a:latin typeface="Arial" panose="020B0604020202020204"/>
                <a:ea typeface="宋体" panose="02010600030101010101" pitchFamily="2" charset="-122"/>
                <a:cs typeface="Arial" panose="020B0604020202020204"/>
              </a:rPr>
              <a:t>TLA+ </a:t>
            </a:r>
            <a:r>
              <a:rPr lang="zh-CN" altLang="en-US">
                <a:latin typeface="Arial" panose="020B0604020202020204"/>
                <a:ea typeface="宋体" panose="02010600030101010101" pitchFamily="2" charset="-122"/>
                <a:cs typeface="Arial" panose="020B0604020202020204"/>
              </a:rPr>
              <a:t>程序的基本单元，包含变量、定义和公式。</a:t>
            </a:r>
            <a:endParaRPr lang="zh-CN" altLang="en-US">
              <a:latin typeface="Arial" panose="020B0604020202020204"/>
              <a:ea typeface="宋体" panose="02010600030101010101" pitchFamily="2" charset="-122"/>
              <a:cs typeface="Arial" panose="020B0604020202020204"/>
            </a:endParaRPr>
          </a:p>
          <a:p>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变量（</a:t>
            </a:r>
            <a:r>
              <a:rPr lang="en-US" altLang="zh-CN">
                <a:latin typeface="Arial" panose="020B0604020202020204"/>
                <a:ea typeface="宋体" panose="02010600030101010101" pitchFamily="2" charset="-122"/>
                <a:cs typeface="Arial" panose="020B0604020202020204"/>
              </a:rPr>
              <a:t>VARIABLES</a:t>
            </a:r>
            <a:r>
              <a:rPr lang="zh-CN" altLang="en-US">
                <a:latin typeface="Arial" panose="020B0604020202020204"/>
                <a:ea typeface="宋体" panose="02010600030101010101" pitchFamily="2" charset="-122"/>
                <a:cs typeface="Arial" panose="020B0604020202020204"/>
              </a:rPr>
              <a:t>）：定义系统状态，如 </a:t>
            </a:r>
            <a:r>
              <a:rPr lang="en-US" altLang="zh-CN">
                <a:latin typeface="Arial" panose="020B0604020202020204"/>
                <a:ea typeface="宋体" panose="02010600030101010101" pitchFamily="2" charset="-122"/>
                <a:cs typeface="Arial" panose="020B0604020202020204"/>
              </a:rPr>
              <a:t>VARIABLES x, y</a:t>
            </a:r>
            <a:r>
              <a:rPr lang="zh-CN" altLang="en-US">
                <a:latin typeface="Arial" panose="020B0604020202020204"/>
                <a:ea typeface="宋体" panose="02010600030101010101" pitchFamily="2" charset="-122"/>
                <a:cs typeface="Arial" panose="020B0604020202020204"/>
              </a:rPr>
              <a:t>。</a:t>
            </a:r>
            <a:endParaRPr lang="zh-CN" altLang="en-US">
              <a:latin typeface="Arial" panose="020B0604020202020204"/>
              <a:ea typeface="宋体" panose="02010600030101010101" pitchFamily="2" charset="-122"/>
              <a:cs typeface="Arial" panose="020B0604020202020204"/>
            </a:endParaRPr>
          </a:p>
          <a:p>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初始条件（</a:t>
            </a:r>
            <a:r>
              <a:rPr lang="en-US" altLang="zh-CN">
                <a:latin typeface="Arial" panose="020B0604020202020204"/>
                <a:ea typeface="宋体" panose="02010600030101010101" pitchFamily="2" charset="-122"/>
                <a:cs typeface="Arial" panose="020B0604020202020204"/>
              </a:rPr>
              <a:t>Init</a:t>
            </a:r>
            <a:r>
              <a:rPr lang="zh-CN" altLang="en-US">
                <a:latin typeface="Arial" panose="020B0604020202020204"/>
                <a:ea typeface="宋体" panose="02010600030101010101" pitchFamily="2" charset="-122"/>
                <a:cs typeface="Arial" panose="020B0604020202020204"/>
              </a:rPr>
              <a:t>）：描述系统的初始状态，例如 </a:t>
            </a:r>
            <a:r>
              <a:rPr lang="en-US" altLang="zh-CN">
                <a:latin typeface="Arial" panose="020B0604020202020204"/>
                <a:ea typeface="宋体" panose="02010600030101010101" pitchFamily="2" charset="-122"/>
                <a:cs typeface="Arial" panose="020B0604020202020204"/>
              </a:rPr>
              <a:t>Init == x = 0 /\ y = 0</a:t>
            </a:r>
            <a:r>
              <a:rPr lang="zh-CN" altLang="en-US">
                <a:latin typeface="Arial" panose="020B0604020202020204"/>
                <a:ea typeface="宋体" panose="02010600030101010101" pitchFamily="2" charset="-122"/>
                <a:cs typeface="Arial" panose="020B0604020202020204"/>
              </a:rPr>
              <a:t>。</a:t>
            </a:r>
            <a:endParaRPr lang="zh-CN" altLang="en-US">
              <a:latin typeface="Arial" panose="020B0604020202020204"/>
              <a:ea typeface="宋体" panose="02010600030101010101" pitchFamily="2" charset="-122"/>
              <a:cs typeface="Arial" panose="020B0604020202020204"/>
            </a:endParaRPr>
          </a:p>
          <a:p>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状态转移（</a:t>
            </a:r>
            <a:r>
              <a:rPr lang="en-US" altLang="zh-CN">
                <a:latin typeface="Arial" panose="020B0604020202020204"/>
                <a:ea typeface="宋体" panose="02010600030101010101" pitchFamily="2" charset="-122"/>
                <a:cs typeface="Arial" panose="020B0604020202020204"/>
              </a:rPr>
              <a:t>Next</a:t>
            </a:r>
            <a:r>
              <a:rPr lang="zh-CN" altLang="en-US">
                <a:latin typeface="Arial" panose="020B0604020202020204"/>
                <a:ea typeface="宋体" panose="02010600030101010101" pitchFamily="2" charset="-122"/>
                <a:cs typeface="Arial" panose="020B0604020202020204"/>
              </a:rPr>
              <a:t>）：定义系统状态的变化规则，如 </a:t>
            </a:r>
            <a:r>
              <a:rPr lang="en-US" altLang="zh-CN">
                <a:latin typeface="Arial" panose="020B0604020202020204"/>
                <a:ea typeface="宋体" panose="02010600030101010101" pitchFamily="2" charset="-122"/>
                <a:cs typeface="Arial" panose="020B0604020202020204"/>
              </a:rPr>
              <a:t>Next == x' = x + 1 /\ y' = y</a:t>
            </a:r>
            <a:r>
              <a:rPr lang="zh-CN" altLang="en-US">
                <a:latin typeface="Arial" panose="020B0604020202020204"/>
                <a:ea typeface="宋体" panose="02010600030101010101" pitchFamily="2" charset="-122"/>
                <a:cs typeface="Arial" panose="020B0604020202020204"/>
              </a:rPr>
              <a:t>。</a:t>
            </a:r>
            <a:endParaRPr lang="zh-CN" altLang="en-US">
              <a:latin typeface="Arial" panose="020B0604020202020204"/>
              <a:ea typeface="宋体" panose="02010600030101010101" pitchFamily="2" charset="-122"/>
              <a:cs typeface="Arial" panose="020B0604020202020204"/>
            </a:endParaRPr>
          </a:p>
          <a:p>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行为公式（</a:t>
            </a:r>
            <a:r>
              <a:rPr lang="en-US" altLang="zh-CN">
                <a:latin typeface="Arial" panose="020B0604020202020204"/>
                <a:ea typeface="宋体" panose="02010600030101010101" pitchFamily="2" charset="-122"/>
                <a:cs typeface="Arial" panose="020B0604020202020204"/>
              </a:rPr>
              <a:t>Spec</a:t>
            </a:r>
            <a:r>
              <a:rPr lang="zh-CN" altLang="en-US">
                <a:latin typeface="Arial" panose="020B0604020202020204"/>
                <a:ea typeface="宋体" panose="02010600030101010101" pitchFamily="2" charset="-122"/>
                <a:cs typeface="Arial" panose="020B0604020202020204"/>
              </a:rPr>
              <a:t>）：由初始条件和状态转移组成，</a:t>
            </a:r>
            <a:r>
              <a:rPr lang="en-US" altLang="zh-CN">
                <a:latin typeface="Arial" panose="020B0604020202020204"/>
                <a:ea typeface="宋体" panose="02010600030101010101" pitchFamily="2" charset="-122"/>
                <a:cs typeface="Arial" panose="020B0604020202020204"/>
              </a:rPr>
              <a:t>Spec == Init /\ [][Next]_vars</a:t>
            </a:r>
            <a:r>
              <a:rPr lang="zh-CN" altLang="en-US">
                <a:latin typeface="Arial" panose="020B0604020202020204"/>
                <a:ea typeface="宋体" panose="02010600030101010101" pitchFamily="2" charset="-122"/>
                <a:cs typeface="Arial" panose="020B0604020202020204"/>
              </a:rPr>
              <a:t>。</a:t>
            </a:r>
            <a:endParaRPr lang="zh-CN" altLang="en-US">
              <a:latin typeface="Arial" panose="020B0604020202020204"/>
              <a:ea typeface="宋体" panose="02010600030101010101" pitchFamily="2" charset="-122"/>
              <a:cs typeface="Arial" panose="020B0604020202020204"/>
            </a:endParaRPr>
          </a:p>
          <a:p>
            <a:endParaRPr lang="zh-CN" altLang="en-US">
              <a:latin typeface="Arial" panose="020B0604020202020204"/>
              <a:ea typeface="宋体" panose="02010600030101010101" pitchFamily="2" charset="-122"/>
              <a:cs typeface="Arial" panose="020B0604020202020204"/>
            </a:endParaRPr>
          </a:p>
          <a:p>
            <a:r>
              <a:rPr lang="zh-CN">
                <a:latin typeface="Arial" panose="020B0604020202020204"/>
                <a:ea typeface="宋体" panose="02010600030101010101" pitchFamily="2" charset="-122"/>
                <a:cs typeface="Arial" panose="020B0604020202020204"/>
              </a:rPr>
              <a:t>逻辑连接符</a:t>
            </a:r>
            <a:r>
              <a:rPr lang="zh-CN" altLang="en-US">
                <a:latin typeface="Arial" panose="020B0604020202020204"/>
                <a:ea typeface="宋体" panose="02010600030101010101" pitchFamily="2" charset="-122"/>
                <a:cs typeface="Arial" panose="020B0604020202020204"/>
              </a:rPr>
              <a:t>：</a:t>
            </a:r>
            <a:r>
              <a:rPr lang="zh-CN">
                <a:latin typeface="Consolas" panose="020B0609020204030204"/>
                <a:ea typeface="宋体" panose="02010600030101010101" pitchFamily="2" charset="-122"/>
                <a:cs typeface="Arial" panose="020B0604020202020204"/>
              </a:rPr>
              <a:t>/\</a:t>
            </a:r>
            <a:r>
              <a:rPr lang="zh-CN">
                <a:latin typeface="Arial" panose="020B0604020202020204"/>
                <a:ea typeface="宋体" panose="02010600030101010101" pitchFamily="2" charset="-122"/>
                <a:cs typeface="Arial" panose="020B0604020202020204"/>
              </a:rPr>
              <a:t> 表示逻辑“与”，用于多个条件同时成立；</a:t>
            </a:r>
            <a:r>
              <a:rPr lang="zh-CN">
                <a:latin typeface="Consolas" panose="020B0609020204030204"/>
                <a:ea typeface="宋体" panose="02010600030101010101" pitchFamily="2" charset="-122"/>
                <a:cs typeface="Arial" panose="020B0604020202020204"/>
              </a:rPr>
              <a:t>\/</a:t>
            </a:r>
            <a:r>
              <a:rPr lang="zh-CN">
                <a:latin typeface="Arial" panose="020B0604020202020204"/>
                <a:ea typeface="宋体" panose="02010600030101010101" pitchFamily="2" charset="-122"/>
                <a:cs typeface="Arial" panose="020B0604020202020204"/>
              </a:rPr>
              <a:t> 表示逻辑“或”，用于多个条件至少一个成立。常以多行形式书写，使规范结构清晰易读。</a:t>
            </a:r>
            <a:endParaRPr lang="zh-CN">
              <a:cs typeface="Arial" panose="020B0604020202020204"/>
            </a:endParaRPr>
          </a:p>
          <a:p>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时态运算符：表达系统随时间的行为：</a:t>
            </a:r>
            <a:r>
              <a:rPr lang="en-US" altLang="zh-CN">
                <a:latin typeface="Arial" panose="020B0604020202020204"/>
                <a:ea typeface="宋体" panose="02010600030101010101" pitchFamily="2" charset="-122"/>
                <a:cs typeface="Arial" panose="020B0604020202020204"/>
              </a:rPr>
              <a:t>[]</a:t>
            </a:r>
            <a:r>
              <a:rPr lang="zh-CN" altLang="en-US">
                <a:latin typeface="Arial" panose="020B0604020202020204"/>
                <a:ea typeface="宋体" panose="02010600030101010101" pitchFamily="2" charset="-122"/>
                <a:cs typeface="Arial" panose="020B0604020202020204"/>
              </a:rPr>
              <a:t> 表示“始终满足”，例如 </a:t>
            </a:r>
            <a:r>
              <a:rPr lang="en-US" altLang="zh-CN">
                <a:latin typeface="Arial" panose="020B0604020202020204"/>
                <a:ea typeface="宋体" panose="02010600030101010101" pitchFamily="2" charset="-122"/>
                <a:cs typeface="Arial" panose="020B0604020202020204"/>
              </a:rPr>
              <a:t>[]P</a:t>
            </a:r>
            <a:r>
              <a:rPr lang="zh-CN" altLang="en-US">
                <a:latin typeface="Arial" panose="020B0604020202020204"/>
                <a:ea typeface="宋体" panose="02010600030101010101" pitchFamily="2" charset="-122"/>
                <a:cs typeface="Arial" panose="020B0604020202020204"/>
              </a:rPr>
              <a:t> 表示性质 </a:t>
            </a:r>
            <a:r>
              <a:rPr lang="en-US" altLang="zh-CN">
                <a:latin typeface="Arial" panose="020B0604020202020204"/>
                <a:ea typeface="宋体" panose="02010600030101010101" pitchFamily="2" charset="-122"/>
                <a:cs typeface="Arial" panose="020B0604020202020204"/>
              </a:rPr>
              <a:t>P </a:t>
            </a:r>
            <a:r>
              <a:rPr lang="zh-CN" altLang="en-US">
                <a:latin typeface="Arial" panose="020B0604020202020204"/>
                <a:ea typeface="宋体" panose="02010600030101010101" pitchFamily="2" charset="-122"/>
                <a:cs typeface="Arial" panose="020B0604020202020204"/>
              </a:rPr>
              <a:t>在所有状态都成立；</a:t>
            </a:r>
            <a:r>
              <a:rPr lang="en-US" altLang="zh-CN">
                <a:latin typeface="Arial" panose="020B0604020202020204"/>
                <a:ea typeface="宋体" panose="02010600030101010101" pitchFamily="2" charset="-122"/>
                <a:cs typeface="Arial" panose="020B0604020202020204"/>
              </a:rPr>
              <a:t>&lt;&gt;</a:t>
            </a:r>
            <a:r>
              <a:rPr lang="zh-CN" altLang="en-US">
                <a:latin typeface="Arial" panose="020B0604020202020204"/>
                <a:ea typeface="宋体" panose="02010600030101010101" pitchFamily="2" charset="-122"/>
                <a:cs typeface="Arial" panose="020B0604020202020204"/>
              </a:rPr>
              <a:t> 表示“最终会发生”，例如 </a:t>
            </a:r>
            <a:r>
              <a:rPr lang="en-US" altLang="zh-CN">
                <a:latin typeface="Arial" panose="020B0604020202020204"/>
                <a:ea typeface="宋体" panose="02010600030101010101" pitchFamily="2" charset="-122"/>
                <a:cs typeface="Arial" panose="020B0604020202020204"/>
              </a:rPr>
              <a:t>&lt;&gt;P</a:t>
            </a:r>
            <a:r>
              <a:rPr lang="zh-CN" altLang="en-US">
                <a:latin typeface="Arial" panose="020B0604020202020204"/>
                <a:ea typeface="宋体" panose="02010600030101010101" pitchFamily="2" charset="-122"/>
                <a:cs typeface="Arial" panose="020B0604020202020204"/>
              </a:rPr>
              <a:t> 表示性质 </a:t>
            </a:r>
            <a:r>
              <a:rPr lang="en-US" altLang="zh-CN">
                <a:latin typeface="Arial" panose="020B0604020202020204"/>
                <a:ea typeface="宋体" panose="02010600030101010101" pitchFamily="2" charset="-122"/>
                <a:cs typeface="Arial" panose="020B0604020202020204"/>
              </a:rPr>
              <a:t>P </a:t>
            </a:r>
            <a:r>
              <a:rPr lang="zh-CN" altLang="en-US">
                <a:latin typeface="Arial" panose="020B0604020202020204"/>
                <a:ea typeface="宋体" panose="02010600030101010101" pitchFamily="2" charset="-122"/>
                <a:cs typeface="Arial" panose="020B0604020202020204"/>
              </a:rPr>
              <a:t>终将发生至少一次。</a:t>
            </a:r>
            <a:endParaRPr lang="zh-CN" altLang="en-US">
              <a:latin typeface="Arial" panose="020B0604020202020204"/>
              <a:ea typeface="宋体" panose="02010600030101010101" pitchFamily="2" charset="-122"/>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四、案例</a:t>
            </a:r>
            <a:endParaRPr lang="zh-CN" altLang="en-US" sz="2400">
              <a:solidFill>
                <a:srgbClr val="FFFFFF"/>
              </a:solidFill>
            </a:endParaRPr>
          </a:p>
        </p:txBody>
      </p:sp>
      <p:sp>
        <p:nvSpPr>
          <p:cNvPr id="2" name="文本框 1"/>
          <p:cNvSpPr txBox="1"/>
          <p:nvPr/>
        </p:nvSpPr>
        <p:spPr>
          <a:xfrm>
            <a:off x="589671" y="1714300"/>
            <a:ext cx="7968411"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000">
                <a:latin typeface="Arial" panose="020B0604020202020204"/>
                <a:ea typeface="宋体" panose="02010600030101010101" pitchFamily="2" charset="-122"/>
                <a:cs typeface="Arial" panose="020B0604020202020204"/>
              </a:rPr>
              <a:t>食人族与传教士问题：</a:t>
            </a:r>
            <a:endParaRPr lang="zh-CN" altLang="en-US" sz="2000">
              <a:latin typeface="Arial" panose="020B0604020202020204"/>
              <a:ea typeface="宋体" panose="02010600030101010101" pitchFamily="2" charset="-122"/>
              <a:cs typeface="Arial" panose="020B0604020202020204"/>
            </a:endParaRPr>
          </a:p>
          <a:p>
            <a:endParaRPr lang="zh-CN" altLang="en-US" sz="2000">
              <a:latin typeface="Arial" panose="020B0604020202020204"/>
              <a:ea typeface="宋体" panose="02010600030101010101" pitchFamily="2" charset="-122"/>
              <a:cs typeface="Arial" panose="020B0604020202020204"/>
            </a:endParaRPr>
          </a:p>
          <a:p>
            <a:r>
              <a:rPr lang="zh-CN" altLang="en-US" sz="2000">
                <a:latin typeface="Arial" panose="020B0604020202020204"/>
                <a:ea typeface="宋体" panose="02010600030101010101" pitchFamily="2" charset="-122"/>
                <a:cs typeface="Arial" panose="020B0604020202020204"/>
              </a:rPr>
              <a:t>问题描述：</a:t>
            </a:r>
            <a:endParaRPr lang="zh-CN" altLang="en-US" sz="2000">
              <a:latin typeface="Arial" panose="020B0604020202020204"/>
              <a:ea typeface="宋体" panose="02010600030101010101" pitchFamily="2" charset="-122"/>
              <a:cs typeface="Arial" panose="020B0604020202020204"/>
            </a:endParaRPr>
          </a:p>
          <a:p>
            <a:r>
              <a:rPr lang="zh-CN" altLang="en-US" sz="2000">
                <a:latin typeface="Arial" panose="020B0604020202020204"/>
                <a:ea typeface="宋体" panose="02010600030101010101" pitchFamily="2" charset="-122"/>
                <a:cs typeface="Arial" panose="020B0604020202020204"/>
              </a:rPr>
              <a:t>现有若干食人族和若干传教士在东岸。若</a:t>
            </a:r>
            <a:r>
              <a:rPr lang="zh-CN" sz="2000">
                <a:latin typeface="Arial" panose="020B0604020202020204"/>
                <a:ea typeface="宋体" panose="02010600030101010101" pitchFamily="2" charset="-122"/>
                <a:cs typeface="Arial" panose="020B0604020202020204"/>
              </a:rPr>
              <a:t>在任</a:t>
            </a:r>
            <a:r>
              <a:rPr lang="zh-CN" altLang="en-US" sz="2000">
                <a:latin typeface="Arial" panose="020B0604020202020204"/>
                <a:ea typeface="宋体" panose="02010600030101010101" pitchFamily="2" charset="-122"/>
                <a:cs typeface="Arial" panose="020B0604020202020204"/>
              </a:rPr>
              <a:t>一</a:t>
            </a:r>
            <a:r>
              <a:rPr lang="zh-CN" sz="2000">
                <a:latin typeface="Arial" panose="020B0604020202020204"/>
                <a:ea typeface="宋体" panose="02010600030101010101" pitchFamily="2" charset="-122"/>
                <a:cs typeface="Arial" panose="020B0604020202020204"/>
              </a:rPr>
              <a:t>岸</a:t>
            </a:r>
            <a:r>
              <a:rPr lang="zh-CN" altLang="en-US" sz="2000">
                <a:latin typeface="Arial" panose="020B0604020202020204"/>
                <a:ea typeface="宋体" panose="02010600030101010101" pitchFamily="2" charset="-122"/>
                <a:cs typeface="Arial" panose="020B0604020202020204"/>
              </a:rPr>
              <a:t>上，</a:t>
            </a:r>
            <a:r>
              <a:rPr lang="zh-CN" sz="2000">
                <a:latin typeface="Arial" panose="020B0604020202020204"/>
                <a:ea typeface="宋体" panose="02010600030101010101" pitchFamily="2" charset="-122"/>
                <a:cs typeface="Arial" panose="020B0604020202020204"/>
              </a:rPr>
              <a:t>食人族数量</a:t>
            </a:r>
            <a:r>
              <a:rPr lang="zh-CN" altLang="en-US" sz="2000">
                <a:latin typeface="Arial" panose="020B0604020202020204"/>
                <a:ea typeface="宋体" panose="02010600030101010101" pitchFamily="2" charset="-122"/>
                <a:cs typeface="Arial" panose="020B0604020202020204"/>
              </a:rPr>
              <a:t>多于</a:t>
            </a:r>
            <a:r>
              <a:rPr lang="zh-CN" sz="2000">
                <a:latin typeface="Arial" panose="020B0604020202020204"/>
                <a:ea typeface="宋体" panose="02010600030101010101" pitchFamily="2" charset="-122"/>
                <a:cs typeface="Arial" panose="020B0604020202020204"/>
              </a:rPr>
              <a:t>传教士</a:t>
            </a:r>
            <a:r>
              <a:rPr lang="zh-CN" altLang="en-US" sz="2000">
                <a:latin typeface="Arial" panose="020B0604020202020204"/>
                <a:ea typeface="宋体" panose="02010600030101010101" pitchFamily="2" charset="-122"/>
                <a:cs typeface="Arial" panose="020B0604020202020204"/>
              </a:rPr>
              <a:t>数量</a:t>
            </a:r>
            <a:r>
              <a:rPr lang="zh-CN" sz="2000">
                <a:latin typeface="Arial" panose="020B0604020202020204"/>
                <a:ea typeface="宋体" panose="02010600030101010101" pitchFamily="2" charset="-122"/>
                <a:cs typeface="Arial" panose="020B0604020202020204"/>
              </a:rPr>
              <a:t>，</a:t>
            </a:r>
            <a:r>
              <a:rPr lang="zh-CN" altLang="en-US" sz="2000">
                <a:latin typeface="Arial" panose="020B0604020202020204"/>
                <a:ea typeface="宋体" panose="02010600030101010101" pitchFamily="2" charset="-122"/>
                <a:cs typeface="Arial" panose="020B0604020202020204"/>
              </a:rPr>
              <a:t>则传教士会有危险。现有一条船，每次</a:t>
            </a:r>
            <a:r>
              <a:rPr lang="zh-CN" sz="2000">
                <a:latin typeface="Arial" panose="020B0604020202020204"/>
                <a:ea typeface="宋体" panose="02010600030101010101" pitchFamily="2" charset="-122"/>
                <a:cs typeface="Arial" panose="020B0604020202020204"/>
              </a:rPr>
              <a:t>可载</a:t>
            </a:r>
            <a:r>
              <a:rPr lang="zh-CN" altLang="en-US" sz="2000">
                <a:latin typeface="Arial" panose="020B0604020202020204"/>
                <a:ea typeface="宋体" panose="02010600030101010101" pitchFamily="2" charset="-122"/>
                <a:cs typeface="Arial" panose="020B0604020202020204"/>
              </a:rPr>
              <a:t> </a:t>
            </a:r>
            <a:r>
              <a:rPr lang="zh-CN" sz="2000">
                <a:latin typeface="Arial" panose="020B0604020202020204"/>
                <a:ea typeface="宋体" panose="02010600030101010101" pitchFamily="2" charset="-122"/>
                <a:cs typeface="Arial" panose="020B0604020202020204"/>
              </a:rPr>
              <a:t>1 </a:t>
            </a:r>
            <a:r>
              <a:rPr lang="en-US" altLang="zh-CN" sz="2000">
                <a:latin typeface="Arial" panose="020B0604020202020204"/>
                <a:ea typeface="宋体" panose="02010600030101010101" pitchFamily="2" charset="-122"/>
                <a:cs typeface="Arial" panose="020B0604020202020204"/>
              </a:rPr>
              <a:t>-</a:t>
            </a:r>
            <a:r>
              <a:rPr lang="zh-CN" altLang="en-US" sz="2000">
                <a:latin typeface="Arial" panose="020B0604020202020204"/>
                <a:ea typeface="宋体" panose="02010600030101010101" pitchFamily="2" charset="-122"/>
                <a:cs typeface="Arial" panose="020B0604020202020204"/>
              </a:rPr>
              <a:t> </a:t>
            </a:r>
            <a:r>
              <a:rPr lang="zh-CN" sz="2000">
                <a:latin typeface="Arial" panose="020B0604020202020204"/>
                <a:ea typeface="宋体" panose="02010600030101010101" pitchFamily="2" charset="-122"/>
                <a:cs typeface="Arial" panose="020B0604020202020204"/>
              </a:rPr>
              <a:t>2</a:t>
            </a:r>
            <a:r>
              <a:rPr lang="zh-CN" altLang="en-US" sz="2000">
                <a:latin typeface="Arial" panose="020B0604020202020204"/>
                <a:ea typeface="宋体" panose="02010600030101010101" pitchFamily="2" charset="-122"/>
                <a:cs typeface="Arial" panose="020B0604020202020204"/>
              </a:rPr>
              <a:t> </a:t>
            </a:r>
            <a:r>
              <a:rPr lang="zh-CN" sz="2000">
                <a:latin typeface="Arial" panose="020B0604020202020204"/>
                <a:ea typeface="宋体" panose="02010600030101010101" pitchFamily="2" charset="-122"/>
                <a:cs typeface="Arial" panose="020B0604020202020204"/>
              </a:rPr>
              <a:t>人</a:t>
            </a:r>
            <a:r>
              <a:rPr lang="zh-CN" altLang="en-US" sz="2000">
                <a:latin typeface="Arial" panose="020B0604020202020204"/>
                <a:ea typeface="宋体" panose="02010600030101010101" pitchFamily="2" charset="-122"/>
                <a:cs typeface="Arial" panose="020B0604020202020204"/>
              </a:rPr>
              <a:t>，需要在始终保持安全</a:t>
            </a:r>
            <a:r>
              <a:rPr lang="zh-CN" sz="2000">
                <a:latin typeface="Arial" panose="020B0604020202020204"/>
                <a:ea typeface="宋体" panose="02010600030101010101" pitchFamily="2" charset="-122"/>
                <a:cs typeface="Arial" panose="020B0604020202020204"/>
              </a:rPr>
              <a:t>的</a:t>
            </a:r>
            <a:r>
              <a:rPr lang="zh-CN" altLang="en-US" sz="2000">
                <a:latin typeface="Arial" panose="020B0604020202020204"/>
                <a:ea typeface="宋体" panose="02010600030101010101" pitchFamily="2" charset="-122"/>
                <a:cs typeface="Arial" panose="020B0604020202020204"/>
              </a:rPr>
              <a:t>前提下</a:t>
            </a:r>
            <a:r>
              <a:rPr lang="zh-CN" sz="2000">
                <a:latin typeface="Arial" panose="020B0604020202020204"/>
                <a:ea typeface="宋体" panose="02010600030101010101" pitchFamily="2" charset="-122"/>
                <a:cs typeface="Arial" panose="020B0604020202020204"/>
              </a:rPr>
              <a:t>，将所有人</a:t>
            </a:r>
            <a:r>
              <a:rPr lang="zh-CN" altLang="en-US" sz="2000">
                <a:latin typeface="Arial" panose="020B0604020202020204"/>
                <a:ea typeface="宋体" panose="02010600030101010101" pitchFamily="2" charset="-122"/>
                <a:cs typeface="Arial" panose="020B0604020202020204"/>
              </a:rPr>
              <a:t>运到</a:t>
            </a:r>
            <a:r>
              <a:rPr lang="zh-CN" sz="2000">
                <a:latin typeface="Arial" panose="020B0604020202020204"/>
                <a:ea typeface="宋体" panose="02010600030101010101" pitchFamily="2" charset="-122"/>
                <a:cs typeface="Arial" panose="020B0604020202020204"/>
              </a:rPr>
              <a:t>西岸。</a:t>
            </a:r>
            <a:endParaRPr lang="zh-CN">
              <a:cs typeface="Arial" panose="020B0604020202020204"/>
            </a:endParaRPr>
          </a:p>
          <a:p>
            <a:endParaRPr lang="zh-CN" altLang="en-US" sz="2000">
              <a:latin typeface="Arial" panose="020B0604020202020204"/>
              <a:ea typeface="宋体" panose="02010600030101010101" pitchFamily="2" charset="-122"/>
              <a:cs typeface="Arial" panose="020B0604020202020204"/>
            </a:endParaRPr>
          </a:p>
          <a:p>
            <a:r>
              <a:rPr lang="zh-CN" sz="2000">
                <a:latin typeface="Arial" panose="020B0604020202020204"/>
                <a:ea typeface="宋体" panose="02010600030101010101" pitchFamily="2" charset="-122"/>
                <a:cs typeface="Arial" panose="020B0604020202020204"/>
              </a:rPr>
              <a:t>实现过程：</a:t>
            </a:r>
            <a:endParaRPr lang="zh-CN" altLang="en-US">
              <a:cs typeface="Arial" panose="020B0604020202020204" pitchFamily="34" charset="0"/>
            </a:endParaRPr>
          </a:p>
          <a:p>
            <a:r>
              <a:rPr lang="en-US" altLang="zh-CN" sz="2000">
                <a:latin typeface="Arial" panose="020B0604020202020204"/>
                <a:ea typeface="宋体" panose="02010600030101010101" pitchFamily="2" charset="-122"/>
                <a:cs typeface="Arial" panose="020B0604020202020204"/>
              </a:rPr>
              <a:t>1. </a:t>
            </a:r>
            <a:r>
              <a:rPr lang="en-US" altLang="zh-CN" sz="2000" err="1">
                <a:latin typeface="Arial" panose="020B0604020202020204"/>
                <a:ea typeface="宋体" panose="02010600030101010101" pitchFamily="2" charset="-122"/>
                <a:cs typeface="Arial" panose="020B0604020202020204"/>
              </a:rPr>
              <a:t>使用</a:t>
            </a:r>
            <a:r>
              <a:rPr lang="zh-CN" sz="2000">
                <a:latin typeface="Arial" panose="020B0604020202020204"/>
                <a:ea typeface="宋体" panose="02010600030101010101" pitchFamily="2" charset="-122"/>
                <a:cs typeface="Arial" panose="020B0604020202020204"/>
              </a:rPr>
              <a:t>TLA+语言对问题进行抽象</a:t>
            </a:r>
            <a:endParaRPr lang="zh-CN" altLang="en-US">
              <a:cs typeface="Arial" panose="020B0604020202020204"/>
            </a:endParaRPr>
          </a:p>
          <a:p>
            <a:r>
              <a:rPr lang="en-US" altLang="zh-CN" sz="2000">
                <a:latin typeface="Arial" panose="020B0604020202020204"/>
                <a:ea typeface="宋体" panose="02010600030101010101" pitchFamily="2" charset="-122"/>
                <a:cs typeface="Arial" panose="020B0604020202020204"/>
              </a:rPr>
              <a:t>2.</a:t>
            </a:r>
            <a:r>
              <a:rPr lang="zh-CN" altLang="en-US" sz="2000">
                <a:latin typeface="Arial" panose="020B0604020202020204"/>
                <a:ea typeface="宋体" panose="02010600030101010101" pitchFamily="2" charset="-122"/>
                <a:cs typeface="Arial" panose="020B0604020202020204"/>
              </a:rPr>
              <a:t> </a:t>
            </a:r>
            <a:r>
              <a:rPr lang="zh-CN" sz="2000">
                <a:latin typeface="Arial" panose="020B0604020202020204"/>
                <a:ea typeface="宋体" panose="02010600030101010101" pitchFamily="2" charset="-122"/>
                <a:cs typeface="Arial" panose="020B0604020202020204"/>
              </a:rPr>
              <a:t>新建</a:t>
            </a:r>
            <a:r>
              <a:rPr lang="zh-CN" altLang="en-US" sz="2000">
                <a:latin typeface="Arial" panose="020B0604020202020204"/>
                <a:ea typeface="宋体" panose="02010600030101010101" pitchFamily="2" charset="-122"/>
                <a:cs typeface="Arial" panose="020B0604020202020204"/>
              </a:rPr>
              <a:t>模型</a:t>
            </a:r>
            <a:r>
              <a:rPr lang="zh-CN" sz="2000">
                <a:latin typeface="Arial" panose="020B0604020202020204"/>
                <a:ea typeface="宋体" panose="02010600030101010101" pitchFamily="2" charset="-122"/>
                <a:cs typeface="Arial" panose="020B0604020202020204"/>
              </a:rPr>
              <a:t>并</a:t>
            </a:r>
            <a:r>
              <a:rPr lang="zh-CN" altLang="en-US" sz="2000">
                <a:latin typeface="Arial" panose="020B0604020202020204"/>
                <a:ea typeface="宋体" panose="02010600030101010101" pitchFamily="2" charset="-122"/>
                <a:cs typeface="Arial" panose="020B0604020202020204"/>
              </a:rPr>
              <a:t>完成配置</a:t>
            </a:r>
            <a:endParaRPr lang="zh-CN" sz="2000">
              <a:cs typeface="Arial" panose="020B0604020202020204"/>
            </a:endParaRPr>
          </a:p>
          <a:p>
            <a:r>
              <a:rPr lang="en-US" altLang="zh-CN" sz="2000">
                <a:latin typeface="Arial" panose="020B0604020202020204"/>
                <a:ea typeface="宋体" panose="02010600030101010101" pitchFamily="2" charset="-122"/>
                <a:cs typeface="Arial" panose="020B0604020202020204"/>
              </a:rPr>
              <a:t>3.</a:t>
            </a:r>
            <a:r>
              <a:rPr lang="zh-CN" altLang="en-US" sz="2000">
                <a:latin typeface="Arial" panose="020B0604020202020204"/>
                <a:ea typeface="宋体" panose="02010600030101010101" pitchFamily="2" charset="-122"/>
                <a:cs typeface="Arial" panose="020B0604020202020204"/>
              </a:rPr>
              <a:t> </a:t>
            </a:r>
            <a:r>
              <a:rPr lang="zh-CN" sz="2000">
                <a:latin typeface="Arial" panose="020B0604020202020204"/>
                <a:ea typeface="宋体" panose="02010600030101010101" pitchFamily="2" charset="-122"/>
                <a:cs typeface="Arial" panose="020B0604020202020204"/>
              </a:rPr>
              <a:t>运行</a:t>
            </a:r>
            <a:r>
              <a:rPr lang="zh-CN" altLang="en-US" sz="2000">
                <a:latin typeface="Arial" panose="020B0604020202020204"/>
                <a:ea typeface="宋体" panose="02010600030101010101" pitchFamily="2" charset="-122"/>
                <a:cs typeface="Arial" panose="020B0604020202020204"/>
              </a:rPr>
              <a:t>求解</a:t>
            </a:r>
            <a:endParaRPr lang="zh-CN">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四、案例</a:t>
            </a:r>
            <a:endParaRPr lang="zh-CN" altLang="en-US" sz="2400">
              <a:solidFill>
                <a:srgbClr val="FFFFFF"/>
              </a:solidFill>
            </a:endParaRPr>
          </a:p>
        </p:txBody>
      </p:sp>
      <p:sp>
        <p:nvSpPr>
          <p:cNvPr id="5" name="文本框 4"/>
          <p:cNvSpPr txBox="1"/>
          <p:nvPr/>
        </p:nvSpPr>
        <p:spPr>
          <a:xfrm>
            <a:off x="658827" y="3609488"/>
            <a:ext cx="7982903"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a:latin typeface="Arial" panose="020B0604020202020204"/>
                <a:ea typeface="宋体" panose="02010600030101010101" pitchFamily="2" charset="-122"/>
                <a:cs typeface="Arial" panose="020B0604020202020204"/>
              </a:rPr>
              <a:t>MODULE：模块名。</a:t>
            </a:r>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EXTENDS：引入标准模块。</a:t>
            </a:r>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CONSTANTS：定义 </a:t>
            </a:r>
            <a:r>
              <a:rPr lang="en-US" altLang="zh-CN">
                <a:latin typeface="Arial" panose="020B0604020202020204"/>
                <a:ea typeface="宋体" panose="02010600030101010101" pitchFamily="2" charset="-122"/>
                <a:cs typeface="Arial" panose="020B0604020202020204"/>
              </a:rPr>
              <a:t>Missionaries </a:t>
            </a:r>
            <a:r>
              <a:rPr lang="zh-CN" altLang="en-US">
                <a:latin typeface="Arial" panose="020B0604020202020204"/>
                <a:ea typeface="宋体" panose="02010600030101010101" pitchFamily="2" charset="-122"/>
                <a:cs typeface="Arial" panose="020B0604020202020204"/>
              </a:rPr>
              <a:t>和 </a:t>
            </a:r>
            <a:r>
              <a:rPr lang="en-US" altLang="zh-CN">
                <a:latin typeface="Arial" panose="020B0604020202020204"/>
                <a:ea typeface="宋体" panose="02010600030101010101" pitchFamily="2" charset="-122"/>
                <a:cs typeface="Arial" panose="020B0604020202020204"/>
              </a:rPr>
              <a:t>Cannibals </a:t>
            </a:r>
            <a:r>
              <a:rPr lang="zh-CN" altLang="en-US">
                <a:latin typeface="Arial" panose="020B0604020202020204"/>
                <a:ea typeface="宋体" panose="02010600030101010101" pitchFamily="2" charset="-122"/>
                <a:cs typeface="Arial" panose="020B0604020202020204"/>
              </a:rPr>
              <a:t>两个常量集合（将在 </a:t>
            </a:r>
            <a:r>
              <a:rPr lang="en-US" altLang="zh-CN">
                <a:latin typeface="Arial" panose="020B0604020202020204"/>
                <a:ea typeface="宋体" panose="02010600030101010101" pitchFamily="2" charset="-122"/>
                <a:cs typeface="Arial" panose="020B0604020202020204"/>
              </a:rPr>
              <a:t>TLC </a:t>
            </a:r>
            <a:r>
              <a:rPr lang="zh-CN" altLang="en-US">
                <a:latin typeface="Arial" panose="020B0604020202020204"/>
                <a:ea typeface="宋体" panose="02010600030101010101" pitchFamily="2" charset="-122"/>
                <a:cs typeface="Arial" panose="020B0604020202020204"/>
              </a:rPr>
              <a:t>配置中具体赋值）。</a:t>
            </a:r>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ASSUME：假设</a:t>
            </a:r>
            <a:r>
              <a:rPr lang="zh-CN">
                <a:latin typeface="Arial" panose="020B0604020202020204"/>
                <a:ea typeface="宋体" panose="02010600030101010101" pitchFamily="2" charset="-122"/>
                <a:cs typeface="Arial" panose="020B0604020202020204"/>
              </a:rPr>
              <a:t>传教士集合与食人族集合互不重叠（每个个体要么是传教士要么是食人族）</a:t>
            </a:r>
            <a:r>
              <a:rPr lang="zh-CN" altLang="en-US">
                <a:latin typeface="Arial" panose="020B0604020202020204"/>
                <a:ea typeface="宋体" panose="02010600030101010101" pitchFamily="2" charset="-122"/>
                <a:cs typeface="Arial" panose="020B0604020202020204"/>
              </a:rPr>
              <a:t>。</a:t>
            </a:r>
            <a:endParaRPr lang="zh-CN">
              <a:latin typeface="Arial" panose="020B0604020202020204"/>
              <a:ea typeface="宋体" panose="02010600030101010101" pitchFamily="2" charset="-122"/>
              <a:cs typeface="Arial" panose="020B0604020202020204"/>
            </a:endParaRPr>
          </a:p>
          <a:p>
            <a:r>
              <a:rPr lang="en-US" altLang="zh-CN" err="1">
                <a:latin typeface="Arial" panose="020B0604020202020204"/>
                <a:ea typeface="宋体" panose="02010600030101010101" pitchFamily="2" charset="-122"/>
                <a:cs typeface="Arial" panose="020B0604020202020204"/>
              </a:rPr>
              <a:t>VARIABLES：状态变量</a:t>
            </a:r>
            <a:r>
              <a:rPr lang="en-US" altLang="zh-CN">
                <a:latin typeface="Arial" panose="020B0604020202020204"/>
                <a:ea typeface="宋体" panose="02010600030101010101" pitchFamily="2" charset="-122"/>
                <a:cs typeface="Arial" panose="020B0604020202020204"/>
              </a:rPr>
              <a:t>。</a:t>
            </a:r>
            <a:endParaRPr lang="en-US" altLang="zh-CN">
              <a:latin typeface="Arial" panose="020B0604020202020204"/>
              <a:ea typeface="宋体" panose="02010600030101010101" pitchFamily="2" charset="-122"/>
              <a:cs typeface="Arial" panose="020B0604020202020204"/>
            </a:endParaRPr>
          </a:p>
          <a:p>
            <a:r>
              <a:rPr lang="en-US" altLang="zh-CN" err="1">
                <a:latin typeface="Arial" panose="020B0604020202020204"/>
                <a:ea typeface="宋体" panose="02010600030101010101" pitchFamily="2" charset="-122"/>
                <a:cs typeface="Arial" panose="020B0604020202020204"/>
              </a:rPr>
              <a:t>AllPersons</a:t>
            </a:r>
            <a:r>
              <a:rPr lang="en-US" altLang="zh-CN">
                <a:latin typeface="Arial" panose="020B0604020202020204"/>
                <a:ea typeface="宋体" panose="02010600030101010101" pitchFamily="2" charset="-122"/>
                <a:cs typeface="Arial" panose="020B0604020202020204"/>
              </a:rPr>
              <a:t>：</a:t>
            </a:r>
            <a:r>
              <a:rPr lang="zh-CN" altLang="zh-CN">
                <a:latin typeface="Arial" panose="020B0604020202020204"/>
                <a:ea typeface="宋体" panose="02010600030101010101" pitchFamily="2" charset="-122"/>
                <a:cs typeface="Arial" panose="020B0604020202020204"/>
              </a:rPr>
              <a:t>定义 </a:t>
            </a:r>
            <a:r>
              <a:rPr lang="en-US">
                <a:latin typeface="Arial" panose="020B0604020202020204"/>
                <a:ea typeface="宋体" panose="02010600030101010101" pitchFamily="2" charset="-122"/>
                <a:cs typeface="Arial" panose="020B0604020202020204"/>
              </a:rPr>
              <a:t>Missionaries </a:t>
            </a:r>
            <a:r>
              <a:rPr lang="zh-CN" altLang="en-US">
                <a:latin typeface="Arial" panose="020B0604020202020204"/>
                <a:ea typeface="宋体" panose="02010600030101010101" pitchFamily="2" charset="-122"/>
                <a:cs typeface="Arial" panose="020B0604020202020204"/>
              </a:rPr>
              <a:t>和 </a:t>
            </a:r>
            <a:r>
              <a:rPr lang="en-US">
                <a:latin typeface="Arial" panose="020B0604020202020204"/>
                <a:ea typeface="宋体" panose="02010600030101010101" pitchFamily="2" charset="-122"/>
                <a:cs typeface="Arial" panose="020B0604020202020204"/>
              </a:rPr>
              <a:t>Cannibals</a:t>
            </a:r>
            <a:r>
              <a:rPr lang="en-US" altLang="zh-CN">
                <a:latin typeface="Arial" panose="020B0604020202020204"/>
                <a:ea typeface="宋体" panose="02010600030101010101" pitchFamily="2" charset="-122"/>
                <a:cs typeface="Arial" panose="020B0604020202020204"/>
              </a:rPr>
              <a:t> </a:t>
            </a:r>
            <a:r>
              <a:rPr lang="zh-CN" altLang="en-US">
                <a:latin typeface="Arial" panose="020B0604020202020204"/>
                <a:ea typeface="宋体" panose="02010600030101010101" pitchFamily="2" charset="-122"/>
                <a:cs typeface="Arial" panose="020B0604020202020204"/>
              </a:rPr>
              <a:t>的并集，表示所有人的集合。</a:t>
            </a:r>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Banks：定义“岸”集合，东岸E / 西岸W。</a:t>
            </a:r>
            <a:endParaRPr lang="zh-CN" altLang="en-US">
              <a:latin typeface="Arial" panose="020B0604020202020204"/>
              <a:ea typeface="宋体" panose="02010600030101010101" pitchFamily="2" charset="-122"/>
              <a:cs typeface="Arial" panose="020B0604020202020204"/>
            </a:endParaRPr>
          </a:p>
        </p:txBody>
      </p:sp>
      <p:pic>
        <p:nvPicPr>
          <p:cNvPr id="6" name="图片 5" descr="图形用户界面, 文本&#10;&#10;AI 生成的内容可能不正确。"/>
          <p:cNvPicPr>
            <a:picLocks noChangeAspect="1"/>
          </p:cNvPicPr>
          <p:nvPr/>
        </p:nvPicPr>
        <p:blipFill>
          <a:blip r:embed="rId2"/>
          <a:stretch>
            <a:fillRect/>
          </a:stretch>
        </p:blipFill>
        <p:spPr>
          <a:xfrm>
            <a:off x="744279" y="1021670"/>
            <a:ext cx="7814931" cy="241052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四、案例</a:t>
            </a:r>
            <a:endParaRPr lang="zh-CN" altLang="en-US" sz="2400">
              <a:solidFill>
                <a:srgbClr val="FFFFFF"/>
              </a:solidFill>
            </a:endParaRPr>
          </a:p>
        </p:txBody>
      </p:sp>
      <p:pic>
        <p:nvPicPr>
          <p:cNvPr id="2" name="图片 1" descr="图形用户界面, 文本, 应用程序&#10;&#10;AI 生成的内容可能不正确。"/>
          <p:cNvPicPr>
            <a:picLocks noChangeAspect="1"/>
          </p:cNvPicPr>
          <p:nvPr/>
        </p:nvPicPr>
        <p:blipFill>
          <a:blip r:embed="rId2"/>
          <a:stretch>
            <a:fillRect/>
          </a:stretch>
        </p:blipFill>
        <p:spPr>
          <a:xfrm>
            <a:off x="803349" y="1498493"/>
            <a:ext cx="5269024" cy="2396085"/>
          </a:xfrm>
          <a:prstGeom prst="rect">
            <a:avLst/>
          </a:prstGeom>
        </p:spPr>
      </p:pic>
      <p:sp>
        <p:nvSpPr>
          <p:cNvPr id="5" name="文本框 4"/>
          <p:cNvSpPr txBox="1"/>
          <p:nvPr/>
        </p:nvSpPr>
        <p:spPr>
          <a:xfrm>
            <a:off x="552127" y="4223288"/>
            <a:ext cx="761354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zh-CN" altLang="en-US">
                <a:latin typeface="Arial" panose="020B0604020202020204"/>
                <a:ea typeface="宋体" panose="02010600030101010101" pitchFamily="2" charset="-122"/>
                <a:cs typeface="Arial" panose="020B0604020202020204"/>
              </a:rPr>
              <a:t>TypeOK：类型约束，确保变量取合法类型：船在两岸之一，</a:t>
            </a:r>
            <a:endParaRPr lang="zh-CN"/>
          </a:p>
          <a:p>
            <a:r>
              <a:rPr lang="zh-CN" altLang="en-US">
                <a:latin typeface="Arial" panose="020B0604020202020204"/>
                <a:ea typeface="宋体" panose="02010600030101010101" pitchFamily="2" charset="-122"/>
                <a:cs typeface="Arial" panose="020B0604020202020204"/>
              </a:rPr>
              <a:t>且 </a:t>
            </a:r>
            <a:r>
              <a:rPr lang="en-US" altLang="zh-CN" err="1">
                <a:latin typeface="Arial" panose="020B0604020202020204"/>
                <a:ea typeface="宋体" panose="02010600030101010101" pitchFamily="2" charset="-122"/>
                <a:cs typeface="Arial" panose="020B0604020202020204"/>
              </a:rPr>
              <a:t>who_is_on_bank</a:t>
            </a:r>
            <a:r>
              <a:rPr lang="zh-CN" altLang="en-US">
                <a:latin typeface="Arial" panose="020B0604020202020204"/>
                <a:ea typeface="宋体" panose="02010600030101010101" pitchFamily="2" charset="-122"/>
                <a:cs typeface="Arial" panose="020B0604020202020204"/>
              </a:rPr>
              <a:t> 对每个岸给出一个属于 </a:t>
            </a:r>
            <a:r>
              <a:rPr lang="en-US" altLang="zh-CN" err="1">
                <a:latin typeface="Arial" panose="020B0604020202020204"/>
                <a:ea typeface="宋体" panose="02010600030101010101" pitchFamily="2" charset="-122"/>
                <a:cs typeface="Arial" panose="020B0604020202020204"/>
              </a:rPr>
              <a:t>AllPersons</a:t>
            </a:r>
            <a:r>
              <a:rPr lang="zh-CN" altLang="en-US">
                <a:latin typeface="Arial" panose="020B0604020202020204"/>
                <a:ea typeface="宋体" panose="02010600030101010101" pitchFamily="2" charset="-122"/>
                <a:cs typeface="Arial" panose="020B0604020202020204"/>
              </a:rPr>
              <a:t> 子集的集合。</a:t>
            </a:r>
            <a:endParaRPr lang="zh-CN"/>
          </a:p>
          <a:p>
            <a:r>
              <a:rPr lang="zh-CN" altLang="en-US">
                <a:latin typeface="Arial" panose="020B0604020202020204"/>
                <a:ea typeface="宋体" panose="02010600030101010101" pitchFamily="2" charset="-122"/>
                <a:cs typeface="Arial" panose="020B0604020202020204"/>
              </a:rPr>
              <a:t>Init：初始状态，船和所有人都在东岸。</a:t>
            </a:r>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IsSafe(S)：S表示的是某一岸上的人的集合，安全状态有两种：1. 都是食人族；2. 食人族数量少于传教士数量，满足其一即可。</a:t>
            </a:r>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OtherBank(b)：表示对岸。</a:t>
            </a:r>
            <a:endParaRPr lang="zh-CN" altLang="en-US">
              <a:latin typeface="Arial" panose="020B0604020202020204"/>
              <a:ea typeface="宋体" panose="02010600030101010101" pitchFamily="2" charset="-122"/>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四、案例</a:t>
            </a:r>
            <a:endParaRPr lang="zh-CN" altLang="en-US" sz="2400">
              <a:solidFill>
                <a:srgbClr val="FFFFFF"/>
              </a:solidFill>
            </a:endParaRPr>
          </a:p>
        </p:txBody>
      </p:sp>
      <p:pic>
        <p:nvPicPr>
          <p:cNvPr id="2" name="图片 1" descr="手机屏幕截图&#10;&#10;AI 生成的内容可能不正确。"/>
          <p:cNvPicPr>
            <a:picLocks noChangeAspect="1"/>
          </p:cNvPicPr>
          <p:nvPr/>
        </p:nvPicPr>
        <p:blipFill>
          <a:blip r:embed="rId2"/>
          <a:stretch>
            <a:fillRect/>
          </a:stretch>
        </p:blipFill>
        <p:spPr>
          <a:xfrm>
            <a:off x="1134140" y="1418028"/>
            <a:ext cx="6296838" cy="2515665"/>
          </a:xfrm>
          <a:prstGeom prst="rect">
            <a:avLst/>
          </a:prstGeom>
        </p:spPr>
      </p:pic>
      <p:sp>
        <p:nvSpPr>
          <p:cNvPr id="6" name="文本框 5"/>
          <p:cNvSpPr txBox="1"/>
          <p:nvPr/>
        </p:nvSpPr>
        <p:spPr>
          <a:xfrm>
            <a:off x="552127" y="4223288"/>
            <a:ext cx="789116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zh-CN" altLang="en-US">
                <a:latin typeface="Arial" panose="020B0604020202020204"/>
                <a:ea typeface="宋体" panose="02010600030101010101" pitchFamily="2" charset="-122"/>
                <a:cs typeface="Arial" panose="020B0604020202020204"/>
              </a:rPr>
              <a:t>Move(S, b)：移动操作定义，必须同时满足以下条件：1. 船上人数为1或2；2. 上船的人必须在船靠岸的一侧；3. </a:t>
            </a:r>
            <a:r>
              <a:rPr lang="en-US" altLang="zh-CN">
                <a:latin typeface="Arial" panose="020B0604020202020204"/>
                <a:ea typeface="宋体" panose="02010600030101010101" pitchFamily="2" charset="-122"/>
                <a:cs typeface="Arial" panose="020B0604020202020204"/>
              </a:rPr>
              <a:t>LET … IN …</a:t>
            </a:r>
            <a:r>
              <a:rPr lang="zh-CN" altLang="en-US">
                <a:latin typeface="Arial" panose="020B0604020202020204"/>
                <a:ea typeface="宋体" panose="02010600030101010101" pitchFamily="2" charset="-122"/>
                <a:cs typeface="Arial" panose="020B0604020202020204"/>
              </a:rPr>
              <a:t> 是局部定义，用来给中间结果起个名字，此处，</a:t>
            </a:r>
            <a:r>
              <a:rPr lang="en-US" altLang="zh-CN">
                <a:latin typeface="Arial" panose="020B0604020202020204"/>
                <a:ea typeface="宋体" panose="02010600030101010101" pitchFamily="2" charset="-122"/>
                <a:cs typeface="Arial" panose="020B0604020202020204"/>
              </a:rPr>
              <a:t>LET</a:t>
            </a:r>
            <a:r>
              <a:rPr lang="zh-CN" altLang="en-US">
                <a:latin typeface="Arial" panose="020B0604020202020204"/>
                <a:ea typeface="宋体" panose="02010600030101010101" pitchFamily="2" charset="-122"/>
                <a:cs typeface="Arial" panose="020B0604020202020204"/>
              </a:rPr>
              <a:t> 定义 </a:t>
            </a:r>
            <a:r>
              <a:rPr lang="en-US" altLang="zh-CN" err="1">
                <a:latin typeface="Arial" panose="020B0604020202020204"/>
                <a:ea typeface="宋体" panose="02010600030101010101" pitchFamily="2" charset="-122"/>
                <a:cs typeface="Arial" panose="020B0604020202020204"/>
              </a:rPr>
              <a:t>newThisBank</a:t>
            </a:r>
            <a:r>
              <a:rPr lang="zh-CN" altLang="en-US">
                <a:latin typeface="Arial" panose="020B0604020202020204"/>
                <a:ea typeface="宋体" panose="02010600030101010101" pitchFamily="2" charset="-122"/>
                <a:cs typeface="Arial" panose="020B0604020202020204"/>
              </a:rPr>
              <a:t> 和 </a:t>
            </a:r>
            <a:r>
              <a:rPr lang="en-US" altLang="zh-CN" err="1">
                <a:latin typeface="Arial" panose="020B0604020202020204"/>
                <a:ea typeface="宋体" panose="02010600030101010101" pitchFamily="2" charset="-122"/>
                <a:cs typeface="Arial" panose="020B0604020202020204"/>
              </a:rPr>
              <a:t>newOtherBank</a:t>
            </a:r>
            <a:r>
              <a:rPr lang="zh-CN" altLang="en-US">
                <a:latin typeface="Arial" panose="020B0604020202020204"/>
                <a:ea typeface="宋体" panose="02010600030101010101" pitchFamily="2" charset="-122"/>
                <a:cs typeface="Arial" panose="020B0604020202020204"/>
              </a:rPr>
              <a:t> 用来表示移动 </a:t>
            </a:r>
            <a:r>
              <a:rPr lang="en-US" altLang="zh-CN">
                <a:latin typeface="Arial" panose="020B0604020202020204"/>
                <a:ea typeface="宋体" panose="02010600030101010101" pitchFamily="2" charset="-122"/>
                <a:cs typeface="Arial" panose="020B0604020202020204"/>
              </a:rPr>
              <a:t>S </a:t>
            </a:r>
            <a:r>
              <a:rPr lang="zh-CN" altLang="en-US">
                <a:latin typeface="Arial" panose="020B0604020202020204"/>
                <a:ea typeface="宋体" panose="02010600030101010101" pitchFamily="2" charset="-122"/>
                <a:cs typeface="Arial" panose="020B0604020202020204"/>
              </a:rPr>
              <a:t>后两岸的新状态，而 </a:t>
            </a:r>
            <a:r>
              <a:rPr lang="en-US" altLang="zh-CN">
                <a:latin typeface="Arial" panose="020B0604020202020204"/>
                <a:ea typeface="宋体" panose="02010600030101010101" pitchFamily="2" charset="-122"/>
                <a:cs typeface="Arial" panose="020B0604020202020204"/>
              </a:rPr>
              <a:t>IN</a:t>
            </a:r>
            <a:r>
              <a:rPr lang="zh-CN" altLang="en-US">
                <a:latin typeface="Arial" panose="020B0604020202020204"/>
                <a:ea typeface="宋体" panose="02010600030101010101" pitchFamily="2" charset="-122"/>
                <a:cs typeface="Arial" panose="020B0604020202020204"/>
              </a:rPr>
              <a:t> 后的条件则依次检查两岸依然安全，并更新船的位置与两岸人员分布，确保整个移动合法。</a:t>
            </a:r>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Next：描述系统一次合法状态转移的所有可能方式，即从当前状态选择一种符合规则的下一步并执行。</a:t>
            </a:r>
            <a:endParaRPr lang="zh-CN" altLang="en-US">
              <a:latin typeface="Arial" panose="020B0604020202020204"/>
              <a:ea typeface="宋体" panose="02010600030101010101" pitchFamily="2" charset="-122"/>
              <a:cs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形用户界面&#10;&#10;AI 生成的内容可能不正确。"/>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四、案例</a:t>
            </a:r>
            <a:endParaRPr lang="zh-CN" altLang="en-US" sz="2400">
              <a:solidFill>
                <a:srgbClr val="FFFFFF"/>
              </a:solidFill>
            </a:endParaRPr>
          </a:p>
        </p:txBody>
      </p:sp>
      <p:pic>
        <p:nvPicPr>
          <p:cNvPr id="2" name="图片 1" descr="文本, 信件&#10;&#10;AI 生成的内容可能不正确。"/>
          <p:cNvPicPr>
            <a:picLocks noChangeAspect="1"/>
          </p:cNvPicPr>
          <p:nvPr/>
        </p:nvPicPr>
        <p:blipFill>
          <a:blip r:embed="rId2"/>
          <a:stretch>
            <a:fillRect/>
          </a:stretch>
        </p:blipFill>
        <p:spPr>
          <a:xfrm>
            <a:off x="1612605" y="1024267"/>
            <a:ext cx="5918791" cy="2913329"/>
          </a:xfrm>
          <a:prstGeom prst="rect">
            <a:avLst/>
          </a:prstGeom>
        </p:spPr>
      </p:pic>
      <p:sp>
        <p:nvSpPr>
          <p:cNvPr id="5" name="文本框 4"/>
          <p:cNvSpPr txBox="1"/>
          <p:nvPr/>
        </p:nvSpPr>
        <p:spPr>
          <a:xfrm>
            <a:off x="712016" y="3944908"/>
            <a:ext cx="819452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ltLang="zh-CN">
                <a:latin typeface="Arial" panose="020B0604020202020204"/>
                <a:ea typeface="宋体" panose="02010600030101010101" pitchFamily="2" charset="-122"/>
                <a:cs typeface="Arial" panose="020B0604020202020204"/>
              </a:rPr>
              <a:t>vars：</a:t>
            </a:r>
            <a:r>
              <a:rPr lang="zh-CN" altLang="en-US">
                <a:latin typeface="Arial" panose="020B0604020202020204"/>
                <a:ea typeface="宋体" panose="02010600030101010101" pitchFamily="2" charset="-122"/>
                <a:cs typeface="Arial" panose="020B0604020202020204"/>
              </a:rPr>
              <a:t>把状态变量打包。</a:t>
            </a:r>
            <a:endParaRPr lang="zh-CN" altLang="en-US">
              <a:latin typeface="Arial" panose="020B0604020202020204"/>
              <a:ea typeface="宋体" panose="02010600030101010101" pitchFamily="2" charset="-122"/>
              <a:cs typeface="Arial" panose="020B0604020202020204"/>
            </a:endParaRPr>
          </a:p>
          <a:p>
            <a:r>
              <a:rPr lang="en-US" altLang="zh-CN">
                <a:latin typeface="Arial" panose="020B0604020202020204"/>
                <a:ea typeface="宋体" panose="02010600030101010101" pitchFamily="2" charset="-122"/>
                <a:cs typeface="Arial" panose="020B0604020202020204"/>
              </a:rPr>
              <a:t>Spec：</a:t>
            </a:r>
            <a:r>
              <a:rPr lang="zh-CN" altLang="en-US">
                <a:latin typeface="Arial" panose="020B0604020202020204"/>
                <a:ea typeface="宋体" panose="02010600030101010101" pitchFamily="2" charset="-122"/>
                <a:cs typeface="Arial" panose="020B0604020202020204"/>
              </a:rPr>
              <a:t>表示规范：从 </a:t>
            </a:r>
            <a:r>
              <a:rPr lang="en-US" altLang="zh-CN">
                <a:latin typeface="Arial" panose="020B0604020202020204"/>
                <a:ea typeface="宋体" panose="02010600030101010101" pitchFamily="2" charset="-122"/>
                <a:cs typeface="Arial" panose="020B0604020202020204"/>
              </a:rPr>
              <a:t>Init</a:t>
            </a:r>
            <a:r>
              <a:rPr lang="zh-CN" altLang="en-US">
                <a:latin typeface="Arial" panose="020B0604020202020204"/>
                <a:ea typeface="宋体" panose="02010600030101010101" pitchFamily="2" charset="-122"/>
                <a:cs typeface="Arial" panose="020B0604020202020204"/>
              </a:rPr>
              <a:t> 开始执行，</a:t>
            </a:r>
            <a:r>
              <a:rPr lang="en-US" altLang="zh-CN">
                <a:latin typeface="Arial" panose="020B0604020202020204"/>
                <a:ea typeface="宋体" panose="02010600030101010101" pitchFamily="2" charset="-122"/>
                <a:cs typeface="Arial" panose="020B0604020202020204"/>
              </a:rPr>
              <a:t>[] [Next]_vars</a:t>
            </a:r>
            <a:r>
              <a:rPr lang="zh-CN" altLang="en-US">
                <a:latin typeface="Arial" panose="020B0604020202020204"/>
                <a:ea typeface="宋体" panose="02010600030101010101" pitchFamily="2" charset="-122"/>
                <a:cs typeface="Arial" panose="020B0604020202020204"/>
              </a:rPr>
              <a:t> 是 </a:t>
            </a:r>
            <a:r>
              <a:rPr lang="en-US" altLang="zh-CN">
                <a:latin typeface="Arial" panose="020B0604020202020204"/>
                <a:ea typeface="宋体" panose="02010600030101010101" pitchFamily="2" charset="-122"/>
                <a:cs typeface="Arial" panose="020B0604020202020204"/>
              </a:rPr>
              <a:t>TLA </a:t>
            </a:r>
            <a:r>
              <a:rPr lang="zh-CN" altLang="en-US">
                <a:latin typeface="Arial" panose="020B0604020202020204"/>
                <a:ea typeface="宋体" panose="02010600030101010101" pitchFamily="2" charset="-122"/>
                <a:cs typeface="Arial" panose="020B0604020202020204"/>
              </a:rPr>
              <a:t>的行为框架：每一步要么按 </a:t>
            </a:r>
            <a:r>
              <a:rPr lang="en-US" altLang="zh-CN">
                <a:latin typeface="Arial" panose="020B0604020202020204"/>
                <a:ea typeface="宋体" panose="02010600030101010101" pitchFamily="2" charset="-122"/>
                <a:cs typeface="Arial" panose="020B0604020202020204"/>
              </a:rPr>
              <a:t>Next</a:t>
            </a:r>
            <a:r>
              <a:rPr lang="zh-CN" altLang="en-US">
                <a:latin typeface="Arial" panose="020B0604020202020204"/>
                <a:ea typeface="宋体" panose="02010600030101010101" pitchFamily="2" charset="-122"/>
                <a:cs typeface="Arial" panose="020B0604020202020204"/>
              </a:rPr>
              <a:t> 变化，要么允许对 </a:t>
            </a:r>
            <a:r>
              <a:rPr lang="en-US" altLang="zh-CN">
                <a:latin typeface="Arial" panose="020B0604020202020204"/>
                <a:ea typeface="宋体" panose="02010600030101010101" pitchFamily="2" charset="-122"/>
                <a:cs typeface="Arial" panose="020B0604020202020204"/>
              </a:rPr>
              <a:t>vars</a:t>
            </a:r>
            <a:r>
              <a:rPr lang="zh-CN" altLang="en-US">
                <a:latin typeface="Arial" panose="020B0604020202020204"/>
                <a:ea typeface="宋体" panose="02010600030101010101" pitchFamily="2" charset="-122"/>
                <a:cs typeface="Arial" panose="020B0604020202020204"/>
              </a:rPr>
              <a:t> 的停顿。</a:t>
            </a:r>
            <a:endParaRPr lang="zh-CN" altLang="en-US">
              <a:latin typeface="Arial" panose="020B0604020202020204"/>
              <a:ea typeface="宋体" panose="02010600030101010101" pitchFamily="2" charset="-122"/>
              <a:cs typeface="Arial" panose="020B0604020202020204"/>
            </a:endParaRPr>
          </a:p>
          <a:p>
            <a:r>
              <a:rPr lang="en-US" altLang="zh-CN" err="1">
                <a:latin typeface="Arial" panose="020B0604020202020204"/>
                <a:ea typeface="宋体" panose="02010600030101010101" pitchFamily="2" charset="-122"/>
                <a:cs typeface="Arial" panose="020B0604020202020204"/>
              </a:rPr>
              <a:t>BankSafe</a:t>
            </a:r>
            <a:r>
              <a:rPr lang="zh-CN" altLang="en-US">
                <a:latin typeface="Arial" panose="020B0604020202020204"/>
                <a:ea typeface="宋体" panose="02010600030101010101" pitchFamily="2" charset="-122"/>
                <a:cs typeface="Arial" panose="020B0604020202020204"/>
              </a:rPr>
              <a:t>：两个岸在任意时刻都必须满足安全性 </a:t>
            </a:r>
            <a:r>
              <a:rPr lang="en-US" altLang="zh-CN" err="1">
                <a:latin typeface="Arial" panose="020B0604020202020204"/>
                <a:ea typeface="宋体" panose="02010600030101010101" pitchFamily="2" charset="-122"/>
                <a:cs typeface="Arial" panose="020B0604020202020204"/>
              </a:rPr>
              <a:t>IsSafe</a:t>
            </a:r>
            <a:r>
              <a:rPr lang="zh-CN" altLang="en-US">
                <a:latin typeface="Arial" panose="020B0604020202020204"/>
                <a:ea typeface="宋体" panose="02010600030101010101" pitchFamily="2" charset="-122"/>
                <a:cs typeface="Arial" panose="020B0604020202020204"/>
              </a:rPr>
              <a:t>。</a:t>
            </a:r>
            <a:endParaRPr lang="zh-CN" altLang="en-US">
              <a:latin typeface="Arial" panose="020B0604020202020204"/>
              <a:ea typeface="宋体" panose="02010600030101010101" pitchFamily="2" charset="-122"/>
              <a:cs typeface="Arial" panose="020B0604020202020204"/>
            </a:endParaRPr>
          </a:p>
          <a:p>
            <a:r>
              <a:rPr lang="en-US" altLang="zh-CN">
                <a:latin typeface="Arial" panose="020B0604020202020204"/>
                <a:ea typeface="宋体" panose="02010600030101010101" pitchFamily="2" charset="-122"/>
                <a:cs typeface="Arial" panose="020B0604020202020204"/>
              </a:rPr>
              <a:t>Conservation</a:t>
            </a:r>
            <a:r>
              <a:rPr lang="zh-CN" altLang="en-US">
                <a:latin typeface="Arial" panose="020B0604020202020204"/>
                <a:ea typeface="宋体" panose="02010600030101010101" pitchFamily="2" charset="-122"/>
                <a:cs typeface="Arial" panose="020B0604020202020204"/>
              </a:rPr>
              <a:t>：两岸人员并集等于 </a:t>
            </a:r>
            <a:r>
              <a:rPr lang="en-US" altLang="zh-CN" err="1">
                <a:latin typeface="Arial" panose="020B0604020202020204"/>
                <a:ea typeface="宋体" panose="02010600030101010101" pitchFamily="2" charset="-122"/>
                <a:cs typeface="Arial" panose="020B0604020202020204"/>
              </a:rPr>
              <a:t>AllPersons，且</a:t>
            </a:r>
            <a:r>
              <a:rPr lang="zh-CN" altLang="en-US">
                <a:latin typeface="Arial" panose="020B0604020202020204"/>
                <a:ea typeface="宋体" panose="02010600030101010101" pitchFamily="2" charset="-122"/>
                <a:cs typeface="Arial" panose="020B0604020202020204"/>
              </a:rPr>
              <a:t>互不相交。</a:t>
            </a:r>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TypeInv：把类型约束、银行安全和守恒分别合并，作为要始终保持的性质。</a:t>
            </a:r>
            <a:endParaRPr lang="zh-CN" altLang="en-US">
              <a:latin typeface="Arial" panose="020B0604020202020204"/>
              <a:ea typeface="宋体" panose="02010600030101010101" pitchFamily="2" charset="-122"/>
              <a:cs typeface="Arial" panose="020B0604020202020204"/>
            </a:endParaRPr>
          </a:p>
          <a:p>
            <a:r>
              <a:rPr lang="en-US" altLang="zh-CN">
                <a:latin typeface="Arial" panose="020B0604020202020204"/>
                <a:ea typeface="宋体" panose="02010600030101010101" pitchFamily="2" charset="-122"/>
                <a:cs typeface="Arial" panose="020B0604020202020204"/>
              </a:rPr>
              <a:t>THEOREM</a:t>
            </a:r>
            <a:r>
              <a:rPr lang="zh-CN" altLang="en-US">
                <a:latin typeface="Arial" panose="020B0604020202020204"/>
                <a:ea typeface="宋体" panose="02010600030101010101" pitchFamily="2" charset="-122"/>
                <a:cs typeface="Arial" panose="020B0604020202020204"/>
              </a:rPr>
              <a:t> </a:t>
            </a:r>
            <a:r>
              <a:rPr lang="en-US" altLang="zh-CN" err="1">
                <a:latin typeface="Arial" panose="020B0604020202020204"/>
                <a:ea typeface="宋体" panose="02010600030101010101" pitchFamily="2" charset="-122"/>
                <a:cs typeface="Arial" panose="020B0604020202020204"/>
              </a:rPr>
              <a:t>TypeSafety</a:t>
            </a:r>
            <a:r>
              <a:rPr lang="zh-CN" altLang="en-US">
                <a:latin typeface="Arial" panose="020B0604020202020204"/>
                <a:ea typeface="宋体" panose="02010600030101010101" pitchFamily="2" charset="-122"/>
                <a:cs typeface="Arial" panose="020B0604020202020204"/>
              </a:rPr>
              <a:t>：在 </a:t>
            </a:r>
            <a:r>
              <a:rPr lang="en-US" altLang="zh-CN">
                <a:latin typeface="Arial" panose="020B0604020202020204"/>
                <a:ea typeface="宋体" panose="02010600030101010101" pitchFamily="2" charset="-122"/>
                <a:cs typeface="Arial" panose="020B0604020202020204"/>
              </a:rPr>
              <a:t>Spec</a:t>
            </a:r>
            <a:r>
              <a:rPr lang="zh-CN" altLang="en-US">
                <a:latin typeface="Arial" panose="020B0604020202020204"/>
                <a:ea typeface="宋体" panose="02010600030101010101" pitchFamily="2" charset="-122"/>
                <a:cs typeface="Arial" panose="020B0604020202020204"/>
              </a:rPr>
              <a:t>（系统行为）下，</a:t>
            </a:r>
            <a:r>
              <a:rPr lang="en-US" altLang="zh-CN" err="1">
                <a:latin typeface="Arial" panose="020B0604020202020204"/>
                <a:ea typeface="宋体" panose="02010600030101010101" pitchFamily="2" charset="-122"/>
                <a:cs typeface="Arial" panose="020B0604020202020204"/>
              </a:rPr>
              <a:t>TypeInv</a:t>
            </a:r>
            <a:r>
              <a:rPr lang="zh-CN" altLang="en-US">
                <a:latin typeface="Arial" panose="020B0604020202020204"/>
                <a:ea typeface="宋体" panose="02010600030101010101" pitchFamily="2" charset="-122"/>
                <a:cs typeface="Arial" panose="020B0604020202020204"/>
              </a:rPr>
              <a:t> 会一直成立（</a:t>
            </a:r>
            <a:r>
              <a:rPr lang="en-US" altLang="zh-CN">
                <a:latin typeface="Arial" panose="020B0604020202020204"/>
                <a:ea typeface="宋体" panose="02010600030101010101" pitchFamily="2" charset="-122"/>
                <a:cs typeface="Arial" panose="020B0604020202020204"/>
              </a:rPr>
              <a:t>[]</a:t>
            </a:r>
            <a:r>
              <a:rPr lang="en-US" altLang="zh-CN" err="1">
                <a:latin typeface="Arial" panose="020B0604020202020204"/>
                <a:ea typeface="宋体" panose="02010600030101010101" pitchFamily="2" charset="-122"/>
                <a:cs typeface="Arial" panose="020B0604020202020204"/>
              </a:rPr>
              <a:t>TypeInv</a:t>
            </a:r>
            <a:r>
              <a:rPr lang="zh-CN" altLang="en-US">
                <a:latin typeface="Arial" panose="020B0604020202020204"/>
                <a:ea typeface="宋体" panose="02010600030101010101" pitchFamily="2" charset="-122"/>
                <a:cs typeface="Arial" panose="020B0604020202020204"/>
              </a:rPr>
              <a:t> 表示一直成立的全局不变式）。</a:t>
            </a:r>
            <a:endParaRPr lang="zh-CN" altLang="en-US">
              <a:latin typeface="Arial" panose="020B0604020202020204"/>
              <a:ea typeface="宋体" panose="02010600030101010101" pitchFamily="2" charset="-122"/>
              <a:cs typeface="Arial" panose="020B0604020202020204"/>
            </a:endParaRPr>
          </a:p>
          <a:p>
            <a:r>
              <a:rPr lang="en-US" altLang="zh-CN">
                <a:latin typeface="Arial" panose="020B0604020202020204"/>
                <a:ea typeface="宋体" panose="02010600030101010101" pitchFamily="2" charset="-122"/>
                <a:cs typeface="Arial" panose="020B0604020202020204"/>
              </a:rPr>
              <a:t>Goal</a:t>
            </a:r>
            <a:r>
              <a:rPr lang="zh-CN" altLang="en-US">
                <a:latin typeface="Arial" panose="020B0604020202020204"/>
                <a:ea typeface="宋体" panose="02010600030101010101" pitchFamily="2" charset="-122"/>
                <a:cs typeface="Arial" panose="020B0604020202020204"/>
              </a:rPr>
              <a:t> ：目标态，东岸的人全部安全到达西岸。</a:t>
            </a:r>
            <a:endParaRPr lang="zh-CN" altLang="en-US">
              <a:latin typeface="Arial" panose="020B0604020202020204"/>
              <a:ea typeface="宋体" panose="02010600030101010101" pitchFamily="2" charset="-122"/>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pic>
        <p:nvPicPr>
          <p:cNvPr id="23" name="图片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01108"/>
            <a:ext cx="6012160" cy="4446769"/>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四、案例</a:t>
            </a:r>
            <a:endParaRPr lang="zh-CN" altLang="en-US" sz="2400">
              <a:solidFill>
                <a:srgbClr val="FFFFFF"/>
              </a:solidFill>
            </a:endParaRPr>
          </a:p>
        </p:txBody>
      </p:sp>
      <p:sp>
        <p:nvSpPr>
          <p:cNvPr id="8" name="内容占位符 2"/>
          <p:cNvSpPr>
            <a:spLocks noGrp="1"/>
          </p:cNvSpPr>
          <p:nvPr/>
        </p:nvSpPr>
        <p:spPr>
          <a:xfrm>
            <a:off x="5664" y="1048797"/>
            <a:ext cx="2630248" cy="35475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latin typeface="微软雅黑" panose="020B0503020204020204" pitchFamily="34" charset="-122"/>
                <a:ea typeface="微软雅黑" panose="020B0503020204020204" pitchFamily="34" charset="-122"/>
              </a:rPr>
              <a:t>对模型进行如下配置</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p:txBody>
      </p:sp>
      <p:sp>
        <p:nvSpPr>
          <p:cNvPr id="9" name="矩形 8"/>
          <p:cNvSpPr/>
          <p:nvPr/>
        </p:nvSpPr>
        <p:spPr>
          <a:xfrm>
            <a:off x="6372200" y="1196752"/>
            <a:ext cx="2630249" cy="1218853"/>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zh-CN" altLang="en-US" b="1" dirty="0"/>
              <a:t>告诉</a:t>
            </a:r>
            <a:r>
              <a:rPr lang="en-US" altLang="zh-CN" b="1" dirty="0"/>
              <a:t>TLC</a:t>
            </a:r>
            <a:r>
              <a:rPr lang="zh-CN" altLang="en-US" b="1" dirty="0"/>
              <a:t>模型检查器初始状态</a:t>
            </a:r>
            <a:r>
              <a:rPr lang="en-US" altLang="zh-CN" b="1" dirty="0"/>
              <a:t>Init</a:t>
            </a:r>
            <a:r>
              <a:rPr lang="zh-CN" altLang="en-US" b="1" dirty="0"/>
              <a:t>和下一个状态</a:t>
            </a:r>
            <a:r>
              <a:rPr lang="en-US" altLang="zh-CN" b="1" dirty="0"/>
              <a:t>Next</a:t>
            </a:r>
            <a:r>
              <a:rPr lang="zh-CN" altLang="en-US" b="1" dirty="0"/>
              <a:t>（从一个状态转移到下一个状态的规则）</a:t>
            </a:r>
            <a:endParaRPr lang="zh-CN" altLang="en-US" b="1" dirty="0"/>
          </a:p>
        </p:txBody>
      </p:sp>
      <p:sp>
        <p:nvSpPr>
          <p:cNvPr id="10" name="矩形 9"/>
          <p:cNvSpPr/>
          <p:nvPr/>
        </p:nvSpPr>
        <p:spPr>
          <a:xfrm>
            <a:off x="6372200" y="3212976"/>
            <a:ext cx="2139950" cy="1018541"/>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b="1"/>
              <a:t>检查死锁</a:t>
            </a:r>
            <a:endParaRPr lang="zh-CN" altLang="en-US" b="1"/>
          </a:p>
        </p:txBody>
      </p:sp>
      <p:sp>
        <p:nvSpPr>
          <p:cNvPr id="11" name="矩形 10"/>
          <p:cNvSpPr/>
          <p:nvPr/>
        </p:nvSpPr>
        <p:spPr>
          <a:xfrm>
            <a:off x="6372200" y="4924781"/>
            <a:ext cx="2139950" cy="101854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b="1"/>
              <a:t>检查不变量</a:t>
            </a:r>
            <a:endParaRPr lang="zh-CN" altLang="en-US" b="1"/>
          </a:p>
        </p:txBody>
      </p:sp>
      <p:cxnSp>
        <p:nvCxnSpPr>
          <p:cNvPr id="13" name="直接连接符 12"/>
          <p:cNvCxnSpPr>
            <a:endCxn id="9" idx="1"/>
          </p:cNvCxnSpPr>
          <p:nvPr/>
        </p:nvCxnSpPr>
        <p:spPr>
          <a:xfrm flipV="1">
            <a:off x="3347864" y="1806179"/>
            <a:ext cx="3024336" cy="922144"/>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接连接符 14"/>
          <p:cNvCxnSpPr>
            <a:endCxn id="10" idx="1"/>
          </p:cNvCxnSpPr>
          <p:nvPr/>
        </p:nvCxnSpPr>
        <p:spPr>
          <a:xfrm>
            <a:off x="631850" y="3660518"/>
            <a:ext cx="5740350" cy="61729"/>
          </a:xfrm>
          <a:prstGeom prst="line">
            <a:avLst/>
          </a:prstGeom>
        </p:spPr>
        <p:style>
          <a:lnRef idx="3">
            <a:schemeClr val="accent2"/>
          </a:lnRef>
          <a:fillRef idx="0">
            <a:schemeClr val="accent2"/>
          </a:fillRef>
          <a:effectRef idx="2">
            <a:schemeClr val="accent2"/>
          </a:effectRef>
          <a:fontRef idx="minor">
            <a:schemeClr val="tx1"/>
          </a:fontRef>
        </p:style>
      </p:cxnSp>
      <p:cxnSp>
        <p:nvCxnSpPr>
          <p:cNvPr id="18" name="直接连接符 17"/>
          <p:cNvCxnSpPr>
            <a:endCxn id="11" idx="1"/>
          </p:cNvCxnSpPr>
          <p:nvPr/>
        </p:nvCxnSpPr>
        <p:spPr>
          <a:xfrm>
            <a:off x="539552" y="4266280"/>
            <a:ext cx="5832648" cy="1167771"/>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四、案例</a:t>
            </a:r>
            <a:endParaRPr lang="zh-CN" altLang="en-US" sz="2400">
              <a:solidFill>
                <a:srgbClr val="FFFFFF"/>
              </a:solidFill>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87" y="1628800"/>
            <a:ext cx="6425821" cy="4608512"/>
          </a:xfrm>
          <a:prstGeom prst="rect">
            <a:avLst/>
          </a:prstGeom>
        </p:spPr>
      </p:pic>
      <p:sp>
        <p:nvSpPr>
          <p:cNvPr id="7" name="内容占位符 2"/>
          <p:cNvSpPr>
            <a:spLocks noGrp="1"/>
          </p:cNvSpPr>
          <p:nvPr/>
        </p:nvSpPr>
        <p:spPr>
          <a:xfrm>
            <a:off x="0" y="1268760"/>
            <a:ext cx="2881536" cy="519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latin typeface="微软雅黑" panose="020B0503020204020204" pitchFamily="34" charset="-122"/>
                <a:ea typeface="微软雅黑" panose="020B0503020204020204" pitchFamily="34" charset="-122"/>
              </a:rPr>
              <a:t>运行模型得到如下结果</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p:txBody>
      </p:sp>
      <p:sp>
        <p:nvSpPr>
          <p:cNvPr id="8" name="矩形 7"/>
          <p:cNvSpPr/>
          <p:nvPr/>
        </p:nvSpPr>
        <p:spPr>
          <a:xfrm>
            <a:off x="6516216" y="3433153"/>
            <a:ext cx="2479675" cy="103886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b="1" dirty="0"/>
              <a:t>出现错误并停止运行</a:t>
            </a:r>
            <a:endParaRPr lang="zh-CN" altLang="en-US" b="1" dirty="0"/>
          </a:p>
        </p:txBody>
      </p:sp>
      <p:cxnSp>
        <p:nvCxnSpPr>
          <p:cNvPr id="9" name="直接连接符 8"/>
          <p:cNvCxnSpPr>
            <a:endCxn id="8" idx="1"/>
          </p:cNvCxnSpPr>
          <p:nvPr/>
        </p:nvCxnSpPr>
        <p:spPr>
          <a:xfrm>
            <a:off x="467544" y="2492896"/>
            <a:ext cx="6048672" cy="1459687"/>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四、案例</a:t>
            </a:r>
            <a:endParaRPr lang="zh-CN" altLang="en-US" sz="2400">
              <a:solidFill>
                <a:srgbClr val="FFFFFF"/>
              </a:solidFill>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4784"/>
            <a:ext cx="5602269" cy="2349339"/>
          </a:xfrm>
          <a:prstGeom prst="rect">
            <a:avLst/>
          </a:prstGeom>
        </p:spPr>
      </p:pic>
      <p:sp>
        <p:nvSpPr>
          <p:cNvPr id="7" name="内容占位符 2"/>
          <p:cNvSpPr>
            <a:spLocks noGrp="1"/>
          </p:cNvSpPr>
          <p:nvPr/>
        </p:nvSpPr>
        <p:spPr>
          <a:xfrm>
            <a:off x="0" y="980728"/>
            <a:ext cx="3457600" cy="5914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latin typeface="微软雅黑" panose="020B0503020204020204" pitchFamily="34" charset="-122"/>
                <a:ea typeface="微软雅黑" panose="020B0503020204020204" pitchFamily="34" charset="-122"/>
              </a:rPr>
              <a:t>查看错误即可获得如下信息</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077072"/>
            <a:ext cx="5602269" cy="1899133"/>
          </a:xfrm>
          <a:prstGeom prst="rect">
            <a:avLst/>
          </a:prstGeom>
        </p:spPr>
      </p:pic>
      <p:sp>
        <p:nvSpPr>
          <p:cNvPr id="10" name="矩形 9"/>
          <p:cNvSpPr/>
          <p:nvPr/>
        </p:nvSpPr>
        <p:spPr>
          <a:xfrm>
            <a:off x="6002724" y="2276872"/>
            <a:ext cx="2757170" cy="203708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zh-CN" altLang="en-US" b="1" dirty="0"/>
              <a:t>与条件冲突，整个检验结束。同时我们也得到了整个状态转换流程</a:t>
            </a:r>
            <a:endParaRPr lang="zh-CN" altLang="en-US" b="1" dirty="0"/>
          </a:p>
        </p:txBody>
      </p:sp>
      <p:cxnSp>
        <p:nvCxnSpPr>
          <p:cNvPr id="11" name="直接连接符 10"/>
          <p:cNvCxnSpPr>
            <a:endCxn id="10" idx="1"/>
          </p:cNvCxnSpPr>
          <p:nvPr/>
        </p:nvCxnSpPr>
        <p:spPr>
          <a:xfrm flipV="1">
            <a:off x="3347864" y="3295412"/>
            <a:ext cx="2654860" cy="2437844"/>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五、总结</a:t>
            </a:r>
            <a:endParaRPr lang="zh-CN" altLang="en-US" sz="2400">
              <a:solidFill>
                <a:srgbClr val="FFFFFF"/>
              </a:solidFill>
            </a:endParaRPr>
          </a:p>
        </p:txBody>
      </p:sp>
      <p:sp>
        <p:nvSpPr>
          <p:cNvPr id="5" name="文本框 4"/>
          <p:cNvSpPr txBox="1"/>
          <p:nvPr/>
        </p:nvSpPr>
        <p:spPr>
          <a:xfrm>
            <a:off x="755576" y="1582340"/>
            <a:ext cx="8030863" cy="3970318"/>
          </a:xfrm>
          <a:prstGeom prst="rect">
            <a:avLst/>
          </a:prstGeom>
          <a:noFill/>
        </p:spPr>
        <p:txBody>
          <a:bodyPr wrap="square" lIns="91440" tIns="45720" rIns="91440" bIns="45720" anchor="t">
            <a:spAutoFit/>
          </a:bodyPr>
          <a:lstStyle/>
          <a:p>
            <a:pPr>
              <a:buNone/>
            </a:pPr>
            <a:r>
              <a:rPr lang="zh-CN" altLang="en-US">
                <a:latin typeface="Arial" panose="020B0604020202020204"/>
                <a:ea typeface="宋体" panose="02010600030101010101" pitchFamily="2" charset="-122"/>
                <a:cs typeface="Arial" panose="020B0604020202020204"/>
              </a:rPr>
              <a:t>学习 </a:t>
            </a:r>
            <a:r>
              <a:rPr lang="en-US" altLang="zh-CN">
                <a:latin typeface="Arial" panose="020B0604020202020204"/>
                <a:ea typeface="宋体" panose="02010600030101010101" pitchFamily="2" charset="-122"/>
                <a:cs typeface="Arial" panose="020B0604020202020204"/>
              </a:rPr>
              <a:t>TLA+ </a:t>
            </a:r>
            <a:r>
              <a:rPr lang="zh-CN" altLang="en-US">
                <a:latin typeface="Arial" panose="020B0604020202020204"/>
                <a:ea typeface="宋体" panose="02010600030101010101" pitchFamily="2" charset="-122"/>
                <a:cs typeface="Arial" panose="020B0604020202020204"/>
              </a:rPr>
              <a:t>的意义</a:t>
            </a:r>
            <a:r>
              <a:rPr lang="en-US" altLang="zh-CN">
                <a:latin typeface="Arial" panose="020B0604020202020204"/>
                <a:ea typeface="宋体" panose="02010600030101010101" pitchFamily="2" charset="-122"/>
                <a:cs typeface="Arial" panose="020B0604020202020204"/>
              </a:rPr>
              <a:t>:</a:t>
            </a:r>
            <a:endParaRPr lang="zh-CN" altLang="en-US">
              <a:latin typeface="Arial" panose="020B0604020202020204"/>
              <a:ea typeface="宋体" panose="02010600030101010101" pitchFamily="2" charset="-122"/>
              <a:cs typeface="Arial" panose="020B0604020202020204"/>
            </a:endParaRPr>
          </a:p>
          <a:p>
            <a:endParaRPr lang="en-US" altLang="zh-CN">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培养形式化思维</a:t>
            </a:r>
            <a:br>
              <a:rPr lang="zh-CN" altLang="en-US">
                <a:latin typeface="Arial" panose="020B0604020202020204"/>
                <a:ea typeface="宋体" panose="02010600030101010101" pitchFamily="2" charset="-122"/>
                <a:cs typeface="Arial" panose="020B0604020202020204"/>
              </a:rPr>
            </a:br>
            <a:r>
              <a:rPr lang="zh-CN" altLang="en-US">
                <a:latin typeface="Arial" panose="020B0604020202020204"/>
                <a:ea typeface="宋体" panose="02010600030101010101" pitchFamily="2" charset="-122"/>
                <a:cs typeface="Arial" panose="020B0604020202020204"/>
              </a:rPr>
              <a:t>通过逻辑与数学的语言描述系统，让我们以严谨的方式思考设计与验证。</a:t>
            </a:r>
            <a:endParaRPr lang="zh-CN" altLang="en-US">
              <a:latin typeface="Arial" panose="020B0604020202020204"/>
              <a:ea typeface="宋体" panose="02010600030101010101" pitchFamily="2" charset="-122"/>
              <a:cs typeface="Arial" panose="020B0604020202020204"/>
            </a:endParaRPr>
          </a:p>
          <a:p>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提升系统设计能力</a:t>
            </a:r>
            <a:br>
              <a:rPr lang="zh-CN" altLang="en-US">
                <a:latin typeface="Arial" panose="020B0604020202020204"/>
                <a:ea typeface="宋体" panose="02010600030101010101" pitchFamily="2" charset="-122"/>
                <a:cs typeface="Arial" panose="020B0604020202020204"/>
              </a:rPr>
            </a:br>
            <a:r>
              <a:rPr lang="en-US" altLang="zh-CN">
                <a:latin typeface="Arial" panose="020B0604020202020204"/>
                <a:ea typeface="宋体" panose="02010600030101010101" pitchFamily="2" charset="-122"/>
                <a:cs typeface="Arial" panose="020B0604020202020204"/>
              </a:rPr>
              <a:t>TLA+ </a:t>
            </a:r>
            <a:r>
              <a:rPr lang="zh-CN" altLang="en-US">
                <a:latin typeface="Arial" panose="020B0604020202020204"/>
                <a:ea typeface="宋体" panose="02010600030101010101" pitchFamily="2" charset="-122"/>
                <a:cs typeface="Arial" panose="020B0604020202020204"/>
              </a:rPr>
              <a:t>能帮助开发者在实现前发现设计漏洞，避免并发与一致性错误。</a:t>
            </a:r>
            <a:endParaRPr lang="zh-CN" altLang="en-US">
              <a:latin typeface="Arial" panose="020B0604020202020204"/>
              <a:ea typeface="宋体" panose="02010600030101010101" pitchFamily="2" charset="-122"/>
              <a:cs typeface="Arial" panose="020B0604020202020204"/>
            </a:endParaRPr>
          </a:p>
          <a:p>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验证复杂系统的正确性</a:t>
            </a:r>
            <a:br>
              <a:rPr lang="zh-CN" altLang="en-US">
                <a:latin typeface="Arial" panose="020B0604020202020204"/>
                <a:ea typeface="宋体" panose="02010600030101010101" pitchFamily="2" charset="-122"/>
                <a:cs typeface="Arial" panose="020B0604020202020204"/>
              </a:rPr>
            </a:br>
            <a:r>
              <a:rPr lang="zh-CN" altLang="en-US">
                <a:latin typeface="Arial" panose="020B0604020202020204"/>
                <a:ea typeface="宋体" panose="02010600030101010101" pitchFamily="2" charset="-122"/>
                <a:cs typeface="Arial" panose="020B0604020202020204"/>
              </a:rPr>
              <a:t>借助模型检查工具（如 </a:t>
            </a:r>
            <a:r>
              <a:rPr lang="en-US" altLang="zh-CN">
                <a:latin typeface="Arial" panose="020B0604020202020204"/>
                <a:ea typeface="宋体" panose="02010600030101010101" pitchFamily="2" charset="-122"/>
                <a:cs typeface="Arial" panose="020B0604020202020204"/>
              </a:rPr>
              <a:t>TLC</a:t>
            </a:r>
            <a:r>
              <a:rPr lang="zh-CN" altLang="en-US">
                <a:latin typeface="Arial" panose="020B0604020202020204"/>
                <a:ea typeface="宋体" panose="02010600030101010101" pitchFamily="2" charset="-122"/>
                <a:cs typeface="Arial" panose="020B0604020202020204"/>
              </a:rPr>
              <a:t>），可在早期验证算法的安全性与活性性质，降低后期缺陷风险。</a:t>
            </a:r>
            <a:endParaRPr lang="zh-CN" altLang="en-US">
              <a:latin typeface="Arial" panose="020B0604020202020204"/>
              <a:ea typeface="宋体" panose="02010600030101010101" pitchFamily="2" charset="-122"/>
              <a:cs typeface="Arial" panose="020B0604020202020204"/>
            </a:endParaRPr>
          </a:p>
          <a:p>
            <a:pPr>
              <a:buFont typeface="Arial" panose="020B0604020202020204" pitchFamily="34" charset="0"/>
              <a:buChar char="•"/>
            </a:pPr>
            <a:endParaRPr lang="zh-CN" altLang="en-US">
              <a:latin typeface="Arial" panose="020B0604020202020204"/>
              <a:ea typeface="宋体" panose="02010600030101010101" pitchFamily="2" charset="-122"/>
              <a:cs typeface="Arial" panose="020B0604020202020204"/>
            </a:endParaRPr>
          </a:p>
          <a:p>
            <a:r>
              <a:rPr lang="zh-CN" altLang="en-US">
                <a:latin typeface="Arial" panose="020B0604020202020204"/>
                <a:ea typeface="宋体" panose="02010600030101010101" pitchFamily="2" charset="-122"/>
                <a:cs typeface="Arial" panose="020B0604020202020204"/>
              </a:rPr>
              <a:t>连接理论与工程实践</a:t>
            </a:r>
            <a:br>
              <a:rPr lang="zh-CN" altLang="en-US">
                <a:latin typeface="Arial" panose="020B0604020202020204"/>
                <a:ea typeface="宋体" panose="02010600030101010101" pitchFamily="2" charset="-122"/>
                <a:cs typeface="Arial" panose="020B0604020202020204"/>
              </a:rPr>
            </a:br>
            <a:r>
              <a:rPr lang="zh-CN" altLang="en-US">
                <a:latin typeface="Arial" panose="020B0604020202020204"/>
                <a:ea typeface="宋体" panose="02010600030101010101" pitchFamily="2" charset="-122"/>
                <a:cs typeface="Arial" panose="020B0604020202020204"/>
              </a:rPr>
              <a:t>在抽象的数学逻辑和现实的软件系统间建立桥梁。</a:t>
            </a:r>
            <a:endParaRPr lang="zh-CN" b="1">
              <a:latin typeface="Arial" panose="020B0604020202020204"/>
              <a:ea typeface="宋体" panose="02010600030101010101" pitchFamily="2" charset="-122"/>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9144000" cy="6858000"/>
          </a:xfrm>
          <a:prstGeom prst="rect">
            <a:avLst/>
          </a:prstGeom>
        </p:spPr>
      </p:pic>
      <p:sp>
        <p:nvSpPr>
          <p:cNvPr id="3" name="文本框 2"/>
          <p:cNvSpPr txBox="1"/>
          <p:nvPr/>
        </p:nvSpPr>
        <p:spPr>
          <a:xfrm>
            <a:off x="7352332" y="180263"/>
            <a:ext cx="15528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zh-CN" altLang="en-US" sz="2400">
                <a:solidFill>
                  <a:srgbClr val="FFFFFF"/>
                </a:solidFill>
                <a:latin typeface="Arial" panose="020B0604020202020204"/>
                <a:ea typeface="宋体" panose="02010600030101010101" pitchFamily="2" charset="-122"/>
                <a:cs typeface="Arial" panose="020B0604020202020204"/>
              </a:rPr>
              <a:t>四、案例</a:t>
            </a:r>
            <a:endParaRPr lang="zh-CN" altLang="en-US" sz="2400">
              <a:solidFill>
                <a:srgbClr val="FFFFFF"/>
              </a:solidFill>
            </a:endParaRPr>
          </a:p>
        </p:txBody>
      </p:sp>
      <p:sp>
        <p:nvSpPr>
          <p:cNvPr id="2" name="文本框 9"/>
          <p:cNvSpPr txBox="1"/>
          <p:nvPr/>
        </p:nvSpPr>
        <p:spPr>
          <a:xfrm>
            <a:off x="3069024" y="2896033"/>
            <a:ext cx="3005951" cy="1065933"/>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0">
              <a:lnSpc>
                <a:spcPct val="130000"/>
              </a:lnSpc>
              <a:spcBef>
                <a:spcPts val="0"/>
              </a:spcBef>
              <a:spcAft>
                <a:spcPts val="0"/>
              </a:spcAft>
              <a:buClrTx/>
              <a:buSzTx/>
              <a:buFontTx/>
              <a:buNone/>
              <a:defRPr/>
            </a:pPr>
            <a:r>
              <a:rPr kumimoji="0" lang="zh-CN" altLang="en-US" sz="5400" b="0" i="0" u="none" strike="noStrike" kern="1200" cap="none" spc="100" normalizeH="0" baseline="0" noProof="0" dirty="0">
                <a:ln>
                  <a:noFill/>
                </a:ln>
                <a:effectLst/>
                <a:uLnTx/>
                <a:uFillTx/>
                <a:latin typeface="Arial" panose="020B0604020202020204" pitchFamily="34" charset="0"/>
                <a:ea typeface="微软雅黑" panose="020B0503020204020204" pitchFamily="34" charset="-122"/>
                <a:cs typeface="+mn-ea"/>
                <a:sym typeface="Arial" panose="020B0604020202020204" pitchFamily="34" charset="0"/>
              </a:rPr>
              <a:t>感谢聆听</a:t>
            </a:r>
            <a:endParaRPr kumimoji="0" lang="zh-CN" altLang="en-US" sz="5400" b="0" i="0" u="none" strike="noStrike" kern="1200" cap="none" spc="100" normalizeH="0" baseline="0" noProof="0" dirty="0">
              <a:ln>
                <a:noFill/>
              </a:ln>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3833</Words>
  <Application>WPS 演示</Application>
  <PresentationFormat>全屏显示(4:3)</PresentationFormat>
  <Paragraphs>165</Paragraphs>
  <Slides>18</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宋体</vt:lpstr>
      <vt:lpstr>Wingdings</vt:lpstr>
      <vt:lpstr>Arial</vt:lpstr>
      <vt:lpstr>微软雅黑</vt:lpstr>
      <vt:lpstr>Courier New</vt:lpstr>
      <vt:lpstr>Consolas</vt:lpstr>
      <vt:lpstr>Arial Unicode MS</vt:lpstr>
      <vt:lpstr>等线</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WPS_1696302296</cp:lastModifiedBy>
  <cp:revision>6</cp:revision>
  <dcterms:created xsi:type="dcterms:W3CDTF">2025-07-23T00:59:00Z</dcterms:created>
  <dcterms:modified xsi:type="dcterms:W3CDTF">2025-11-13T12:24:07Z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755391AB84EB46BFA2E098758513150C_13</vt:lpwstr>
  </property>
</Properties>
</file>