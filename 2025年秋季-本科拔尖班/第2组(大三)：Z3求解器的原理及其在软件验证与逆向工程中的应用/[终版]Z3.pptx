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2" r:id="rId4"/>
    <p:sldId id="284" r:id="rId5"/>
    <p:sldId id="267" r:id="rId6"/>
    <p:sldId id="285" r:id="rId7"/>
    <p:sldId id="287" r:id="rId8"/>
    <p:sldId id="288" r:id="rId9"/>
    <p:sldId id="290" r:id="rId10"/>
    <p:sldId id="291" r:id="rId11"/>
    <p:sldId id="292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8" r:id="rId27"/>
    <p:sldId id="261" r:id="rId28"/>
    <p:sldId id="263" r:id="rId29"/>
    <p:sldId id="262" r:id="rId30"/>
    <p:sldId id="258" r:id="rId31"/>
    <p:sldId id="265" r:id="rId32"/>
    <p:sldId id="260" r:id="rId33"/>
    <p:sldId id="259" r:id="rId34"/>
    <p:sldId id="26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442016A-3663-4EB6-8D09-CD13AB6BDB03}" type="datetimeFigureOut">
              <a:rPr lang="zh-CN" altLang="en-US" smtClean="0"/>
              <a:pPr/>
              <a:t>2025/11/7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FC66C71-CCA9-48DB-AEBE-49EDF669794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969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66C71-CCA9-48DB-AEBE-49EDF669794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80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D8E49-E134-40BC-B40F-04B65A2C0EB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28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66C71-CCA9-48DB-AEBE-49EDF669794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964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FDDAB-776D-4EA0-8A50-493FE1DD663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094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B8E58-5BB7-3988-7B66-A9A171E95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F28CD9-0504-F597-B8E7-ECC9AD278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A0AD2C-2832-C24D-FF67-4261E077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CDF19-AA20-0C1B-BB4D-7AA9C726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AA1ADD-89B1-E741-0224-5DB4DA0D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63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B2DCD-6B37-8561-5327-E4161771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3E44B-9C3B-1705-2234-2AEE3DF95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0759E-9D3A-EA53-E130-ABD38EF7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132D1-82BD-53A8-7E08-00191755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E4A0D2-A030-45A9-E297-5ED4125A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4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E65F4-C558-6458-59E4-0EDCAD41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27A111-753E-3B4E-4AAA-3CD9E07C4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DB71AE-8A47-B420-2F1E-3E5E1714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4356E-C9B5-3ECF-A3DB-5E59E213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A16CDA-D841-9B09-4FE8-B71D08C6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76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7B7FB-FB37-8AF5-E98E-32918B92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E2B59E-AB11-178F-12B1-B89D7B9A3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4320A4-296F-B18D-C6B6-244857FBE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756E17-3D49-0EF0-7902-93D6B3F6C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9FE231-E5A9-371A-CDFB-1D33FBC9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43E00D-E03B-4746-9023-8AB6717B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92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4B823-4E60-705E-D0B2-BBD01FD6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0D10B1-3682-6114-A317-92889939D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7622F1-BC65-359E-3EC1-34DCBB6BB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B7F613-10FC-9640-AC8F-D1C4977FF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6CF5BA-BA4B-DA60-44E4-C9CF5CA74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B05D8E-36A3-F08F-7E69-FBE89B5F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0F2367-5BC9-54FD-F58F-E7F7E9436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A3F804-F2D2-AC69-665E-18C38559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28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BD952-1CA3-0F27-9806-E8641679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952CA3-CDC0-DBA9-E6E5-A26E43ED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491AB9-30E0-05F5-F622-6A089DF0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4CE489-EA2B-FA4A-2C1B-952971BD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3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CA2A68-88BD-F7BC-FD6A-A2729F83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27D869-3734-7F28-7A2B-4E45466B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958244-7D50-3205-C15E-2E10C94D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62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F0149-15BE-9175-2787-0C2439A9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BB60E2-0AFF-5935-DE89-8C8AC7596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9C2082-0D9B-3913-B2C3-18B8A9A4D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647E6B-0828-074C-B5C2-19E0B13E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24DF4B-03FE-6AD3-6A23-383A8DACC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F699C3-F0D0-FF9D-0128-864985D0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27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17DA7-575F-D597-3D62-8CB2911B5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E8DB70-2BF0-AC49-1D45-853C6C7B5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D19A23-BA33-1EF9-9247-CF8439DF8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3B20FD-EB6D-6962-9834-78C77258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D01150-16AA-4073-DF1E-C796CABA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D83EBE-758D-6683-BA0C-4EDD4513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65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8C8E6-239F-E8DD-9FB8-64759516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C2E655-0253-B74E-8B33-FC70FCEB2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A42AE-155C-23B6-42C7-99B904E9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0F455-D869-44B7-7EE4-334B3809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2C6F1-45CB-DE87-96B2-12AEC28D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67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B6251E-DB74-42AB-62D9-7F8BD090B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312D52-13D5-AD06-9F56-AC331020D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A3E51-6725-6BE1-47AF-846511AD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F20E-8B5D-4E7A-95FA-5956F779152E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FCAD10-9844-057A-289F-E2ADBC25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7AE27-7EA4-2116-4E33-24C8E2B2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0335-A9CC-4874-9C6F-EF2F5497F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177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CA14FC-1D2E-F001-6FF1-9F91F1C5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0838E8-8B95-5EF6-08E1-6EAF821C2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247FD9-F132-F3E0-81D4-0F62811FB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C56F20E-8B5D-4E7A-95FA-5956F779152E}" type="datetimeFigureOut">
              <a:rPr lang="zh-CN" altLang="en-US" smtClean="0"/>
              <a:pPr/>
              <a:t>2025/11/7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AD4B35-3C1B-18C0-C61A-86BB1FB64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1AEA3C-A990-9455-D5D0-2E40678D6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D2D0335-A9CC-4874-9C6F-EF2F5497FB1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013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689ED-9FBE-5BFB-FA39-A1BC9603AC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6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Z3-Solver</a:t>
            </a:r>
            <a:endParaRPr lang="zh-CN" alt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B1F699-E318-542A-05EB-2B812E9C2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3900" y="5578474"/>
            <a:ext cx="7477125" cy="908051"/>
          </a:xfrm>
        </p:spPr>
        <p:txBody>
          <a:bodyPr>
            <a:normAutofit fontScale="92500"/>
          </a:bodyPr>
          <a:lstStyle/>
          <a:p>
            <a:pPr algn="r"/>
            <a:r>
              <a:rPr lang="zh-CN" altLang="en-US" dirty="0"/>
              <a:t>本科</a:t>
            </a:r>
            <a:r>
              <a:rPr lang="en-US" altLang="zh-CN" dirty="0"/>
              <a:t>2023</a:t>
            </a:r>
            <a:r>
              <a:rPr lang="zh-CN" altLang="en-US" dirty="0"/>
              <a:t>级拔尖班</a:t>
            </a:r>
            <a:r>
              <a:rPr lang="en-US" altLang="zh-CN" dirty="0"/>
              <a:t>——</a:t>
            </a:r>
            <a:r>
              <a:rPr lang="zh-CN" altLang="en-US" dirty="0"/>
              <a:t>计算机数理逻辑课程报告</a:t>
            </a:r>
            <a:endParaRPr lang="en-US" altLang="zh-CN" dirty="0"/>
          </a:p>
          <a:p>
            <a:pPr algn="r"/>
            <a:r>
              <a:rPr lang="en-US" altLang="zh-CN" dirty="0"/>
              <a:t>{"</a:t>
            </a:r>
            <a:r>
              <a:rPr lang="zh-CN" altLang="en-US" dirty="0"/>
              <a:t>演讲</a:t>
            </a:r>
            <a:r>
              <a:rPr lang="en-US" altLang="zh-CN" dirty="0"/>
              <a:t>": ["</a:t>
            </a:r>
            <a:r>
              <a:rPr lang="zh-CN" altLang="en-US" dirty="0"/>
              <a:t>孙若时</a:t>
            </a:r>
            <a:r>
              <a:rPr lang="en-US" altLang="zh-CN" dirty="0"/>
              <a:t>", "</a:t>
            </a:r>
            <a:r>
              <a:rPr lang="zh-CN" altLang="en-US" dirty="0"/>
              <a:t>常瀚堃</a:t>
            </a:r>
            <a:r>
              <a:rPr lang="en-US" altLang="zh-CN" dirty="0"/>
              <a:t>"], "</a:t>
            </a:r>
            <a:r>
              <a:rPr lang="zh-CN" altLang="en-US" dirty="0"/>
              <a:t>组员</a:t>
            </a:r>
            <a:r>
              <a:rPr lang="en-US" altLang="zh-CN" dirty="0"/>
              <a:t>": ["</a:t>
            </a:r>
            <a:r>
              <a:rPr lang="zh-CN" altLang="en-US" dirty="0"/>
              <a:t>黄子曦</a:t>
            </a:r>
            <a:r>
              <a:rPr lang="en-US" altLang="zh-CN" dirty="0"/>
              <a:t>", "</a:t>
            </a:r>
            <a:r>
              <a:rPr lang="zh-CN" altLang="en-US" dirty="0"/>
              <a:t>田皓莘</a:t>
            </a:r>
            <a:r>
              <a:rPr lang="en-US" altLang="zh-CN" dirty="0"/>
              <a:t>"]}</a:t>
            </a:r>
          </a:p>
        </p:txBody>
      </p:sp>
    </p:spTree>
    <p:extLst>
      <p:ext uri="{BB962C8B-B14F-4D97-AF65-F5344CB8AC3E}">
        <p14:creationId xmlns:p14="http://schemas.microsoft.com/office/powerpoint/2010/main" val="305200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75315-96E5-CA09-182C-6AD0D500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A0C7D-534B-8420-C05B-01141AC7E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Z3 </a:t>
            </a:r>
            <a:r>
              <a:rPr lang="zh-CN" altLang="en-US" dirty="0">
                <a:solidFill>
                  <a:srgbClr val="FF0000"/>
                </a:solidFill>
              </a:rPr>
              <a:t>简介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Z3 </a:t>
            </a:r>
            <a:r>
              <a:rPr lang="zh-CN" altLang="en-US" dirty="0"/>
              <a:t>核心原理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在软件验证与逆向工程中的使用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在其他领域的应用</a:t>
            </a:r>
            <a:endParaRPr lang="en-US" altLang="zh-CN" dirty="0"/>
          </a:p>
          <a:p>
            <a:r>
              <a:rPr lang="zh-CN" altLang="en-US" dirty="0"/>
              <a:t>总结与思考</a:t>
            </a:r>
          </a:p>
        </p:txBody>
      </p:sp>
    </p:spTree>
    <p:extLst>
      <p:ext uri="{BB962C8B-B14F-4D97-AF65-F5344CB8AC3E}">
        <p14:creationId xmlns:p14="http://schemas.microsoft.com/office/powerpoint/2010/main" val="68915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3E711-3C1A-97BE-2773-406A5B39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33705-2579-8AE5-6F51-7BF1D4C7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Z3 </a:t>
            </a:r>
            <a:r>
              <a:rPr lang="zh-CN" altLang="en-US" dirty="0"/>
              <a:t>是什么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88C1D0D-2EAF-53D1-D27A-F8B9DFEA4EDB}"/>
              </a:ext>
            </a:extLst>
          </p:cNvPr>
          <p:cNvSpPr txBox="1">
            <a:spLocks/>
          </p:cNvSpPr>
          <p:nvPr/>
        </p:nvSpPr>
        <p:spPr>
          <a:xfrm>
            <a:off x="838200" y="1839956"/>
            <a:ext cx="10515600" cy="4346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Z3 </a:t>
            </a:r>
            <a:r>
              <a:rPr lang="zh-CN" altLang="en-US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是由微软研究院开发的高效 定理证明器 与 </a:t>
            </a:r>
            <a:r>
              <a:rPr lang="en-US" altLang="zh-CN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SMT</a:t>
            </a:r>
            <a:r>
              <a:rPr lang="zh-CN" altLang="en-US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（可满足性模理论）求解器，核心目标是解决自动化推理、程序验证与约束求解等复杂问题。</a:t>
            </a:r>
          </a:p>
          <a:p>
            <a:pPr marL="0" indent="0">
              <a:buNone/>
            </a:pPr>
            <a:endParaRPr lang="en-US" altLang="zh-CN" b="1" dirty="0">
              <a:solidFill>
                <a:srgbClr val="000000"/>
              </a:solidFill>
              <a:latin typeface="Inter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发展历程（关键节点）</a:t>
            </a:r>
          </a:p>
          <a:p>
            <a:pPr>
              <a:buFont typeface="+mj-lt"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2004 </a:t>
            </a:r>
            <a:r>
              <a:rPr lang="zh-CN" altLang="en-US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年：启动开发，聚焦符号执行与程序验证场景</a:t>
            </a:r>
          </a:p>
          <a:p>
            <a:pPr>
              <a:buFont typeface="+mj-lt"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2011 </a:t>
            </a:r>
            <a:r>
              <a:rPr lang="zh-CN" altLang="en-US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年：开源发布，提供 </a:t>
            </a:r>
            <a:r>
              <a:rPr lang="en-US" altLang="zh-CN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Python/C++ </a:t>
            </a:r>
            <a:r>
              <a:rPr lang="zh-CN" altLang="en-US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等多语言 </a:t>
            </a:r>
            <a:r>
              <a:rPr lang="en-US" altLang="zh-CN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API</a:t>
            </a:r>
          </a:p>
          <a:p>
            <a:pPr>
              <a:buFont typeface="+mj-lt"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2012 </a:t>
            </a:r>
            <a:r>
              <a:rPr lang="zh-CN" altLang="en-US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年后：持续优化，扩展浮点数算术、量化理论等功能</a:t>
            </a:r>
          </a:p>
          <a:p>
            <a:pPr>
              <a:buFont typeface="+mj-lt"/>
              <a:buAutoNum type="arabicPeriod"/>
            </a:pPr>
            <a:r>
              <a:rPr lang="en-US" altLang="zh-CN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2020 </a:t>
            </a:r>
            <a:r>
              <a:rPr lang="zh-CN" altLang="en-US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年后：跨领域普及，覆盖 </a:t>
            </a:r>
            <a:r>
              <a:rPr lang="en-US" altLang="zh-CN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rgbClr val="000000"/>
                </a:solidFill>
                <a:latin typeface="Inter"/>
                <a:ea typeface="微软雅黑" panose="020B0503020204020204" pitchFamily="34" charset="-122"/>
              </a:rPr>
              <a:t>、硬件设计、生物学等领域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491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 - The SMT solver Z3 Lecture 3, 2012 PowerPoint Presentation, free ...">
            <a:extLst>
              <a:ext uri="{FF2B5EF4-FFF2-40B4-BE49-F238E27FC236}">
                <a16:creationId xmlns:a16="http://schemas.microsoft.com/office/drawing/2014/main" id="{0BD4D669-CEA2-4644-A085-878D5D547F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8" b="1747"/>
          <a:stretch/>
        </p:blipFill>
        <p:spPr bwMode="auto">
          <a:xfrm>
            <a:off x="2473962" y="1246926"/>
            <a:ext cx="7081520" cy="451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AC9DCB4C-0C94-4CC0-A5C1-02603B16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92" y="241662"/>
            <a:ext cx="4445000" cy="72199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架构组成原理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5F0EE8-1F9F-493D-B94F-17F36F9F1D9E}"/>
              </a:ext>
            </a:extLst>
          </p:cNvPr>
          <p:cNvSpPr txBox="1"/>
          <p:nvPr/>
        </p:nvSpPr>
        <p:spPr>
          <a:xfrm>
            <a:off x="4282442" y="104989"/>
            <a:ext cx="3464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接口层</a:t>
            </a:r>
            <a:b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.NET / </a:t>
            </a:r>
            <a:r>
              <a:rPr lang="en-US" altLang="zh-CN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OCaml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 / Text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等绑定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仅负责把外部公式转成内部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AST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02BBBDFC-AD9F-4CA9-8A10-11ACC011C4CE}"/>
              </a:ext>
            </a:extLst>
          </p:cNvPr>
          <p:cNvSpPr/>
          <p:nvPr/>
        </p:nvSpPr>
        <p:spPr>
          <a:xfrm rot="1260338">
            <a:off x="4580935" y="944838"/>
            <a:ext cx="266609" cy="1310639"/>
          </a:xfrm>
          <a:prstGeom prst="up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流程图: 可选过程 18">
            <a:extLst>
              <a:ext uri="{FF2B5EF4-FFF2-40B4-BE49-F238E27FC236}">
                <a16:creationId xmlns:a16="http://schemas.microsoft.com/office/drawing/2014/main" id="{16CEF620-4AC5-4539-ADE7-FD9854432931}"/>
              </a:ext>
            </a:extLst>
          </p:cNvPr>
          <p:cNvSpPr/>
          <p:nvPr/>
        </p:nvSpPr>
        <p:spPr>
          <a:xfrm>
            <a:off x="2560320" y="2250206"/>
            <a:ext cx="4307840" cy="612648"/>
          </a:xfrm>
          <a:prstGeom prst="flowChartAlternateProcess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F33444-08AB-4981-9B4E-CBD2E8E8BEC5}"/>
              </a:ext>
            </a:extLst>
          </p:cNvPr>
          <p:cNvSpPr txBox="1"/>
          <p:nvPr/>
        </p:nvSpPr>
        <p:spPr>
          <a:xfrm>
            <a:off x="187962" y="1985691"/>
            <a:ext cx="17881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2.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归约层</a:t>
            </a:r>
            <a:b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Rewriting + Simplification——</a:t>
            </a:r>
            <a:r>
              <a:rPr lang="zh-CN" altLang="en-US" b="0" i="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常量折叠、代数化简，缩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小问题规模。</a:t>
            </a:r>
          </a:p>
        </p:txBody>
      </p:sp>
      <p:sp>
        <p:nvSpPr>
          <p:cNvPr id="23" name="流程图: 可选过程 22">
            <a:extLst>
              <a:ext uri="{FF2B5EF4-FFF2-40B4-BE49-F238E27FC236}">
                <a16:creationId xmlns:a16="http://schemas.microsoft.com/office/drawing/2014/main" id="{3ADDC092-FF6B-4D4E-98C2-158B8853995B}"/>
              </a:ext>
            </a:extLst>
          </p:cNvPr>
          <p:cNvSpPr/>
          <p:nvPr/>
        </p:nvSpPr>
        <p:spPr>
          <a:xfrm>
            <a:off x="4074160" y="2987040"/>
            <a:ext cx="2214880" cy="748284"/>
          </a:xfrm>
          <a:prstGeom prst="flowChartAlternateProcess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箭头: 上 23">
            <a:extLst>
              <a:ext uri="{FF2B5EF4-FFF2-40B4-BE49-F238E27FC236}">
                <a16:creationId xmlns:a16="http://schemas.microsoft.com/office/drawing/2014/main" id="{9F37FE41-ECF9-4657-BB2E-53D7E0E38445}"/>
              </a:ext>
            </a:extLst>
          </p:cNvPr>
          <p:cNvSpPr/>
          <p:nvPr/>
        </p:nvSpPr>
        <p:spPr>
          <a:xfrm rot="16635100">
            <a:off x="2849580" y="2234384"/>
            <a:ext cx="332247" cy="2091706"/>
          </a:xfrm>
          <a:prstGeom prst="up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32C8465-2243-4EBA-B81C-3A9C5FEFA9F5}"/>
              </a:ext>
            </a:extLst>
          </p:cNvPr>
          <p:cNvSpPr txBox="1"/>
          <p:nvPr/>
        </p:nvSpPr>
        <p:spPr>
          <a:xfrm>
            <a:off x="2909455" y="5903134"/>
            <a:ext cx="9181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3.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核心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SAT</a:t>
            </a:r>
            <a:b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CDCL(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Conflict-Driven Clause Learning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)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求解器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处理布尔抽象，决策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传播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冲突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回跳，主导搜索流程。</a:t>
            </a:r>
          </a:p>
        </p:txBody>
      </p:sp>
      <p:sp>
        <p:nvSpPr>
          <p:cNvPr id="27" name="流程图: 可选过程 26">
            <a:extLst>
              <a:ext uri="{FF2B5EF4-FFF2-40B4-BE49-F238E27FC236}">
                <a16:creationId xmlns:a16="http://schemas.microsoft.com/office/drawing/2014/main" id="{3DF1E1E8-07FB-41FA-9357-2300109CB637}"/>
              </a:ext>
            </a:extLst>
          </p:cNvPr>
          <p:cNvSpPr/>
          <p:nvPr/>
        </p:nvSpPr>
        <p:spPr>
          <a:xfrm>
            <a:off x="4074160" y="4750143"/>
            <a:ext cx="2214880" cy="748284"/>
          </a:xfrm>
          <a:prstGeom prst="flowChartAlternateProcess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箭头: 上 27">
            <a:extLst>
              <a:ext uri="{FF2B5EF4-FFF2-40B4-BE49-F238E27FC236}">
                <a16:creationId xmlns:a16="http://schemas.microsoft.com/office/drawing/2014/main" id="{35B833F5-6376-4D32-94DC-0A1EA68937FE}"/>
              </a:ext>
            </a:extLst>
          </p:cNvPr>
          <p:cNvSpPr/>
          <p:nvPr/>
        </p:nvSpPr>
        <p:spPr>
          <a:xfrm rot="10952950">
            <a:off x="5060407" y="5388214"/>
            <a:ext cx="242385" cy="738234"/>
          </a:xfrm>
          <a:prstGeom prst="up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D3E4DA-399A-42A8-BB35-2402853BD977}"/>
              </a:ext>
            </a:extLst>
          </p:cNvPr>
          <p:cNvSpPr txBox="1"/>
          <p:nvPr/>
        </p:nvSpPr>
        <p:spPr>
          <a:xfrm>
            <a:off x="9888337" y="2419474"/>
            <a:ext cx="228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4.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理论求解器</a:t>
            </a:r>
            <a:b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Arithmetic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／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Bit-Vectors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／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Arrays…——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接到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SAT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的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theory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 call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，判断当前理论约束是否可满足，回送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model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或冲突引理。</a:t>
            </a:r>
          </a:p>
        </p:txBody>
      </p:sp>
      <p:sp>
        <p:nvSpPr>
          <p:cNvPr id="31" name="流程图: 可选过程 30">
            <a:extLst>
              <a:ext uri="{FF2B5EF4-FFF2-40B4-BE49-F238E27FC236}">
                <a16:creationId xmlns:a16="http://schemas.microsoft.com/office/drawing/2014/main" id="{43E97B94-793D-421E-AC33-9A7CAD1A163D}"/>
              </a:ext>
            </a:extLst>
          </p:cNvPr>
          <p:cNvSpPr/>
          <p:nvPr/>
        </p:nvSpPr>
        <p:spPr>
          <a:xfrm>
            <a:off x="6940606" y="2174239"/>
            <a:ext cx="2490412" cy="3017521"/>
          </a:xfrm>
          <a:prstGeom prst="flowChartAlternateProcess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箭头: 上 31">
            <a:extLst>
              <a:ext uri="{FF2B5EF4-FFF2-40B4-BE49-F238E27FC236}">
                <a16:creationId xmlns:a16="http://schemas.microsoft.com/office/drawing/2014/main" id="{C49869FD-6B0A-4CFA-B607-6E01BA44453E}"/>
              </a:ext>
            </a:extLst>
          </p:cNvPr>
          <p:cNvSpPr/>
          <p:nvPr/>
        </p:nvSpPr>
        <p:spPr>
          <a:xfrm rot="6911076">
            <a:off x="9371404" y="2438661"/>
            <a:ext cx="274176" cy="935800"/>
          </a:xfrm>
          <a:prstGeom prst="up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流程图: 可选过程 33">
            <a:extLst>
              <a:ext uri="{FF2B5EF4-FFF2-40B4-BE49-F238E27FC236}">
                <a16:creationId xmlns:a16="http://schemas.microsoft.com/office/drawing/2014/main" id="{72B2B1F7-C937-470D-B96F-BEA2AE76E1C8}"/>
              </a:ext>
            </a:extLst>
          </p:cNvPr>
          <p:cNvSpPr/>
          <p:nvPr/>
        </p:nvSpPr>
        <p:spPr>
          <a:xfrm>
            <a:off x="2473962" y="3886113"/>
            <a:ext cx="1513840" cy="748284"/>
          </a:xfrm>
          <a:prstGeom prst="flowChartAlternateProcess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箭头: 上 34">
            <a:extLst>
              <a:ext uri="{FF2B5EF4-FFF2-40B4-BE49-F238E27FC236}">
                <a16:creationId xmlns:a16="http://schemas.microsoft.com/office/drawing/2014/main" id="{18098617-2B62-470C-9E91-C525294097C8}"/>
              </a:ext>
            </a:extLst>
          </p:cNvPr>
          <p:cNvSpPr/>
          <p:nvPr/>
        </p:nvSpPr>
        <p:spPr>
          <a:xfrm rot="13463746">
            <a:off x="2228104" y="4339260"/>
            <a:ext cx="274176" cy="935800"/>
          </a:xfrm>
          <a:prstGeom prst="up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57BBD9D-359F-4DF9-8F6C-F17C0A46EA40}"/>
              </a:ext>
            </a:extLst>
          </p:cNvPr>
          <p:cNvSpPr txBox="1"/>
          <p:nvPr/>
        </p:nvSpPr>
        <p:spPr>
          <a:xfrm>
            <a:off x="228380" y="5139010"/>
            <a:ext cx="24989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5.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支撑模块</a:t>
            </a:r>
            <a:b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E-matching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等辅助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量化实例化、偏序展开等杂项功能，供上述各层按需调用。</a:t>
            </a:r>
          </a:p>
        </p:txBody>
      </p:sp>
    </p:spTree>
    <p:extLst>
      <p:ext uri="{BB962C8B-B14F-4D97-AF65-F5344CB8AC3E}">
        <p14:creationId xmlns:p14="http://schemas.microsoft.com/office/powerpoint/2010/main" val="113963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0325-9108-36BD-D3A2-BEA3D3D4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5DFCD-730A-9623-566C-87CAB369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3F34DF-F34B-DDC8-F3EB-2F4D64E35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Z3 </a:t>
            </a:r>
            <a:r>
              <a:rPr lang="zh-CN" altLang="en-US" dirty="0"/>
              <a:t>简介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Z3 </a:t>
            </a:r>
            <a:r>
              <a:rPr lang="zh-CN" altLang="en-US" dirty="0">
                <a:solidFill>
                  <a:srgbClr val="FF0000"/>
                </a:solidFill>
              </a:rPr>
              <a:t>核心原理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Z3 </a:t>
            </a:r>
            <a:r>
              <a:rPr lang="zh-CN" altLang="en-US" dirty="0"/>
              <a:t>在软件验证与逆向工程中的使用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在其他领域的应用</a:t>
            </a:r>
            <a:endParaRPr lang="en-US" altLang="zh-CN" dirty="0"/>
          </a:p>
          <a:p>
            <a:r>
              <a:rPr lang="zh-CN" altLang="en-US" dirty="0"/>
              <a:t>总结与思考</a:t>
            </a:r>
          </a:p>
        </p:txBody>
      </p:sp>
    </p:spTree>
    <p:extLst>
      <p:ext uri="{BB962C8B-B14F-4D97-AF65-F5344CB8AC3E}">
        <p14:creationId xmlns:p14="http://schemas.microsoft.com/office/powerpoint/2010/main" val="298120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6641B-515C-62F3-C567-77B99A7F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Z3</a:t>
            </a:r>
            <a:r>
              <a:rPr lang="zh-CN" altLang="en-US" dirty="0"/>
              <a:t>实现原理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96FD11A-FE61-3A62-D46F-788318CE6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79578" cy="6903417"/>
          </a:xfrm>
        </p:spPr>
      </p:pic>
    </p:spTree>
    <p:extLst>
      <p:ext uri="{BB962C8B-B14F-4D97-AF65-F5344CB8AC3E}">
        <p14:creationId xmlns:p14="http://schemas.microsoft.com/office/powerpoint/2010/main" val="185106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54154-A090-1A61-13D8-6391467F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SAT </a:t>
            </a:r>
            <a:r>
              <a:rPr lang="zh-CN" altLang="en-US" b="1" dirty="0"/>
              <a:t>求解器核心</a:t>
            </a:r>
            <a:r>
              <a:rPr lang="en-US" altLang="zh-CN" b="1" dirty="0"/>
              <a:t>-</a:t>
            </a:r>
            <a:r>
              <a:rPr lang="zh-CN" altLang="en-US" b="1" dirty="0"/>
              <a:t>架构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36560-ACE7-44E5-1E19-ECC0FDD8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41" y="1816788"/>
            <a:ext cx="7447241" cy="42713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它是冲突驱动从句学习 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CDCL</a:t>
            </a:r>
            <a:r>
              <a:rPr lang="zh-CN" altLang="en-US" dirty="0"/>
              <a:t>）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altLang="zh-CN" dirty="0"/>
              <a:t> </a:t>
            </a:r>
            <a:r>
              <a:rPr lang="zh-CN" altLang="en-US" dirty="0"/>
              <a:t>求解器的高性能实现。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altLang="zh-CN" dirty="0"/>
              <a:t> </a:t>
            </a:r>
            <a:r>
              <a:rPr lang="zh-CN" altLang="en-US" dirty="0"/>
              <a:t>求解器核心既是独立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altLang="zh-CN" dirty="0"/>
              <a:t> </a:t>
            </a:r>
            <a:r>
              <a:rPr lang="zh-CN" altLang="en-US" dirty="0"/>
              <a:t>求解的基础，也是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 SMT </a:t>
            </a:r>
            <a:r>
              <a:rPr lang="zh-CN" altLang="en-US" dirty="0"/>
              <a:t>求解器框架中的布尔推理引擎。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en-US" altLang="zh-CN" dirty="0"/>
              <a:t> </a:t>
            </a:r>
            <a:r>
              <a:rPr lang="zh-CN" altLang="en-US" dirty="0"/>
              <a:t>中的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altLang="zh-CN" dirty="0"/>
              <a:t> </a:t>
            </a:r>
            <a:r>
              <a:rPr lang="zh-CN" altLang="en-US" dirty="0"/>
              <a:t>求解器被设计为现代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CDCL</a:t>
            </a:r>
            <a:r>
              <a:rPr lang="en-US" altLang="zh-CN" dirty="0"/>
              <a:t> </a:t>
            </a:r>
            <a:r>
              <a:rPr lang="zh-CN" altLang="en-US" dirty="0"/>
              <a:t>求解器，对性能和可扩展性进行了各种优化。核心组件在命名空间中实现，类是中心部分。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8EB509-6E8A-AD78-976A-9B481A03C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2" y="4872810"/>
            <a:ext cx="8368622" cy="12153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481777-5883-DEFF-20BA-1969FF241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073" y="365126"/>
            <a:ext cx="2899710" cy="572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8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5C96C-CBC9-C95D-09FB-44F4B32E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SAT </a:t>
            </a:r>
            <a:r>
              <a:rPr lang="zh-CN" altLang="en-US" b="1" dirty="0"/>
              <a:t>求解器核心</a:t>
            </a:r>
            <a:r>
              <a:rPr lang="en-US" altLang="zh-CN" b="1" dirty="0"/>
              <a:t>-</a:t>
            </a:r>
            <a:r>
              <a:rPr lang="zh-CN" altLang="en-US" b="1" dirty="0"/>
              <a:t>数据结构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13734-1945-22F5-EF7E-6185A2339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变量和赋值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4601DFF5-4DD7-3421-EAE0-FEC333F0926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0576232"/>
              </p:ext>
            </p:extLst>
          </p:nvPr>
        </p:nvGraphicFramePr>
        <p:xfrm>
          <a:off x="1142552" y="2618103"/>
          <a:ext cx="4567906" cy="364385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83953">
                  <a:extLst>
                    <a:ext uri="{9D8B030D-6E8A-4147-A177-3AD203B41FA5}">
                      <a16:colId xmlns:a16="http://schemas.microsoft.com/office/drawing/2014/main" val="588637525"/>
                    </a:ext>
                  </a:extLst>
                </a:gridCol>
                <a:gridCol w="2283953">
                  <a:extLst>
                    <a:ext uri="{9D8B030D-6E8A-4147-A177-3AD203B41FA5}">
                      <a16:colId xmlns:a16="http://schemas.microsoft.com/office/drawing/2014/main" val="3876832732"/>
                    </a:ext>
                  </a:extLst>
                </a:gridCol>
              </a:tblGrid>
              <a:tr h="25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</a:p>
                  </a:txBody>
                  <a:tcPr marL="64642" marR="64642" marT="32321" marB="32321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300" b="1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目的</a:t>
                      </a:r>
                    </a:p>
                  </a:txBody>
                  <a:tcPr marL="64642" marR="64642" marT="32321" marB="32321" anchor="b"/>
                </a:tc>
                <a:extLst>
                  <a:ext uri="{0D108BD9-81ED-4DB2-BD59-A6C34878D82A}">
                    <a16:rowId xmlns:a16="http://schemas.microsoft.com/office/drawing/2014/main" val="2271234684"/>
                  </a:ext>
                </a:extLst>
              </a:tr>
              <a:tr h="63502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m_assignment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当前赋值（</a:t>
                      </a:r>
                      <a:r>
                        <a:rPr lang="en-US" sz="1300" dirty="0">
                          <a:effectLst/>
                        </a:rPr>
                        <a:t>true/false/undefined）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3689381549"/>
                  </a:ext>
                </a:extLst>
              </a:tr>
              <a:tr h="253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m_justification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分配原因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4264533024"/>
                  </a:ext>
                </a:extLst>
              </a:tr>
              <a:tr h="4441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m_decision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变量是否可以用于决策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1162626805"/>
                  </a:ext>
                </a:extLst>
              </a:tr>
              <a:tr h="4441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m_activity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分支启发式的可变活动分数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993139221"/>
                  </a:ext>
                </a:extLst>
              </a:tr>
              <a:tr h="253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m_phase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2460504157"/>
                  </a:ext>
                </a:extLst>
              </a:tr>
              <a:tr h="4441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m_best_phase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保存了重新启动的最佳阶段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2690574300"/>
                  </a:ext>
                </a:extLst>
              </a:tr>
              <a:tr h="4441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m_eliminated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跟踪变量是否已被消除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3588779085"/>
                  </a:ext>
                </a:extLst>
              </a:tr>
              <a:tr h="44411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300" b="1" dirty="0" err="1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</a:rPr>
                        <a:t>m_external</a:t>
                      </a:r>
                      <a:endParaRPr lang="en-US" sz="1300" dirty="0">
                        <a:effectLst/>
                      </a:endParaRPr>
                    </a:p>
                  </a:txBody>
                  <a:tcPr marL="64642" marR="64642" marT="32321" marB="32321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zh-CN" altLang="en-US" sz="13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标记暴露在外部的变量</a:t>
                      </a:r>
                    </a:p>
                  </a:txBody>
                  <a:tcPr marL="64642" marR="64642" marT="32321" marB="32321" anchor="ctr"/>
                </a:tc>
                <a:extLst>
                  <a:ext uri="{0D108BD9-81ED-4DB2-BD59-A6C34878D82A}">
                    <a16:rowId xmlns:a16="http://schemas.microsoft.com/office/drawing/2014/main" val="861544351"/>
                  </a:ext>
                </a:extLst>
              </a:tr>
            </a:tbl>
          </a:graphicData>
        </a:graphic>
      </p:graphicFrame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99C84D-7154-52ED-C006-E1BC60F7D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条款管理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A772E5-35D8-A929-E957-F8C45C963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6241840" cy="3684588"/>
          </a:xfrm>
        </p:spPr>
        <p:txBody>
          <a:bodyPr/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子句通过多种数据结构进行管理，以针对不同的大小进行优化：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二进制子句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：直接存储在监视列表中以提高效率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元子句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：作为子句向量中的对象存储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43196FF-3419-7FAA-7415-1A8CF37D1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003090"/>
            <a:ext cx="5369859" cy="236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15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A30B9-9AC6-210B-91C0-C420957C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SAT </a:t>
            </a:r>
            <a:r>
              <a:rPr lang="zh-CN" altLang="en-US" b="1" dirty="0"/>
              <a:t>求解器核心</a:t>
            </a:r>
            <a:r>
              <a:rPr lang="en-US" altLang="zh-CN" b="1" dirty="0"/>
              <a:t>-</a:t>
            </a:r>
            <a:r>
              <a:rPr lang="zh-CN" altLang="en-US" b="1" dirty="0"/>
              <a:t>关键组件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BAAECA-EDE2-BB11-937E-BF9E381BCD75}"/>
              </a:ext>
            </a:extLst>
          </p:cNvPr>
          <p:cNvSpPr txBox="1"/>
          <p:nvPr/>
        </p:nvSpPr>
        <p:spPr>
          <a:xfrm>
            <a:off x="704995" y="1549031"/>
            <a:ext cx="55434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布尔约束传播（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BCP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传播引擎使用双监视文本方案来实现高效的单元传播：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每个子句恰好有两个监视的文字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分配文字时，只需要访问监视它的子句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这大大减少了传播过程中的工作量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E4C2D6-C557-3370-1169-DB99279F3E39}"/>
              </a:ext>
            </a:extLst>
          </p:cNvPr>
          <p:cNvSpPr txBox="1"/>
          <p:nvPr/>
        </p:nvSpPr>
        <p:spPr>
          <a:xfrm>
            <a:off x="6440354" y="2663391"/>
            <a:ext cx="554340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冲突分析与从句学习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发生冲突时，求解器：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分析冲突以确定其原因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学习一个子句以防止类似冲突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确定适当的回溯级别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回溯并继续搜索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这个过程对于现代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SAT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求解器的效率至关重要，允许它们修剪大部分搜索空间。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69E022-D2E9-052C-40A3-5A5AEA78AEFC}"/>
              </a:ext>
            </a:extLst>
          </p:cNvPr>
          <p:cNvSpPr txBox="1"/>
          <p:nvPr/>
        </p:nvSpPr>
        <p:spPr>
          <a:xfrm>
            <a:off x="704995" y="3540554"/>
            <a:ext cx="5391005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决策启发式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求解器支持多个变量决策启发式方法：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VSIDS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（可变状态无关衰减和）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冲突中涉及的变量的活动增加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活动会周期性衰减，以有利于最近的冲突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活动量最高的变量是决策的首选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（基于冲突历史记录的分支）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（多臂赌博机）的思想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根据冲突参与跟踪每个变量的奖励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使用指数移动平均线来估计奖励</a:t>
            </a:r>
          </a:p>
        </p:txBody>
      </p:sp>
    </p:spTree>
    <p:extLst>
      <p:ext uri="{BB962C8B-B14F-4D97-AF65-F5344CB8AC3E}">
        <p14:creationId xmlns:p14="http://schemas.microsoft.com/office/powerpoint/2010/main" val="2966530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9C57-0845-1576-4639-1E9199E8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E02A8-1A41-E046-45EC-03465492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SAT </a:t>
            </a:r>
            <a:r>
              <a:rPr lang="zh-CN" altLang="en-US" b="1" dirty="0"/>
              <a:t>求解器核心</a:t>
            </a:r>
            <a:r>
              <a:rPr lang="en-US" altLang="zh-CN" b="1" dirty="0"/>
              <a:t>-</a:t>
            </a:r>
            <a:r>
              <a:rPr lang="zh-CN" altLang="en-US" b="1" dirty="0"/>
              <a:t>扩展接口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7ED53F-AFC6-8B41-D1C6-35871A46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1133"/>
            <a:ext cx="7447241" cy="30413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altLang="zh-CN" dirty="0"/>
              <a:t> </a:t>
            </a:r>
            <a:r>
              <a:rPr lang="zh-CN" altLang="en-US" dirty="0"/>
              <a:t>求解器可以通过该接口进行扩展，以支持与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</a:t>
            </a:r>
            <a:r>
              <a:rPr lang="en-US" altLang="zh-CN" dirty="0"/>
              <a:t> </a:t>
            </a:r>
            <a:r>
              <a:rPr lang="zh-CN" altLang="en-US" dirty="0"/>
              <a:t>的理论求解器集成：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</a:t>
            </a:r>
          </a:p>
          <a:p>
            <a:pPr marL="0" indent="0">
              <a:buNone/>
            </a:pPr>
            <a:r>
              <a:rPr lang="zh-CN" altLang="en-US" dirty="0"/>
              <a:t>扩展接口定义了以下方法：</a:t>
            </a:r>
          </a:p>
          <a:p>
            <a:r>
              <a:rPr lang="zh-CN" altLang="en-US" dirty="0"/>
              <a:t>特定理论传播</a:t>
            </a:r>
          </a:p>
          <a:p>
            <a:r>
              <a:rPr lang="zh-CN" altLang="en-US" dirty="0"/>
              <a:t>冲突解释和解决</a:t>
            </a:r>
          </a:p>
          <a:p>
            <a:r>
              <a:rPr lang="zh-CN" altLang="en-US" dirty="0"/>
              <a:t>模型构建和验证</a:t>
            </a:r>
          </a:p>
          <a:p>
            <a:r>
              <a:rPr lang="zh-CN" altLang="en-US" dirty="0"/>
              <a:t>推送</a:t>
            </a:r>
            <a:r>
              <a:rPr lang="en-US" altLang="zh-CN" dirty="0"/>
              <a:t>/</a:t>
            </a:r>
            <a:r>
              <a:rPr lang="zh-CN" altLang="en-US" dirty="0"/>
              <a:t>弹出以进行增量求解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8D9D3B-2F3A-C6FE-C7F6-DD5611181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1098"/>
            <a:ext cx="7188976" cy="11473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164C7D-6CFE-0690-231B-7035A247D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581" y="933450"/>
            <a:ext cx="3781283" cy="56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2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D3AEF-1A79-7F76-0851-9791B7CA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1A83D-7E93-5F21-5731-A5CA6D27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486" y="1843687"/>
            <a:ext cx="3517415" cy="4351338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zh-CN" altLang="en-US" dirty="0"/>
              <a:t>理论求解器</a:t>
            </a:r>
          </a:p>
          <a:p>
            <a:pPr fontAlgn="base"/>
            <a:r>
              <a:rPr lang="zh-CN" altLang="en-US" dirty="0"/>
              <a:t>线性实算（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</a:t>
            </a:r>
            <a:r>
              <a:rPr lang="zh-CN" altLang="en-US" dirty="0"/>
              <a:t>）</a:t>
            </a:r>
          </a:p>
          <a:p>
            <a:pPr fontAlgn="base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Arithmetic</a:t>
            </a:r>
          </a:p>
          <a:p>
            <a:pPr fontAlgn="base"/>
            <a:r>
              <a:rPr lang="zh-CN" altLang="en-US" dirty="0"/>
              <a:t>序列和字符串</a:t>
            </a:r>
          </a:p>
          <a:p>
            <a:pPr fontAlgn="base"/>
            <a:r>
              <a:rPr lang="zh-CN" altLang="en-US" dirty="0"/>
              <a:t>浮点算术</a:t>
            </a:r>
          </a:p>
          <a:p>
            <a:pPr fontAlgn="base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EUF</a:t>
            </a:r>
            <a:r>
              <a:rPr lang="zh-CN" altLang="en-US" dirty="0"/>
              <a:t>与理论结合</a:t>
            </a:r>
          </a:p>
          <a:p>
            <a:pPr fontAlgn="base"/>
            <a:r>
              <a:rPr lang="zh-CN" altLang="en-US" dirty="0"/>
              <a:t>递归函数 </a:t>
            </a:r>
            <a:endParaRPr lang="en-US" altLang="zh-CN" dirty="0"/>
          </a:p>
          <a:p>
            <a:pPr marL="0" indent="0">
              <a:buNone/>
            </a:pP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E26AEB-183B-7CAE-EE47-5914CB7E5FFE}"/>
              </a:ext>
            </a:extLst>
          </p:cNvPr>
          <p:cNvSpPr txBox="1"/>
          <p:nvPr/>
        </p:nvSpPr>
        <p:spPr>
          <a:xfrm>
            <a:off x="5137392" y="1825624"/>
            <a:ext cx="4648782" cy="436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90000"/>
              </a:lnSpc>
              <a:spcBef>
                <a:spcPts val="1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优化框架</a:t>
            </a:r>
          </a:p>
          <a:p>
            <a:pPr marL="228600" indent="-228600" fontAlgn="bas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MaxSMT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求解器</a:t>
            </a:r>
          </a:p>
          <a:p>
            <a:pPr marL="228600" indent="-228600" fontAlgn="bas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目标优化策略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90000"/>
              </a:lnSpc>
              <a:spcBef>
                <a:spcPts val="1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构建系统和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</a:p>
          <a:p>
            <a:pPr marL="228600" indent="-228600" fontAlgn="bas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构建系统</a:t>
            </a:r>
          </a:p>
          <a:p>
            <a:pPr marL="228600" indent="-228600" fontAlgn="bas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</a:p>
          <a:p>
            <a:pPr marL="228600" indent="-228600" fontAlgn="bas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90000"/>
              </a:lnSpc>
              <a:spcBef>
                <a:spcPts val="1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命令接口和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SMT-LIB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0352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FEAE-4DB2-4B83-CD24-8707CC0B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B2D8F-67BF-2DB9-9D07-1F75FD7B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7E84B5-1F38-5408-6E33-BDED6572D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Z3 </a:t>
            </a:r>
            <a:r>
              <a:rPr lang="zh-CN" altLang="en-US" dirty="0"/>
              <a:t>简介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核心原理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Z3 </a:t>
            </a:r>
            <a:r>
              <a:rPr lang="zh-CN" altLang="en-US" dirty="0">
                <a:solidFill>
                  <a:srgbClr val="FF0000"/>
                </a:solidFill>
              </a:rPr>
              <a:t>在软件验证与逆向工程中的使用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Z3 </a:t>
            </a:r>
            <a:r>
              <a:rPr lang="zh-CN" altLang="en-US" dirty="0"/>
              <a:t>在其他领域的应用</a:t>
            </a:r>
            <a:endParaRPr lang="en-US" altLang="zh-CN" dirty="0"/>
          </a:p>
          <a:p>
            <a:r>
              <a:rPr lang="zh-CN" altLang="en-US" dirty="0"/>
              <a:t>总结与思考</a:t>
            </a:r>
          </a:p>
        </p:txBody>
      </p:sp>
    </p:spTree>
    <p:extLst>
      <p:ext uri="{BB962C8B-B14F-4D97-AF65-F5344CB8AC3E}">
        <p14:creationId xmlns:p14="http://schemas.microsoft.com/office/powerpoint/2010/main" val="432498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00047-49FF-F76B-6164-2088AF1B1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Z3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9222A-802C-0407-EAEA-49263222C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Z3 </a:t>
            </a:r>
            <a:r>
              <a:rPr lang="zh-CN" altLang="en-US" dirty="0"/>
              <a:t>有非常多语言的</a:t>
            </a:r>
            <a:r>
              <a:rPr lang="en-US" altLang="zh-CN" dirty="0"/>
              <a:t>Bindings</a:t>
            </a:r>
            <a:r>
              <a:rPr lang="zh-CN" altLang="en-US" dirty="0"/>
              <a:t>，这些</a:t>
            </a:r>
            <a:r>
              <a:rPr lang="en-US" altLang="zh-CN" dirty="0"/>
              <a:t>Bindings</a:t>
            </a:r>
            <a:r>
              <a:rPr lang="zh-CN" altLang="en-US" dirty="0"/>
              <a:t>最终都会调用</a:t>
            </a:r>
            <a:r>
              <a:rPr lang="en-US" altLang="zh-CN" dirty="0"/>
              <a:t>Native Interface</a:t>
            </a:r>
            <a:r>
              <a:rPr lang="zh-CN" altLang="en-US" dirty="0"/>
              <a:t>（即</a:t>
            </a:r>
            <a:r>
              <a:rPr lang="en-US" altLang="zh-CN" dirty="0"/>
              <a:t>Z3Lib</a:t>
            </a:r>
            <a:r>
              <a:rPr lang="zh-CN" altLang="en-US" dirty="0"/>
              <a:t>提供的</a:t>
            </a:r>
            <a:r>
              <a:rPr lang="en-US" altLang="zh-CN" dirty="0"/>
              <a:t>Interface</a:t>
            </a:r>
            <a:r>
              <a:rPr lang="zh-CN" altLang="en-US" dirty="0"/>
              <a:t>），为了方便理解，我们使用最广泛使用的</a:t>
            </a:r>
            <a:r>
              <a:rPr lang="en-US" altLang="zh-CN" dirty="0"/>
              <a:t>Python Binding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通过</a:t>
            </a:r>
            <a:r>
              <a:rPr lang="en-US" altLang="zh-CN" dirty="0"/>
              <a:t>Python</a:t>
            </a:r>
            <a:r>
              <a:rPr lang="zh-CN" altLang="en-US" dirty="0"/>
              <a:t>包管理器</a:t>
            </a:r>
            <a:r>
              <a:rPr lang="en-US" altLang="zh-CN" dirty="0"/>
              <a:t>PIP</a:t>
            </a:r>
            <a:r>
              <a:rPr lang="zh-CN" altLang="en-US" dirty="0"/>
              <a:t>安装</a:t>
            </a:r>
            <a:r>
              <a:rPr lang="en-US" altLang="zh-CN" dirty="0"/>
              <a:t>Z3: </a:t>
            </a:r>
            <a:r>
              <a:rPr lang="zh-CN" altLang="zh-CN" sz="1800" dirty="0">
                <a:solidFill>
                  <a:srgbClr val="EEE5B2"/>
                </a:solidFill>
                <a:highlight>
                  <a:srgbClr val="FF0000"/>
                </a:highlight>
                <a:latin typeface="JetBrainsMono NF Light" panose="02000009000000000000" pitchFamily="50" charset="0"/>
                <a:cs typeface="JetBrainsMono NF Light" panose="02000009000000000000" pitchFamily="50" charset="0"/>
              </a:rPr>
              <a:t>python </a:t>
            </a:r>
            <a:r>
              <a:rPr lang="zh-CN" altLang="zh-CN" sz="1800" dirty="0">
                <a:solidFill>
                  <a:srgbClr val="313131"/>
                </a:solidFill>
                <a:highlight>
                  <a:srgbClr val="FF0000"/>
                </a:highlight>
                <a:latin typeface="JetBrainsMono NF Light" panose="02000009000000000000" pitchFamily="50" charset="0"/>
                <a:cs typeface="JetBrainsMono NF Light" panose="02000009000000000000" pitchFamily="50" charset="0"/>
              </a:rPr>
              <a:t>-m </a:t>
            </a:r>
            <a:r>
              <a:rPr lang="zh-CN" altLang="zh-CN" sz="1800" dirty="0">
                <a:solidFill>
                  <a:srgbClr val="CACACA"/>
                </a:solidFill>
                <a:highlight>
                  <a:srgbClr val="FF0000"/>
                </a:highlight>
                <a:latin typeface="JetBrainsMono NF Light" panose="02000009000000000000" pitchFamily="50" charset="0"/>
                <a:cs typeface="JetBrainsMono NF Light" panose="02000009000000000000" pitchFamily="50" charset="0"/>
              </a:rPr>
              <a:t>pip install z3-solver</a:t>
            </a:r>
            <a:endParaRPr lang="en-US" altLang="zh-CN" dirty="0"/>
          </a:p>
          <a:p>
            <a:r>
              <a:rPr lang="zh-CN" altLang="en-US" dirty="0"/>
              <a:t>然后仅需使用以下语句引入</a:t>
            </a:r>
            <a:r>
              <a:rPr lang="en-US" altLang="zh-CN" dirty="0"/>
              <a:t>Z3 Package</a:t>
            </a:r>
            <a:r>
              <a:rPr lang="zh-CN" altLang="en-US" dirty="0"/>
              <a:t>，你的</a:t>
            </a:r>
            <a:r>
              <a:rPr lang="en-US" altLang="zh-CN" dirty="0"/>
              <a:t>Z3</a:t>
            </a:r>
            <a:r>
              <a:rPr lang="zh-CN" altLang="en-US" dirty="0"/>
              <a:t>体验即可开始。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8D7278-EB2E-FAE6-58C3-AAB5DE25B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4250510"/>
            <a:ext cx="97631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2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A1406-BB42-F7DC-F747-9AC25E693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273BE4-EB46-8066-B78F-3A41D976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6249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en-US" altLang="zh-CN" sz="2400" dirty="0"/>
              <a:t> </a:t>
            </a:r>
            <a:r>
              <a:rPr lang="zh-CN" altLang="en-US" sz="2400" dirty="0"/>
              <a:t>布尔类型，只有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400" dirty="0"/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/>
              <a:t> </a:t>
            </a:r>
            <a:r>
              <a:rPr lang="zh-CN" altLang="en-US" sz="2400" dirty="0"/>
              <a:t>整数类型，与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400" dirty="0"/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400" dirty="0"/>
              <a:t>一样，无限精度</a:t>
            </a:r>
            <a:endParaRPr lang="en-US" altLang="zh-CN" sz="2400" dirty="0"/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BitVec</a:t>
            </a:r>
            <a:r>
              <a:rPr lang="en-US" altLang="zh-CN" sz="2400" dirty="0"/>
              <a:t> </a:t>
            </a:r>
            <a:r>
              <a:rPr lang="zh-CN" altLang="en-US" sz="2400" dirty="0"/>
              <a:t>位向量（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Vector</a:t>
            </a:r>
            <a:r>
              <a:rPr lang="zh-CN" altLang="en-US" sz="2400" dirty="0"/>
              <a:t>）类型，可指定精度，最常用，只有位向量才能进行按位运算。</a:t>
            </a:r>
            <a:endParaRPr lang="en-US" altLang="zh-CN" sz="2400" dirty="0"/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2400" dirty="0"/>
              <a:t> </a:t>
            </a:r>
            <a:r>
              <a:rPr lang="zh-CN" altLang="en-US" sz="2400" dirty="0"/>
              <a:t>数组类型</a:t>
            </a:r>
            <a:endParaRPr lang="en-US" altLang="zh-CN" sz="2400" dirty="0"/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BoolSort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IntSort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BitVecSort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ArraySort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/>
              <a:t>这几种是字面的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zh-CN" altLang="en-US" sz="2400" dirty="0"/>
              <a:t>类型的意思，比如在定义数组的时候，你需要把索引类型和数组内元素的类型都告诉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zh-CN" altLang="en-US" sz="2400" dirty="0"/>
              <a:t>，当然，数组的索引可以是一个数组类型，数组内也可以存储一个数组类型的元素，定义函数的时候，参数与返回值也是一样。</a:t>
            </a:r>
            <a:endParaRPr lang="en-US" altLang="zh-CN" sz="2400" dirty="0"/>
          </a:p>
          <a:p>
            <a:r>
              <a:rPr lang="zh-CN" altLang="en-US" sz="2400" dirty="0"/>
              <a:t>注意，定义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BitVecSort</a:t>
            </a:r>
            <a:r>
              <a:rPr lang="zh-CN" altLang="en-US" sz="2400" dirty="0"/>
              <a:t>的时候，也是要指定它是多少位的。</a:t>
            </a:r>
          </a:p>
        </p:txBody>
      </p:sp>
    </p:spTree>
    <p:extLst>
      <p:ext uri="{BB962C8B-B14F-4D97-AF65-F5344CB8AC3E}">
        <p14:creationId xmlns:p14="http://schemas.microsoft.com/office/powerpoint/2010/main" val="3097221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C0797-5A9F-387B-838F-9132B84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33EDB-4F5B-FA85-211D-EA2BDA9B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使用：基本数据类型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0888FB-F67E-68AD-CF0A-80E2998A9BB4}"/>
              </a:ext>
            </a:extLst>
          </p:cNvPr>
          <p:cNvSpPr txBox="1"/>
          <p:nvPr/>
        </p:nvSpPr>
        <p:spPr>
          <a:xfrm>
            <a:off x="552450" y="149980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未知量的名字随你而定，但是一定不能重复。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B00BF9-05B3-A21D-0ED5-DCD733D01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047587"/>
            <a:ext cx="110871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09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000AF4-2766-4B60-78DE-BDCB6D72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基本操作流程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E5CA04-3438-8F4C-8C99-318516796134}"/>
              </a:ext>
            </a:extLst>
          </p:cNvPr>
          <p:cNvSpPr txBox="1"/>
          <p:nvPr/>
        </p:nvSpPr>
        <p:spPr>
          <a:xfrm>
            <a:off x="6350498" y="3254447"/>
            <a:ext cx="5490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左图进行了一个简单的约束求解过程，细心的读者显然注意到了，它所解出的东西并非所有解。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A8E305-7DA7-BFC8-33D1-8CFDB816B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28" y="1690688"/>
            <a:ext cx="57435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86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3B4C8-B765-946B-6A16-5FF2C505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</a:t>
            </a:r>
            <a:r>
              <a:rPr lang="en-US" altLang="zh-CN" dirty="0"/>
              <a:t>Tricks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7229CF-93DF-47C8-E73A-C2A18297D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04" y="1656852"/>
            <a:ext cx="5556337" cy="22190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FAD206-97CE-A59B-64DA-606DB711D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920" y="1656852"/>
            <a:ext cx="5273469" cy="49950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816F63-397B-5BF7-B2BB-093E2EDF7E1E}"/>
              </a:ext>
            </a:extLst>
          </p:cNvPr>
          <p:cNvSpPr txBox="1"/>
          <p:nvPr/>
        </p:nvSpPr>
        <p:spPr>
          <a:xfrm>
            <a:off x="372667" y="25817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16CF7E-0B3D-D169-A3C0-BE0E6DB264EA}"/>
              </a:ext>
            </a:extLst>
          </p:cNvPr>
          <p:cNvSpPr txBox="1"/>
          <p:nvPr/>
        </p:nvSpPr>
        <p:spPr>
          <a:xfrm>
            <a:off x="9073905" y="1237273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087E23-803D-954F-BA9D-7FC3DFDF8E90}"/>
              </a:ext>
            </a:extLst>
          </p:cNvPr>
          <p:cNvSpPr txBox="1"/>
          <p:nvPr/>
        </p:nvSpPr>
        <p:spPr>
          <a:xfrm>
            <a:off x="372668" y="4318675"/>
            <a:ext cx="612207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circleNumDbPlain" startAt="3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的左移是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，但是右移有两种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算术右移：对于有符号数字，用 变量名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移位数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逻辑右移：对于无符号数字，用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LShR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移位数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146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933DE-DADB-1915-6870-D90C3AE8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实战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72E90-2CD5-58F2-A695-DAB2397A1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Verification.</a:t>
            </a:r>
          </a:p>
          <a:p>
            <a:pPr>
              <a:lnSpc>
                <a:spcPct val="100000"/>
              </a:lnSpc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CTF Reverse Engineering exercises.</a:t>
            </a:r>
          </a:p>
          <a:p>
            <a:pPr>
              <a:lnSpc>
                <a:spcPct val="100000"/>
              </a:lnSpc>
            </a:pP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1900" dirty="0"/>
              <a:t>注：在该部分中，我们认定字长为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16bits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Win32 Application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1900" dirty="0"/>
              <a:t>：</a:t>
            </a:r>
            <a:endParaRPr lang="en-US" altLang="zh-CN" sz="1900" dirty="0"/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BYTE=8bit, WORD=2BYTE, DWORD=2WORD, QWORD=2DWORD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3.13, IDA Pro 9.2</a:t>
            </a:r>
          </a:p>
        </p:txBody>
      </p:sp>
    </p:spTree>
    <p:extLst>
      <p:ext uri="{BB962C8B-B14F-4D97-AF65-F5344CB8AC3E}">
        <p14:creationId xmlns:p14="http://schemas.microsoft.com/office/powerpoint/2010/main" val="4231724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938D-1EBF-1061-5149-16966789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78F02-DC3E-CC56-F421-EC92C4A0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365125"/>
            <a:ext cx="11942618" cy="1325563"/>
          </a:xfrm>
        </p:spPr>
        <p:txBody>
          <a:bodyPr/>
          <a:lstStyle/>
          <a:p>
            <a:r>
              <a:rPr lang="zh-CN" altLang="en-US" dirty="0"/>
              <a:t>软件验证：证明 </a:t>
            </a:r>
            <a:r>
              <a:rPr lang="en-US" altLang="zh-CN" dirty="0"/>
              <a:t>32 </a:t>
            </a:r>
            <a:r>
              <a:rPr lang="zh-CN" altLang="en-US" dirty="0"/>
              <a:t>位加法的交换律（位向量）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83D8C1-BB4D-40F9-9104-9E9A6164B678}"/>
              </a:ext>
            </a:extLst>
          </p:cNvPr>
          <p:cNvSpPr txBox="1"/>
          <p:nvPr/>
        </p:nvSpPr>
        <p:spPr>
          <a:xfrm>
            <a:off x="207391" y="1499109"/>
            <a:ext cx="11859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目标</a:t>
            </a:r>
            <a:r>
              <a:rPr lang="zh-CN" altLang="en-US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：在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32 </a:t>
            </a:r>
            <a:r>
              <a:rPr lang="zh-CN" altLang="en-US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位无符号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</a:t>
            </a:r>
            <a:r>
              <a:rPr lang="zh-CN" altLang="en-US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模运算下证明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a + b == b + a</a:t>
            </a:r>
            <a:r>
              <a:rPr lang="zh-CN" altLang="en-US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对所有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32 </a:t>
            </a:r>
            <a:r>
              <a:rPr lang="zh-CN" altLang="en-US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位位向量成立（即交换律）。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F9C911-0EB2-3582-A8E5-476134FEA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962" y="2371333"/>
            <a:ext cx="92487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58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1A94D-E708-BD46-8F8A-F58D3F6D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365125"/>
            <a:ext cx="11942618" cy="1325563"/>
          </a:xfrm>
        </p:spPr>
        <p:txBody>
          <a:bodyPr/>
          <a:lstStyle/>
          <a:p>
            <a:r>
              <a:rPr lang="zh-CN" altLang="en-US" dirty="0"/>
              <a:t>软件验证：证明绝对值函数的正确性（整数）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C6A41B-3B88-247B-DD80-DBA3EE438606}"/>
              </a:ext>
            </a:extLst>
          </p:cNvPr>
          <p:cNvSpPr txBox="1"/>
          <p:nvPr/>
        </p:nvSpPr>
        <p:spPr>
          <a:xfrm>
            <a:off x="207391" y="1499109"/>
            <a:ext cx="11859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：证明对于任意整数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，定义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</a:rPr>
              <a:t>abs(x) = if x&gt;=0 then x else -x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，满足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</a:rPr>
              <a:t>abs(x) &gt;= 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</a:rPr>
              <a:t>abs(x) == x </a:t>
            </a:r>
            <a:r>
              <a:rPr lang="zh-CN" altLang="en-US" dirty="0">
                <a:latin typeface="Courier New" panose="02070309020205020404" pitchFamily="49" charset="0"/>
                <a:ea typeface="微软雅黑" panose="020B0503020204020204" pitchFamily="34" charset="-122"/>
              </a:rPr>
              <a:t>或 </a:t>
            </a:r>
            <a:r>
              <a:rPr lang="en-US" altLang="zh-CN" dirty="0">
                <a:latin typeface="Courier New" panose="02070309020205020404" pitchFamily="49" charset="0"/>
                <a:ea typeface="微软雅黑" panose="020B0503020204020204" pitchFamily="34" charset="-122"/>
              </a:rPr>
              <a:t>abs(x) == -x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926A575-E850-F2FD-C013-50A36D996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31" y="2254250"/>
            <a:ext cx="9979603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86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737E4-31CC-4E5D-8640-16065E75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软件验证：</a:t>
            </a:r>
            <a:r>
              <a:rPr lang="en-US" altLang="zh-CN" dirty="0"/>
              <a:t>If</a:t>
            </a:r>
            <a:r>
              <a:rPr lang="zh-CN" altLang="en-US" dirty="0"/>
              <a:t>分支语句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8EF60E8-8983-C72D-73FA-B9732E891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07" y="1027906"/>
            <a:ext cx="5086350" cy="56197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9EAE8D-6780-4F6C-0020-CDB971CA3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212" y="1653112"/>
            <a:ext cx="3554582" cy="48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08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59353-6F49-2D68-E585-A5B6C18F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逆向工程实战：解线性矩阵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746330-771A-551F-8D2D-4E2AF598E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575" y="1690688"/>
            <a:ext cx="9559264" cy="49625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D665789-B606-78A7-553E-E3752262AC3F}"/>
              </a:ext>
            </a:extLst>
          </p:cNvPr>
          <p:cNvSpPr txBox="1"/>
          <p:nvPr/>
        </p:nvSpPr>
        <p:spPr>
          <a:xfrm>
            <a:off x="276161" y="1690688"/>
            <a:ext cx="1988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进行逆向后，发现是一堆条件与结果的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判断，直接抄出来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33E49-A6E2-75F9-4460-DDE34F27D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0"/>
            <a:ext cx="15716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AB5A81-68F4-D56E-18A2-8DBEAD1E8067}"/>
              </a:ext>
            </a:extLst>
          </p:cNvPr>
          <p:cNvSpPr txBox="1"/>
          <p:nvPr/>
        </p:nvSpPr>
        <p:spPr>
          <a:xfrm>
            <a:off x="179644" y="6272110"/>
            <a:ext cx="218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&lt;&lt; 7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X * 2**7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635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18735-2B99-7DFE-1393-36E9F513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FEB40-0E6F-359C-10D2-C01F64CC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逆向工程实战：</a:t>
            </a:r>
            <a:r>
              <a:rPr lang="en-US" altLang="zh-CN" dirty="0"/>
              <a:t>MoeCTF2024 babe-Z3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331D7A-3D54-7FDE-9A0F-48167DD3F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118" y="1597698"/>
            <a:ext cx="7956766" cy="48951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2E0206C-ED99-CCD9-9EDC-734F80D15C17}"/>
              </a:ext>
            </a:extLst>
          </p:cNvPr>
          <p:cNvSpPr txBox="1"/>
          <p:nvPr/>
        </p:nvSpPr>
        <p:spPr>
          <a:xfrm>
            <a:off x="282297" y="1969949"/>
            <a:ext cx="34612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本题中，如果你仔细逆向，你就会发现有一个条件其实我们期望它是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，也就是图中的第一个约束，其他的直接抄过来，注意都是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Int64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，所以我们采用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BitVec-64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9A3EF2-9802-CD41-BBB6-B5151CBDC3AF}"/>
              </a:ext>
            </a:extLst>
          </p:cNvPr>
          <p:cNvSpPr txBox="1"/>
          <p:nvPr/>
        </p:nvSpPr>
        <p:spPr>
          <a:xfrm>
            <a:off x="282296" y="4184351"/>
            <a:ext cx="3461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[::-1]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代表反转，因为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long_to_bytes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这个函数是大端序，而程序采用的是小端序。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10611A-E696-C77E-3CA0-E7DF566E7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0"/>
            <a:ext cx="15716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F938F17-BC88-58FE-A898-6A69D58E9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13" y="1571074"/>
            <a:ext cx="9647973" cy="522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8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7B02A-F703-5804-D1A4-18C76B39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70" y="209400"/>
            <a:ext cx="10515600" cy="1325563"/>
          </a:xfrm>
        </p:spPr>
        <p:txBody>
          <a:bodyPr/>
          <a:lstStyle/>
          <a:p>
            <a:r>
              <a:rPr lang="zh-CN" altLang="en-US" dirty="0"/>
              <a:t>逆向工程实战：</a:t>
            </a:r>
            <a:r>
              <a:rPr lang="en-US" altLang="zh-CN" dirty="0"/>
              <a:t>MoeCTF2024 </a:t>
            </a:r>
            <a:r>
              <a:rPr lang="en-US" altLang="zh-CN" dirty="0" err="1"/>
              <a:t>SMCProMax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8B2FE2-90EE-EE9A-D7AB-465E1F21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223" y="1603107"/>
            <a:ext cx="8623973" cy="46319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398F2C3-8CE7-BB8F-4DC5-161F8B500D9E}"/>
              </a:ext>
            </a:extLst>
          </p:cNvPr>
          <p:cNvSpPr txBox="1"/>
          <p:nvPr/>
        </p:nvSpPr>
        <p:spPr>
          <a:xfrm>
            <a:off x="116602" y="1690687"/>
            <a:ext cx="2982540" cy="2685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本题中有一个类似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的函数，看起来完全不可逆，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但是只要交给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，也就秒了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其中用到了一个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可以构造一个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语句的表达式。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E6D14-62B1-EED3-6B04-E2600E976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0"/>
            <a:ext cx="15716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8FBE02-EB99-A775-33B4-20729A040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142" y="1379239"/>
            <a:ext cx="4997624" cy="51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9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0.02431 L -4.58333E-6 -0.02431 C 0.01081 -0.02084 0.02162 -0.0169 0.03256 -0.01366 C 0.07175 -0.00232 0.11628 0.00717 0.15521 0.02129 C 0.20743 0.04051 0.19662 0.04051 0.24454 0.07129 C 0.2629 0.08287 0.28138 0.09444 0.29987 0.10486 C 0.31472 0.11319 0.33008 0.11782 0.34454 0.12778 C 0.35925 0.13773 0.38529 0.17176 0.3961 0.18842 C 0.40704 0.20532 0.41407 0.23148 0.42709 0.24236 C 0.43425 0.24815 0.44141 0.25347 0.44831 0.25972 C 0.45495 0.26574 0.45521 0.27199 0.46198 0.28009 C 0.46355 0.28194 0.4655 0.28194 0.46732 0.28264 L 0.47266 0.28958 L 0.40899 0.20324 " pathEditMode="relative" ptsTypes="AAAAAAAAAAAA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B881C-5839-6EF0-F7A3-754A71B6D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86" y="133680"/>
            <a:ext cx="10515600" cy="1325563"/>
          </a:xfrm>
        </p:spPr>
        <p:txBody>
          <a:bodyPr/>
          <a:lstStyle/>
          <a:p>
            <a:r>
              <a:rPr lang="zh-CN" altLang="en-US" dirty="0"/>
              <a:t>逆向工程工具：</a:t>
            </a:r>
            <a:r>
              <a:rPr lang="en-US" altLang="zh-CN" dirty="0"/>
              <a:t>D810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F46E00-6FA3-39C7-0009-3AE082B6023D}"/>
              </a:ext>
            </a:extLst>
          </p:cNvPr>
          <p:cNvSpPr txBox="1"/>
          <p:nvPr/>
        </p:nvSpPr>
        <p:spPr>
          <a:xfrm>
            <a:off x="748146" y="6308209"/>
            <a:ext cx="6806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相关网址：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https://github.com/w00tzenheimer/d810-ng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C6155A-8A24-CC81-9A73-9011CB3F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86" y="1459243"/>
            <a:ext cx="5976714" cy="46437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B5603D-49EC-90B8-7CC5-3714DC91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336" y="563605"/>
            <a:ext cx="4655127" cy="127613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FB9E95F-0717-3932-5BA0-E310FAEAF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36" y="2189219"/>
            <a:ext cx="5138100" cy="133310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03364C2-25E6-3CD7-2637-F68181D04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811" y="3946640"/>
            <a:ext cx="3800475" cy="9239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87ACF83-AA56-0796-45A6-8711E3238D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811" y="5223223"/>
            <a:ext cx="3886200" cy="10001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727F42B-D49C-7710-F170-EB80CE51DB8A}"/>
              </a:ext>
            </a:extLst>
          </p:cNvPr>
          <p:cNvSpPr txBox="1"/>
          <p:nvPr/>
        </p:nvSpPr>
        <p:spPr>
          <a:xfrm>
            <a:off x="6311811" y="35223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Before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0F9833-CBE8-3A5A-9ECA-D65A4290C103}"/>
              </a:ext>
            </a:extLst>
          </p:cNvPr>
          <p:cNvSpPr txBox="1"/>
          <p:nvPr/>
        </p:nvSpPr>
        <p:spPr>
          <a:xfrm>
            <a:off x="6311811" y="902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Before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A0EDA5-5C7B-0F87-DAC1-52D73BCF03CC}"/>
              </a:ext>
            </a:extLst>
          </p:cNvPr>
          <p:cNvSpPr txBox="1"/>
          <p:nvPr/>
        </p:nvSpPr>
        <p:spPr>
          <a:xfrm>
            <a:off x="6397336" y="18449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E9AD01-8EF2-28E5-7E14-3C95D807C466}"/>
              </a:ext>
            </a:extLst>
          </p:cNvPr>
          <p:cNvSpPr txBox="1"/>
          <p:nvPr/>
        </p:nvSpPr>
        <p:spPr>
          <a:xfrm>
            <a:off x="6311811" y="48705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958D13C-B694-05B3-35E6-D6EA566F1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5" y="5095875"/>
            <a:ext cx="17621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168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9123-E317-FA83-7E5F-2001C2AC0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8120F-D36F-5F98-7387-0FED3FF1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C60292-57E5-D2E1-1BB9-AE8844D8B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Z3 </a:t>
            </a:r>
            <a:r>
              <a:rPr lang="zh-CN" altLang="en-US" dirty="0"/>
              <a:t>简介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核心原理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在软件验证与逆向工程中的使用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Z3 </a:t>
            </a:r>
            <a:r>
              <a:rPr lang="zh-CN" altLang="en-US" dirty="0">
                <a:solidFill>
                  <a:srgbClr val="FF0000"/>
                </a:solidFill>
              </a:rPr>
              <a:t>在其他领域的应用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总结与思考</a:t>
            </a:r>
          </a:p>
        </p:txBody>
      </p:sp>
    </p:spTree>
    <p:extLst>
      <p:ext uri="{BB962C8B-B14F-4D97-AF65-F5344CB8AC3E}">
        <p14:creationId xmlns:p14="http://schemas.microsoft.com/office/powerpoint/2010/main" val="1612281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5FBA-53AE-672A-958B-CCC6C830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0325D2-57C6-213D-A027-FD60158D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Z3</a:t>
            </a:r>
            <a:r>
              <a:rPr lang="zh-CN" altLang="en-US" b="1" dirty="0"/>
              <a:t>在程序验证领域应用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960430-AB6F-E132-A648-B2E7E6A6A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54368" cy="4498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微软（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zh-CN" altLang="en-US" b="1" dirty="0"/>
              <a:t>）</a:t>
            </a:r>
            <a:r>
              <a:rPr lang="zh-CN" altLang="en-US" dirty="0"/>
              <a:t>用 </a:t>
            </a:r>
            <a:r>
              <a:rPr lang="en-US" altLang="zh-CN" dirty="0"/>
              <a:t>Z3 </a:t>
            </a:r>
            <a:r>
              <a:rPr lang="zh-CN" altLang="en-US" dirty="0"/>
              <a:t>对 </a:t>
            </a:r>
            <a:r>
              <a:rPr lang="en-US" altLang="zh-CN" dirty="0"/>
              <a:t>Windows </a:t>
            </a:r>
            <a:r>
              <a:rPr lang="zh-CN" altLang="en-US" dirty="0"/>
              <a:t>内核、</a:t>
            </a:r>
            <a:r>
              <a:rPr lang="en-US" altLang="zh-CN" dirty="0"/>
              <a:t>C# </a:t>
            </a:r>
            <a:r>
              <a:rPr lang="zh-CN" altLang="en-US" dirty="0"/>
              <a:t>编译器等关键组件做形式化验证，提前排查逻辑错误，让系统更可靠；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楷登电子（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Cadence</a:t>
            </a:r>
            <a:r>
              <a:rPr lang="zh-CN" altLang="en-US" b="1" dirty="0"/>
              <a:t>）</a:t>
            </a:r>
            <a:r>
              <a:rPr lang="zh-CN" altLang="en-US" dirty="0"/>
              <a:t>在硬件验证领域，基于 </a:t>
            </a:r>
            <a:r>
              <a:rPr lang="en-US" altLang="zh-CN" dirty="0"/>
              <a:t>Z3 </a:t>
            </a:r>
            <a:r>
              <a:rPr lang="zh-CN" altLang="en-US" dirty="0"/>
              <a:t>的逻辑推理能力，对超大规模集成电路（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r>
              <a:rPr lang="zh-CN" altLang="en-US" dirty="0"/>
              <a:t>）进行硅前验证，确保芯片设计的功能正确性；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Teleport</a:t>
            </a:r>
            <a:r>
              <a:rPr lang="en-US" altLang="zh-CN" b="1" dirty="0"/>
              <a:t> </a:t>
            </a:r>
            <a:r>
              <a:rPr lang="zh-CN" altLang="en-US" dirty="0"/>
              <a:t>使用 </a:t>
            </a:r>
            <a:r>
              <a:rPr lang="en-US" altLang="zh-CN" dirty="0"/>
              <a:t>Z3 </a:t>
            </a:r>
            <a:r>
              <a:rPr lang="zh-CN" altLang="en-US" dirty="0"/>
              <a:t>对 </a:t>
            </a:r>
            <a:r>
              <a:rPr lang="en-US" altLang="zh-CN" dirty="0"/>
              <a:t>RBAC</a:t>
            </a:r>
            <a:r>
              <a:rPr lang="zh-CN" altLang="en-US" dirty="0"/>
              <a:t>（基于角色的访问控制）模型进行形式化验证，确保权限配置的一致性与安全性，避免因权限漏洞导致的系统风险。</a:t>
            </a:r>
          </a:p>
        </p:txBody>
      </p:sp>
      <p:sp>
        <p:nvSpPr>
          <p:cNvPr id="4" name="AutoShape 2" descr="微软（Microsoft） 的图像结果">
            <a:extLst>
              <a:ext uri="{FF2B5EF4-FFF2-40B4-BE49-F238E27FC236}">
                <a16:creationId xmlns:a16="http://schemas.microsoft.com/office/drawing/2014/main" id="{454FB19B-EB08-2C4D-D66B-13CA45FA86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CE216BF-82B6-28A6-83B4-BB686F586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330" y="1844591"/>
            <a:ext cx="3398508" cy="10439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4C8478C-FD96-101B-1408-227A44DEC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568" y="3276600"/>
            <a:ext cx="2019582" cy="8573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0298F24-379F-74B9-082E-BD87E2325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568" y="4521993"/>
            <a:ext cx="2536113" cy="84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3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5354-ED3D-1C50-2F41-D1EDE2CD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4EDD3-E51F-12B2-9974-DC303922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Z3</a:t>
            </a:r>
            <a:r>
              <a:rPr lang="zh-CN" altLang="en-US" b="1" dirty="0"/>
              <a:t>在逆向工程领域的应用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0C7FF1-031F-5FD3-A069-EAF9D65D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048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Galois</a:t>
            </a:r>
            <a:r>
              <a:rPr lang="en-US" altLang="zh-CN" b="1" dirty="0"/>
              <a:t> </a:t>
            </a:r>
            <a:r>
              <a:rPr lang="zh-CN" altLang="en-US" b="1" dirty="0"/>
              <a:t>公司</a:t>
            </a:r>
            <a:r>
              <a:rPr lang="zh-CN" altLang="en-US" dirty="0"/>
              <a:t>（其开发的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angr</a:t>
            </a:r>
            <a:r>
              <a:rPr lang="zh-CN" altLang="en-US" dirty="0"/>
              <a:t>框架深度集成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zh-CN" altLang="en-US" dirty="0"/>
              <a:t>）通过 </a:t>
            </a:r>
            <a:r>
              <a:rPr lang="en-US" altLang="zh-CN" dirty="0"/>
              <a:t>Z3 </a:t>
            </a:r>
            <a:r>
              <a:rPr lang="zh-CN" altLang="en-US" dirty="0"/>
              <a:t>对程序逻辑建模，可高效求解注册码、解密密钥，或定位代码中的漏洞点。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趋势科技</a:t>
            </a:r>
            <a:r>
              <a:rPr lang="zh-CN" altLang="en-US" dirty="0"/>
              <a:t>等安全厂商利用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en-US" altLang="zh-CN" dirty="0"/>
              <a:t> </a:t>
            </a:r>
            <a:r>
              <a:rPr lang="zh-CN" altLang="en-US" dirty="0"/>
              <a:t>逆向分析恶意软件的混淆代码、加密通信协议，精准推导其攻击逻辑，助力威胁检测。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国内</a:t>
            </a:r>
            <a:r>
              <a:rPr lang="zh-CN" altLang="en-US" b="1" dirty="0"/>
              <a:t>奇安信、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</a:t>
            </a:r>
            <a:r>
              <a:rPr lang="zh-CN" altLang="en-US" dirty="0"/>
              <a:t>等企业在逆向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</a:t>
            </a:r>
            <a:r>
              <a:rPr lang="en-US" altLang="zh-CN" dirty="0"/>
              <a:t> </a:t>
            </a:r>
            <a:r>
              <a:rPr lang="zh-CN" altLang="en-US" dirty="0"/>
              <a:t>攻击样本时，借助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en-US" altLang="zh-CN" dirty="0"/>
              <a:t> </a:t>
            </a:r>
            <a:r>
              <a:rPr lang="zh-CN" altLang="en-US" dirty="0"/>
              <a:t>破解样本的对抗性逻辑，加速漏洞溯源与防御落地。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4135203-A5C6-FB41-CF57-38B8E18FB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047" y="3222563"/>
            <a:ext cx="2810753" cy="10209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A6A44A-9111-98E8-4CE2-181656E5D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046" y="4577495"/>
            <a:ext cx="3398508" cy="10046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1C8738-8C02-1904-02FD-CE032C31B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046" y="1844591"/>
            <a:ext cx="2810753" cy="105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70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DDDB4-4432-25E0-A8BC-BA272A2D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44EC2-3A39-8DB2-1427-DB269EAA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优势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5A664658-E3F3-1D5F-673E-2EF75C3E4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762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b="1" dirty="0"/>
              <a:t>表达能力强</a:t>
            </a:r>
            <a:r>
              <a:rPr lang="zh-CN" altLang="en-US" dirty="0"/>
              <a:t>：支持整数、位向量、数组、量词等多种逻辑理论，能精准建模程序验证的复杂约束、逆向工程的加密逻辑等各类场景。</a:t>
            </a:r>
          </a:p>
          <a:p>
            <a:r>
              <a:rPr lang="zh-CN" altLang="en-US" b="1" dirty="0"/>
              <a:t>集成性优异</a:t>
            </a:r>
            <a:r>
              <a:rPr lang="zh-CN" altLang="en-US" dirty="0"/>
              <a:t>：提供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/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zh-CN" altLang="en-US" dirty="0"/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en-US" altLang="zh-CN" dirty="0"/>
              <a:t> </a:t>
            </a:r>
            <a:r>
              <a:rPr lang="zh-CN" altLang="en-US" dirty="0"/>
              <a:t>等主流多语言接口</a:t>
            </a:r>
            <a:r>
              <a:rPr lang="en-US" altLang="zh-CN" dirty="0"/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Bindings</a:t>
            </a:r>
            <a:r>
              <a:rPr lang="en-US" altLang="zh-CN" dirty="0"/>
              <a:t>)</a:t>
            </a:r>
            <a:r>
              <a:rPr lang="zh-CN" altLang="en-US" dirty="0"/>
              <a:t>，可无缝嵌入一些工具（如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angr</a:t>
            </a:r>
            <a:r>
              <a:rPr lang="zh-CN" altLang="en-US" dirty="0"/>
              <a:t>）、形式化验证框架（如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Dafny</a:t>
            </a:r>
            <a:r>
              <a:rPr lang="zh-CN" altLang="en-US" dirty="0"/>
              <a:t>），适配不同开发与研究流程。</a:t>
            </a:r>
            <a:endParaRPr lang="en-US" altLang="zh-CN" dirty="0"/>
          </a:p>
          <a:p>
            <a:r>
              <a:rPr lang="zh-CN" altLang="en-US" b="1" dirty="0"/>
              <a:t>适用性广泛</a:t>
            </a:r>
            <a:r>
              <a:rPr lang="zh-CN" altLang="en-US" dirty="0"/>
              <a:t>：跨软件验证、逆向工程、硬件设计、区块链安全等多个领域，既能支撑微软、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Cadence</a:t>
            </a:r>
            <a:r>
              <a:rPr lang="en-US" altLang="zh-CN" dirty="0"/>
              <a:t> </a:t>
            </a:r>
            <a:r>
              <a:rPr lang="zh-CN" altLang="en-US" dirty="0"/>
              <a:t>等企业的工业级应用，也能满足学术研究的灵活需求。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4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990F3-BD25-644A-619D-88ECCA65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CAF40-866F-FFAD-36B1-2A3CFA94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7E8EEE-0938-0036-A5A6-662761939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建模门槛高</a:t>
            </a:r>
            <a:r>
              <a:rPr lang="zh-CN" altLang="en-US" dirty="0"/>
              <a:t>：需将程序逻辑精准转化为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</a:t>
            </a:r>
            <a:r>
              <a:rPr lang="en-US" altLang="zh-CN" dirty="0"/>
              <a:t> </a:t>
            </a:r>
            <a:r>
              <a:rPr lang="zh-CN" altLang="en-US" dirty="0"/>
              <a:t>约束，要求使用者具备形式化方法、逻辑推理的专业知识。</a:t>
            </a:r>
          </a:p>
          <a:p>
            <a:r>
              <a:rPr lang="zh-CN" altLang="en-US" b="1" dirty="0"/>
              <a:t>大规模问题性能瓶颈</a:t>
            </a:r>
            <a:r>
              <a:rPr lang="zh-CN" altLang="en-US" dirty="0"/>
              <a:t>：面对超大规模的程序（如百万行代码的系统）或高度混淆的逆向目标，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en-US" altLang="zh-CN" dirty="0"/>
              <a:t> </a:t>
            </a:r>
            <a:r>
              <a:rPr lang="zh-CN" altLang="en-US" dirty="0"/>
              <a:t>的求解时间可能显著增加，甚至无法终止，对于非线性的算法（如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Rijndael-AES</a:t>
            </a:r>
            <a:r>
              <a:rPr lang="zh-CN" altLang="en-US" dirty="0"/>
              <a:t>中的字节替换这种涉及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S-Box</a:t>
            </a:r>
            <a:r>
              <a:rPr lang="zh-CN" altLang="en-US" dirty="0"/>
              <a:t>变换的步骤）需要非常大量的变量建模，大部分基本不可解。</a:t>
            </a:r>
          </a:p>
          <a:p>
            <a:r>
              <a:rPr lang="zh-CN" altLang="en-US" b="1" dirty="0"/>
              <a:t>理论覆盖局限</a:t>
            </a:r>
            <a:r>
              <a:rPr lang="zh-CN" altLang="en-US" dirty="0"/>
              <a:t>：对某些小众理论（如特定密码学原语、异构硬件逻辑）的支持不足，需手动扩展建模。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024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03A1-43EA-9985-E180-05A8186A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C8845-3C53-59A4-DA00-4EC157A1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AF9D13-FFD5-62D9-B5A2-CE79E465D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Z3 </a:t>
            </a:r>
            <a:r>
              <a:rPr lang="zh-CN" altLang="en-US" dirty="0"/>
              <a:t>简介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核心原理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在软件验证与逆向工程中的使用</a:t>
            </a:r>
            <a:endParaRPr lang="en-US" altLang="zh-CN" dirty="0"/>
          </a:p>
          <a:p>
            <a:r>
              <a:rPr lang="en-US" altLang="zh-CN" dirty="0"/>
              <a:t>Z3 </a:t>
            </a:r>
            <a:r>
              <a:rPr lang="zh-CN" altLang="en-US" dirty="0"/>
              <a:t>在其他领域的应用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总结与思考</a:t>
            </a:r>
          </a:p>
        </p:txBody>
      </p:sp>
    </p:spTree>
    <p:extLst>
      <p:ext uri="{BB962C8B-B14F-4D97-AF65-F5344CB8AC3E}">
        <p14:creationId xmlns:p14="http://schemas.microsoft.com/office/powerpoint/2010/main" val="4178292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262D-1A78-FA20-44A2-8DFB4A72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F4D87-220C-9F15-96CF-60446252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地位 </a:t>
            </a:r>
            <a:r>
              <a:rPr lang="en-US" altLang="zh-CN" dirty="0"/>
              <a:t>&amp; </a:t>
            </a:r>
            <a:r>
              <a:rPr lang="zh-CN" altLang="en-US" dirty="0"/>
              <a:t>意义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5433B-0F9D-73D5-8A24-28B74F9AC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58777" cy="28321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en-US" altLang="zh-CN" dirty="0"/>
              <a:t> </a:t>
            </a:r>
            <a:r>
              <a:rPr lang="zh-CN" altLang="en-US" dirty="0"/>
              <a:t>是程序验证和逆向工程领域的</a:t>
            </a:r>
            <a:r>
              <a:rPr lang="zh-CN" altLang="en-US" b="1" dirty="0"/>
              <a:t>基石工具</a:t>
            </a:r>
            <a:endParaRPr lang="en-US" altLang="zh-CN" b="1" dirty="0"/>
          </a:p>
          <a:p>
            <a:r>
              <a:rPr lang="zh-CN" altLang="en-US" dirty="0"/>
              <a:t>在程序验证中，它推动了软件从 “测试驱动” 向 “形式化验证驱动” 的可靠性升级；</a:t>
            </a:r>
            <a:endParaRPr lang="en-US" altLang="zh-CN" dirty="0"/>
          </a:p>
          <a:p>
            <a:r>
              <a:rPr lang="zh-CN" altLang="en-US" dirty="0"/>
              <a:t>在逆向工程中，大幅降低了算法分析、破解的技术门槛，加速了安全研究与漏洞挖掘的效率。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6A8AE3-0FE9-B273-C485-0EF9A71D5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929" y="1690688"/>
            <a:ext cx="3896269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9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E000-7902-0B74-A81A-2A33DC5D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F1440-7775-6479-0FC6-2CB10F84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现有挑战 </a:t>
            </a:r>
            <a:r>
              <a:rPr lang="en-US" altLang="zh-CN" dirty="0"/>
              <a:t>&amp; </a:t>
            </a:r>
            <a:r>
              <a:rPr lang="zh-CN" altLang="en-US" dirty="0"/>
              <a:t>未来展望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CB11D-338C-3BF3-13E6-BF8424719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88682" cy="4351338"/>
          </a:xfrm>
        </p:spPr>
        <p:txBody>
          <a:bodyPr/>
          <a:lstStyle/>
          <a:p>
            <a:r>
              <a:rPr lang="zh-CN" altLang="en-US" b="1" dirty="0"/>
              <a:t>局限：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en-US" altLang="zh-CN" dirty="0"/>
              <a:t> </a:t>
            </a:r>
            <a:r>
              <a:rPr lang="zh-CN" altLang="en-US" dirty="0"/>
              <a:t>的价值依赖于 “建模的准确性”</a:t>
            </a:r>
            <a:r>
              <a:rPr lang="en-US" altLang="zh-CN" dirty="0"/>
              <a:t>—— </a:t>
            </a:r>
            <a:r>
              <a:rPr lang="zh-CN" altLang="en-US" dirty="0"/>
              <a:t>因此使用者的领域知识和建模能力直接决定求解效果。</a:t>
            </a:r>
            <a:endParaRPr lang="en-US" altLang="zh-CN" dirty="0"/>
          </a:p>
          <a:p>
            <a:r>
              <a:rPr lang="zh-CN" altLang="en-US" b="1" dirty="0"/>
              <a:t>展望：</a:t>
            </a:r>
            <a:r>
              <a:rPr lang="zh-CN" altLang="en-US" dirty="0"/>
              <a:t>未来，随着自动化建模技术的进一步完善（如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altLang="zh-CN" dirty="0"/>
              <a:t> </a:t>
            </a:r>
            <a:r>
              <a:rPr lang="zh-CN" altLang="en-US" dirty="0"/>
              <a:t>辅助约束生成）、求解器性能的进一步优化，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Z3</a:t>
            </a:r>
            <a:r>
              <a:rPr lang="en-US" altLang="zh-CN" dirty="0"/>
              <a:t> </a:t>
            </a:r>
            <a:r>
              <a:rPr lang="zh-CN" altLang="en-US" dirty="0"/>
              <a:t>在复杂场景的适用性将持续提升，成为保障软件可靠性、推动逆向分析智能化的关键技术之一。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59D659-01BF-88E1-9A3F-49FDC930D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930" y="1825625"/>
            <a:ext cx="3590614" cy="364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6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9D0BDB94-994B-55D6-B0B6-F9CB00B5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42" r="1278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F2C9A54D-CD05-53B6-C769-CD414AE74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261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6000" dirty="0"/>
              <a:t>感谢聆听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499CF4-D48C-6B1D-FBBB-FF9BFF344A10}"/>
              </a:ext>
            </a:extLst>
          </p:cNvPr>
          <p:cNvSpPr txBox="1"/>
          <p:nvPr/>
        </p:nvSpPr>
        <p:spPr>
          <a:xfrm>
            <a:off x="715517" y="4385473"/>
            <a:ext cx="12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CTF  Blog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A96CA17-19E9-F68E-0A49-852FA2E9B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77" y="2801898"/>
            <a:ext cx="15716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190060EB-D935-2319-9157-CC80E3466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268" y="2801898"/>
            <a:ext cx="15716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C413AA6-3A91-F0B9-4790-2EF0EC842DF0}"/>
              </a:ext>
            </a:extLst>
          </p:cNvPr>
          <p:cNvSpPr txBox="1"/>
          <p:nvPr/>
        </p:nvSpPr>
        <p:spPr>
          <a:xfrm>
            <a:off x="2821414" y="4385473"/>
            <a:ext cx="12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D810-ng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44164D58-1436-0A85-1744-E184A8359B1C}"/>
              </a:ext>
            </a:extLst>
          </p:cNvPr>
          <p:cNvSpPr txBox="1">
            <a:spLocks/>
          </p:cNvSpPr>
          <p:nvPr/>
        </p:nvSpPr>
        <p:spPr>
          <a:xfrm>
            <a:off x="76200" y="5955762"/>
            <a:ext cx="7477125" cy="90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本科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级拔尖班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计算机数理逻辑课程报告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演讲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": ["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孙若时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 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常瀚堃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"], 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组员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": ["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黄子曦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 "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田皓莘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"]}</a:t>
            </a:r>
          </a:p>
        </p:txBody>
      </p:sp>
    </p:spTree>
    <p:extLst>
      <p:ext uri="{BB962C8B-B14F-4D97-AF65-F5344CB8AC3E}">
        <p14:creationId xmlns:p14="http://schemas.microsoft.com/office/powerpoint/2010/main" val="538283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11" grpId="0"/>
          <p:bldP spid="15" grpId="0"/>
          <p:bldP spid="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11" grpId="0"/>
          <p:bldP spid="15" grpId="0"/>
          <p:bldP spid="2" grpId="0"/>
        </p:bldLst>
      </p:timing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2168</Words>
  <Application>Microsoft Office PowerPoint</Application>
  <PresentationFormat>宽屏</PresentationFormat>
  <Paragraphs>213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Inter</vt:lpstr>
      <vt:lpstr>JetBrainsMono NF Light</vt:lpstr>
      <vt:lpstr>Microsoft YaHei UI</vt:lpstr>
      <vt:lpstr>华文宋体</vt:lpstr>
      <vt:lpstr>微软雅黑</vt:lpstr>
      <vt:lpstr>Arial</vt:lpstr>
      <vt:lpstr>Courier New</vt:lpstr>
      <vt:lpstr>Times New Roman</vt:lpstr>
      <vt:lpstr>Office 主题​​</vt:lpstr>
      <vt:lpstr>Z3-Solver</vt:lpstr>
      <vt:lpstr>目录</vt:lpstr>
      <vt:lpstr>Z3 是什么</vt:lpstr>
      <vt:lpstr>架构组成原理</vt:lpstr>
      <vt:lpstr>目录</vt:lpstr>
      <vt:lpstr>Z3实现原理</vt:lpstr>
      <vt:lpstr>SAT 求解器核心-架构</vt:lpstr>
      <vt:lpstr>SAT 求解器核心-数据结构</vt:lpstr>
      <vt:lpstr>SAT 求解器核心-关键组件</vt:lpstr>
      <vt:lpstr>SAT 求解器核心-扩展接口</vt:lpstr>
      <vt:lpstr>其他组件</vt:lpstr>
      <vt:lpstr>目录</vt:lpstr>
      <vt:lpstr>使用Z3</vt:lpstr>
      <vt:lpstr>基本数据类型</vt:lpstr>
      <vt:lpstr>使用：基本数据类型</vt:lpstr>
      <vt:lpstr>基本操作流程</vt:lpstr>
      <vt:lpstr>一些Tricks</vt:lpstr>
      <vt:lpstr>实战 </vt:lpstr>
      <vt:lpstr>软件验证：证明 32 位加法的交换律（位向量）</vt:lpstr>
      <vt:lpstr>软件验证：证明绝对值函数的正确性（整数）</vt:lpstr>
      <vt:lpstr>软件验证：If分支语句</vt:lpstr>
      <vt:lpstr>逆向工程实战：解线性矩阵</vt:lpstr>
      <vt:lpstr>逆向工程实战：MoeCTF2024 babe-Z3</vt:lpstr>
      <vt:lpstr>逆向工程实战：MoeCTF2024 SMCProMax</vt:lpstr>
      <vt:lpstr>逆向工程工具：D810</vt:lpstr>
      <vt:lpstr>目录</vt:lpstr>
      <vt:lpstr>Z3在程序验证领域应用</vt:lpstr>
      <vt:lpstr>Z3在逆向工程领域的应用</vt:lpstr>
      <vt:lpstr>优势</vt:lpstr>
      <vt:lpstr>局限</vt:lpstr>
      <vt:lpstr>目录</vt:lpstr>
      <vt:lpstr>地位 &amp; 意义</vt:lpstr>
      <vt:lpstr>现有挑战 &amp; 未来展望</vt:lpstr>
      <vt:lpstr>感谢聆听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Steesha Jeff</dc:creator>
  <cp:lastModifiedBy>Steesha Jeff</cp:lastModifiedBy>
  <cp:revision>93</cp:revision>
  <dcterms:created xsi:type="dcterms:W3CDTF">2025-11-01T10:36:30Z</dcterms:created>
  <dcterms:modified xsi:type="dcterms:W3CDTF">2025-11-07T01:11:58Z</dcterms:modified>
</cp:coreProperties>
</file>