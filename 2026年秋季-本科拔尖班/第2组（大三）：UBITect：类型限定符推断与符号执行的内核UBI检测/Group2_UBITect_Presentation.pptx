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62" r:id="rId19"/>
    <p:sldId id="264" r:id="rId20"/>
    <p:sldId id="265" r:id="rId21"/>
    <p:sldId id="266" r:id="rId22"/>
    <p:sldId id="267" r:id="rId23"/>
    <p:sldId id="268" r:id="rId24"/>
    <p:sldId id="270" r:id="rId25"/>
    <p:sldId id="273" r:id="rId26"/>
    <p:sldId id="274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2857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211667"/>
          </a:xfrm>
          <a:prstGeom prst="rect">
            <a:avLst/>
          </a:prstGeom>
          <a:gradFill rotWithShape="1">
            <a:gsLst>
              <a:gs pos="0">
                <a:srgbClr val="F3F3F1"/>
              </a:gs>
              <a:gs pos="30000">
                <a:srgbClr val="D5D4D2"/>
              </a:gs>
              <a:gs pos="64000">
                <a:srgbClr val="ACABA9"/>
              </a:gs>
              <a:gs pos="100000">
                <a:srgbClr val="85848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909955" y="1702118"/>
            <a:ext cx="10371455" cy="868680"/>
          </a:xfrm>
          <a:prstGeom prst="roundRect">
            <a:avLst>
              <a:gd name="adj" fmla="val 9163"/>
            </a:avLst>
          </a:prstGeom>
          <a:solidFill>
            <a:srgbClr val="3333B3">
              <a:alpha val="100000"/>
            </a:srgbClr>
          </a:solidFill>
          <a:effectLst>
            <a:outerShdw blurRad="50800" dist="50800" dir="5400000" sx="101000" sy="101000" algn="tl" rotWithShape="0">
              <a:prstClr val="black">
                <a:alpha val="45000"/>
              </a:prstClr>
            </a:outerShdw>
          </a:effectLst>
        </p:spPr>
        <p:txBody>
          <a:bodyPr anchor="ctr"/>
          <a:lstStyle/>
          <a:p>
            <a:pPr algn="ctr">
              <a:buNone/>
            </a:pPr>
            <a:r>
              <a:rPr sz="3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计算机科学使用的数理逻辑 </a:t>
            </a:r>
            <a:r>
              <a:rPr sz="3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( Mathematical Logic Course)</a:t>
            </a:r>
            <a:endParaRPr sz="30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3556000" y="2664143"/>
            <a:ext cx="5080000" cy="249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用 SMT 判定内核未初始化使用</a:t>
            </a:r>
            <a:endParaRPr sz="28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ctr">
              <a:lnSpc>
                <a:spcPct val="200000"/>
              </a:lnSpc>
              <a:buNone/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UBITect 复现与案例分析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ctr">
              <a:lnSpc>
                <a:spcPct val="200000"/>
              </a:lnSpc>
              <a:buNone/>
            </a:pPr>
            <a:r>
              <a:rPr sz="2600">
                <a:solidFill>
                  <a:schemeClr val="tx1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第二组 · 2026.10.22</a:t>
            </a:r>
            <a:endParaRPr sz="2600">
              <a:solidFill>
                <a:schemeClr val="tx1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/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62547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1619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本汇报的主线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1805" y="1250633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核心问题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1805" y="1803083"/>
            <a:ext cx="10858500" cy="76009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如何在内核规模上，从大量候选告警中区分真实缺陷和误报？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1805" y="2864168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分析流程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1805" y="3416935"/>
            <a:ext cx="11148060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候选生成：用轻量分析覆盖整个内核，筛出可疑使用点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精确验证：结合控制流与执行条件，判断候选路径是否真的可达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结果判定：确认真实缺陷，排除路径不可达或未初始化条件不成立造成的误报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未初始化使用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74155" y="897890"/>
            <a:ext cx="11243691" cy="1219200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474155" y="897890"/>
            <a:ext cx="11243691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  <p:txBody>
          <a:bodyPr/>
          <a:lstStyle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90550" y="93599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定义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04850" y="158750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变量在未赋值时被读取，读到的就是栈上的残留值。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74155" y="4552950"/>
            <a:ext cx="11243691" cy="1905000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474155" y="4552950"/>
            <a:ext cx="11243691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0550" y="4592325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例子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5128260"/>
            <a:ext cx="10668000" cy="152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l">
              <a:lnSpc>
                <a:spcPct val="13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struct test_struct *backlog;   // 未初始化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0" algn="l">
              <a:lnSpc>
                <a:spcPct val="13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if (a) backlog = init;         // a = 0 时跳过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0" algn="l">
              <a:lnSpc>
                <a:spcPct val="13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if (backlog) backlog-&gt;irq = 0; // 第 25 / 26 行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2" name="矩形 31"/>
          <p:cNvSpPr>
            <a:spLocks noGrp="1"/>
          </p:cNvSpPr>
          <p:nvPr/>
        </p:nvSpPr>
        <p:spPr>
          <a:xfrm>
            <a:off x="471805" y="231775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难点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3" name="矩形 32"/>
          <p:cNvSpPr>
            <a:spLocks noGrp="1"/>
          </p:cNvSpPr>
          <p:nvPr/>
        </p:nvSpPr>
        <p:spPr>
          <a:xfrm>
            <a:off x="471805" y="2682875"/>
            <a:ext cx="11004550" cy="1645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不是“写错了”，是“某条路径上没写”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判空也算使用：读指针的那一刻就违规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人工难以穷举所有路径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，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保守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静态分析</a:t>
            </a:r>
            <a:r>
              <a:rPr lang="zh-CN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也只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能说“可能”，说不清走不走得到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论文的</a:t>
            </a:r>
            <a:r>
              <a:rPr lang="zh-CN" altLang="en-US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实验评估框架</a:t>
            </a:r>
            <a:endParaRPr lang="zh-CN" altLang="en-US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v68-rq1-heading"/>
          <p:cNvSpPr>
            <a:spLocks noGrp="1"/>
          </p:cNvSpPr>
          <p:nvPr/>
        </p:nvSpPr>
        <p:spPr>
          <a:xfrm>
            <a:off x="571500" y="783590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RQ1：</a:t>
            </a:r>
            <a:r>
              <a:rPr lang="zh-CN" altLang="en-US"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能不能发现已知的未初始化漏洞</a:t>
            </a:r>
            <a:endParaRPr lang="zh-CN" altLang="en-US" sz="255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v68-rq1-body"/>
          <p:cNvSpPr>
            <a:spLocks noGrp="1"/>
          </p:cNvSpPr>
          <p:nvPr/>
        </p:nvSpPr>
        <p:spPr>
          <a:xfrm>
            <a:off x="571500" y="1193165"/>
            <a:ext cx="10173970" cy="10172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在修复前源码上运行工具，检查 8 个历史 UBI 缺陷能否重新检出。</a:t>
            </a:r>
            <a:endParaRPr lang="zh-CN" altLang="en-US"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论文报告 8/8</a:t>
            </a:r>
            <a:r>
              <a:rPr lang="en-US" altLang="zh-CN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；</a:t>
            </a: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本组重点复现该流程</a:t>
            </a:r>
            <a:r>
              <a:rPr lang="en-US" altLang="zh-CN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,</a:t>
            </a: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目前有 3 个案例在缺陷相关位置得到了静态告警</a:t>
            </a: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。</a:t>
            </a:r>
            <a:endParaRPr lang="zh-CN" altLang="en-US"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v68-rq2-heading"/>
          <p:cNvSpPr>
            <a:spLocks noGrp="1"/>
          </p:cNvSpPr>
          <p:nvPr/>
        </p:nvSpPr>
        <p:spPr>
          <a:xfrm>
            <a:off x="571500" y="2211070"/>
            <a:ext cx="11049000" cy="4959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RQ2：</a:t>
            </a:r>
            <a:r>
              <a:rPr lang="zh-CN" altLang="en-US"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能不能在 </a:t>
            </a:r>
            <a:r>
              <a:rPr lang="en-US" altLang="zh-CN"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Linux 4.14 </a:t>
            </a:r>
            <a:r>
              <a:rPr lang="zh-CN" altLang="en-US"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中发现新问题</a:t>
            </a:r>
            <a:endParaRPr lang="zh-CN" altLang="en-US" sz="255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v68-rq2-body"/>
          <p:cNvSpPr>
            <a:spLocks noGrp="1"/>
          </p:cNvSpPr>
          <p:nvPr/>
        </p:nvSpPr>
        <p:spPr>
          <a:xfrm>
            <a:off x="571500" y="2668270"/>
            <a:ext cx="11049000" cy="15735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这是在检验工具的实际发现能力和规模扩展能力。</a:t>
            </a:r>
            <a:endParaRPr lang="zh-CN" altLang="en-US"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面对的是完整的 </a:t>
            </a:r>
            <a:r>
              <a:rPr lang="en-US" altLang="zh-CN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Linux 4.14 </a:t>
            </a: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内核</a:t>
            </a:r>
            <a:r>
              <a: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，生成候选后逐项验证，并由人工判定新缺陷。</a:t>
            </a:r>
            <a:endParaRPr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论文完成全核评估；本组仅完成输入准备。</a:t>
            </a:r>
            <a:endParaRPr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v68-rq3-heading"/>
          <p:cNvSpPr>
            <a:spLocks noGrp="1"/>
          </p:cNvSpPr>
          <p:nvPr/>
        </p:nvSpPr>
        <p:spPr>
          <a:xfrm>
            <a:off x="571500" y="4217035"/>
            <a:ext cx="1104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RQ3：</a:t>
            </a:r>
            <a:r>
              <a:rPr lang="zh-CN" altLang="en-US" sz="255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和其他静态分析工具比怎么样</a:t>
            </a:r>
            <a:endParaRPr lang="zh-CN" altLang="en-US" sz="255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v68-rq3-body"/>
          <p:cNvSpPr>
            <a:spLocks noGrp="1"/>
          </p:cNvSpPr>
          <p:nvPr/>
        </p:nvSpPr>
        <p:spPr>
          <a:xfrm>
            <a:off x="571500" y="4674235"/>
            <a:ext cx="11049000" cy="1320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这是在回答：</a:t>
            </a:r>
            <a:r>
              <a:rPr lang="en-US" altLang="zh-CN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UBITect </a:t>
            </a:r>
            <a:r>
              <a:rPr lang="zh-CN" altLang="en-US"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的两阶段设计，是否真的比单独使用已有工具更好。</a:t>
            </a:r>
            <a:endParaRPr lang="zh-CN" altLang="en-US"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对比 cppcheck、Clang 的误报率和扩展能力，判断两阶段设计的相对优势。</a:t>
            </a:r>
            <a:endParaRPr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论文完成比较；本组尚未展开。</a:t>
            </a:r>
            <a:endParaRPr sz="2025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8" name="v68-scope"/>
          <p:cNvSpPr>
            <a:spLocks noGrp="1"/>
          </p:cNvSpPr>
          <p:nvPr/>
        </p:nvSpPr>
        <p:spPr>
          <a:xfrm>
            <a:off x="571500" y="6184265"/>
            <a:ext cx="110490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025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025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本次重点：RQ1；RQ2、RQ3 仅说明边界。</a:t>
            </a:r>
            <a:endParaRPr sz="2025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核心矛盾：宽与准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805" y="1459699"/>
            <a:ext cx="10858500" cy="3938602"/>
            <a:chOff x="743" y="1970"/>
            <a:chExt cx="17100" cy="6202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43" y="1970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已有两类方法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43" y="2840"/>
              <a:ext cx="17100" cy="1671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>
                <a:lnSpc>
                  <a:spcPct val="150000"/>
                </a:lnSpc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静态推断：用保守近似覆盖全量代码，目标是不漏；但会引入大量误报。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>
                <a:lnSpc>
                  <a:spcPct val="150000"/>
                </a:lnSpc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路径验证：检查具体路径条件，误报较少；但路径爆炸且依赖模型，难扩展。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43" y="4790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UBITect 的两阶段方案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43" y="5660"/>
              <a:ext cx="17100" cy="2512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>
                <a:lnSpc>
                  <a:spcPct val="150000"/>
                </a:lnSpc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先粗后精：静态推断扫描全内核，生成候选点和路径引导。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>
                <a:lnSpc>
                  <a:spcPct val="150000"/>
                </a:lnSpc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定向验证：只对候选执行符号执行与约束求解，排除不可达或已初始化情况。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>
                <a:lnSpc>
                  <a:spcPct val="150000"/>
                </a:lnSpc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设计收益：保留全内核覆盖，同时用高成本分析只处理少量候选。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两阶段方法</a:t>
            </a: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具体</a:t>
            </a: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实现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1805" y="807720"/>
            <a:ext cx="510476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第一阶段：</a:t>
            </a:r>
            <a:r>
              <a:rPr lang="zh-CN"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流敏感的</a:t>
            </a:r>
            <a:r>
              <a:rPr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限定符推断</a:t>
            </a:r>
            <a:endParaRPr sz="24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1805" y="1204595"/>
            <a:ext cx="10858500" cy="13887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为程序中相关的变量和值维护 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init </a:t>
            </a:r>
            <a:r>
              <a:rPr lang="zh-CN" altLang="en-US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或 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uninit </a:t>
            </a:r>
            <a:r>
              <a:rPr lang="zh-CN" altLang="en-US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状态，并沿控制流传播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；在分支汇合处保守合并。它不逐一枚举具体路径，</a:t>
            </a:r>
            <a:r>
              <a:rPr 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只做控制流上的状态传播</a:t>
            </a:r>
            <a:r>
              <a:rPr lang="en-US" alt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，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能以较低成本覆盖全内核，同时输出候选点和路径引导，但也会把不可达情况带入候选，产生误报。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1805" y="270065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第二阶段：路径验证</a:t>
            </a:r>
            <a:endParaRPr sz="24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1805" y="3157855"/>
            <a:ext cx="10858500" cy="2813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针对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每个候选收集从</a:t>
            </a:r>
            <a:r>
              <a:rPr 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变量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分配点到使用点的路径条件，并利用第一阶段引导跳过不可达或会完成初始化的基本块。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KLEE 展开候选路径并生成</a:t>
            </a:r>
            <a:r>
              <a:rPr lang="en-US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SMT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约束，Z3 判断这些条件能否同时满足。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SAT：存在见证输入，缺陷成立；UNSAT：路径不可行，候选为误报；模型无法表达时记为未知。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核心作用是用</a:t>
            </a:r>
            <a:r>
              <a:rPr 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“不可满足”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结果过滤误报，但结论仅限当前程序模型。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39395" y="4593590"/>
            <a:ext cx="10858500" cy="2813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000"/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71805" y="5970905"/>
            <a:ext cx="10858500" cy="4673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20000"/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第一阶段负责把全内核缩小到少量候选，第二阶段负责对候选给出可判定结论。</a:t>
            </a:r>
            <a:endParaRPr lang="zh-CN" altLang="en-US" sz="22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样例一：状态传播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17475" y="1100000"/>
            <a:ext cx="6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声明后的状态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17475" y="1650000"/>
            <a:ext cx="6380000" cy="365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：x 的内存位置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Γ：类型环境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C：内存状态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Γ(p) = init ref(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)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0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(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) = uninit int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知道地址，不代表地址中的内容已经初始化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basic(int flag)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*p = &amp;x;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(flag)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*p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(*p) { /* ... */ 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样例一：分支合并与读取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15" y="1050290"/>
            <a:ext cx="6440170" cy="2384425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00000" y="1090000"/>
            <a:ext cx="62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分支状态与合并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600000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flag ≠ 0：执行 *p = 1，x 为 init int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flag = 0：跳过赋值，x 为 uninit int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init int ⊔ uninit int = uninit int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299695" y="3671640"/>
            <a:ext cx="63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读取判断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299710" y="4041775"/>
            <a:ext cx="6449695" cy="170053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Γ,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1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⊢ !p : uninit int,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1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p 拥有地址，不代表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中的内容已初始化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存在未初始化分支，合并后无法保证初始化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basic(int flag)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*p = &amp;x;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(flag)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*p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(*p) { /* ... */ 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样例一：约束冲突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15" y="1050290"/>
            <a:ext cx="6440170" cy="1927225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299710" y="1090295"/>
            <a:ext cx="221234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待推断标签 κ</a:t>
            </a:r>
            <a:r>
              <a:rPr sz="1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</a:t>
            </a:r>
            <a:endParaRPr lang="en-US" sz="3600" baseline="-250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593015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数据流要求：uninit ⪯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κ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条件判断要求：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κ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⪯ 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49860" y="3250000"/>
            <a:ext cx="63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判定与候选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49860" y="3620000"/>
            <a:ext cx="6450000" cy="285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合取链：uninit ⪯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κ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⪯ 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不存在满足该方向的类型赋值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选择 flag = 0，可找到局部可行路径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约束冲突，得到候选 UBI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basic(int flag)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*p = &amp;x;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(flag)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*p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(*p) { /* ... */ 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84060" y="1010920"/>
            <a:ext cx="434975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en-US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（</a:t>
            </a:r>
            <a:r>
              <a:rPr lang="zh-CN" altLang="en-US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表示</a:t>
            </a:r>
            <a:r>
              <a:rPr lang="en-US" altLang="zh-CN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*p</a:t>
            </a:r>
            <a:r>
              <a:rPr lang="zh-CN" altLang="en-US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这次读</a:t>
            </a:r>
            <a:r>
              <a:rPr lang="zh-CN" altLang="en-US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出值的标签</a:t>
            </a:r>
            <a:r>
              <a:rPr lang="en-US" sz="3600" baseline="-250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）</a:t>
            </a:r>
            <a:endParaRPr lang="en-US" sz="3600" baseline="-250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样例二：函数摘要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52400" y="1100000"/>
            <a:ext cx="6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摘要生成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52415" y="1649730"/>
            <a:ext cx="6379845" cy="2621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κ：*out 在调用前的未知限定符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ok ≠ 0 → init；ok = 0 → 保留 κ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QR：out、ok 可用；*out 无需预初始化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QU：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Q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out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= κ ⊔ 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样例二：代入调用者状态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15" y="1050290"/>
            <a:ext cx="6440170" cy="2384425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00000" y="1090000"/>
            <a:ext cx="62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调用处约束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600000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0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(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) = uninit int ⇒ κ = uninit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Q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out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= uninit ⊔ init = uninit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因此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1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(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ρ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) = uninit int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51765" y="3637985"/>
            <a:ext cx="63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上下文敏感性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51780" y="4008120"/>
            <a:ext cx="6840220" cy="238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实参 &amp;x 对应形参 out，*out 对应调用者中的 x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if (x) 再次出现 uninit 与 init 的冲突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若调用者先写 x = 0，则 κ = init，输出仍为 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同一摘要随调用者状态得到不同结果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lang="en-US"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</a:t>
            </a: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样例二：路径探索指导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15" y="1050290"/>
            <a:ext cx="6440170" cy="2283460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00000" y="1090000"/>
            <a:ext cx="62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avoidlist 与 mustlist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600000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l" fontAlgn="auto">
              <a:lnSpc>
                <a:spcPct val="13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avoidlist：会初始化目标值，或无法到达使用的块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5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mustlist：未初始化来源与目标使用的块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9715" y="3521075"/>
            <a:ext cx="6448425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按指导验证路径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9715" y="3891280"/>
            <a:ext cx="6602095" cy="236918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fill 中执行 *out = 1 的相关块进入 avoidlist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caller 中分配 x 与 if (x) 的相关块进入 mustlist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选择 ok = 0，使 fill 提前返回且未写 x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路径 ok = 0 可满足，找到跨函数 UBI 路径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339725" y="1059815"/>
            <a:ext cx="4679950" cy="5302250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样例三：返回值检查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390500" y="1100000"/>
            <a:ext cx="6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类型阶段仍可能告警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390515" y="1649730"/>
            <a:ext cx="6379845" cy="23933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fill 的摘要仍为 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Q</a:t>
            </a:r>
            <a:r>
              <a:rPr sz="1600" baseline="-250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out</a:t>
            </a: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 = κ ⊔ init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初始化标签的合并未必保留“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ret = 0 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与 </a:t>
            </a:r>
            <a:r>
              <a:rPr lang="en-US" altLang="zh-CN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x </a:t>
            </a:r>
            <a:r>
              <a:rPr lang="zh-CN" altLang="en-US"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初始化同时发生”的关联</a:t>
            </a:r>
            <a:endParaRPr lang="zh-CN" altLang="en-US"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因此 if (x) 仍可能被标为可疑使用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checked_caller(int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ret = 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(ret != 0)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样例三：路径条件判定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00" y="1050000"/>
            <a:ext cx="6440000" cy="2080000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00000" y="1090000"/>
            <a:ext cx="62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搜索未初始化且到达使用的路径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600000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避开初始化：走 fill 失败分支，ok = 0、ret = -1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到达 if (x)：通过返回值检查，ret = 0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39700" y="3250000"/>
            <a:ext cx="63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条件不可满足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39700" y="3620000"/>
            <a:ext cx="6450000" cy="285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路径公式：(ok = 0) ∧ (ret = -1) ∧ (ret = 0)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ret = -1 与 ret = 0 不可同时成立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失败路径在使用前退出，成功路径已经初始化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不存在目标路径，候选作为误报排除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39725" y="1059815"/>
            <a:ext cx="4679950" cy="5302250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8" name="圆角矩形 17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ym typeface="+mn-ea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checked_caller(int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ret = 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(ret != 0)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局部搜索的边界</a:t>
            </a:r>
            <a:endParaRPr lang="zh-CN"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200015" y="1050290"/>
            <a:ext cx="6440170" cy="2486660"/>
          </a:xfrm>
          <a:prstGeom prst="roundRect">
            <a:avLst>
              <a:gd name="adj" fmla="val 3810"/>
            </a:avLst>
          </a:prstGeom>
          <a:solidFill>
            <a:srgbClr val="E8E7EF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5200000" y="1050000"/>
            <a:ext cx="6440000" cy="533400"/>
          </a:xfrm>
          <a:prstGeom prst="roundRect">
            <a:avLst>
              <a:gd name="adj" fmla="val 14286"/>
            </a:avLst>
          </a:prstGeom>
          <a:solidFill>
            <a:srgbClr val="262686"/>
          </a:solidFill>
          <a:ln w="0">
            <a:noFill/>
          </a:ln>
          <a:effectLst>
            <a:outerShdw blurRad="50800" dist="38100" dir="5400000" algn="t" rotWithShape="0">
              <a:srgbClr val="5656A0"/>
            </a:outerShdw>
          </a:effectLst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5300000" y="1090000"/>
            <a:ext cx="62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欠约束符号执行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340000" y="1600000"/>
            <a:ext cx="6100000" cy="143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从相关局部函数入口开始，构造符号参数与必要内存环境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l">
              <a:lnSpc>
                <a:spcPct val="120000"/>
              </a:lnSpc>
              <a:buNone/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沿相关函数调用继续执行，并维护本次搜索的调用栈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340335" y="3789115"/>
            <a:ext cx="63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解释边界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340350" y="4159250"/>
            <a:ext cx="6856730" cy="28498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外部调用者施加的约束可能缺失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若全局只调用 caller(1)，局部仍可能允许 ok = 0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局部可行不等于全局可触发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候选路径仍需结合真实调用环境核验</a:t>
            </a:r>
            <a:endParaRPr sz="24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39725" y="1059815"/>
            <a:ext cx="4679950" cy="509714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340000" y="1060000"/>
            <a:ext cx="4680000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23" name="矩形 15"/>
          <p:cNvSpPr>
            <a:spLocks noGrp="1"/>
          </p:cNvSpPr>
          <p:nvPr/>
        </p:nvSpPr>
        <p:spPr>
          <a:xfrm>
            <a:off x="450000" y="1100000"/>
            <a:ext cx="44000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样例代码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4" name="矩形 16"/>
          <p:cNvSpPr>
            <a:spLocks noGrp="1"/>
          </p:cNvSpPr>
          <p:nvPr/>
        </p:nvSpPr>
        <p:spPr>
          <a:xfrm>
            <a:off x="450000" y="1650000"/>
            <a:ext cx="4350000" cy="45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int fill(int *out,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     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(!ok)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marL="457200" lvl="1"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return -1;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*out = 1;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return 0;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void caller(int ok) {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int x;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indent="457200"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fill(&amp;x, ok);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if (x) { /* ... */ } 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lnSpc>
                <a:spcPct val="100000"/>
              </a:lnSpc>
              <a:buNone/>
              <a:def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0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0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工具与搭建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805" y="1175703"/>
            <a:ext cx="10858500" cy="4506595"/>
            <a:chOff x="743" y="1221"/>
            <a:chExt cx="17100" cy="7097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43" y="1221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组件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43" y="1941"/>
              <a:ext cx="17100" cy="183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Ubuntu 16.04.6（8 CPU / 15.64 GiB）、UBITect v1.0.0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LLVM / Clang 7.0.0 + BBTag、Z3 4.8.9、KLEE 1.4.0.0（修改版）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43" y="4162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搭建顺序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43" y="4882"/>
              <a:ext cx="17100" cy="3436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1. 构建 LLVM / Clang 7.0.0（含 BBTag）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2. 编译 UBITect v1.0.0，再构建 Z3 与 KLEE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3. 使用 UBITect 检测 backlog.c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4. 使用 UBITect 检测 8 个历史漏洞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案例一：backlog.c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2059" y="114300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缺陷位置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2059" y="1695450"/>
            <a:ext cx="10858500" cy="1859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 25 行判断 backlog 是否为空，第 26 行解引用它的 irq 成员。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a = 0 时，第一处赋值被跳过。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这两处就是第二阶段要验证的候选点。</a:t>
            </a:r>
            <a:endParaRPr sz="24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74345" y="3760470"/>
            <a:ext cx="11243945" cy="2635885"/>
          </a:xfrm>
          <a:prstGeom prst="roundRect">
            <a:avLst>
              <a:gd name="adj" fmla="val 2667"/>
            </a:avLst>
          </a:prstGeom>
          <a:solidFill>
            <a:srgbClr val="E4EDE2"/>
          </a:solidFill>
          <a:ln w="0">
            <a:noFill/>
          </a:ln>
          <a:effectLst>
            <a:outerShdw blurRad="63500" dist="63500" dir="5400000" sx="101000" sy="101000" algn="tl" rotWithShape="0">
              <a:prstClr val="black">
                <a:alpha val="37000"/>
              </a:prstClr>
            </a:outerShdw>
          </a:effectLst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474155" y="3760470"/>
            <a:ext cx="11243691" cy="533400"/>
          </a:xfrm>
          <a:prstGeom prst="roundRect">
            <a:avLst>
              <a:gd name="adj" fmla="val 14286"/>
            </a:avLst>
          </a:prstGeom>
          <a:solidFill>
            <a:srgbClr val="006000"/>
          </a:solidFill>
          <a:ln w="0">
            <a:noFill/>
          </a:ln>
          <a:effectLst>
            <a:outerShdw blurRad="50800" dist="38100" dir="5400000" algn="t" rotWithShape="0">
              <a:srgbClr val="568F56"/>
            </a:outerShdw>
          </a:effectLst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0550" y="3798570"/>
            <a:ext cx="8572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4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例子：源码</a:t>
            </a:r>
            <a:endParaRPr sz="24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04850" y="4427220"/>
            <a:ext cx="10668000" cy="185864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struct test_struct *backlog;   // 未初始化</a:t>
            </a:r>
            <a:endParaRPr sz="24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buNone/>
              <a:def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if (a) backlog = init;</a:t>
            </a:r>
            <a:endParaRPr sz="24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buNone/>
              <a:def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if (backlog) {</a:t>
            </a:r>
            <a:endParaRPr sz="24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buNone/>
              <a:def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    backlog-&gt;irq = 0;</a:t>
            </a:r>
            <a:endParaRPr sz="24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  <a:p>
            <a:pPr algn="l">
              <a:buNone/>
              <a:def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2400">
                <a:solidFill>
                  <a:srgbClr val="000000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}</a:t>
            </a:r>
            <a:endParaRPr sz="2400">
              <a:solidFill>
                <a:srgbClr val="000000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backlog.c：实验结果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6250" y="1017270"/>
            <a:ext cx="5334000" cy="4823460"/>
            <a:chOff x="750" y="1290"/>
            <a:chExt cx="8400" cy="7596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50" y="1290"/>
              <a:ext cx="645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结果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50" y="2025"/>
              <a:ext cx="8400" cy="2475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4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第 25、26 行各一条候选，KLEE 均返回 find=Yes。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4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见证 input_0=0x0，对应 a=0。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50" y="4860"/>
              <a:ext cx="645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含义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50" y="5580"/>
              <a:ext cx="8400" cy="3307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4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当 a=0 时，赋值分支被跳过，后续仍读取 backlog。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4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两条告警对应同一缺陷模式的两个使用位置。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783431"/>
            <a:ext cx="5715000" cy="321468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825" y="4509135"/>
            <a:ext cx="2861310" cy="160972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4512945"/>
            <a:ext cx="2818765" cy="16059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项目案例演示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pic>
        <p:nvPicPr>
          <p:cNvPr id="20" name="UBITect 演示录屏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52500" y="714375"/>
            <a:ext cx="10287000" cy="5786438"/>
          </a:xfrm>
          <a:prstGeom prst="rect">
            <a:avLst/>
          </a:prstGeom>
          <a:ln w="19050">
            <a:solidFill>
              <a:srgbClr val="3333B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762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真实历史缺陷 1a92b2b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6250" y="965200"/>
            <a:ext cx="5778500" cy="4927600"/>
            <a:chOff x="750" y="1290"/>
            <a:chExt cx="9100" cy="7760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50" y="1290"/>
              <a:ext cx="645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缺陷位置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50" y="1883"/>
              <a:ext cx="9100" cy="3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drivers/crypto/mv_cesa.c，函数 queue_manag。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第 598 行声明 backlog，仅在 ENGINE_IDLE 分支赋值。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第 616 行判断，第 617 行调用其回调成员。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50" y="5135"/>
              <a:ext cx="645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修复与意义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50" y="5810"/>
              <a:ext cx="8722" cy="324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上游修复：在声明处直接置 NULL。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同一局部配置下，修复后静态告警为 0。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backlog.c 是官方教程，1a92b2b 是真实驱动；两者共享缺陷模式，但不是同一个文件。</a:t>
              </a:r>
              <a:endPara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610" y="783590"/>
            <a:ext cx="5215890" cy="293433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610" y="3717925"/>
            <a:ext cx="5215890" cy="2885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案例二：结果与边界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805" y="1061720"/>
            <a:ext cx="10858500" cy="4734560"/>
            <a:chOff x="743" y="1800"/>
            <a:chExt cx="17100" cy="7456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43" y="1800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结果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43" y="2520"/>
              <a:ext cx="17100" cy="3334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每轮 3 条原始记录：第 616 行 1 条，第 617 行 2 条。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三轮共 9 次 KLEE 调度，均为 find=Yes；按源码位置归并为 2 组。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9 条记录不代表 9 个缺陷；input_0 不存在，完整内核可达性为 UNKNOWN，最终状态为 FEASIBLE_CANDIDATE。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43" y="6005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边界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43" y="6876"/>
              <a:ext cx="17100" cy="238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日志含 inline assembly unsupported，以及多个外部调用的符号化处理。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结论仅来自欠约束模型，不等同于证明真实设备可触发。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论文的 8/8 是完整环境结论，不能与本次候选结论互相替代。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Linux 4.14 输入准备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71805" y="875983"/>
            <a:ext cx="10858500" cy="5106035"/>
            <a:chOff x="743" y="1800"/>
            <a:chExt cx="17100" cy="8041"/>
          </a:xfrm>
        </p:grpSpPr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743" y="1800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规模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743" y="2670"/>
              <a:ext cx="17100" cy="300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有效分析模块 16,063 个。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IR 函数体 616,893 个。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原始 .llbc 约 3.64 GiB；BBTag 后 .bc 约 4.27 GiB。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00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配置：allyesconfig 后关闭 KASAN、KCOV、MODVERSIONS。</a:t>
              </a:r>
              <a:endPara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/>
          </p:nvSpPr>
          <p:spPr>
            <a:xfrm>
              <a:off x="743" y="6440"/>
              <a:ext cx="6900" cy="720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algn="l">
                <a:buNone/>
                <a:def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600">
                  <a:solidFill>
                    <a:srgbClr val="0000FF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边界</a:t>
              </a:r>
              <a:endPara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/>
          </p:nvSpPr>
          <p:spPr>
            <a:xfrm>
              <a:off x="743" y="7310"/>
              <a:ext cx="17100" cy="2531"/>
            </a:xfrm>
            <a:prstGeom prst="rect">
              <a:avLst/>
            </a:prstGeom>
            <a:noFill/>
            <a:ln w="0">
              <a:noFill/>
            </a:ln>
          </p:spPr>
          <p:txBody>
            <a:bodyPr anchor="t">
              <a:noAutofit/>
            </a:bodyPr>
            <a:lstStyle/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LLVM 读取失败 0，C 对象缺失 bitcode 0；16,063 个模块均留下成功记录。</a:t>
              </a:r>
              <a:endParaRPr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函数体总数与论文报告一致，但不代表输入完全相同。</a:t>
              </a:r>
              <a:endParaRPr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  <a:p>
              <a:pPr marL="342900" indent="-342900" algn="l">
                <a:lnSpc>
                  <a:spcPct val="150000"/>
                </a:lnSpc>
                <a:buSzPct val="120000"/>
                <a:buBlip>
                  <a:blip r:embed="rId1"/>
                </a:buBlip>
                <a:defRPr sz="2025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defRPr>
              </a:pPr>
              <a:r>
                <a:rPr sz="2200">
                  <a:solidFill>
                    <a:srgbClr val="FF0000"/>
                  </a:solidFill>
                  <a:latin typeface="Times New Roman" panose="02020503050405090304"/>
                  <a:ea typeface="楷体"/>
                  <a:cs typeface="Times New Roman" panose="02020503050405090304"/>
                </a:rPr>
                <a:t>全内核 UBITect 静态检测与全内核 KLEE 筛选均未执行。</a:t>
              </a:r>
              <a:endParaRPr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537952"/>
          </a:xfrm>
          <a:prstGeom prst="rect">
            <a:avLst/>
          </a:prstGeom>
          <a:gradFill rotWithShape="1">
            <a:gsLst>
              <a:gs pos="0">
                <a:srgbClr val="3333B1"/>
              </a:gs>
              <a:gs pos="50000">
                <a:srgbClr val="1B1B5F"/>
              </a:gs>
              <a:gs pos="100000">
                <a:srgbClr val="000001"/>
              </a:gs>
            </a:gsLst>
            <a:lin ang="0" scaled="1"/>
            <a:tileRect/>
          </a:gradFill>
          <a:ln>
            <a:noFill/>
          </a:ln>
          <a:effectLst>
            <a:outerShdw blurRad="50800" dist="76200" dir="5400000" sx="101000" sy="101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239268" y="7334"/>
            <a:ext cx="8572500" cy="523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结论</a:t>
            </a:r>
            <a:endParaRPr sz="2800">
              <a:solidFill>
                <a:srgbClr val="FFFF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2059" y="75184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完成的部分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71805" y="1304290"/>
            <a:ext cx="11610975" cy="1859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完成</a:t>
            </a: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公开实现与官方教程：第 25、26 行生成候选，KLEE 确认，见证输入 input_0 = 0x0。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真实历史缺陷 1a92b2b：第 616、617 行得到候选路径；应用修复后静态告警为 0。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Linux 4.14：16,063 个模块、616,893 个 IR 函数体；仅完成输入准备，未完成全核检测。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72059" y="3228340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buNone/>
              <a:def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6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本质与边界</a:t>
            </a:r>
            <a:endParaRPr sz="26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71805" y="3780790"/>
            <a:ext cx="11193780" cy="155511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方法本质：把路径可达性编码为一阶逻辑公式，判断 P ∧ U 是否有解。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SAT：存在见证输入，缺陷确认；UNSAT：路径不可达或变量已初始化，候选排除。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marL="342900" indent="-342900" algn="l">
              <a:lnSpc>
                <a:spcPct val="150000"/>
              </a:lnSpc>
              <a:buSzPct val="120000"/>
              <a:buBlip>
                <a:blip r:embed="rId1"/>
              </a:buBlip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sz="2200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模型边界：结论仅在当前程序模型下成立；无法完整编码时记为未知。</a:t>
            </a:r>
            <a:endParaRPr sz="2200">
              <a:solidFill>
                <a:srgbClr val="00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1805" y="5335905"/>
            <a:ext cx="10858500" cy="107569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indent="0" algn="l">
              <a:lnSpc>
                <a:spcPct val="150000"/>
              </a:lnSpc>
              <a:buSzPct val="120000"/>
              <a:buNone/>
              <a:defRPr sz="2025">
                <a:solidFill>
                  <a:srgbClr val="000000"/>
                </a:solidFill>
                <a:latin typeface="Times New Roman" panose="02020503050405090304"/>
                <a:ea typeface="楷体"/>
                <a:cs typeface="Times New Roman" panose="02020503050405090304"/>
              </a:defRPr>
            </a:pPr>
            <a:r>
              <a:rPr lang="zh-CN" altLang="en-US"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总结</a:t>
            </a:r>
            <a:r>
              <a:rPr lang="en-US" altLang="zh-CN"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：</a:t>
            </a:r>
            <a:r>
              <a:rPr lang="zh-CN" altLang="en-US" sz="22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这次复现验证了工具的基本运行流程，也通过真实案例展示了它的作用，同时明确了它在程序建模和可判定性上的边界。</a:t>
            </a:r>
            <a:endParaRPr lang="zh-CN" altLang="en-US" sz="22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VectorPath 2"/>
          <p:cNvSpPr>
            <a:spLocks noGrp="1"/>
          </p:cNvSpPr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4608005" h="3456000">
                <a:moveTo>
                  <a:pt x="0" y="3456000"/>
                </a:moveTo>
                <a:lnTo>
                  <a:pt x="4608005" y="3456000"/>
                </a:lnTo>
                <a:lnTo>
                  <a:pt x="4608005" y="0"/>
                </a:lnTo>
                <a:lnTo>
                  <a:pt x="0" y="0"/>
                </a:lnTo>
                <a:lnTo>
                  <a:pt x="0" y="3456000"/>
                </a:lnTo>
              </a:path>
            </a:pathLst>
          </a:custGeom>
          <a:solidFill>
            <a:srgbClr val="FEFCFB">
              <a:alpha val="100000"/>
            </a:srgbClr>
          </a:solidFill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655182"/>
            <a:ext cx="6096000" cy="202818"/>
          </a:xfrm>
          <a:prstGeom prst="rect">
            <a:avLst/>
          </a:prstGeom>
          <a:solidFill>
            <a:srgbClr val="00000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>
              <a:buNone/>
            </a:pPr>
            <a:endParaRPr sz="1200" b="1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0" y="6655182"/>
            <a:ext cx="6096000" cy="202818"/>
          </a:xfrm>
          <a:prstGeom prst="rect">
            <a:avLst/>
          </a:prstGeom>
          <a:solidFill>
            <a:srgbClr val="3333B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 sz="1200" b="1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0" name="文本框 9"/>
          <p:cNvSpPr>
            <a:spLocks noGrp="1"/>
          </p:cNvSpPr>
          <p:nvPr/>
        </p:nvSpPr>
        <p:spPr>
          <a:xfrm>
            <a:off x="6254750" y="6625786"/>
            <a:ext cx="28638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Mathematical Logic Course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3194050" y="6625786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1100">
                <a:solidFill>
                  <a:srgbClr val="FFFF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Group Two</a:t>
            </a:r>
            <a:endParaRPr sz="11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211667"/>
          </a:xfrm>
          <a:prstGeom prst="rect">
            <a:avLst/>
          </a:prstGeom>
          <a:gradFill rotWithShape="1">
            <a:gsLst>
              <a:gs pos="0">
                <a:srgbClr val="F3F3F1"/>
              </a:gs>
              <a:gs pos="30000">
                <a:srgbClr val="D5D4D2"/>
              </a:gs>
              <a:gs pos="64000">
                <a:srgbClr val="ACABA9"/>
              </a:gs>
              <a:gs pos="100000">
                <a:srgbClr val="85848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3556000" y="2213928"/>
            <a:ext cx="5080000" cy="2430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buNone/>
            </a:pPr>
            <a:r>
              <a:rPr sz="2800">
                <a:solidFill>
                  <a:srgbClr val="FF0000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谢谢大家</a:t>
            </a:r>
            <a:endParaRPr sz="4000">
              <a:solidFill>
                <a:srgbClr val="FF0000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ctr">
              <a:lnSpc>
                <a:spcPct val="200000"/>
              </a:lnSpc>
              <a:buNone/>
            </a:pPr>
            <a:r>
              <a:rPr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UBITect 复现与案例分析</a:t>
            </a:r>
            <a:endParaRPr sz="2800">
              <a:solidFill>
                <a:srgbClr val="0000FF"/>
              </a:solidFill>
              <a:latin typeface="Times New Roman" panose="02020503050405090304"/>
              <a:ea typeface="楷体"/>
              <a:cs typeface="Times New Roman" panose="02020503050405090304"/>
            </a:endParaRPr>
          </a:p>
          <a:p>
            <a:pPr algn="ctr">
              <a:lnSpc>
                <a:spcPct val="200000"/>
              </a:lnSpc>
              <a:buNone/>
            </a:pPr>
            <a:r>
              <a:rPr sz="2400">
                <a:solidFill>
                  <a:srgbClr val="0000FF"/>
                </a:solidFill>
                <a:latin typeface="Times New Roman" panose="02020503050405090304"/>
                <a:ea typeface="楷体"/>
                <a:cs typeface="Times New Roman" panose="02020503050405090304"/>
              </a:rPr>
              <a:t>第二组</a:t>
            </a:r>
            <a:endParaRPr sz="2800">
              <a:latin typeface="Times New Roman" panose="02020503050405090304"/>
              <a:ea typeface="楷体"/>
              <a:cs typeface="Times New Roman" panose="0202050305040509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6492</Words>
  <Application>WPS 演示</Application>
  <PresentationFormat>Converted Presentation</PresentationFormat>
  <Paragraphs>527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Arial</vt:lpstr>
      <vt:lpstr>Times New Roman</vt:lpstr>
      <vt:lpstr>楷体</vt:lpstr>
      <vt:lpstr>汉仪楷体KW</vt:lpstr>
      <vt:lpstr>Menlo</vt:lpstr>
      <vt:lpstr>等线</vt:lpstr>
      <vt:lpstr>汉仪中等线KW</vt:lpstr>
      <vt:lpstr>微软雅黑</vt:lpstr>
      <vt:lpstr>方正雅意黑 GB18030L2</vt:lpstr>
      <vt:lpstr>宋体</vt:lpstr>
      <vt:lpstr>Arial Unicode MS</vt:lpstr>
      <vt:lpstr>等线 Light</vt:lpstr>
      <vt:lpstr>汉仪书宋二KW</vt:lpstr>
      <vt:lpstr>MS PGothic</vt:lpstr>
      <vt:lpstr>Calibri</vt:lpstr>
      <vt:lpstr>Helvetica Neue</vt:lpstr>
      <vt:lpstr>Menlo</vt:lpstr>
      <vt:lpstr>Times New Roman</vt:lpstr>
      <vt:lpstr>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流火如夏℡</cp:lastModifiedBy>
  <cp:revision>68</cp:revision>
  <dcterms:created xsi:type="dcterms:W3CDTF">2026-10-22T07:52:51Z</dcterms:created>
  <dcterms:modified xsi:type="dcterms:W3CDTF">2026-10-22T07:52:51Z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D8E7605F02C03B33A60FD66A06BE64AA_42</vt:lpwstr>
  </property>
  <property fmtid="{D5CDD505-2E9C-101B-9397-08002B2CF9AE}" pid="3" name="KSOProductBuildVer">
    <vt:lpwstr>2052-12.1.28496.28496</vt:lpwstr>
  </property>
</Properties>
</file>